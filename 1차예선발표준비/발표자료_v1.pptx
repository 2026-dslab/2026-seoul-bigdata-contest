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8" r:id="rId18"/>
    <p:sldId id="279" r:id="rId19"/>
    <p:sldId id="280" r:id="rId20"/>
    <p:sldId id="281" r:id="rId21"/>
    <p:sldId id="282" r:id="rId22"/>
  </p:sldIdLst>
  <p:sldSz cx="24384000" cy="13716000"/>
  <p:notesSz cx="6858000" cy="9144000"/>
  <p:embeddedFontLst>
    <p:embeddedFont>
      <p:font typeface="NanumSquareRoundOTF ExtraBold" panose="020B0600000101010101" charset="-127"/>
      <p:bold r:id="rId23"/>
    </p:embeddedFont>
    <p:embeddedFont>
      <p:font typeface="Pretendard Bold" panose="020B0600000101010101" charset="-127"/>
      <p:bold r:id="rId24"/>
    </p:embeddedFont>
    <p:embeddedFont>
      <p:font typeface="Pretendard Regular" panose="020B0600000101010101" charset="-127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Pretendard ExtraBold" panose="02000903000000020004" pitchFamily="50" charset="-127"/>
      <p:bold r:id="rId30"/>
    </p:embeddedFont>
    <p:embeddedFont>
      <p:font typeface="Pretendard Light" panose="02000403000000020004" pitchFamily="50" charset="-127"/>
      <p:regular r:id="rId31"/>
    </p:embeddedFont>
    <p:embeddedFont>
      <p:font typeface="Pretendard Medium" panose="02000603000000020004" pitchFamily="50" charset="-127"/>
      <p:regular r:id="rId32"/>
      <p:bold r:id="rId33"/>
    </p:embeddedFont>
    <p:embeddedFont>
      <p:font typeface="Pretendard SemiBold" panose="02000703000000020004" pitchFamily="50" charset="-127"/>
      <p:bold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1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4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24.png"/><Relationship Id="rId10" Type="http://schemas.openxmlformats.org/officeDocument/2006/relationships/image" Target="../media/image50.png"/><Relationship Id="rId4" Type="http://schemas.openxmlformats.org/officeDocument/2006/relationships/image" Target="../media/image23.png"/><Relationship Id="rId9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77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" Type="http://schemas.openxmlformats.org/officeDocument/2006/relationships/image" Target="../media/image76.png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24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23.png"/><Relationship Id="rId7" Type="http://schemas.openxmlformats.org/officeDocument/2006/relationships/image" Target="../media/image89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6.png"/><Relationship Id="rId7" Type="http://schemas.openxmlformats.org/officeDocument/2006/relationships/image" Target="../media/image98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11" Type="http://schemas.openxmlformats.org/officeDocument/2006/relationships/image" Target="../media/image101.png"/><Relationship Id="rId5" Type="http://schemas.openxmlformats.org/officeDocument/2006/relationships/image" Target="../media/image24.png"/><Relationship Id="rId10" Type="http://schemas.openxmlformats.org/officeDocument/2006/relationships/image" Target="../media/image89.png"/><Relationship Id="rId4" Type="http://schemas.openxmlformats.org/officeDocument/2006/relationships/image" Target="../media/image23.png"/><Relationship Id="rId9" Type="http://schemas.openxmlformats.org/officeDocument/2006/relationships/image" Target="../media/image10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23.png"/><Relationship Id="rId7" Type="http://schemas.openxmlformats.org/officeDocument/2006/relationships/image" Target="../media/image104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103.png"/><Relationship Id="rId10" Type="http://schemas.openxmlformats.org/officeDocument/2006/relationships/image" Target="../media/image107.png"/><Relationship Id="rId4" Type="http://schemas.openxmlformats.org/officeDocument/2006/relationships/image" Target="../media/image24.png"/><Relationship Id="rId9" Type="http://schemas.openxmlformats.org/officeDocument/2006/relationships/image" Target="../media/image10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10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109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23.png"/><Relationship Id="rId7" Type="http://schemas.openxmlformats.org/officeDocument/2006/relationships/image" Target="../media/image114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7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3" Type="http://schemas.openxmlformats.org/officeDocument/2006/relationships/image" Target="../media/image23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image" Target="../media/image118.png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10" Type="http://schemas.openxmlformats.org/officeDocument/2006/relationships/image" Target="../media/image124.png"/><Relationship Id="rId4" Type="http://schemas.openxmlformats.org/officeDocument/2006/relationships/image" Target="../media/image24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40.png"/><Relationship Id="rId3" Type="http://schemas.openxmlformats.org/officeDocument/2006/relationships/image" Target="../media/image24.png"/><Relationship Id="rId7" Type="http://schemas.openxmlformats.org/officeDocument/2006/relationships/image" Target="../media/image134.png"/><Relationship Id="rId12" Type="http://schemas.openxmlformats.org/officeDocument/2006/relationships/image" Target="../media/image13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5" Type="http://schemas.openxmlformats.org/officeDocument/2006/relationships/image" Target="../media/image132.png"/><Relationship Id="rId15" Type="http://schemas.openxmlformats.org/officeDocument/2006/relationships/image" Target="../media/image14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Relationship Id="rId14" Type="http://schemas.openxmlformats.org/officeDocument/2006/relationships/image" Target="../media/image14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24.png"/><Relationship Id="rId7" Type="http://schemas.openxmlformats.org/officeDocument/2006/relationships/image" Target="../media/image147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24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0" Type="http://schemas.openxmlformats.org/officeDocument/2006/relationships/image" Target="../media/image155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72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24.png"/><Relationship Id="rId7" Type="http://schemas.openxmlformats.org/officeDocument/2006/relationships/image" Target="../media/image161.png"/><Relationship Id="rId12" Type="http://schemas.openxmlformats.org/officeDocument/2006/relationships/image" Target="../media/image16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11" Type="http://schemas.openxmlformats.org/officeDocument/2006/relationships/image" Target="../media/image165.png"/><Relationship Id="rId5" Type="http://schemas.openxmlformats.org/officeDocument/2006/relationships/image" Target="../media/image43.png"/><Relationship Id="rId10" Type="http://schemas.openxmlformats.org/officeDocument/2006/relationships/image" Target="../media/image164.png"/><Relationship Id="rId4" Type="http://schemas.openxmlformats.org/officeDocument/2006/relationships/image" Target="../media/image160.png"/><Relationship Id="rId9" Type="http://schemas.openxmlformats.org/officeDocument/2006/relationships/image" Target="../media/image1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587500" y="1346200"/>
            <a:ext cx="21209000" cy="12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600200" y="5016500"/>
            <a:ext cx="8674100" cy="2603500"/>
          </a:xfrm>
          <a:prstGeom prst="rect">
            <a:avLst/>
          </a:prstGeom>
        </p:spPr>
        <p:txBody>
          <a:bodyPr lIns="0" tIns="204893" rIns="0" bIns="204893" rtlCol="0" anchor="ctr"/>
          <a:lstStyle/>
          <a:p>
            <a:pPr lvl="0" algn="l">
              <a:lnSpc>
                <a:spcPct val="97940"/>
              </a:lnSpc>
            </a:pPr>
            <a:r>
              <a:rPr lang="en-US" sz="14666" b="0" i="0" u="none" strike="noStrike" spc="-200">
                <a:solidFill>
                  <a:srgbClr val="0031AE"/>
                </a:solidFill>
                <a:latin typeface="Pretendard ExtraBold"/>
                <a:ea typeface="Pretendard ExtraBold"/>
                <a:cs typeface="Pretendard ExtraBold"/>
              </a:rPr>
              <a:t>상권</a:t>
            </a:r>
            <a:r>
              <a:rPr lang="en-US" sz="14666" b="0" i="0" u="none" strike="noStrike" spc="-200">
                <a:solidFill>
                  <a:srgbClr val="FC7802"/>
                </a:solidFill>
                <a:latin typeface="Pretendard ExtraBold"/>
                <a:ea typeface="Pretendard ExtraBold"/>
                <a:cs typeface="Pretendard ExtraBold"/>
              </a:rPr>
              <a:t>더하기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00200" y="8064500"/>
            <a:ext cx="102489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spc="-10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멀티에이전트를 통해 가게 성향과 고객 중심으로 상권을 재정의하고, 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spc="-10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상권 내 소상공인 간 동반 성장을 만듭니다.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00200" y="4241800"/>
            <a:ext cx="92075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 spc="-100">
                <a:solidFill>
                  <a:srgbClr val="202429"/>
                </a:solidFill>
                <a:latin typeface="Pretendard Medium"/>
                <a:ea typeface="Pretendard Medium"/>
                <a:cs typeface="Pretendard Medium"/>
              </a:rPr>
              <a:t>고정된 상권을 넘어, 고객 중심 유동적 상권 재정의 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6800" y="6388100"/>
            <a:ext cx="9029700" cy="5791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7400" y="7378700"/>
            <a:ext cx="6540500" cy="43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6000" y="7378700"/>
            <a:ext cx="431800" cy="431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88400" y="6934200"/>
            <a:ext cx="241300" cy="177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85200" y="6972300"/>
            <a:ext cx="139700" cy="127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32000" y="6705600"/>
            <a:ext cx="1765300" cy="647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>
            <a:alphaModFix amt="90000"/>
          </a:blip>
          <a:stretch>
            <a:fillRect/>
          </a:stretch>
        </p:blipFill>
        <p:spPr>
          <a:xfrm>
            <a:off x="18402300" y="5016500"/>
            <a:ext cx="2489200" cy="2489200"/>
          </a:xfrm>
          <a:prstGeom prst="rect">
            <a:avLst/>
          </a:prstGeom>
          <a:effectLst>
            <a:outerShdw blurRad="99636" dist="229930" dir="2700000">
              <a:srgbClr val="1A2665">
                <a:alpha val="20000"/>
              </a:srgbClr>
            </a:outerShdw>
          </a:effectLst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70600" y="5308600"/>
            <a:ext cx="1879600" cy="1955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272000" y="7962900"/>
            <a:ext cx="4495800" cy="3441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782800" y="7962900"/>
            <a:ext cx="2400300" cy="3441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>
            <a:alphaModFix amt="90000"/>
          </a:blip>
          <a:stretch>
            <a:fillRect/>
          </a:stretch>
        </p:blipFill>
        <p:spPr>
          <a:xfrm>
            <a:off x="12839700" y="8801100"/>
            <a:ext cx="2489200" cy="2489200"/>
          </a:xfrm>
          <a:prstGeom prst="rect">
            <a:avLst/>
          </a:prstGeom>
          <a:effectLst>
            <a:outerShdw blurRad="99636" dist="229930" dir="2700000">
              <a:srgbClr val="1A2665">
                <a:alpha val="20000"/>
              </a:srgbClr>
            </a:outerShdw>
          </a:effectLst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271500" y="9258300"/>
            <a:ext cx="1625600" cy="1536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439900" y="9855200"/>
            <a:ext cx="660400" cy="1181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714500" y="863600"/>
            <a:ext cx="104140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133" b="1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6">
            <a:alphaModFix amt="90000"/>
          </a:blip>
          <a:stretch>
            <a:fillRect/>
          </a:stretch>
        </p:blipFill>
        <p:spPr>
          <a:xfrm>
            <a:off x="20955000" y="7556500"/>
            <a:ext cx="2730500" cy="2730500"/>
          </a:xfrm>
          <a:prstGeom prst="rect">
            <a:avLst/>
          </a:prstGeom>
          <a:effectLst>
            <a:outerShdw blurRad="109099" dist="251767" dir="2700000">
              <a:srgbClr val="1A2665">
                <a:alpha val="20000"/>
              </a:srgbClr>
            </a:outerShdw>
          </a:effectLst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310600" y="7708900"/>
            <a:ext cx="2032000" cy="2438400"/>
          </a:xfrm>
          <a:prstGeom prst="rect">
            <a:avLst/>
          </a:prstGeom>
          <a:effectLst>
            <a:outerShdw blurRad="81398" dist="187841" dir="2700000">
              <a:srgbClr val="9E9E9E">
                <a:alpha val="50000"/>
              </a:srgbClr>
            </a:outerShdw>
          </a:effectLst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27200" y="9867900"/>
            <a:ext cx="4140200" cy="8509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2082800" y="9982200"/>
            <a:ext cx="34290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463" b="0" i="0" u="none" strike="noStrike">
                <a:solidFill>
                  <a:srgbClr val="FFFFFF"/>
                </a:solidFill>
                <a:latin typeface="NanumSquareRoundOTF ExtraBold"/>
                <a:ea typeface="NanumSquareRoundOTF ExtraBold"/>
                <a:cs typeface="NanumSquareRoundOTF ExtraBold"/>
              </a:rPr>
              <a:t>골목 연구소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12954000"/>
            <a:ext cx="24384000" cy="1130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0401300"/>
            <a:ext cx="20370800" cy="838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1366500"/>
            <a:ext cx="20370800" cy="838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2344400"/>
            <a:ext cx="20370800" cy="838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963400" y="4241800"/>
            <a:ext cx="571500" cy="50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0100" y="2311400"/>
            <a:ext cx="20345400" cy="167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300" y="4546600"/>
            <a:ext cx="20345400" cy="554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제안배경 및 출품작 소개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53700" y="2527300"/>
            <a:ext cx="33401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문제 인식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92600" y="3162300"/>
            <a:ext cx="157988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서울시 소상공인 창업 후</a:t>
            </a:r>
            <a:r>
              <a:rPr lang="en-US" sz="2666" b="0" i="0" u="none" strike="noStrike" cap="all">
                <a:solidFill>
                  <a:srgbClr val="20242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1" i="0" u="none" strike="noStrike" cap="all">
                <a:solidFill>
                  <a:srgbClr val="0031AE"/>
                </a:solidFill>
                <a:latin typeface="Pretendard Regular"/>
                <a:ea typeface="Pretendard Regular"/>
                <a:cs typeface="Pretendard Regular"/>
              </a:rPr>
              <a:t>5년 내 폐업률 약 60%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에 달하며</a:t>
            </a:r>
            <a:r>
              <a:rPr lang="en-US" sz="2666" b="0" i="0" u="none" strike="noStrike" cap="all">
                <a:solidFill>
                  <a:srgbClr val="7768E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1" i="0" u="none" strike="noStrike" cap="all">
                <a:solidFill>
                  <a:srgbClr val="0031AE"/>
                </a:solidFill>
                <a:latin typeface="Pretendard Regular"/>
                <a:ea typeface="Pretendard Regular"/>
                <a:cs typeface="Pretendard Regular"/>
              </a:rPr>
              <a:t>골목상권 쇠퇴가 가속화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되고 있음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4200" y="5727700"/>
            <a:ext cx="8458200" cy="3454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971800" y="4965700"/>
            <a:ext cx="86995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서울시 소상공인 사업체 운영에 따른 애로사항 (1~5순위)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84500" y="9474200"/>
            <a:ext cx="46101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133" b="0" i="0" u="none" strike="noStrike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출처: 2025 서울시 소상공인 생활백서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74700" y="5524500"/>
            <a:ext cx="7518400" cy="39116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2877800" y="4965700"/>
            <a:ext cx="86995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소상공인 폐업률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56300" y="10579100"/>
            <a:ext cx="124841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폐업의 주요 원인은 지역마다 다르지만, 평균적으로 </a:t>
            </a:r>
            <a:r>
              <a:rPr lang="en-US" sz="2666" b="1" i="0" u="none" strike="noStrike">
                <a:solidFill>
                  <a:srgbClr val="FC7802"/>
                </a:solidFill>
                <a:latin typeface="Pretendard Light"/>
                <a:ea typeface="Pretendard Light"/>
                <a:cs typeface="Pretendard Light"/>
              </a:rPr>
              <a:t>골목상권 쇠퇴</a:t>
            </a:r>
            <a:r>
              <a:rPr lang="en-US" sz="2666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가 원인이 되고 있음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56300" y="11544300"/>
            <a:ext cx="124841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폐업을 고려하는 소상공인 비율이 매년 증가함(22년 14.4% -&gt; 24년 20.2%)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56300" y="12522200"/>
            <a:ext cx="124841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특히 이러한 비율은 2~4년 미만에서 높게 나타나며 5년 내 폐업하는 소상공인 비율이 높음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263900"/>
            <a:ext cx="6197600" cy="7950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제안배경 및 출품작 소개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37700" y="2286000"/>
            <a:ext cx="53721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0" i="0" u="sng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지속적으로 활성화 되는 상권도 존재함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11785600"/>
            <a:ext cx="20370800" cy="1016000"/>
          </a:xfrm>
          <a:prstGeom prst="rect">
            <a:avLst/>
          </a:prstGeom>
          <a:effectLst>
            <a:outerShdw blurRad="40493" dist="93445" dir="2700000">
              <a:srgbClr val="000000">
                <a:alpha val="50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2857500" y="12052300"/>
            <a:ext cx="202692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활성화 되는 상권의 특징은 개별 가게가 잘 되는 것이 아닌 상권 전체가 하나의 정체성과 브랜드로 움직이고 있음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8700" y="12014200"/>
            <a:ext cx="1816100" cy="558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3708400" y="12065000"/>
            <a:ext cx="15240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POINT 1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0" y="3263900"/>
            <a:ext cx="6197600" cy="79502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854200" y="4229100"/>
            <a:ext cx="46482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성수동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45500" y="4229100"/>
            <a:ext cx="46482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신당동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2400" y="4876800"/>
            <a:ext cx="5486400" cy="3136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3700" y="4876800"/>
            <a:ext cx="5486400" cy="31369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397000" y="8293100"/>
            <a:ext cx="5588000" cy="2565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성수동을 성동구 경제를 이끌 핵심 동력의 잠재력으로 판단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성수동이 가진 이미지를 통해 향후 발전을 위한 상징적인 도시 브랜딩 추진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젊은 세대뿐만 아니라 기성세대도 즐겨 찾는 핫플레이스로 거듭남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13700" y="8293100"/>
            <a:ext cx="5588000" cy="2565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옛날 건물 골조를 그대로 유지한 채 카페 및 음식점으로 탈바꿈한 가게들이 레트로함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젊은 세대에서는 '재밌다' 표현을 하며, 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SNS 인증샷을 불러일으킴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신당동은 힙당동으로 불리며, 트렌디한 문화 영역으로 자리잡음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2103100" y="6299200"/>
            <a:ext cx="5486400" cy="1968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79800" y="3175000"/>
            <a:ext cx="7200900" cy="80391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6332200" y="4546600"/>
            <a:ext cx="6604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연남동 방문자 대상으로 설문조사를 실시한 결과, </a:t>
            </a:r>
          </a:p>
          <a:p>
            <a:pPr lvl="0" algn="ctr">
              <a:lnSpc>
                <a:spcPct val="116199"/>
              </a:lnSpc>
            </a:pPr>
            <a:r>
              <a:rPr lang="en-US" sz="2400" b="1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'상권의 분위기'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가 가장 많은 비중을 차지함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40200" y="6261100"/>
            <a:ext cx="5867400" cy="46990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6471900" y="5765800"/>
            <a:ext cx="66040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[ 연남동 상권 방문 이유 ]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8500" y="3505200"/>
            <a:ext cx="1816100" cy="5588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3378200" y="3556000"/>
            <a:ext cx="15240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사례 1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55200" y="3505200"/>
            <a:ext cx="1816100" cy="5588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9994900" y="3556000"/>
            <a:ext cx="15240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사례 2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789400" y="3505200"/>
            <a:ext cx="5981700" cy="5588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6941800" y="3556000"/>
            <a:ext cx="56769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활성화 상권 방문자 대상 설문조사 결과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제안배경 및 출품작 소개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1993900" y="2552700"/>
            <a:ext cx="20345400" cy="2108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476500" y="2832100"/>
            <a:ext cx="194945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서울시, 2022년부터 로컬브랜드 상권 육성사업을 추진하고 있음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로컬브랜드 육성 사업은 특색과 매력을 지닌 골목상권을 발굴해 지역 기반 로컬 콘텐츠와 연계해 '머물고 싶은 상권'으로 만드는 사업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로컬브랜드 육성사업 결과, 로컬 브랜드 지원을 받은 상권은 비지원 상권보다 매출증가율이 2.9% 높았고 일부는 3년차 매출이 최대 29% 증가함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3900" y="6045200"/>
            <a:ext cx="12776200" cy="4826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1200" y="11785600"/>
            <a:ext cx="20370800" cy="1016000"/>
          </a:xfrm>
          <a:prstGeom prst="rect">
            <a:avLst/>
          </a:prstGeom>
          <a:effectLst>
            <a:outerShdw blurRad="40493" dist="93445" dir="2700000">
              <a:srgbClr val="000000">
                <a:alpha val="50000"/>
              </a:srgbClr>
            </a:outerShdw>
          </a:effectLst>
        </p:spPr>
      </p:pic>
      <p:sp>
        <p:nvSpPr>
          <p:cNvPr id="11" name="TextBox 11"/>
          <p:cNvSpPr txBox="1"/>
          <p:nvPr/>
        </p:nvSpPr>
        <p:spPr>
          <a:xfrm>
            <a:off x="2857500" y="12052300"/>
            <a:ext cx="202692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지역의 특색과 매력을 발굴해 '머물고 싶은 상권'을 만듦으로써 상권이 살아나고 폐업률 역시 줄일 수 있음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8700" y="12014200"/>
            <a:ext cx="1816100" cy="558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708400" y="12065000"/>
            <a:ext cx="15240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POINT 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42300" y="5308600"/>
            <a:ext cx="78994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0" i="0" u="sng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&lt; 로컬브랜드 지원 상권 업종별 매출액 증감 효과 (%) &gt;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3810000"/>
            <a:ext cx="7112000" cy="9067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200" y="3810000"/>
            <a:ext cx="7200900" cy="9067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제안배경 및 출품작 소개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43300" y="3810000"/>
            <a:ext cx="7112000" cy="9067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6000" y="2413000"/>
            <a:ext cx="7112000" cy="8890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902700" y="2603500"/>
            <a:ext cx="65786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상권 활성화 위한 정책 및 서비스의 한계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71900" y="4229100"/>
            <a:ext cx="16129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33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Problem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70100" y="4876800"/>
            <a:ext cx="49911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서울시 로컬 브랜드 육성 사업, </a:t>
            </a:r>
          </a:p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선정된 소수의 상권만 혜택을 받음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02700" y="5016500"/>
            <a:ext cx="65659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기존 상권분석 서비스는 개별 가게 분석에만 집중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586200" y="4876800"/>
            <a:ext cx="64389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상권은 고정된 개념이 아닌, 시간의 흐름에 따라 상권 브랜드 정체성이 바뀜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4300" y="9779000"/>
            <a:ext cx="64516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2026년 9개의 자치구가 신청, 3개 상권 최종 선별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1" i="0" u="none" strike="noStrike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지원</a:t>
            </a: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받을 수 있는 상권, </a:t>
            </a:r>
            <a:r>
              <a:rPr lang="en-US" sz="2400" b="1" i="0" u="none" strike="noStrike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전체의 12%</a:t>
            </a: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에 불과함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04300" y="9779000"/>
            <a:ext cx="6451600" cy="134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서울시에서 운영하는 상권서비스가 존재하지만,</a:t>
            </a:r>
            <a:b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1" i="0" u="none" strike="noStrike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데이터 조회와 리포트 제공</a:t>
            </a: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에서 그침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1" i="0" u="none" strike="noStrike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개별 가게</a:t>
            </a: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 분석에 집중, 상권 단위 연결 구조 부족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4300" y="6057900"/>
            <a:ext cx="6362700" cy="3327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4300" y="6057900"/>
            <a:ext cx="6362700" cy="3327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11600" y="6057900"/>
            <a:ext cx="6362700" cy="33274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6611600" y="9779000"/>
            <a:ext cx="6451600" cy="2717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최근 상권의 </a:t>
            </a:r>
            <a:r>
              <a:rPr lang="en-US" sz="2400" b="1" i="0" u="none" strike="noStrike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경계가 확장</a:t>
            </a: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되고 있음</a:t>
            </a:r>
            <a:b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1" i="0" u="none" strike="noStrike">
                <a:solidFill>
                  <a:srgbClr val="FC7802"/>
                </a:solidFill>
                <a:latin typeface="Pretendard Light"/>
                <a:ea typeface="Pretendard Light"/>
                <a:cs typeface="Pretendard Light"/>
              </a:rPr>
              <a:t>(메가 홍대 상권) </a:t>
            </a: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홍대입구역 일대에 머물렀던 상권4개 인접 상권 아우르는 광역 상권으로 확장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상권의 정체성은 </a:t>
            </a:r>
            <a:r>
              <a:rPr lang="en-US" sz="2400" b="1" i="0" u="none" strike="noStrike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브랜딩에 따라 재구성</a:t>
            </a: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되고 있음</a:t>
            </a:r>
            <a:b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1" i="0" u="none" strike="noStrike">
                <a:solidFill>
                  <a:srgbClr val="FC7802"/>
                </a:solidFill>
                <a:latin typeface="Pretendard Light"/>
                <a:ea typeface="Pretendard Light"/>
                <a:cs typeface="Pretendard Light"/>
              </a:rPr>
              <a:t>(성수동) </a:t>
            </a: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대표적인 준공업 지역에서 건물을 개조한</a:t>
            </a:r>
            <a:b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대림창고가 문을 열며, 변화가 시작됨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97200" y="4102100"/>
            <a:ext cx="3162300" cy="5588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3340100" y="4152900"/>
            <a:ext cx="24638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Problem 1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17200" y="4102100"/>
            <a:ext cx="3162300" cy="5588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0960100" y="4152900"/>
            <a:ext cx="24638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Problem 2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24500" y="4102100"/>
            <a:ext cx="3162300" cy="5588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8567400" y="4152900"/>
            <a:ext cx="24638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Problem 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8255000"/>
            <a:ext cx="21475700" cy="7429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0" y="6464300"/>
            <a:ext cx="4064000" cy="8216900"/>
          </a:xfrm>
          <a:prstGeom prst="rect">
            <a:avLst/>
          </a:prstGeom>
          <a:effectLst>
            <a:outerShdw blurRad="589408" dist="781709" dir="3180000">
              <a:srgbClr val="000000">
                <a:alpha val="2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600" y="7708900"/>
            <a:ext cx="4064000" cy="8216900"/>
          </a:xfrm>
          <a:prstGeom prst="rect">
            <a:avLst/>
          </a:prstGeom>
          <a:effectLst>
            <a:outerShdw blurRad="589408" dist="781709" dir="3180000">
              <a:srgbClr val="000000">
                <a:alpha val="2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0" y="7581900"/>
            <a:ext cx="4064000" cy="8216900"/>
          </a:xfrm>
          <a:prstGeom prst="rect">
            <a:avLst/>
          </a:prstGeom>
          <a:effectLst>
            <a:outerShdw blurRad="589408" dist="781709" dir="3180000">
              <a:srgbClr val="000000">
                <a:alpha val="20000"/>
              </a:srgbClr>
            </a:outerShdw>
          </a:effectLst>
        </p:spPr>
      </p:pic>
      <p:sp>
        <p:nvSpPr>
          <p:cNvPr id="6" name="TextBox 6"/>
          <p:cNvSpPr txBox="1"/>
          <p:nvPr/>
        </p:nvSpPr>
        <p:spPr>
          <a:xfrm>
            <a:off x="1752600" y="3962400"/>
            <a:ext cx="196088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멀티에이전트 AI 기반으로 사용자의 입력 정보와 공공데이터를 분석하여, </a:t>
            </a:r>
          </a:p>
          <a:p>
            <a:pPr lvl="0" algn="l">
              <a:lnSpc>
                <a:spcPct val="124499"/>
              </a:lnSpc>
            </a:pPr>
            <a:r>
              <a:rPr lang="en-US" sz="2400" b="0" i="0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우리 가게에 어울리는 새로운 상권과 브랜드 정체성을 발견하고 상생 가능한 상권 통합 브랜딩 방향을 제안합니다.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734800" y="5537200"/>
            <a:ext cx="18923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2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상권 추천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4400" y="5562600"/>
            <a:ext cx="482600" cy="4826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1087100" y="5613400"/>
            <a:ext cx="4572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62" b="0" i="0" u="none" strike="noStrike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57600" y="6286500"/>
            <a:ext cx="42926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2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우리 가게 성향(MBTI) 진단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7200" y="6299200"/>
            <a:ext cx="482600" cy="482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3009900" y="6350000"/>
            <a:ext cx="4572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62" b="0" i="0" u="none" strike="noStrike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856200" y="6286500"/>
            <a:ext cx="27178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2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상권 공동 브랜딩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08500" y="6299200"/>
            <a:ext cx="469900" cy="4699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7208500" y="6362700"/>
            <a:ext cx="4572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57" b="0" i="0" u="none" strike="noStrike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52600" y="1803400"/>
            <a:ext cx="6578600" cy="1892300"/>
          </a:xfrm>
          <a:prstGeom prst="rect">
            <a:avLst/>
          </a:prstGeom>
        </p:spPr>
        <p:txBody>
          <a:bodyPr lIns="0" tIns="149013" rIns="0" bIns="149013" rtlCol="0" anchor="ctr"/>
          <a:lstStyle/>
          <a:p>
            <a:pPr lvl="0" algn="l">
              <a:lnSpc>
                <a:spcPct val="97940"/>
              </a:lnSpc>
            </a:pPr>
            <a:r>
              <a:rPr lang="en-US" sz="10666" b="0" i="0" u="none" strike="noStrike" spc="-200">
                <a:solidFill>
                  <a:srgbClr val="0031AE"/>
                </a:solidFill>
                <a:latin typeface="Pretendard ExtraBold"/>
                <a:ea typeface="Pretendard ExtraBold"/>
                <a:cs typeface="Pretendard ExtraBold"/>
              </a:rPr>
              <a:t>상권</a:t>
            </a:r>
            <a:r>
              <a:rPr lang="en-US" sz="10666" b="0" i="0" u="none" strike="noStrike" spc="-200">
                <a:solidFill>
                  <a:srgbClr val="FC7802"/>
                </a:solidFill>
                <a:latin typeface="Pretendard ExtraBold"/>
                <a:ea typeface="Pretendard ExtraBold"/>
                <a:cs typeface="Pretendard ExtraBold"/>
              </a:rPr>
              <a:t>더하기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52600" y="1333500"/>
            <a:ext cx="70993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663" b="0" i="0" u="none" strike="noStrike" spc="-100">
                <a:solidFill>
                  <a:srgbClr val="202429"/>
                </a:solidFill>
                <a:latin typeface="Pretendard Medium"/>
                <a:ea typeface="Pretendard Medium"/>
                <a:cs typeface="Pretendard Medium"/>
              </a:rPr>
              <a:t>고정된 상권을 넘어, 고객 중심 유동적 상권 재정의 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3124200" y="10274300"/>
            <a:ext cx="762000" cy="25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alphaModFix amt="37000"/>
          </a:blip>
          <a:stretch>
            <a:fillRect/>
          </a:stretch>
        </p:blipFill>
        <p:spPr>
          <a:xfrm rot="5400000">
            <a:off x="2933700" y="10096500"/>
            <a:ext cx="393700" cy="393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3009900" y="10172700"/>
            <a:ext cx="228600" cy="2286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520700" y="9461500"/>
            <a:ext cx="2463800" cy="189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데이터 기반으로 </a:t>
            </a:r>
          </a:p>
          <a:p>
            <a:pPr lvl="0" algn="ctr">
              <a:lnSpc>
                <a:spcPct val="1328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우리 가게에 맞는 </a:t>
            </a:r>
          </a:p>
          <a:p>
            <a:pPr lvl="0" algn="ctr">
              <a:lnSpc>
                <a:spcPct val="1328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주요 고객 발견 및 브랜드 정체성 발견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41400" y="10972800"/>
            <a:ext cx="762000" cy="25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alphaModFix amt="37000"/>
          </a:blip>
          <a:stretch>
            <a:fillRect/>
          </a:stretch>
        </p:blipFill>
        <p:spPr>
          <a:xfrm rot="16200000">
            <a:off x="14312900" y="10795000"/>
            <a:ext cx="393700" cy="393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6200000">
            <a:off x="14389100" y="10883900"/>
            <a:ext cx="228600" cy="2286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4579600" y="10287000"/>
            <a:ext cx="2463800" cy="1397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유사한 고객층과 </a:t>
            </a:r>
          </a:p>
          <a:p>
            <a:pPr lvl="0" algn="ctr">
              <a:lnSpc>
                <a:spcPct val="1328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브랜드 정체성을 </a:t>
            </a:r>
          </a:p>
          <a:p>
            <a:pPr lvl="0" algn="ctr">
              <a:lnSpc>
                <a:spcPct val="1328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가진 상권 추천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97800" y="10083800"/>
            <a:ext cx="762000" cy="25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5">
            <a:alphaModFix amt="37000"/>
          </a:blip>
          <a:stretch>
            <a:fillRect/>
          </a:stretch>
        </p:blipFill>
        <p:spPr>
          <a:xfrm rot="16200000">
            <a:off x="21056600" y="9893300"/>
            <a:ext cx="393700" cy="393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6200000">
            <a:off x="21145500" y="9982200"/>
            <a:ext cx="228600" cy="2286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21374100" y="9385300"/>
            <a:ext cx="2819400" cy="1397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소상공인, 자신의 진짜 </a:t>
            </a:r>
          </a:p>
          <a:p>
            <a:pPr lvl="0" algn="ctr">
              <a:lnSpc>
                <a:spcPct val="1328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상권과 협업 가능한 </a:t>
            </a:r>
          </a:p>
          <a:p>
            <a:pPr lvl="0" algn="ctr">
              <a:lnSpc>
                <a:spcPct val="1328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네트워크를 발견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7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87700" y="6997700"/>
            <a:ext cx="44577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2400" b="1" i="0" u="none" strike="noStrike">
                <a:solidFill>
                  <a:srgbClr val="FC7802"/>
                </a:solidFill>
                <a:latin typeface="Pretendard Light"/>
                <a:ea typeface="Pretendard Light"/>
                <a:cs typeface="Pretendard Light"/>
              </a:rPr>
              <a:t>M</a:t>
            </a:r>
            <a:r>
              <a:rPr lang="en-US" sz="2400" b="1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arket </a:t>
            </a:r>
            <a:r>
              <a:rPr lang="en-US" sz="2400" b="1" i="0" u="none" strike="noStrike">
                <a:solidFill>
                  <a:srgbClr val="FC7802"/>
                </a:solidFill>
                <a:latin typeface="Pretendard Light"/>
                <a:ea typeface="Pretendard Light"/>
                <a:cs typeface="Pretendard Light"/>
              </a:rPr>
              <a:t>B</a:t>
            </a:r>
            <a:r>
              <a:rPr lang="en-US" sz="2400" b="1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rand </a:t>
            </a:r>
            <a:r>
              <a:rPr lang="en-US" sz="2400" b="1" i="0" u="none" strike="noStrike">
                <a:solidFill>
                  <a:srgbClr val="FC7802"/>
                </a:solidFill>
                <a:latin typeface="Pretendard Light"/>
                <a:ea typeface="Pretendard Light"/>
                <a:cs typeface="Pretendard Light"/>
              </a:rPr>
              <a:t>T</a:t>
            </a:r>
            <a:r>
              <a:rPr lang="en-US" sz="2400" b="1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endency</a:t>
            </a:r>
            <a:r>
              <a:rPr lang="en-US" sz="2400" b="1" i="0" u="none" strike="noStrike">
                <a:solidFill>
                  <a:srgbClr val="FC7802"/>
                </a:solidFill>
                <a:latin typeface="Pretendard Light"/>
                <a:ea typeface="Pretendard Light"/>
                <a:cs typeface="Pretendard Light"/>
              </a:rPr>
              <a:t> I</a:t>
            </a:r>
            <a:r>
              <a:rPr lang="en-US" sz="2400" b="1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dentity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781800"/>
            <a:ext cx="22352000" cy="58293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020300" y="6565900"/>
            <a:ext cx="46101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31AE"/>
                </a:solidFill>
                <a:highlight>
                  <a:srgbClr val="FFFFFF"/>
                </a:highlight>
                <a:latin typeface="Pretendard Bold"/>
                <a:ea typeface="Pretendard Bold"/>
                <a:cs typeface="Pretendard Bold"/>
              </a:rPr>
              <a:t>     활용한 공공데이터와 API     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출품작 핵심내용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300" y="2667000"/>
            <a:ext cx="6477000" cy="889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895600" y="2882900"/>
            <a:ext cx="47244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매장 성향(MBTI) 진단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0" y="2667000"/>
            <a:ext cx="6477000" cy="889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9867900" y="2882900"/>
            <a:ext cx="47244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상권 추천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87700" y="2667000"/>
            <a:ext cx="6477000" cy="889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6764000" y="2882900"/>
            <a:ext cx="47244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상권 공동 브랜딩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2019300" y="4013200"/>
            <a:ext cx="20345400" cy="21082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501900" y="4292600"/>
            <a:ext cx="194945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위 세가지 기능을 구현하기 위해 사용자의 가게 및 행정구역 기반 현 상권에 대한 분석이 다양한 관점에서 필요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따라서 LLM 기반 멀티에이전트 시스템을 통해 구현하고자 함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구현에 필요한 데이터는 크게 사용자 입력 정보, 공공 데이터, 카카오 지도 API가 있음</a:t>
            </a:r>
          </a:p>
        </p:txBody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2133600" y="7264400"/>
          <a:ext cx="20376972" cy="4870767"/>
        </p:xfrm>
        <a:graphic>
          <a:graphicData uri="http://schemas.openxmlformats.org/drawingml/2006/table">
            <a:tbl>
              <a:tblPr/>
              <a:tblGrid>
                <a:gridCol w="818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189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데이터 명</a:t>
                      </a:r>
                      <a:endParaRPr lang="en-US" sz="1100"/>
                    </a:p>
                  </a:txBody>
                  <a:tcPr marL="25400" marR="25400" marT="75352" marB="75352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최종 사용 데이터</a:t>
                      </a:r>
                      <a:endParaRPr lang="en-US" sz="1100"/>
                    </a:p>
                  </a:txBody>
                  <a:tcPr marL="25400" marR="25400" marT="75352" marB="75352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7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서울시 상권분석서비스 (점포-행정동)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점포 수, 카테고리 점포 수, 개/폐업률, 프랜차이즈 점포 수, 행정동 총 점포 수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7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서울시 상권분석서비스 (추정매출-행정동)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주중/주말 매출, 요일별 매출, 시간대별 매출, 연령대별 매출, 성별 매출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7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서울시 상권분석서비스 (길단위인구-행정동)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요일별 유동인구, 시간대별 유동인구, 연령대별 유동인구, 성별 유동인구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7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서울교통공사(1~8호선 + 국가철도공단 9호선)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호선, 역명, 위도, 경도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17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카카오 지도 API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반경 내 유사업종 점포 수, 위도, 경도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출품작 핵심내용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0" y="2413000"/>
            <a:ext cx="7112000" cy="889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902700" y="2603500"/>
            <a:ext cx="65786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상권더하기 서비스 흐름 도식화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2298700" y="12128500"/>
            <a:ext cx="20345400" cy="749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730500" y="12255500"/>
            <a:ext cx="19494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6개의 에이전트를 통해 1) 우리 가게 성향 진단 2) 상권 추천 3) 상권 공동 브랜딩 3가지 결과가 도출됨 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3000" y="3848100"/>
            <a:ext cx="19570700" cy="77343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3911600"/>
            <a:ext cx="9804400" cy="9804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출품작 핵심내용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9000" y="2641600"/>
            <a:ext cx="5308600" cy="1073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500" y="0"/>
            <a:ext cx="4457700" cy="14020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42900" y="7010400"/>
            <a:ext cx="4889500" cy="259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2992100" y="7302500"/>
            <a:ext cx="49911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핵심 소비가 집중되는 시간대 판별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938500" y="8204200"/>
            <a:ext cx="16129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33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Problem 1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58800" y="7886700"/>
            <a:ext cx="1828800" cy="558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3258800" y="7924800"/>
            <a:ext cx="18161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58800" y="8534400"/>
            <a:ext cx="1816100" cy="774700"/>
          </a:xfrm>
          <a:prstGeom prst="rect">
            <a:avLst/>
          </a:prstGeom>
        </p:spPr>
        <p:txBody>
          <a:bodyPr lIns="0" tIns="381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주간형
(Day)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 rot="16200000">
            <a:off x="14833600" y="8674100"/>
            <a:ext cx="12446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75000" y="7874000"/>
            <a:ext cx="1828800" cy="5588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5875000" y="7924800"/>
            <a:ext cx="18161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875000" y="8534400"/>
            <a:ext cx="1816100" cy="774700"/>
          </a:xfrm>
          <a:prstGeom prst="rect">
            <a:avLst/>
          </a:prstGeom>
        </p:spPr>
        <p:txBody>
          <a:bodyPr lIns="0" tIns="381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야간형</a:t>
            </a:r>
          </a:p>
          <a:p>
            <a:pPr lvl="0" algn="ctr">
              <a:lnSpc>
                <a:spcPct val="9544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(Night)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27700" y="7010400"/>
            <a:ext cx="4889500" cy="25908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8389600" y="7302500"/>
            <a:ext cx="49911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고객의 방문 목표 판별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336000" y="8204200"/>
            <a:ext cx="16129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33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Problem 1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43600" y="7886700"/>
            <a:ext cx="1828800" cy="5588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8656300" y="7924800"/>
            <a:ext cx="18161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656300" y="8534400"/>
            <a:ext cx="1816100" cy="774700"/>
          </a:xfrm>
          <a:prstGeom prst="rect">
            <a:avLst/>
          </a:prstGeom>
        </p:spPr>
        <p:txBody>
          <a:bodyPr lIns="0" tIns="381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실용형
(Utility)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 rot="16200000">
            <a:off x="20218400" y="8674100"/>
            <a:ext cx="1244600" cy="25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72500" y="7874000"/>
            <a:ext cx="1828800" cy="5588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21272500" y="7924800"/>
            <a:ext cx="18161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F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1272500" y="8534400"/>
            <a:ext cx="1816100" cy="774700"/>
          </a:xfrm>
          <a:prstGeom prst="rect">
            <a:avLst/>
          </a:prstGeom>
        </p:spPr>
        <p:txBody>
          <a:bodyPr lIns="0" tIns="381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감성형
(Feeling)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42900" y="9944100"/>
            <a:ext cx="4889500" cy="25908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2992100" y="10236200"/>
            <a:ext cx="49911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고객의 체류 및 이동 패턴 판별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938500" y="11137900"/>
            <a:ext cx="16129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33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Problem 1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58800" y="10820400"/>
            <a:ext cx="1828800" cy="5588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3258800" y="10858500"/>
            <a:ext cx="18161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258800" y="11468100"/>
            <a:ext cx="1816100" cy="774700"/>
          </a:xfrm>
          <a:prstGeom prst="rect">
            <a:avLst/>
          </a:prstGeom>
        </p:spPr>
        <p:txBody>
          <a:bodyPr lIns="0" tIns="381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로컬형
(Local)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 rot="16200000">
            <a:off x="14833600" y="11607800"/>
            <a:ext cx="1244600" cy="254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75000" y="10807700"/>
            <a:ext cx="1828800" cy="55880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15875000" y="10858500"/>
            <a:ext cx="18161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875000" y="11468100"/>
            <a:ext cx="1816100" cy="774700"/>
          </a:xfrm>
          <a:prstGeom prst="rect">
            <a:avLst/>
          </a:prstGeom>
        </p:spPr>
        <p:txBody>
          <a:bodyPr lIns="0" tIns="381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통과형
(Transit)</a:t>
            </a: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427700" y="9944100"/>
            <a:ext cx="4889500" cy="25908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18389600" y="10236200"/>
            <a:ext cx="49911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업종 분포도 판별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1336000" y="11137900"/>
            <a:ext cx="16129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33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Problem 1</a:t>
            </a: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643600" y="10820400"/>
            <a:ext cx="1828800" cy="558800"/>
          </a:xfrm>
          <a:prstGeom prst="rect">
            <a:avLst/>
          </a:prstGeom>
        </p:spPr>
      </p:pic>
      <p:sp>
        <p:nvSpPr>
          <p:cNvPr id="44" name="TextBox 44"/>
          <p:cNvSpPr txBox="1"/>
          <p:nvPr/>
        </p:nvSpPr>
        <p:spPr>
          <a:xfrm>
            <a:off x="18656300" y="10858500"/>
            <a:ext cx="18161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8656300" y="11468100"/>
            <a:ext cx="1866900" cy="774700"/>
          </a:xfrm>
          <a:prstGeom prst="rect">
            <a:avLst/>
          </a:prstGeom>
        </p:spPr>
        <p:txBody>
          <a:bodyPr lIns="0" tIns="381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특화형
(Specialized)</a:t>
            </a: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 rot="16200000">
            <a:off x="20218400" y="11607800"/>
            <a:ext cx="1244600" cy="254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272500" y="10807700"/>
            <a:ext cx="1828800" cy="558800"/>
          </a:xfrm>
          <a:prstGeom prst="rect">
            <a:avLst/>
          </a:prstGeom>
        </p:spPr>
      </p:pic>
      <p:sp>
        <p:nvSpPr>
          <p:cNvPr id="48" name="TextBox 48"/>
          <p:cNvSpPr txBox="1"/>
          <p:nvPr/>
        </p:nvSpPr>
        <p:spPr>
          <a:xfrm>
            <a:off x="21272500" y="10858500"/>
            <a:ext cx="18161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M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1272500" y="11468100"/>
            <a:ext cx="1816100" cy="774700"/>
          </a:xfrm>
          <a:prstGeom prst="rect">
            <a:avLst/>
          </a:prstGeom>
        </p:spPr>
        <p:txBody>
          <a:bodyPr lIns="0" tIns="381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혼합형
(Mixed)</a:t>
            </a: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6654800"/>
            <a:ext cx="1930400" cy="254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6200000">
            <a:off x="8178800" y="6565900"/>
            <a:ext cx="228600" cy="228600"/>
          </a:xfrm>
          <a:prstGeom prst="rect">
            <a:avLst/>
          </a:prstGeom>
        </p:spPr>
      </p:pic>
      <p:sp>
        <p:nvSpPr>
          <p:cNvPr id="52" name="TextBox 52"/>
          <p:cNvSpPr txBox="1"/>
          <p:nvPr/>
        </p:nvSpPr>
        <p:spPr>
          <a:xfrm>
            <a:off x="14046200" y="1943100"/>
            <a:ext cx="36703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0031AE"/>
                </a:solidFill>
                <a:latin typeface="Pretendard Medium"/>
                <a:ea typeface="Pretendard Medium"/>
                <a:cs typeface="Pretendard Medium"/>
              </a:rPr>
              <a:t>우리 가게 성향 진단</a:t>
            </a:r>
          </a:p>
        </p:txBody>
      </p:sp>
      <p:pic>
        <p:nvPicPr>
          <p:cNvPr id="53" name="Picture 5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925300" y="2146300"/>
            <a:ext cx="1739900" cy="254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6200000">
            <a:off x="13550900" y="2044700"/>
            <a:ext cx="228600" cy="228600"/>
          </a:xfrm>
          <a:prstGeom prst="rect">
            <a:avLst/>
          </a:prstGeom>
        </p:spPr>
      </p:pic>
      <p:sp>
        <p:nvSpPr>
          <p:cNvPr id="55" name="TextBox 55"/>
          <p:cNvSpPr txBox="1"/>
          <p:nvPr/>
        </p:nvSpPr>
        <p:spPr>
          <a:xfrm>
            <a:off x="13995400" y="2578100"/>
            <a:ext cx="5664200" cy="213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just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사용자가 상호명, 위치, 운영시간, 분위기, 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고민사항 등 내 가게의 정보를 입력</a:t>
            </a:r>
          </a:p>
          <a:p>
            <a:pPr marL="342900" lvl="1" indent="-342900" algn="just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입력된 정보를 기반으로 4가지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MBTI 축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으로 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우리 가게의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브랜드 성향과 정체성을 진단</a:t>
            </a:r>
          </a:p>
          <a:p>
            <a:pPr marL="342900" lvl="1" indent="-342900" algn="just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endParaRPr lang="en-US" sz="2400" b="0" i="0" u="none" strike="noStrike" cap="all">
              <a:solidFill>
                <a:srgbClr val="0031AE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14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786100" y="5740400"/>
            <a:ext cx="49403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2533" b="1" i="0" u="sng" strike="noStrike">
                <a:solidFill>
                  <a:srgbClr val="FC7802"/>
                </a:solidFill>
                <a:latin typeface="Pretendard Light"/>
                <a:ea typeface="Pretendard Light"/>
                <a:cs typeface="Pretendard Light"/>
              </a:rPr>
              <a:t>M</a:t>
            </a:r>
            <a:r>
              <a:rPr lang="en-US" sz="2533" b="1" i="0" u="sng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arket </a:t>
            </a:r>
            <a:r>
              <a:rPr lang="en-US" sz="2533" b="1" i="0" u="sng" strike="noStrike">
                <a:solidFill>
                  <a:srgbClr val="FC7802"/>
                </a:solidFill>
                <a:latin typeface="Pretendard Light"/>
                <a:ea typeface="Pretendard Light"/>
                <a:cs typeface="Pretendard Light"/>
              </a:rPr>
              <a:t>B</a:t>
            </a:r>
            <a:r>
              <a:rPr lang="en-US" sz="2533" b="1" i="0" u="sng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rand </a:t>
            </a:r>
            <a:r>
              <a:rPr lang="en-US" sz="2533" b="1" i="0" u="sng" strike="noStrike">
                <a:solidFill>
                  <a:srgbClr val="FC7802"/>
                </a:solidFill>
                <a:latin typeface="Pretendard Light"/>
                <a:ea typeface="Pretendard Light"/>
                <a:cs typeface="Pretendard Light"/>
              </a:rPr>
              <a:t>T</a:t>
            </a:r>
            <a:r>
              <a:rPr lang="en-US" sz="2533" b="1" i="0" u="sng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endency</a:t>
            </a:r>
            <a:r>
              <a:rPr lang="en-US" sz="2533" b="1" i="0" u="sng" strike="noStrike">
                <a:solidFill>
                  <a:srgbClr val="FC7802"/>
                </a:solidFill>
                <a:latin typeface="Pretendard Light"/>
                <a:ea typeface="Pretendard Light"/>
                <a:cs typeface="Pretendard Light"/>
              </a:rPr>
              <a:t> I</a:t>
            </a:r>
            <a:r>
              <a:rPr lang="en-US" sz="2533" b="1" i="0" u="sng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dentity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528800" y="6362700"/>
            <a:ext cx="72390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2400" b="1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우리 가게의 브랜드 성향과 정체성을 진단하는 프레임워크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2032000"/>
            <a:ext cx="9702800" cy="970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출품작 핵심내용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8800" y="2692400"/>
            <a:ext cx="5308600" cy="1073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0800" y="3835400"/>
            <a:ext cx="5308600" cy="10731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5976600" y="6832600"/>
            <a:ext cx="7747000" cy="213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우리 가게 MBTI 유형을 양극 척도로 비교 분석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피크 시간대, 주요 연령대, 재방문율 및 경쟁 강도로 상권 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데이터 분석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사용자는 우리 가게의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 성향과 정체성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을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한눈에 파악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할 수 있음</a:t>
            </a:r>
          </a:p>
          <a:p>
            <a:pPr lvl="0" algn="l">
              <a:lnSpc>
                <a:spcPct val="116199"/>
              </a:lnSpc>
            </a:pPr>
            <a:endParaRPr lang="en-US" sz="2400" b="0" i="0" u="none" strike="noStrike" cap="all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887700" y="6197600"/>
            <a:ext cx="36703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0031AE"/>
                </a:solidFill>
                <a:latin typeface="Pretendard Medium"/>
                <a:ea typeface="Pretendard Medium"/>
                <a:cs typeface="Pretendard Medium"/>
              </a:rPr>
              <a:t>우리 가게 성향 진단 결과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66800" y="6400800"/>
            <a:ext cx="17399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15392400" y="6299200"/>
            <a:ext cx="228600" cy="2286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1400" y="2273300"/>
            <a:ext cx="7645400" cy="764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0" y="3238500"/>
            <a:ext cx="9702800" cy="970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출품작 핵심내용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362200"/>
            <a:ext cx="5308600" cy="10731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0" y="4102100"/>
            <a:ext cx="5308600" cy="10731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511300" y="3759200"/>
            <a:ext cx="36703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0031AE"/>
                </a:solidFill>
                <a:latin typeface="Pretendard Medium"/>
                <a:ea typeface="Pretendard Medium"/>
                <a:cs typeface="Pretendard Medium"/>
              </a:rPr>
              <a:t>상권 추천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5486400" y="3949700"/>
            <a:ext cx="9779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5372100" y="3860800"/>
            <a:ext cx="228600" cy="2286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117600" y="4381500"/>
            <a:ext cx="4635500" cy="170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MBTI 진단 결과로 우리 가게에 적합한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 tOP 3 상권 추천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사용자는 3개의 상권 중 원하는 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상권을 1개 선택하게 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135600" y="9906000"/>
            <a:ext cx="36703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0031AE"/>
                </a:solidFill>
                <a:latin typeface="Pretendard Medium"/>
                <a:ea typeface="Pretendard Medium"/>
                <a:cs typeface="Pretendard Medium"/>
              </a:rPr>
              <a:t>우리 가게 브랜딩 전략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14700" y="10109200"/>
            <a:ext cx="17399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17640300" y="10007600"/>
            <a:ext cx="228600" cy="2286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8021300" y="10541000"/>
            <a:ext cx="5422900" cy="1282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just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우리 가게 고민 사항과 MBTI 진단 결과, 선택한 1개 상권에 어울리는 고객층 및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분위기 등을 고려한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브랜딩 전략을 제안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1700" y="3276600"/>
            <a:ext cx="9994900" cy="9994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출품작 핵심내용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5200" y="2540000"/>
            <a:ext cx="5308600" cy="107315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714500" y="8826500"/>
            <a:ext cx="36703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0031AE"/>
                </a:solidFill>
                <a:latin typeface="Pretendard Medium"/>
                <a:ea typeface="Pretendard Medium"/>
                <a:cs typeface="Pretendard Medium"/>
              </a:rPr>
              <a:t>우리 상권 현황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727700" y="9169400"/>
            <a:ext cx="17399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5613400" y="9067800"/>
            <a:ext cx="228600" cy="228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257300" y="9309100"/>
            <a:ext cx="42545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just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나의 가게가 속한 새로운 상권 정보 및 함께하는 가게들을 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지도로 한눈에 확인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47500" y="1130300"/>
            <a:ext cx="5308600" cy="10731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17500" y="8064500"/>
            <a:ext cx="5765800" cy="5207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8783300" y="5676900"/>
            <a:ext cx="36703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0031AE"/>
                </a:solidFill>
                <a:latin typeface="Pretendard Medium"/>
                <a:ea typeface="Pretendard Medium"/>
                <a:cs typeface="Pretendard Medium"/>
              </a:rPr>
              <a:t>상권 공동 브랜딩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62400" y="5880100"/>
            <a:ext cx="17399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18288000" y="5778500"/>
            <a:ext cx="228600" cy="2286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8770600" y="6337300"/>
            <a:ext cx="4673600" cy="170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just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상권 내 가게들과 함께 실행할 수 있는 공동 브랜딩 전략 제안</a:t>
            </a:r>
          </a:p>
          <a:p>
            <a:pPr marL="342900" lvl="1" indent="-342900" algn="just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상권 전체가 하나의 방향으로 함께 성장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할 수 있음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600" y="6540500"/>
            <a:ext cx="7404100" cy="7404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출품작 핵심내용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362200"/>
            <a:ext cx="5308600" cy="107315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712700" y="3835400"/>
            <a:ext cx="36703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0031AE"/>
                </a:solidFill>
                <a:latin typeface="Pretendard Medium"/>
                <a:ea typeface="Pretendard Medium"/>
                <a:cs typeface="Pretendard Medium"/>
              </a:rPr>
              <a:t>솔루션 마켓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1800" y="4025900"/>
            <a:ext cx="17399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12217400" y="3937000"/>
            <a:ext cx="228600" cy="228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2585700" y="4572000"/>
            <a:ext cx="75438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just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브랜딩, 공간디자인, 팝업/행사, 콘텐츠 등 고민 유형에 맞는 전문 파트너 탐색 가능</a:t>
            </a:r>
          </a:p>
          <a:p>
            <a:pPr marL="342900" lvl="1" indent="-342900" algn="just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검증된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브랜딩 전문가를 탐색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하여 상권 브랜딩을 실제 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실행으로 연결할 수 있도록 정보 제공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219700"/>
            <a:ext cx="22352000" cy="7493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020300" y="5003800"/>
            <a:ext cx="46101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31AE"/>
                </a:solidFill>
                <a:highlight>
                  <a:srgbClr val="FFFFFF"/>
                </a:highlight>
                <a:latin typeface="Pretendard Bold"/>
                <a:ea typeface="Pretendard Bold"/>
                <a:cs typeface="Pretendard Bold"/>
              </a:rPr>
              <a:t>     실제 서비스 실행 결과     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출품작 핵심내용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5753100"/>
            <a:ext cx="12814300" cy="6489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62200" y="7048500"/>
            <a:ext cx="7696200" cy="411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3000" y="6794500"/>
            <a:ext cx="5054600" cy="558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6852900" y="6832600"/>
            <a:ext cx="41783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상권 MBTI 분석 결과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367000" y="7912100"/>
            <a:ext cx="7226300" cy="237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202429"/>
                </a:solidFill>
                <a:latin typeface="Pretendard Light"/>
                <a:ea typeface="Pretendard Light"/>
                <a:cs typeface="Pretendard Light"/>
              </a:rPr>
              <a:t>20대 여성 유동인구 집중(17-21시), 실용 소비 중심,</a:t>
            </a:r>
            <a:br>
              <a:rPr lang="en-US" sz="2400" b="0" i="0" u="none" strike="noStrike">
                <a:solidFill>
                  <a:srgbClr val="202429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>
                <a:solidFill>
                  <a:srgbClr val="202429"/>
                </a:solidFill>
                <a:latin typeface="Pretendard Light"/>
                <a:ea typeface="Pretendard Light"/>
                <a:cs typeface="Pretendard Light"/>
              </a:rPr>
              <a:t>통과형 이동 패턴: DUTM 결과와 정합적으로 일치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202429"/>
                </a:solidFill>
                <a:latin typeface="Pretendard Light"/>
                <a:ea typeface="Pretendard Light"/>
                <a:cs typeface="Pretendard Light"/>
              </a:rPr>
              <a:t>F&amp;B 밀집 상권 내 경쟁 강도가 매우 치열함에도 불구하고,</a:t>
            </a:r>
            <a:br>
              <a:rPr lang="en-US" sz="2400" b="0" i="0" u="none" strike="noStrike">
                <a:solidFill>
                  <a:srgbClr val="202429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>
                <a:solidFill>
                  <a:srgbClr val="202429"/>
                </a:solidFill>
                <a:latin typeface="Pretendard Light"/>
                <a:ea typeface="Pretendard Light"/>
                <a:cs typeface="Pretendard Light"/>
              </a:rPr>
              <a:t>타겟 연령대 유동 인구 우위로 차별화 가능성 확인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202429"/>
                </a:solidFill>
                <a:latin typeface="Pretendard Light"/>
                <a:ea typeface="Pretendard Light"/>
                <a:cs typeface="Pretendard Light"/>
              </a:rPr>
              <a:t>고객 행동 기반 상권 정체성을 공공데이터 분석으로 포착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993900" y="2552700"/>
            <a:ext cx="20345400" cy="21082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476500" y="3098800"/>
            <a:ext cx="19494500" cy="1016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실제 운영 중인 가게 정보를 입력하여, 데이터 융합부터 상권 MBTI 도출까지 전 과정 실행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'공차 홍대서교점'을 대상으로 한 프로토타입 실증 결과 확인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기존 서비스와의 차별점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3390900" y="3365500"/>
          <a:ext cx="17590506" cy="6576823"/>
        </p:xfrm>
        <a:graphic>
          <a:graphicData uri="http://schemas.openxmlformats.org/drawingml/2006/table">
            <a:tbl>
              <a:tblPr/>
              <a:tblGrid>
                <a:gridCol w="3093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1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1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3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189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구분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A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서울시 상권분석 서비스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A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나이스비즈맵 (유료)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A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상권더하기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7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운영 주체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서울특별시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NICE 지니데이터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7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분석 단위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개별 가게 (반경/다각형)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개별 가게 (행정동 기준)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개별 가게, 상권 단위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7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데이터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공공데이터 기반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카드 매출 데이터 기반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사용자 입력과 공공데이터 결합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428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결과 형태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데이터 시각화 리포트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상세 분석 보고서 (기본/종합)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MBTI 진단 결과, 새로운 상권 추천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공동 브랜딩 솔루션</a:t>
                      </a:r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17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활용 방식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사용자가 직접 해석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사용자가 직접 해석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AI 통해 해석, 실행 솔루션 제안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17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상권 상생 구조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D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X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D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X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D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O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17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점주 간 연결 및 협력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D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X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D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X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D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O</a:t>
                      </a:r>
                      <a:endParaRPr lang="en-US" sz="1100"/>
                    </a:p>
                  </a:txBody>
                  <a:tcPr marL="25400" marR="25400" marT="70357" marB="70357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100" y="2260600"/>
            <a:ext cx="3670300" cy="850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0" y="2298700"/>
            <a:ext cx="3543300" cy="812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5600" y="2057400"/>
            <a:ext cx="3200400" cy="130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>
            <a:off x="2019300" y="10617200"/>
            <a:ext cx="20345400" cy="21082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501900" y="10896600"/>
            <a:ext cx="194945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기존 상권분석 서비스는 풍부한 데이터를 시각화 리포트 형태로 제공하는 이점을 가지고 있으나 2가지 공백이 존재함</a:t>
            </a:r>
          </a:p>
          <a:p>
            <a:pPr marL="681482" lvl="2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○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분석 결과를 사용자가 직접 자신의 가게 성향에 맞춰 해석하고 실행 방안을 도출해야 함</a:t>
            </a:r>
          </a:p>
          <a:p>
            <a:pPr marL="681482" lvl="2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○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분석이 개별 가게 단위로 진행되어 같은 상권에 속한 가게들이 함께 성장할 수 있는 구조가 부재함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9956800" y="5232400"/>
            <a:ext cx="4470400" cy="1600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기존 서비스와의 차별점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46300" y="2400300"/>
            <a:ext cx="201041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상권더하기는 멀티에이전트 AI 기술을 기반으로 가게의 성향(MBTI)을 진단하고 행정구역 기반이 아닌 </a:t>
            </a:r>
          </a:p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방문 고객 중심으로 새롭게 상권을 정의 및 브랜딩하여 시장에 부재했던 공동 브랜딩 기반 성장 가치를 만듦으로써 기존 서비스 대비 경쟁력을 확보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3746500"/>
            <a:ext cx="21424900" cy="2247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6500" y="4025900"/>
            <a:ext cx="2844800" cy="1701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0" y="4013200"/>
            <a:ext cx="2844800" cy="1701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20700" y="4013200"/>
            <a:ext cx="2844800" cy="1701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70300" y="4013200"/>
            <a:ext cx="2844800" cy="1701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07200" y="4013200"/>
            <a:ext cx="2844800" cy="1701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194300" y="4495800"/>
            <a:ext cx="25019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사용자 직접 리포트</a:t>
            </a:r>
          </a:p>
          <a:p>
            <a:pPr lvl="0" algn="ctr">
              <a:lnSpc>
                <a:spcPct val="116199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해석 및 실행방안 도출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69300" y="4305300"/>
            <a:ext cx="25019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개별 가게 </a:t>
            </a:r>
          </a:p>
          <a:p>
            <a:pPr lvl="0" algn="ctr">
              <a:lnSpc>
                <a:spcPct val="116199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단위로 분석하여</a:t>
            </a:r>
          </a:p>
          <a:p>
            <a:pPr lvl="0" algn="ctr">
              <a:lnSpc>
                <a:spcPct val="116199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상생 구조 부족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98500" y="4508500"/>
            <a:ext cx="25019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우리 가게 
MBTI 진단 메커니즘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535400" y="4483100"/>
            <a:ext cx="25019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멀티에이전트 기반
정밀 진단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685000" y="4330700"/>
            <a:ext cx="25019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방문 고객 중심으로
새롭게 상권 정의 
및 공동 브랜딩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5900" y="6972300"/>
            <a:ext cx="6553200" cy="59690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451100" y="8229600"/>
            <a:ext cx="46482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1" i="0" u="none" strike="noStrike" cap="all">
                <a:solidFill>
                  <a:srgbClr val="202429"/>
                </a:solidFill>
                <a:latin typeface="Pretendard Medium"/>
                <a:ea typeface="Pretendard Medium"/>
                <a:cs typeface="Pretendard Medium"/>
              </a:rPr>
              <a:t>우리 가게 mbti 진단 매커니즘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78000" y="9093200"/>
            <a:ext cx="6184900" cy="1282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사용자 입력 정보와 공공데이터를 기반으로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16개 유형의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mbti로 가게 정체성을 진단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사용자는 복잡한 데이터를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직관적으로 파악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가능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60800" y="7251700"/>
            <a:ext cx="1816100" cy="5588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4000500" y="7289800"/>
            <a:ext cx="15240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차별점 1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54200" y="4013200"/>
            <a:ext cx="2844800" cy="17018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2032000" y="4483100"/>
            <a:ext cx="25019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사용자 직접 리포트</a:t>
            </a:r>
          </a:p>
          <a:p>
            <a:pPr lvl="0" algn="ctr">
              <a:lnSpc>
                <a:spcPct val="116199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해석 및 실행방안 도출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15400" y="6972300"/>
            <a:ext cx="6553200" cy="59690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9867900" y="8255000"/>
            <a:ext cx="46482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1" i="0" u="none" strike="noStrike" cap="all">
                <a:solidFill>
                  <a:srgbClr val="202429"/>
                </a:solidFill>
                <a:latin typeface="Pretendard Medium"/>
                <a:ea typeface="Pretendard Medium"/>
                <a:cs typeface="Pretendard Medium"/>
              </a:rPr>
              <a:t>멀티에이전트 기반 정밀 진단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78900" y="8724900"/>
            <a:ext cx="6464300" cy="415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단일 모델이 아닌,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역할이 분리된 다수의 ai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에이전트가 가게 진단, 상권 추천, 개별 및 공동 브랜딩 제안을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분업하여 처리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각 에이전트는 자신의 맡은 역할을 깊이 있게 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다루기 때문에,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단일 llm 호출 보다 정밀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하고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맥락에 맞는 결과를 생성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개별 가게 단위를 넘어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유사한 성향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을 가진 가게를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클러스터링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하여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 상권 단위 집단 분석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을 구현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90300" y="7264400"/>
            <a:ext cx="1816100" cy="5588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1430000" y="7315200"/>
            <a:ext cx="15240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차별점 2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44900" y="6972300"/>
            <a:ext cx="6553200" cy="59690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17310100" y="8001000"/>
            <a:ext cx="46482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1" i="0" u="none" strike="noStrike" cap="all">
                <a:solidFill>
                  <a:srgbClr val="202429"/>
                </a:solidFill>
                <a:latin typeface="Pretendard Medium"/>
                <a:ea typeface="Pretendard Medium"/>
                <a:cs typeface="Pretendard Medium"/>
              </a:rPr>
              <a:t>방문 고객 중심으로 새롭게 </a:t>
            </a:r>
          </a:p>
          <a:p>
            <a:pPr lvl="0" algn="ctr">
              <a:lnSpc>
                <a:spcPct val="116199"/>
              </a:lnSpc>
            </a:pPr>
            <a:r>
              <a:rPr lang="en-US" sz="2666" b="1" i="0" u="none" strike="noStrike" cap="all">
                <a:solidFill>
                  <a:srgbClr val="202429"/>
                </a:solidFill>
                <a:latin typeface="Pretendard Medium"/>
                <a:ea typeface="Pretendard Medium"/>
                <a:cs typeface="Pretendard Medium"/>
              </a:rPr>
              <a:t>상권 정의 및 공동 브랜딩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700500" y="9093200"/>
            <a:ext cx="6121400" cy="341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행정구역 기반 상권이 아닌, 가게에 방문하는 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고객 성향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에 맞춰 적합한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상권을 새롭게 제시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사용자가 선택한 상권 단위로 상권 전체의 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정체성에 맞는 개별 및 공동 브랜딩 전략 제시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새롭게 정의된 상권은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하나의 정체성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을 공유하고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상생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하여 상권 활성화 가능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새로운 가게가 합류할 때마다 상권이 확장 및 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업데이트 되어,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상권의 변화를 지속적으로 반영</a:t>
            </a: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719800" y="7251700"/>
            <a:ext cx="1816100" cy="55880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18872200" y="7289800"/>
            <a:ext cx="15240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차별점 3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938000" y="4610100"/>
            <a:ext cx="508000" cy="495300"/>
          </a:xfrm>
          <a:prstGeom prst="rect">
            <a:avLst/>
          </a:prstGeom>
          <a:effectLst>
            <a:outerShdw blurRad="68647" dist="45262" dir="5400000">
              <a:srgbClr val="000000">
                <a:alpha val="20000"/>
              </a:srgbClr>
            </a:outerShdw>
          </a:effectLst>
        </p:spPr>
      </p:pic>
      <p:sp>
        <p:nvSpPr>
          <p:cNvPr id="37" name="TextBox 37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출품작의 창업, 매출 발생 및 투자가능성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4140200"/>
            <a:ext cx="8953500" cy="8636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1612900" y="6477000"/>
            <a:ext cx="7632700" cy="598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5800" y="9461500"/>
            <a:ext cx="69469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2679700" y="9461500"/>
            <a:ext cx="54864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0900" y="7277100"/>
            <a:ext cx="4064000" cy="1917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537200" y="6781800"/>
            <a:ext cx="18796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1709" b="0" i="0" u="none" strike="noStrike" spc="-200">
                <a:solidFill>
                  <a:srgbClr val="626A80"/>
                </a:solidFill>
                <a:latin typeface="Pretendard Regular"/>
                <a:ea typeface="Pretendard Regular"/>
                <a:cs typeface="Pretendard Regular"/>
              </a:rPr>
              <a:t>상권 단위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83500" y="9639300"/>
            <a:ext cx="12446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1100"/>
              </a:lnSpc>
            </a:pPr>
            <a:r>
              <a:rPr lang="en-US" sz="1709" b="0" i="0" u="none" strike="noStrike" spc="-200">
                <a:solidFill>
                  <a:srgbClr val="626A80"/>
                </a:solidFill>
                <a:latin typeface="Pretendard Regular"/>
                <a:ea typeface="Pretendard Regular"/>
                <a:cs typeface="Pretendard Regular"/>
              </a:rPr>
              <a:t>유료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55800" y="9639300"/>
            <a:ext cx="12446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1709" b="0" i="0" u="none" strike="noStrike" spc="-200">
                <a:solidFill>
                  <a:srgbClr val="626A80"/>
                </a:solidFill>
                <a:latin typeface="Pretendard Regular"/>
                <a:ea typeface="Pretendard Regular"/>
                <a:cs typeface="Pretendard Regular"/>
              </a:rPr>
              <a:t>무료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9900" y="11925300"/>
            <a:ext cx="13589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1709" b="0" i="0" u="none" strike="noStrike" spc="-200">
                <a:solidFill>
                  <a:srgbClr val="626A80"/>
                </a:solidFill>
                <a:latin typeface="Pretendard Regular"/>
                <a:ea typeface="Pretendard Regular"/>
                <a:cs typeface="Pretendard Regular"/>
              </a:rPr>
              <a:t>개별 가게 단위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16500" y="7937500"/>
            <a:ext cx="800100" cy="596900"/>
          </a:xfrm>
          <a:prstGeom prst="rect">
            <a:avLst/>
          </a:prstGeom>
        </p:spPr>
        <p:txBody>
          <a:bodyPr lIns="0" tIns="47904" rIns="0" bIns="0" rtlCol="0" anchor="t"/>
          <a:lstStyle/>
          <a:p>
            <a:pPr lvl="0" algn="ctr">
              <a:lnSpc>
                <a:spcPct val="82170"/>
              </a:lnSpc>
            </a:pPr>
            <a:r>
              <a:rPr lang="en-US" sz="1879" b="1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공백</a:t>
            </a:r>
          </a:p>
          <a:p>
            <a:pPr lvl="0" algn="ctr">
              <a:lnSpc>
                <a:spcPct val="99600"/>
              </a:lnSpc>
            </a:pPr>
            <a:r>
              <a:rPr lang="en-US" sz="1879" b="1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영역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7600" y="10160000"/>
            <a:ext cx="1295400" cy="1295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6388100" y="10502900"/>
            <a:ext cx="914400" cy="622300"/>
          </a:xfrm>
          <a:prstGeom prst="rect">
            <a:avLst/>
          </a:prstGeom>
        </p:spPr>
        <p:txBody>
          <a:bodyPr lIns="0" tIns="252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890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나이스</a:t>
            </a:r>
          </a:p>
          <a:p>
            <a:pPr lvl="0" algn="ctr">
              <a:lnSpc>
                <a:spcPct val="99600"/>
              </a:lnSpc>
            </a:pPr>
            <a:r>
              <a:rPr lang="en-US" sz="1890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비즈맵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4200" y="10160000"/>
            <a:ext cx="1193800" cy="11938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3276600" y="10337800"/>
            <a:ext cx="901700" cy="8509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751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서울시</a:t>
            </a:r>
          </a:p>
          <a:p>
            <a:pPr lvl="0" algn="ctr">
              <a:lnSpc>
                <a:spcPct val="99600"/>
              </a:lnSpc>
            </a:pPr>
            <a:r>
              <a:rPr lang="en-US" sz="1751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상권 분석 </a:t>
            </a:r>
          </a:p>
          <a:p>
            <a:pPr lvl="0" algn="ctr">
              <a:lnSpc>
                <a:spcPct val="99600"/>
              </a:lnSpc>
            </a:pPr>
            <a:r>
              <a:rPr lang="en-US" sz="1751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서비스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59100" y="3860800"/>
            <a:ext cx="5054600" cy="5588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3429000" y="3898900"/>
            <a:ext cx="41783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상권더하기 포지셔닝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22400" y="4711700"/>
            <a:ext cx="8140700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상권 분석 시장을 비용, 단위 유형으로 시장 분석한 결과, </a:t>
            </a:r>
          </a:p>
          <a:p>
            <a:pPr lvl="0" algn="ct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상권 전체를 하나의 브랜드로 상생하는 서비스는 </a:t>
            </a:r>
          </a:p>
          <a:p>
            <a:pPr lvl="0" algn="ct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현재 시장에서 존재하지 않음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12400" y="4178300"/>
            <a:ext cx="13017500" cy="3556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82300" y="3898900"/>
            <a:ext cx="5054600" cy="5588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1239500" y="3937000"/>
            <a:ext cx="41783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상권더하기 타겟 고객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46300" y="2387600"/>
            <a:ext cx="201041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검증된 수요와 명백한 공백 속에서 상권더하기는 소상공인부터 지자체까지 연결되는 상권 재정의 플랫폼으로</a:t>
            </a:r>
          </a:p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서울시 1,090개 골목상권을 실질적으로 공략할 수 있는 시장성을 보유하고 있음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782300" y="5016500"/>
            <a:ext cx="12103100" cy="209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상권더하기의 타겟 고객은 크게 3가지 대상으로 나뉨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서울시 내 골목상권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소상공인을 대상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으로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 상권 재정의 및 브랜딩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통한 가치 전달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브랜딩, 공간디자인, 행사 등 검증된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파트너사 대상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으로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솔루션 마켓에 노출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장기적으로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축적된 데이터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를 활용하여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서울시 및 자치구 지자체 대상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으로 확장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74300" y="8597900"/>
            <a:ext cx="13017500" cy="41783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31500" y="8318500"/>
            <a:ext cx="5054600" cy="5588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1201400" y="8356600"/>
            <a:ext cx="41783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상권더하기 정책 연계 가능성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731500" y="9474200"/>
            <a:ext cx="12382500" cy="2641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서울시 2026 로컬브랜드 상권 육성사업, 상권별 2년간 10억 원 투입으로 공공 예산 집행중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서울시 골목상권 활성화, 자치구별 상권 맞춤형 사업 등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상권 브랜딩 정책 수요 지속 확대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서울시 상권 분석 서비스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AI 고도화 사업과 방향성 정합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으로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공공 협력 가능성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보유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상권더하기 서비스로 축적된 데이터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지자체 정책 수립의 근거 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자료로 활용 가능한</a:t>
            </a:r>
            <a:b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공공 자산으로 발전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가능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출품작의 창업, 매출 발생 및 투자가능성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46300" y="2387600"/>
            <a:ext cx="201041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진입 장벽이 낮고 확산 구조가 내재된 비즈니스 모델로, 초기 투자 대비 빠르게 시장을 확보할 수 있으며</a:t>
            </a:r>
          </a:p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플랫폼 가치가 높아지는 구조로 지속 가능한 사업화 기반을 갖춤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39500" y="3937000"/>
            <a:ext cx="41783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상권더하기 타겟 고객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4178300"/>
            <a:ext cx="22313900" cy="8216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3898900"/>
            <a:ext cx="5054600" cy="558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43100" y="3937000"/>
            <a:ext cx="41783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상권더하기 비즈니스 모델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08800" y="4686300"/>
            <a:ext cx="105283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상권은 고정된 것이 아닌, 가게가 합류할수록 상권이 확장 및 재정의되고, 
상권의 정체성과 브랜딩이 함께 진화하는 살아있는 플랫폼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6096000"/>
            <a:ext cx="11849100" cy="582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47800" y="7112000"/>
            <a:ext cx="8305800" cy="4064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73400" y="6858000"/>
            <a:ext cx="5054600" cy="558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6243300" y="6896100"/>
            <a:ext cx="41783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진입 구조와 확산 구조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566900" y="7810500"/>
            <a:ext cx="7569200" cy="287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202429"/>
                </a:solidFill>
                <a:latin typeface="Pretendard Light"/>
                <a:ea typeface="Pretendard Light"/>
                <a:cs typeface="Pretendard Light"/>
              </a:rPr>
              <a:t>소상공인 대상 모든 서비스 </a:t>
            </a:r>
            <a:r>
              <a:rPr lang="en-US" sz="2400" b="0" i="0" u="none" strike="noStrike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무료 제공</a:t>
            </a:r>
            <a:r>
              <a:rPr lang="en-US" sz="2400" b="0" i="0" u="none" strike="noStrike">
                <a:solidFill>
                  <a:srgbClr val="202429"/>
                </a:solidFill>
                <a:latin typeface="Pretendard Light"/>
                <a:ea typeface="Pretendard Light"/>
                <a:cs typeface="Pretendard Light"/>
              </a:rPr>
              <a:t>으로</a:t>
            </a:r>
            <a:r>
              <a:rPr lang="en-US" sz="2400" b="0" i="0" u="none" strike="noStrike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 진입장벽이 낮아</a:t>
            </a:r>
            <a:r>
              <a:rPr lang="en-US" sz="2400" b="0" i="0" u="none" strike="noStrike">
                <a:solidFill>
                  <a:srgbClr val="202429"/>
                </a:solidFill>
                <a:latin typeface="Pretendard Light"/>
                <a:ea typeface="Pretendard Light"/>
                <a:cs typeface="Pretendard Light"/>
              </a:rPr>
              <a:t> 초기 사용자 유입을 자연스럽게 유도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202429"/>
                </a:solidFill>
                <a:latin typeface="Pretendard Light"/>
                <a:ea typeface="Pretendard Light"/>
                <a:cs typeface="Pretendard Light"/>
              </a:rPr>
              <a:t>새로운 소상공인 사용자가 유입될 시 </a:t>
            </a:r>
            <a:r>
              <a:rPr lang="en-US" sz="2400" b="0" i="0" u="none" strike="noStrike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상권 정의가 업데이트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202429"/>
                </a:solidFill>
                <a:latin typeface="Pretendard Light"/>
                <a:ea typeface="Pretendard Light"/>
                <a:cs typeface="Pretendard Light"/>
              </a:rPr>
              <a:t>우리 가게 브랜딩 전략 및 우리 상권 공동 브랜딩 전략도 함께 업데이트 되어 </a:t>
            </a:r>
            <a:r>
              <a:rPr lang="en-US" sz="2400" b="0" i="0" u="none" strike="noStrike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브랜딩 전략</a:t>
            </a:r>
            <a:r>
              <a:rPr lang="en-US" sz="2400" b="0" i="0" u="none" strike="noStrike">
                <a:solidFill>
                  <a:srgbClr val="202429"/>
                </a:solidFill>
                <a:latin typeface="Pretendard Light"/>
                <a:ea typeface="Pretendard Light"/>
                <a:cs typeface="Pretendard Light"/>
              </a:rPr>
              <a:t>이 구체적이고 </a:t>
            </a:r>
            <a:r>
              <a:rPr lang="en-US" sz="2400" b="0" i="0" u="none" strike="noStrike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정교화</a:t>
            </a:r>
            <a:r>
              <a:rPr lang="en-US" sz="2400" b="0" i="0" u="none" strike="noStrike">
                <a:solidFill>
                  <a:srgbClr val="202429"/>
                </a:solidFill>
                <a:latin typeface="Pretendard Light"/>
                <a:ea typeface="Pretendard Light"/>
                <a:cs typeface="Pretendard Light"/>
              </a:rPr>
              <a:t>됨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202429"/>
                </a:solidFill>
                <a:latin typeface="Pretendard Light"/>
                <a:ea typeface="Pretendard Light"/>
                <a:cs typeface="Pretendard Light"/>
              </a:rPr>
              <a:t>이로써 사용자 이탈 동기가 낮아지는 </a:t>
            </a:r>
            <a:r>
              <a:rPr lang="en-US" sz="2400" b="0" i="0" u="none" strike="noStrike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락인 효과</a:t>
            </a:r>
            <a:r>
              <a:rPr lang="en-US" sz="2400" b="0" i="0" u="none" strike="noStrike">
                <a:solidFill>
                  <a:srgbClr val="202429"/>
                </a:solidFill>
                <a:latin typeface="Pretendard Light"/>
                <a:ea typeface="Pretendard Light"/>
                <a:cs typeface="Pretendard Light"/>
              </a:rPr>
              <a:t> 형성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출품작의 창업, 매출 발생 및 투자가능성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46300" y="2387600"/>
            <a:ext cx="201041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초기 광고 수익부터 장기 지자체 납품까지 명확한 수익 경로를 보유하고</a:t>
            </a:r>
          </a:p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소상공인 생존율 향상과 지역 상생이라는 사회적 가치를 동시에 실현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43100" y="3822700"/>
            <a:ext cx="41783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상권더하기 수익 구조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4140200"/>
            <a:ext cx="13550900" cy="5626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822700"/>
            <a:ext cx="5054600" cy="558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702300" y="3822700"/>
            <a:ext cx="41783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상권더하기 매출 발생 구조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35100" y="8039100"/>
            <a:ext cx="12827000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상권더하기 소상공인 대상 모든 서비스 무료 제공, 사용자가 모임으로써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광고 수익 </a:t>
            </a:r>
            <a:r>
              <a:rPr lang="en-US" sz="2666" b="0" i="0" u="none" strike="noStrike" cap="all">
                <a:solidFill>
                  <a:srgbClr val="202429"/>
                </a:solidFill>
                <a:latin typeface="Pretendard Light"/>
                <a:ea typeface="Pretendard Light"/>
                <a:cs typeface="Pretendard Light"/>
              </a:rPr>
              <a:t>창출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가능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솔루션 마켓 내 홍보, 마케팅 활동 원하는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파트너사 모집 및 노출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통해 수익 창출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장기적으로 재정된 상권 정보 등 데이터 축적으로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지자체 대상 데이터 납품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으로 수익 확장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0" y="4102100"/>
            <a:ext cx="8470900" cy="5651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94100" y="3822700"/>
            <a:ext cx="5638800" cy="5588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6637000" y="3873500"/>
            <a:ext cx="49530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상권 더하기 경쟁 우위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6900" y="4800600"/>
            <a:ext cx="6769100" cy="2933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9500" y="5410200"/>
            <a:ext cx="3060700" cy="2070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94300" y="6019800"/>
            <a:ext cx="2451100" cy="1206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5346700" y="6286500"/>
            <a:ext cx="21463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83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앱 내 광고 및 </a:t>
            </a:r>
          </a:p>
          <a:p>
            <a:pPr lvl="0" algn="ctr">
              <a:lnSpc>
                <a:spcPct val="116199"/>
              </a:lnSpc>
            </a:pPr>
            <a:r>
              <a:rPr lang="en-US" sz="183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파트너사 노출 수수료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1200" y="6019800"/>
            <a:ext cx="2451100" cy="1206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8470900" y="6286500"/>
            <a:ext cx="21463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83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B2G 축적된</a:t>
            </a:r>
          </a:p>
          <a:p>
            <a:pPr lvl="0" algn="ctr">
              <a:lnSpc>
                <a:spcPct val="116199"/>
              </a:lnSpc>
            </a:pPr>
            <a:r>
              <a:rPr lang="en-US" sz="183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데이터 납품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700" y="5549900"/>
            <a:ext cx="2146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83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&lt;단기&gt;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18300" y="4965700"/>
            <a:ext cx="2146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83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&lt;장기&gt;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163800" y="4800600"/>
            <a:ext cx="8001000" cy="426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상권 재정의 및 브랜딩은 해당 상권 소상공인의 참여로만</a:t>
            </a:r>
            <a:b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만들어지기 때문에 타 서비스가 복제할 수 없는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고유의</a:t>
            </a:r>
            <a:b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데이터 자산이 지속적으로 축적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됨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참여 소상공인 증가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는 데이터 축적, 브랜딩 고도화, 신규 소상공인 유입의 구조로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후발 진입자가 따라오기 어려운</a:t>
            </a:r>
            <a:b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선점 효과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지님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소상공인이 자신의 상권과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협업 가능한 네트워크를 발견하는 구조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, 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공동 브랜딩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과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지역 상생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으로 자연스럽게 이어짐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6000" y="10350500"/>
            <a:ext cx="22313900" cy="2438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85900" y="10071100"/>
            <a:ext cx="5054600" cy="5588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943100" y="10109200"/>
            <a:ext cx="41783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상권더하기 발전 가능성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85900" y="10934700"/>
            <a:ext cx="20167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데이터가 쌓일수록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플랫폼 가치가 높아지는 구조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로 선점한 플랫폼이 절대적으로 유리함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서울시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공공 정책과 방향성이 일치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하여 지자체 납품으로의 자연스러운 수익 확장 경로 확보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장기적으로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상권 침체를 사전에 예측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하고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선제 대응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하는 서울시 상권 조기 경보 시스템으로 고도화 가능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2527300"/>
            <a:ext cx="22352000" cy="104521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893300" y="2311400"/>
            <a:ext cx="46101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31AE"/>
                </a:solidFill>
                <a:highlight>
                  <a:srgbClr val="FFFFFF"/>
                </a:highlight>
                <a:latin typeface="Pretendard Bold"/>
                <a:ea typeface="Pretendard Bold"/>
                <a:cs typeface="Pretendard Bold"/>
              </a:rPr>
              <a:t>    활용 방안   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출품작 상용에 따른 파급효과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2019300" y="3822700"/>
            <a:ext cx="20345400" cy="21082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501900" y="4102100"/>
            <a:ext cx="194945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모든 소상공인이 데이터 기반으로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가게의 브랜드 성향과 정체성을 진단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하고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의사결정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할 수 있는 실질적 도구로 활용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소상공인이 입력한 가게 정보와 서울시 공공데이터를 분석하여 가게의 성향을 자동으로 진단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시간대별 운영 전략, 고객 유입 방식 등 구체적인 의사결정을 위한 정보를 소상공인에게 제시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05100" y="3098800"/>
            <a:ext cx="104394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소상공인 대상 데이터 기반 가게 운영 의사결정 지원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9300" y="3098800"/>
            <a:ext cx="482600" cy="482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019300" y="3149600"/>
            <a:ext cx="4572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62" b="0" i="0" u="none" strike="noStrike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1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2019300" y="7150100"/>
            <a:ext cx="20345400" cy="21082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501900" y="7429500"/>
            <a:ext cx="194945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상권 내 데이터 누적을 통해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지속적으로 업데이트 되는 상권 정보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를 통해 공동 마케팅과 브랜딩 기반으로 활용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상권 전체가 하나의 정체성을 가지고 유동인구를 유입시키는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집단적 마케팅 도구로 기능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소상공인 간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협력 문화 형성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을 통해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상권이 자생적으로 살아나는 구조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구축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05100" y="6426200"/>
            <a:ext cx="104394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상권 내 소상공인들의 공동 브랜딩 및 집단 마케팅 기반 마련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9300" y="6426200"/>
            <a:ext cx="482600" cy="4826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2019300" y="6477000"/>
            <a:ext cx="4572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62" b="0" i="0" u="none" strike="noStrike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2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>
            <a:off x="2019300" y="10477500"/>
            <a:ext cx="20345400" cy="21082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501900" y="10756900"/>
            <a:ext cx="194945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축적된 상권 분석 데이터를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지자체 예산 분배 및 상권 활성화 정책 수립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의 실질적인 근거로 제공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지원 대상 선정, 상권 별 맞춤 정책 설계 등에 활용 가능한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정밀 데이터 공급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공공데이터가 서비스를 통해 정책으로 다시 순환되는 </a:t>
            </a:r>
            <a:r>
              <a:rPr lang="en-US" sz="2666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선순환 구조</a:t>
            </a:r>
            <a:r>
              <a:rPr lang="en-US" sz="2666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실현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05100" y="9753600"/>
            <a:ext cx="104394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지자체의 데이터 기반 상권 정책 수립 근거 자료로 활용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9300" y="9753600"/>
            <a:ext cx="482600" cy="4826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2019300" y="9804400"/>
            <a:ext cx="4572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62" b="0" i="0" u="none" strike="noStrike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03300"/>
            <a:ext cx="1054100" cy="80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939800"/>
            <a:ext cx="939800" cy="927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76500" y="1130300"/>
            <a:ext cx="101219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31AE"/>
                </a:solidFill>
                <a:latin typeface="Pretendard Bold"/>
                <a:ea typeface="Pretendard Bold"/>
                <a:cs typeface="Pretendard Bold"/>
              </a:rPr>
              <a:t>출품작 상용에 따른 파급효과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1092200"/>
            <a:ext cx="838200" cy="6350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73400" y="457200"/>
            <a:ext cx="7556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33" b="0" i="0" u="none" strike="noStrike">
                <a:solidFill>
                  <a:srgbClr val="000000">
                    <a:alpha val="65098"/>
                  </a:srgbClr>
                </a:solidFill>
                <a:latin typeface="Pretendard Regular"/>
                <a:ea typeface="Pretendard Regular"/>
                <a:cs typeface="Pretendard Regular"/>
              </a:rPr>
              <a:t>2026년 서울시 빅데이터 활용 경진대회(서울 열린데이터 광장)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" y="5295900"/>
            <a:ext cx="5410200" cy="7315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20800" y="6477000"/>
            <a:ext cx="46482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202429"/>
                </a:solidFill>
                <a:latin typeface="Pretendard Medium"/>
                <a:ea typeface="Pretendard Medium"/>
                <a:cs typeface="Pretendard Medium"/>
              </a:rPr>
              <a:t>데이터 기반 운영 솔루션으로</a:t>
            </a:r>
          </a:p>
          <a:p>
            <a:pPr lvl="0" algn="ct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202429"/>
                </a:solidFill>
                <a:latin typeface="Pretendard Medium"/>
                <a:ea typeface="Pretendard Medium"/>
                <a:cs typeface="Pretendard Medium"/>
              </a:rPr>
              <a:t>생존 경쟁력 향상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0800" y="7696200"/>
            <a:ext cx="5105400" cy="287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브랜딩 전략 통해 소상공인 가게의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운영 효율 향상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의사결정 부담 감소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고객 방문율을 높이고 충성 고객층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확보로 연결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소상공인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폐업률을 낮추는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실질적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대안으로 소상공인의 수요와 연결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5740400"/>
            <a:ext cx="1816100" cy="558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882900" y="5778500"/>
            <a:ext cx="15240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시장성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9956800" y="3403600"/>
            <a:ext cx="4470400" cy="1600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6800" y="1866900"/>
            <a:ext cx="4038600" cy="1651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70500" y="5295900"/>
            <a:ext cx="5410200" cy="73152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8313400" y="6477000"/>
            <a:ext cx="46482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202429"/>
                </a:solidFill>
                <a:latin typeface="Pretendard Medium"/>
                <a:ea typeface="Pretendard Medium"/>
                <a:cs typeface="Pretendard Medium"/>
              </a:rPr>
              <a:t>축적된 데이터 서울시 상권</a:t>
            </a:r>
          </a:p>
          <a:p>
            <a:pPr lvl="0" algn="ct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202429"/>
                </a:solidFill>
                <a:latin typeface="Pretendard Medium"/>
                <a:ea typeface="Pretendard Medium"/>
                <a:cs typeface="Pretendard Medium"/>
              </a:rPr>
              <a:t>침체 사전 예측 및 선제 대응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097500" y="7696200"/>
            <a:ext cx="5156200" cy="3835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고정된 것이 아닌 시간에 따라 변화하는 상권 정체성을 축적한 데이터를 통해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상권 트렌드 변화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를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패턴으로 읽어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내는 것이 가능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단순 현황 파악을 넘어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상권 쇠퇴 징후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를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조기에 감지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하여 선제적으로 대응할 수 있는 서울시 상권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조기경보 시스템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으로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고도화 가능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23100" y="5740400"/>
            <a:ext cx="1816100" cy="5588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9875500" y="5778500"/>
            <a:ext cx="15240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장기성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2100" y="5295900"/>
            <a:ext cx="5410200" cy="73152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6705600" y="6477000"/>
            <a:ext cx="53848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202429"/>
                </a:solidFill>
                <a:latin typeface="Pretendard Medium"/>
                <a:ea typeface="Pretendard Medium"/>
                <a:cs typeface="Pretendard Medium"/>
              </a:rPr>
              <a:t>공동 브랜딩을 매개로 협력 문화 형성, </a:t>
            </a:r>
          </a:p>
          <a:p>
            <a:pPr lvl="0" algn="ct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202429"/>
                </a:solidFill>
                <a:latin typeface="Pretendard Medium"/>
                <a:ea typeface="Pretendard Medium"/>
                <a:cs typeface="Pretendard Medium"/>
              </a:rPr>
              <a:t>골목상권 공동체 회복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07200" y="7696200"/>
            <a:ext cx="5105400" cy="335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상권 재정의로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공동의 정체성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이 생기며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소상공인이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협력하는 문화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로 전환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소상공인 간 결속이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지역 소비 선순환</a:t>
            </a:r>
            <a:b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으로 이어져 스스로 살아나는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자생적</a:t>
            </a:r>
            <a:b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상권 생태계 구축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침체된 골목상권의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브랜드 경쟁력 회복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,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지역 공동체 활성화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의 거점으로 재탄생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400" y="5740400"/>
            <a:ext cx="1816100" cy="5588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8547100" y="5778500"/>
            <a:ext cx="15240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사회성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06300" y="5295900"/>
            <a:ext cx="5410200" cy="73152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2649200" y="6718300"/>
            <a:ext cx="46482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cap="all">
                <a:solidFill>
                  <a:srgbClr val="202429"/>
                </a:solidFill>
                <a:latin typeface="Pretendard Medium"/>
                <a:ea typeface="Pretendard Medium"/>
                <a:cs typeface="Pretendard Medium"/>
              </a:rPr>
              <a:t>서울시 상권 경제 규모 확대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433300" y="7696200"/>
            <a:ext cx="5156200" cy="433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소상공인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폐업 감소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로 서울시 골목상권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활력을 유지하고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도시 상업 생태계의</a:t>
            </a:r>
            <a:b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지속성 확보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축적된 상권 데이터, 서울시 정책 수립의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정밀도를 높이는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 공공 자산</a:t>
            </a: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으로 기능 및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도시 경쟁력 강화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상권 브랜딩 통해 서울 내 골목상권이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관광 및 소비 자원으로 발전하여</a:t>
            </a:r>
            <a:b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400" b="0" i="0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서울시 전체 </a:t>
            </a:r>
            <a:r>
              <a:rPr lang="en-US" sz="2400" b="0" i="0" u="none" strike="noStrike" cap="all">
                <a:solidFill>
                  <a:srgbClr val="0031AE"/>
                </a:solidFill>
                <a:latin typeface="Pretendard Light"/>
                <a:ea typeface="Pretendard Light"/>
                <a:cs typeface="Pretendard Light"/>
              </a:rPr>
              <a:t>경제 규모 확대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804900" y="5740400"/>
            <a:ext cx="2324100" cy="5588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3995400" y="5778500"/>
            <a:ext cx="1981200" cy="469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공공 이익성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2453600" y="130556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66" b="0" i="0" u="none" strike="noStrike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2590</Words>
  <Application>Microsoft Office PowerPoint</Application>
  <PresentationFormat>사용자 지정</PresentationFormat>
  <Paragraphs>384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1" baseType="lpstr">
      <vt:lpstr>Calibri</vt:lpstr>
      <vt:lpstr>Pretendard Bold</vt:lpstr>
      <vt:lpstr>NanumSquareRoundOTF ExtraBold</vt:lpstr>
      <vt:lpstr>Pretendard SemiBold</vt:lpstr>
      <vt:lpstr>Pretendard Regular</vt:lpstr>
      <vt:lpstr>Pretendard ExtraBold</vt:lpstr>
      <vt:lpstr>Arial</vt:lpstr>
      <vt:lpstr>Pretendard Medium</vt:lpstr>
      <vt:lpstr>Pretendard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이승건(대학원생-비즈니스IT전공)</cp:lastModifiedBy>
  <cp:revision>3</cp:revision>
  <dcterms:created xsi:type="dcterms:W3CDTF">2006-08-16T00:00:00Z</dcterms:created>
  <dcterms:modified xsi:type="dcterms:W3CDTF">2026-05-27T05:22:51Z</dcterms:modified>
</cp:coreProperties>
</file>