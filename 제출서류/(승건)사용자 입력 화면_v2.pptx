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4DE8"/>
    <a:srgbClr val="EEEDFB"/>
    <a:srgbClr val="8E87EF"/>
    <a:srgbClr val="F2F2F2"/>
    <a:srgbClr val="5B4FE8"/>
    <a:srgbClr val="005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9007" autoAdjust="0"/>
  </p:normalViewPr>
  <p:slideViewPr>
    <p:cSldViewPr snapToGrid="0">
      <p:cViewPr varScale="1">
        <p:scale>
          <a:sx n="103" d="100"/>
          <a:sy n="103" d="100"/>
        </p:scale>
        <p:origin x="13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2AE36-6E0A-4DC5-8C46-C2B0F72B22A8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4E441-DF91-44C2-AADD-D299EE4E1F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3161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34E441-DF91-44C2-AADD-D299EE4E1FA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184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8A8794-1F61-01F7-67A8-7A7B5582B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95E6A1-33E2-0CED-C773-7A19239620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BB460D-F620-F2C5-E44F-98E1BF966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CF08-40F2-4D16-B2E9-F2F0068F2060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7031B8-0B35-4B8A-9B8C-6D86F9E73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1B10E1-8F3A-8A00-94AE-FBCE54D06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44C2E-2473-44B9-8EB8-9BC42DBA40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88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65519C-FB3F-649D-E32A-AAB805B1F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DB4837-AAB8-0555-A282-03BF15DFF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F43AE3-093E-24FB-ABCD-030E22D21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CF08-40F2-4D16-B2E9-F2F0068F2060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B839FE-D4C6-EF45-A5CD-D5C81D587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7F12C7-BF22-822C-19E8-40340918C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44C2E-2473-44B9-8EB8-9BC42DBA40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54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FCCB4D-9501-E92E-7D15-0F9E23C35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4610CA-5780-F5CB-07C1-A565E703E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08AF14-99A5-2A5F-E3FB-379CF6EE2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CF08-40F2-4D16-B2E9-F2F0068F2060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50B0B9-744F-9C83-5C50-EC665B0E4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165868-91AF-DE9D-8A4D-E07EA2355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44C2E-2473-44B9-8EB8-9BC42DBA40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7437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1BFC5B-0E29-9DD7-DF37-B02904500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C6922B-81CA-02FE-6EF5-FC7DD583AE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1F1A0E7-A70D-B7C8-EAF7-8270E84BC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50536C-68BD-A5D0-2262-B69A77C0B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CF08-40F2-4D16-B2E9-F2F0068F2060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71BA94-3485-6838-7AF0-28ABF4599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8AD4C6-90E5-9511-CFD0-9781FCEC7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44C2E-2473-44B9-8EB8-9BC42DBA40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400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94F377-28AA-57C6-C30D-77CB7C48C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1A9333-0562-FA28-74D9-495227DF2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A87C08F-2D42-0EEB-FD89-3F11BD3B4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094593A-22D1-4861-B812-F41FA1C66B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8ECE6AC-5A57-1DE3-D122-8B4F0F450A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F0FE6FB-9918-F9EB-5687-E6372CB2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CF08-40F2-4D16-B2E9-F2F0068F2060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005C172-6BA3-5412-8FA4-68511C660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559C111-4CC2-3F6D-3ADD-2EAC07C62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44C2E-2473-44B9-8EB8-9BC42DBA40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4314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1AF4F3-0BBD-36C2-7AED-4D3F74476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2C0340D-5A0C-BFB4-F7C9-A09CE94E6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CF08-40F2-4D16-B2E9-F2F0068F2060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D42241A-D4BE-5A2F-8092-18F28F330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B4E4FCA-6E32-9BD3-FDF7-1AD0DDC70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44C2E-2473-44B9-8EB8-9BC42DBA40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3661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83F0A33-785A-0E09-4817-8EACDA336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CF08-40F2-4D16-B2E9-F2F0068F2060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AB40835-0817-3A97-7400-886557951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5ACB04-C9B5-B97F-C1CC-3F9322078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44C2E-2473-44B9-8EB8-9BC42DBA40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339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7C29D0-F04C-590E-4F22-521827536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1E32D0-C7A1-037A-8D90-99007935D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A68361-B402-9E1E-CE8F-98E65B5CD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897C8F-E84D-DFCA-72E6-6C0729A9A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CF08-40F2-4D16-B2E9-F2F0068F2060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88A2B8-A3FE-65AC-7EC1-208CC3F8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357189-F661-14E1-AC26-E0CA55061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44C2E-2473-44B9-8EB8-9BC42DBA40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2550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3729AC-261F-D372-95EA-BC2639924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53D20D4-99BA-E674-FB49-535B47426E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67E32C-D5E9-3AEE-6512-BAC2707B5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BC33F5-DD69-5378-37BE-20235C1D7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CF08-40F2-4D16-B2E9-F2F0068F2060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8CBB15-93F6-49BB-7476-4445C14E3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6EE3B8-6DCF-D4B5-1786-922A37FC1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44C2E-2473-44B9-8EB8-9BC42DBA40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55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22D92-CF96-A876-A307-94FF85B4B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728DC3E-68FA-A4DF-B3BD-3B8B7E3A59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F091EF-99C1-3332-C6CD-1B395880D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CF08-40F2-4D16-B2E9-F2F0068F2060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6703B3-7610-4BFB-AAEA-1B624C4A8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3C4958-62CC-BFD7-3BEF-6EA69F35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44C2E-2473-44B9-8EB8-9BC42DBA40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4474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F88F23F-E081-9ADD-7352-7714F33528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FE8B8F9-D2C5-326E-C4D3-19CD04D3C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2F1587-4615-96FB-12A9-DCBA70D23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5CF08-40F2-4D16-B2E9-F2F0068F2060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A59FD7-1021-81B9-353A-54B428B98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20A93D-373F-DFC1-013C-A0F2F0868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44C2E-2473-44B9-8EB8-9BC42DBA40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5937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CECD071-3949-E88D-01D4-46207B821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168249-DBDC-1FBC-06E3-FC05D6AFA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F75DB0-4C61-9485-6B76-93C0CF17FD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85CF08-40F2-4D16-B2E9-F2F0068F2060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33BCF1-A14C-097C-487B-4D87CB966E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49A8D7-2A12-F7D5-1EF2-F5000ED498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C44C2E-2473-44B9-8EB8-9BC42DBA40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3521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그룹 291">
            <a:extLst>
              <a:ext uri="{FF2B5EF4-FFF2-40B4-BE49-F238E27FC236}">
                <a16:creationId xmlns:a16="http://schemas.microsoft.com/office/drawing/2014/main" id="{D40A6EF1-283E-B2BD-8060-91EB9F3D853C}"/>
              </a:ext>
            </a:extLst>
          </p:cNvPr>
          <p:cNvGrpSpPr/>
          <p:nvPr/>
        </p:nvGrpSpPr>
        <p:grpSpPr>
          <a:xfrm>
            <a:off x="1550895" y="115945"/>
            <a:ext cx="2591695" cy="6677612"/>
            <a:chOff x="1550895" y="115945"/>
            <a:chExt cx="2591695" cy="6677612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D8B2EE9-FEB6-A7D2-86D3-40D4287B867E}"/>
                </a:ext>
              </a:extLst>
            </p:cNvPr>
            <p:cNvSpPr/>
            <p:nvPr/>
          </p:nvSpPr>
          <p:spPr>
            <a:xfrm>
              <a:off x="1550895" y="115945"/>
              <a:ext cx="2591337" cy="66730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2D80C44-9FFD-C85C-0F9D-60BAFCC5CDDB}"/>
                </a:ext>
              </a:extLst>
            </p:cNvPr>
            <p:cNvSpPr txBox="1"/>
            <p:nvPr/>
          </p:nvSpPr>
          <p:spPr>
            <a:xfrm>
              <a:off x="1550895" y="118791"/>
              <a:ext cx="75052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solidFill>
                    <a:srgbClr val="594DE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·  </a:t>
              </a:r>
              <a:r>
                <a:rPr lang="ko-KR" altLang="en-US" sz="1000" b="1" dirty="0">
                  <a:solidFill>
                    <a:srgbClr val="594DE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기본 정보</a:t>
              </a:r>
            </a:p>
          </p:txBody>
        </p:sp>
        <p:sp>
          <p:nvSpPr>
            <p:cNvPr id="7" name="Text 2">
              <a:extLst>
                <a:ext uri="{FF2B5EF4-FFF2-40B4-BE49-F238E27FC236}">
                  <a16:creationId xmlns:a16="http://schemas.microsoft.com/office/drawing/2014/main" id="{9F6A16A4-ADAA-297C-BEC3-37749BD850DA}"/>
                </a:ext>
              </a:extLst>
            </p:cNvPr>
            <p:cNvSpPr/>
            <p:nvPr/>
          </p:nvSpPr>
          <p:spPr>
            <a:xfrm>
              <a:off x="2230147" y="151006"/>
              <a:ext cx="1183161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AEAEB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우리 가게를 알려주세요</a:t>
              </a:r>
              <a:endParaRPr 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8" name="Text 3">
              <a:extLst>
                <a:ext uri="{FF2B5EF4-FFF2-40B4-BE49-F238E27FC236}">
                  <a16:creationId xmlns:a16="http://schemas.microsoft.com/office/drawing/2014/main" id="{96712E88-D592-EA3F-6FD2-0940D80A9969}"/>
                </a:ext>
              </a:extLst>
            </p:cNvPr>
            <p:cNvSpPr/>
            <p:nvPr/>
          </p:nvSpPr>
          <p:spPr>
            <a:xfrm>
              <a:off x="1673172" y="314386"/>
              <a:ext cx="628249" cy="2462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48484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상호명</a:t>
              </a:r>
              <a:endParaRPr 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A5BC9B06-7343-40E1-9F2A-D72B4FADE073}"/>
                </a:ext>
              </a:extLst>
            </p:cNvPr>
            <p:cNvSpPr/>
            <p:nvPr/>
          </p:nvSpPr>
          <p:spPr>
            <a:xfrm>
              <a:off x="1673172" y="583132"/>
              <a:ext cx="2348753" cy="24622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가게 이름을 입력하세요</a:t>
              </a:r>
            </a:p>
          </p:txBody>
        </p:sp>
        <p:sp>
          <p:nvSpPr>
            <p:cNvPr id="13" name="Text 3">
              <a:extLst>
                <a:ext uri="{FF2B5EF4-FFF2-40B4-BE49-F238E27FC236}">
                  <a16:creationId xmlns:a16="http://schemas.microsoft.com/office/drawing/2014/main" id="{DF9F68D6-C565-E81C-EA59-26206EE05382}"/>
                </a:ext>
              </a:extLst>
            </p:cNvPr>
            <p:cNvSpPr/>
            <p:nvPr/>
          </p:nvSpPr>
          <p:spPr>
            <a:xfrm>
              <a:off x="1673172" y="893456"/>
              <a:ext cx="628249" cy="2462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900" b="1" dirty="0">
                  <a:solidFill>
                    <a:srgbClr val="48484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위치</a:t>
              </a:r>
              <a:endParaRPr lang="en-US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D44120FE-21DC-62E4-2782-828761BC5719}"/>
                </a:ext>
              </a:extLst>
            </p:cNvPr>
            <p:cNvSpPr/>
            <p:nvPr/>
          </p:nvSpPr>
          <p:spPr>
            <a:xfrm>
              <a:off x="1673172" y="1162202"/>
              <a:ext cx="1114851" cy="24622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마포구</a:t>
              </a: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A7BC657C-F36A-97AA-F972-2664C4DF527A}"/>
                </a:ext>
              </a:extLst>
            </p:cNvPr>
            <p:cNvSpPr/>
            <p:nvPr/>
          </p:nvSpPr>
          <p:spPr>
            <a:xfrm>
              <a:off x="2904565" y="1162202"/>
              <a:ext cx="1114851" cy="24622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서교동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58C3A5B-20D1-B8F9-B596-C5D8DFBD1C62}"/>
                </a:ext>
              </a:extLst>
            </p:cNvPr>
            <p:cNvSpPr txBox="1"/>
            <p:nvPr/>
          </p:nvSpPr>
          <p:spPr>
            <a:xfrm>
              <a:off x="1646277" y="1408423"/>
              <a:ext cx="242047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구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CBF6595-16FF-DADF-0514-0C37BE7C2CFA}"/>
                </a:ext>
              </a:extLst>
            </p:cNvPr>
            <p:cNvSpPr txBox="1"/>
            <p:nvPr/>
          </p:nvSpPr>
          <p:spPr>
            <a:xfrm>
              <a:off x="2867091" y="1408423"/>
              <a:ext cx="242047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동</a:t>
              </a:r>
            </a:p>
          </p:txBody>
        </p:sp>
        <p:sp>
          <p:nvSpPr>
            <p:cNvPr id="19" name="Text 3">
              <a:extLst>
                <a:ext uri="{FF2B5EF4-FFF2-40B4-BE49-F238E27FC236}">
                  <a16:creationId xmlns:a16="http://schemas.microsoft.com/office/drawing/2014/main" id="{47D42D5C-3870-5993-EEDB-65D9C456724D}"/>
                </a:ext>
              </a:extLst>
            </p:cNvPr>
            <p:cNvSpPr/>
            <p:nvPr/>
          </p:nvSpPr>
          <p:spPr>
            <a:xfrm>
              <a:off x="1673172" y="1652690"/>
              <a:ext cx="628249" cy="2462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900" b="1" dirty="0">
                  <a:solidFill>
                    <a:srgbClr val="48484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운영 요일</a:t>
              </a:r>
              <a:endParaRPr lang="en-US" altLang="ko-KR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093F0545-EA49-6826-00B0-0B84C63A0B1B}"/>
                </a:ext>
              </a:extLst>
            </p:cNvPr>
            <p:cNvSpPr/>
            <p:nvPr/>
          </p:nvSpPr>
          <p:spPr>
            <a:xfrm>
              <a:off x="1673173" y="1925938"/>
              <a:ext cx="714670" cy="33030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주</a:t>
              </a:r>
              <a:r>
                <a:rPr lang="en-US" altLang="ko-KR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5</a:t>
              </a:r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일</a:t>
              </a:r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B390CE7C-4965-DF3B-5765-2204C1D44E8F}"/>
                </a:ext>
              </a:extLst>
            </p:cNvPr>
            <p:cNvSpPr/>
            <p:nvPr/>
          </p:nvSpPr>
          <p:spPr>
            <a:xfrm>
              <a:off x="2488960" y="1925938"/>
              <a:ext cx="714670" cy="33030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주</a:t>
              </a:r>
              <a:r>
                <a:rPr lang="en-US" altLang="ko-KR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6</a:t>
              </a:r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일</a:t>
              </a: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FCF0D19E-9476-1128-E69E-89C2E4AA8D81}"/>
                </a:ext>
              </a:extLst>
            </p:cNvPr>
            <p:cNvSpPr/>
            <p:nvPr/>
          </p:nvSpPr>
          <p:spPr>
            <a:xfrm>
              <a:off x="3304747" y="1925938"/>
              <a:ext cx="714670" cy="330301"/>
            </a:xfrm>
            <a:prstGeom prst="roundRect">
              <a:avLst/>
            </a:prstGeom>
            <a:solidFill>
              <a:srgbClr val="5B4F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주</a:t>
              </a:r>
              <a:r>
                <a:rPr lang="en-US" altLang="ko-KR" sz="8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7</a:t>
              </a:r>
              <a:r>
                <a:rPr lang="ko-KR" altLang="en-US" sz="8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일</a:t>
              </a:r>
            </a:p>
          </p:txBody>
        </p:sp>
        <p:sp>
          <p:nvSpPr>
            <p:cNvPr id="28" name="Text 3">
              <a:extLst>
                <a:ext uri="{FF2B5EF4-FFF2-40B4-BE49-F238E27FC236}">
                  <a16:creationId xmlns:a16="http://schemas.microsoft.com/office/drawing/2014/main" id="{5E20A24C-014F-C7DC-60BA-9EB165E5D632}"/>
                </a:ext>
              </a:extLst>
            </p:cNvPr>
            <p:cNvSpPr/>
            <p:nvPr/>
          </p:nvSpPr>
          <p:spPr>
            <a:xfrm>
              <a:off x="1673172" y="2295729"/>
              <a:ext cx="628249" cy="2462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900" b="1" dirty="0">
                  <a:solidFill>
                    <a:srgbClr val="48484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운영 시간</a:t>
              </a:r>
              <a:endParaRPr lang="en-US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5618D05B-43D9-9CA7-E395-879F43D4E1E6}"/>
                </a:ext>
              </a:extLst>
            </p:cNvPr>
            <p:cNvSpPr/>
            <p:nvPr/>
          </p:nvSpPr>
          <p:spPr>
            <a:xfrm>
              <a:off x="1673173" y="2564475"/>
              <a:ext cx="1043222" cy="24622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오픈시간</a:t>
              </a:r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CB9B7392-885B-8008-BCD1-BA9CB584FB1A}"/>
                </a:ext>
              </a:extLst>
            </p:cNvPr>
            <p:cNvSpPr/>
            <p:nvPr/>
          </p:nvSpPr>
          <p:spPr>
            <a:xfrm>
              <a:off x="2976194" y="2564475"/>
              <a:ext cx="1043222" cy="24622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마감시간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5E2FEDF-B47E-9959-D6B6-288E621F6969}"/>
                </a:ext>
              </a:extLst>
            </p:cNvPr>
            <p:cNvSpPr txBox="1"/>
            <p:nvPr/>
          </p:nvSpPr>
          <p:spPr>
            <a:xfrm>
              <a:off x="2716395" y="2564475"/>
              <a:ext cx="242047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~</a:t>
              </a:r>
              <a:endPara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2" name="Text 3">
              <a:extLst>
                <a:ext uri="{FF2B5EF4-FFF2-40B4-BE49-F238E27FC236}">
                  <a16:creationId xmlns:a16="http://schemas.microsoft.com/office/drawing/2014/main" id="{86234A89-8D41-96D2-A280-E217343B6B76}"/>
                </a:ext>
              </a:extLst>
            </p:cNvPr>
            <p:cNvSpPr/>
            <p:nvPr/>
          </p:nvSpPr>
          <p:spPr>
            <a:xfrm>
              <a:off x="1673172" y="2864387"/>
              <a:ext cx="628249" cy="2462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900" b="1" dirty="0">
                  <a:solidFill>
                    <a:srgbClr val="48484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업력</a:t>
              </a:r>
              <a:endParaRPr lang="en-US" altLang="ko-KR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D1AD90DE-F766-F8E2-97E3-5F3AA684EFAB}"/>
                </a:ext>
              </a:extLst>
            </p:cNvPr>
            <p:cNvSpPr/>
            <p:nvPr/>
          </p:nvSpPr>
          <p:spPr>
            <a:xfrm>
              <a:off x="1673173" y="3137635"/>
              <a:ext cx="714670" cy="33030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6</a:t>
              </a:r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개월 미만</a:t>
              </a:r>
            </a:p>
          </p:txBody>
        </p:sp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0B4D5D0C-0324-125D-6CFE-0461D4DE61D1}"/>
                </a:ext>
              </a:extLst>
            </p:cNvPr>
            <p:cNvSpPr/>
            <p:nvPr/>
          </p:nvSpPr>
          <p:spPr>
            <a:xfrm>
              <a:off x="2488960" y="3137635"/>
              <a:ext cx="714670" cy="330301"/>
            </a:xfrm>
            <a:prstGeom prst="roundRect">
              <a:avLst/>
            </a:prstGeom>
            <a:solidFill>
              <a:srgbClr val="594D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6</a:t>
              </a:r>
              <a:r>
                <a:rPr lang="ko-KR" altLang="en-US" sz="8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개월</a:t>
              </a:r>
              <a:r>
                <a:rPr lang="en-US" altLang="ko-KR" sz="8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~2</a:t>
              </a:r>
              <a:r>
                <a:rPr lang="ko-KR" altLang="en-US" sz="8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년</a:t>
              </a:r>
            </a:p>
          </p:txBody>
        </p:sp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28983EF3-380F-894E-36C3-93807F7C9172}"/>
                </a:ext>
              </a:extLst>
            </p:cNvPr>
            <p:cNvSpPr/>
            <p:nvPr/>
          </p:nvSpPr>
          <p:spPr>
            <a:xfrm>
              <a:off x="3304747" y="3137635"/>
              <a:ext cx="714670" cy="330301"/>
            </a:xfrm>
            <a:prstGeom prst="round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2</a:t>
              </a:r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년 이상</a:t>
              </a:r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C7C5D2AA-67F7-70DE-A187-ED6E9563BBAF}"/>
                </a:ext>
              </a:extLst>
            </p:cNvPr>
            <p:cNvSpPr/>
            <p:nvPr/>
          </p:nvSpPr>
          <p:spPr>
            <a:xfrm>
              <a:off x="1673172" y="3508718"/>
              <a:ext cx="628249" cy="2462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900" b="1" dirty="0">
                  <a:solidFill>
                    <a:srgbClr val="48484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시그니처 상품</a:t>
              </a:r>
              <a:endParaRPr 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95D3BC05-1AA5-9ECB-8CF5-DAAAEE860B0F}"/>
                </a:ext>
              </a:extLst>
            </p:cNvPr>
            <p:cNvSpPr/>
            <p:nvPr/>
          </p:nvSpPr>
          <p:spPr>
            <a:xfrm>
              <a:off x="1673172" y="3777464"/>
              <a:ext cx="2348753" cy="24622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대표 메뉴를 입력하세요</a:t>
              </a:r>
            </a:p>
          </p:txBody>
        </p:sp>
        <p:sp>
          <p:nvSpPr>
            <p:cNvPr id="84" name="Text 3">
              <a:extLst>
                <a:ext uri="{FF2B5EF4-FFF2-40B4-BE49-F238E27FC236}">
                  <a16:creationId xmlns:a16="http://schemas.microsoft.com/office/drawing/2014/main" id="{284C9FCA-288D-E290-F1E0-8B8A0796923D}"/>
                </a:ext>
              </a:extLst>
            </p:cNvPr>
            <p:cNvSpPr/>
            <p:nvPr/>
          </p:nvSpPr>
          <p:spPr>
            <a:xfrm>
              <a:off x="1673172" y="4062135"/>
              <a:ext cx="815788" cy="2462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900" b="1" dirty="0">
                  <a:solidFill>
                    <a:srgbClr val="48484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주 고객층</a:t>
              </a:r>
              <a:r>
                <a:rPr lang="en-US" altLang="ko-KR" sz="900" b="1" dirty="0">
                  <a:solidFill>
                    <a:srgbClr val="48484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: </a:t>
              </a:r>
              <a:r>
                <a:rPr lang="ko-KR" altLang="en-US" sz="900" b="1" dirty="0">
                  <a:solidFill>
                    <a:srgbClr val="48484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연령대</a:t>
              </a:r>
              <a:endParaRPr lang="en-US" altLang="ko-KR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9996694A-81DD-ABC2-FEA7-338AAAD54B17}"/>
                </a:ext>
              </a:extLst>
            </p:cNvPr>
            <p:cNvSpPr/>
            <p:nvPr/>
          </p:nvSpPr>
          <p:spPr>
            <a:xfrm>
              <a:off x="1673173" y="4335383"/>
              <a:ext cx="519088" cy="33030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10</a:t>
              </a:r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대</a:t>
              </a:r>
            </a:p>
          </p:txBody>
        </p:sp>
        <p:sp>
          <p:nvSpPr>
            <p:cNvPr id="88" name="사각형: 둥근 모서리 87">
              <a:extLst>
                <a:ext uri="{FF2B5EF4-FFF2-40B4-BE49-F238E27FC236}">
                  <a16:creationId xmlns:a16="http://schemas.microsoft.com/office/drawing/2014/main" id="{0C15A368-F330-2B88-0415-7BBF945DF7AE}"/>
                </a:ext>
              </a:extLst>
            </p:cNvPr>
            <p:cNvSpPr/>
            <p:nvPr/>
          </p:nvSpPr>
          <p:spPr>
            <a:xfrm>
              <a:off x="2280673" y="4335383"/>
              <a:ext cx="519088" cy="330301"/>
            </a:xfrm>
            <a:prstGeom prst="roundRect">
              <a:avLst/>
            </a:prstGeom>
            <a:solidFill>
              <a:srgbClr val="594D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20</a:t>
              </a:r>
              <a:r>
                <a:rPr lang="ko-KR" altLang="en-US" sz="8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대</a:t>
              </a:r>
            </a:p>
          </p:txBody>
        </p:sp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90239FC0-AB12-53E6-0FE0-1E59DD743833}"/>
                </a:ext>
              </a:extLst>
            </p:cNvPr>
            <p:cNvSpPr/>
            <p:nvPr/>
          </p:nvSpPr>
          <p:spPr>
            <a:xfrm>
              <a:off x="2900320" y="4335383"/>
              <a:ext cx="519088" cy="33030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30</a:t>
              </a:r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대</a:t>
              </a:r>
            </a:p>
          </p:txBody>
        </p:sp>
        <p:sp>
          <p:nvSpPr>
            <p:cNvPr id="90" name="사각형: 둥근 모서리 89">
              <a:extLst>
                <a:ext uri="{FF2B5EF4-FFF2-40B4-BE49-F238E27FC236}">
                  <a16:creationId xmlns:a16="http://schemas.microsoft.com/office/drawing/2014/main" id="{D8336775-FD10-54BD-090F-4BC3BA1B3FA5}"/>
                </a:ext>
              </a:extLst>
            </p:cNvPr>
            <p:cNvSpPr/>
            <p:nvPr/>
          </p:nvSpPr>
          <p:spPr>
            <a:xfrm>
              <a:off x="3500328" y="4335383"/>
              <a:ext cx="519088" cy="33030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40</a:t>
              </a:r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대</a:t>
              </a:r>
              <a:r>
                <a:rPr lang="en-US" altLang="ko-KR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+</a:t>
              </a:r>
              <a:endParaRPr lang="ko-KR" altLang="en-US" sz="8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1" name="Text 3">
              <a:extLst>
                <a:ext uri="{FF2B5EF4-FFF2-40B4-BE49-F238E27FC236}">
                  <a16:creationId xmlns:a16="http://schemas.microsoft.com/office/drawing/2014/main" id="{C5B22F0D-6087-C6E3-6256-4DC9E35E19C0}"/>
                </a:ext>
              </a:extLst>
            </p:cNvPr>
            <p:cNvSpPr/>
            <p:nvPr/>
          </p:nvSpPr>
          <p:spPr>
            <a:xfrm>
              <a:off x="1673172" y="4714718"/>
              <a:ext cx="815788" cy="2462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900" b="1" dirty="0">
                  <a:solidFill>
                    <a:srgbClr val="48484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주 고객층</a:t>
              </a:r>
              <a:r>
                <a:rPr lang="en-US" altLang="ko-KR" sz="900" b="1" dirty="0">
                  <a:solidFill>
                    <a:srgbClr val="48484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: </a:t>
              </a:r>
              <a:r>
                <a:rPr lang="ko-KR" altLang="en-US" sz="900" b="1" dirty="0">
                  <a:solidFill>
                    <a:srgbClr val="48484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성별</a:t>
              </a:r>
              <a:endParaRPr lang="en-US" altLang="ko-KR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92" name="사각형: 둥근 모서리 91">
              <a:extLst>
                <a:ext uri="{FF2B5EF4-FFF2-40B4-BE49-F238E27FC236}">
                  <a16:creationId xmlns:a16="http://schemas.microsoft.com/office/drawing/2014/main" id="{41BBA25E-5C60-6768-8710-A685613C2F83}"/>
                </a:ext>
              </a:extLst>
            </p:cNvPr>
            <p:cNvSpPr/>
            <p:nvPr/>
          </p:nvSpPr>
          <p:spPr>
            <a:xfrm>
              <a:off x="1673173" y="4987966"/>
              <a:ext cx="714670" cy="33030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남성</a:t>
              </a:r>
            </a:p>
          </p:txBody>
        </p:sp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54BA338E-0D34-0C88-EA5C-402A46B2FD7B}"/>
                </a:ext>
              </a:extLst>
            </p:cNvPr>
            <p:cNvSpPr/>
            <p:nvPr/>
          </p:nvSpPr>
          <p:spPr>
            <a:xfrm>
              <a:off x="2488960" y="4987966"/>
              <a:ext cx="714670" cy="33030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여성</a:t>
              </a:r>
            </a:p>
          </p:txBody>
        </p:sp>
        <p:sp>
          <p:nvSpPr>
            <p:cNvPr id="94" name="사각형: 둥근 모서리 93">
              <a:extLst>
                <a:ext uri="{FF2B5EF4-FFF2-40B4-BE49-F238E27FC236}">
                  <a16:creationId xmlns:a16="http://schemas.microsoft.com/office/drawing/2014/main" id="{061660F2-FFE3-3687-BCA4-1CB2E03E2676}"/>
                </a:ext>
              </a:extLst>
            </p:cNvPr>
            <p:cNvSpPr/>
            <p:nvPr/>
          </p:nvSpPr>
          <p:spPr>
            <a:xfrm>
              <a:off x="3304747" y="4987966"/>
              <a:ext cx="714670" cy="330301"/>
            </a:xfrm>
            <a:prstGeom prst="roundRect">
              <a:avLst/>
            </a:prstGeom>
            <a:solidFill>
              <a:srgbClr val="5B4F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혼합</a:t>
              </a:r>
            </a:p>
          </p:txBody>
        </p:sp>
        <p:sp>
          <p:nvSpPr>
            <p:cNvPr id="99" name="Text 3">
              <a:extLst>
                <a:ext uri="{FF2B5EF4-FFF2-40B4-BE49-F238E27FC236}">
                  <a16:creationId xmlns:a16="http://schemas.microsoft.com/office/drawing/2014/main" id="{37F4A207-0D49-B4B4-0506-4D297B96889B}"/>
                </a:ext>
              </a:extLst>
            </p:cNvPr>
            <p:cNvSpPr/>
            <p:nvPr/>
          </p:nvSpPr>
          <p:spPr>
            <a:xfrm>
              <a:off x="1673171" y="5369217"/>
              <a:ext cx="967392" cy="2462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900" b="1" dirty="0">
                  <a:solidFill>
                    <a:srgbClr val="48484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주 고객층</a:t>
              </a:r>
              <a:r>
                <a:rPr lang="en-US" altLang="ko-KR" sz="900" b="1" dirty="0">
                  <a:solidFill>
                    <a:srgbClr val="48484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: </a:t>
              </a:r>
              <a:r>
                <a:rPr lang="ko-KR" altLang="en-US" sz="900" b="1" dirty="0">
                  <a:solidFill>
                    <a:srgbClr val="48484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손님 유형</a:t>
              </a:r>
              <a:endParaRPr lang="en-US" altLang="ko-KR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00" name="사각형: 둥근 모서리 99">
              <a:extLst>
                <a:ext uri="{FF2B5EF4-FFF2-40B4-BE49-F238E27FC236}">
                  <a16:creationId xmlns:a16="http://schemas.microsoft.com/office/drawing/2014/main" id="{72D9EBA0-6327-C3BF-8947-C66F71566433}"/>
                </a:ext>
              </a:extLst>
            </p:cNvPr>
            <p:cNvSpPr/>
            <p:nvPr/>
          </p:nvSpPr>
          <p:spPr>
            <a:xfrm>
              <a:off x="1673173" y="5642465"/>
              <a:ext cx="519088" cy="33030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혼자</a:t>
              </a:r>
            </a:p>
          </p:txBody>
        </p:sp>
        <p:sp>
          <p:nvSpPr>
            <p:cNvPr id="101" name="사각형: 둥근 모서리 100">
              <a:extLst>
                <a:ext uri="{FF2B5EF4-FFF2-40B4-BE49-F238E27FC236}">
                  <a16:creationId xmlns:a16="http://schemas.microsoft.com/office/drawing/2014/main" id="{81E6A35F-75CB-9D88-2DE4-2831C0AA7DE4}"/>
                </a:ext>
              </a:extLst>
            </p:cNvPr>
            <p:cNvSpPr/>
            <p:nvPr/>
          </p:nvSpPr>
          <p:spPr>
            <a:xfrm>
              <a:off x="2280673" y="5642465"/>
              <a:ext cx="519088" cy="330301"/>
            </a:xfrm>
            <a:prstGeom prst="roundRect">
              <a:avLst/>
            </a:prstGeom>
            <a:solidFill>
              <a:srgbClr val="594D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2</a:t>
              </a:r>
              <a:r>
                <a:rPr lang="ko-KR" altLang="en-US" sz="8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인</a:t>
              </a:r>
            </a:p>
          </p:txBody>
        </p:sp>
        <p:sp>
          <p:nvSpPr>
            <p:cNvPr id="102" name="사각형: 둥근 모서리 101">
              <a:extLst>
                <a:ext uri="{FF2B5EF4-FFF2-40B4-BE49-F238E27FC236}">
                  <a16:creationId xmlns:a16="http://schemas.microsoft.com/office/drawing/2014/main" id="{CB3A80DB-7319-D123-47AC-61B0C213D7A7}"/>
                </a:ext>
              </a:extLst>
            </p:cNvPr>
            <p:cNvSpPr/>
            <p:nvPr/>
          </p:nvSpPr>
          <p:spPr>
            <a:xfrm>
              <a:off x="2900320" y="5642465"/>
              <a:ext cx="519088" cy="33030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3~4</a:t>
              </a:r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인</a:t>
              </a:r>
            </a:p>
          </p:txBody>
        </p:sp>
        <p:sp>
          <p:nvSpPr>
            <p:cNvPr id="103" name="사각형: 둥근 모서리 102">
              <a:extLst>
                <a:ext uri="{FF2B5EF4-FFF2-40B4-BE49-F238E27FC236}">
                  <a16:creationId xmlns:a16="http://schemas.microsoft.com/office/drawing/2014/main" id="{A931D9E6-3E48-695A-0C7A-EE6BE1E3E375}"/>
                </a:ext>
              </a:extLst>
            </p:cNvPr>
            <p:cNvSpPr/>
            <p:nvPr/>
          </p:nvSpPr>
          <p:spPr>
            <a:xfrm>
              <a:off x="3500328" y="5642465"/>
              <a:ext cx="519088" cy="33030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단체</a:t>
              </a:r>
            </a:p>
          </p:txBody>
        </p:sp>
        <p:sp>
          <p:nvSpPr>
            <p:cNvPr id="180" name="Text 3">
              <a:extLst>
                <a:ext uri="{FF2B5EF4-FFF2-40B4-BE49-F238E27FC236}">
                  <a16:creationId xmlns:a16="http://schemas.microsoft.com/office/drawing/2014/main" id="{1DA787C7-CBD6-AB2C-C51D-5B37D790973D}"/>
                </a:ext>
              </a:extLst>
            </p:cNvPr>
            <p:cNvSpPr/>
            <p:nvPr/>
          </p:nvSpPr>
          <p:spPr>
            <a:xfrm>
              <a:off x="1673171" y="6021161"/>
              <a:ext cx="967392" cy="2462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900" b="1" dirty="0">
                  <a:solidFill>
                    <a:srgbClr val="48484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손님 체류 시간</a:t>
              </a:r>
              <a:endParaRPr lang="en-US" altLang="ko-KR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85" name="사각형: 둥근 모서리 184">
              <a:extLst>
                <a:ext uri="{FF2B5EF4-FFF2-40B4-BE49-F238E27FC236}">
                  <a16:creationId xmlns:a16="http://schemas.microsoft.com/office/drawing/2014/main" id="{958D9A2B-E48D-ABCA-1B8B-195F420A3D10}"/>
                </a:ext>
              </a:extLst>
            </p:cNvPr>
            <p:cNvSpPr/>
            <p:nvPr/>
          </p:nvSpPr>
          <p:spPr>
            <a:xfrm>
              <a:off x="1673173" y="6294409"/>
              <a:ext cx="714670" cy="33030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10</a:t>
              </a:r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분 이내</a:t>
              </a:r>
            </a:p>
          </p:txBody>
        </p:sp>
        <p:sp>
          <p:nvSpPr>
            <p:cNvPr id="186" name="사각형: 둥근 모서리 185">
              <a:extLst>
                <a:ext uri="{FF2B5EF4-FFF2-40B4-BE49-F238E27FC236}">
                  <a16:creationId xmlns:a16="http://schemas.microsoft.com/office/drawing/2014/main" id="{35E5A943-350E-A840-D7F2-EE2CC6C8F156}"/>
                </a:ext>
              </a:extLst>
            </p:cNvPr>
            <p:cNvSpPr/>
            <p:nvPr/>
          </p:nvSpPr>
          <p:spPr>
            <a:xfrm>
              <a:off x="2488960" y="6294409"/>
              <a:ext cx="714670" cy="33030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30</a:t>
              </a:r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분</a:t>
              </a:r>
              <a:r>
                <a:rPr lang="en-US" altLang="ko-KR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~</a:t>
              </a:r>
            </a:p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</a:t>
              </a:r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시간</a:t>
              </a:r>
            </a:p>
          </p:txBody>
        </p:sp>
        <p:sp>
          <p:nvSpPr>
            <p:cNvPr id="187" name="사각형: 둥근 모서리 186">
              <a:extLst>
                <a:ext uri="{FF2B5EF4-FFF2-40B4-BE49-F238E27FC236}">
                  <a16:creationId xmlns:a16="http://schemas.microsoft.com/office/drawing/2014/main" id="{472C8B19-CA7F-D3DE-6049-074FF241E987}"/>
                </a:ext>
              </a:extLst>
            </p:cNvPr>
            <p:cNvSpPr/>
            <p:nvPr/>
          </p:nvSpPr>
          <p:spPr>
            <a:xfrm>
              <a:off x="3304747" y="6294409"/>
              <a:ext cx="714670" cy="330301"/>
            </a:xfrm>
            <a:prstGeom prst="roundRect">
              <a:avLst/>
            </a:prstGeom>
            <a:solidFill>
              <a:srgbClr val="5B4F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</a:t>
              </a:r>
              <a:r>
                <a:rPr lang="ko-KR" altLang="en-US" sz="8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시간 이상</a:t>
              </a:r>
            </a:p>
          </p:txBody>
        </p:sp>
        <p:sp>
          <p:nvSpPr>
            <p:cNvPr id="217" name="직사각형 216">
              <a:extLst>
                <a:ext uri="{FF2B5EF4-FFF2-40B4-BE49-F238E27FC236}">
                  <a16:creationId xmlns:a16="http://schemas.microsoft.com/office/drawing/2014/main" id="{EA4C7909-31F1-CE0C-5E9D-EE697404EEB3}"/>
                </a:ext>
              </a:extLst>
            </p:cNvPr>
            <p:cNvSpPr/>
            <p:nvPr/>
          </p:nvSpPr>
          <p:spPr>
            <a:xfrm>
              <a:off x="4074639" y="120510"/>
              <a:ext cx="64800" cy="667304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8" name="이등변 삼각형 217">
              <a:extLst>
                <a:ext uri="{FF2B5EF4-FFF2-40B4-BE49-F238E27FC236}">
                  <a16:creationId xmlns:a16="http://schemas.microsoft.com/office/drawing/2014/main" id="{A9621F6E-BDE3-9617-A2B9-966B93B4A407}"/>
                </a:ext>
              </a:extLst>
            </p:cNvPr>
            <p:cNvSpPr/>
            <p:nvPr/>
          </p:nvSpPr>
          <p:spPr>
            <a:xfrm>
              <a:off x="4083130" y="123548"/>
              <a:ext cx="54000" cy="5400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9" name="이등변 삼각형 218">
              <a:extLst>
                <a:ext uri="{FF2B5EF4-FFF2-40B4-BE49-F238E27FC236}">
                  <a16:creationId xmlns:a16="http://schemas.microsoft.com/office/drawing/2014/main" id="{B79FD1CB-ABAE-C3CD-66DA-FF681C6083C9}"/>
                </a:ext>
              </a:extLst>
            </p:cNvPr>
            <p:cNvSpPr/>
            <p:nvPr/>
          </p:nvSpPr>
          <p:spPr>
            <a:xfrm rot="10800000">
              <a:off x="4082467" y="6734203"/>
              <a:ext cx="54000" cy="5400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1" name="직사각형 220">
              <a:extLst>
                <a:ext uri="{FF2B5EF4-FFF2-40B4-BE49-F238E27FC236}">
                  <a16:creationId xmlns:a16="http://schemas.microsoft.com/office/drawing/2014/main" id="{3E62B73E-043B-2DA4-B025-F94CF0A936AC}"/>
                </a:ext>
              </a:extLst>
            </p:cNvPr>
            <p:cNvSpPr/>
            <p:nvPr/>
          </p:nvSpPr>
          <p:spPr>
            <a:xfrm>
              <a:off x="4077790" y="243620"/>
              <a:ext cx="64800" cy="1164803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3" name="그룹 292">
            <a:extLst>
              <a:ext uri="{FF2B5EF4-FFF2-40B4-BE49-F238E27FC236}">
                <a16:creationId xmlns:a16="http://schemas.microsoft.com/office/drawing/2014/main" id="{0AC39AA3-D53F-8AD6-9006-C23FFBE2FA3D}"/>
              </a:ext>
            </a:extLst>
          </p:cNvPr>
          <p:cNvGrpSpPr/>
          <p:nvPr/>
        </p:nvGrpSpPr>
        <p:grpSpPr>
          <a:xfrm>
            <a:off x="4345430" y="115945"/>
            <a:ext cx="2591337" cy="6677612"/>
            <a:chOff x="4345430" y="115945"/>
            <a:chExt cx="2591337" cy="6677612"/>
          </a:xfrm>
        </p:grpSpPr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D1264DC1-41FA-1FDA-01DB-F6E73B990696}"/>
                </a:ext>
              </a:extLst>
            </p:cNvPr>
            <p:cNvSpPr/>
            <p:nvPr/>
          </p:nvSpPr>
          <p:spPr>
            <a:xfrm>
              <a:off x="4345430" y="115945"/>
              <a:ext cx="2591337" cy="66730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BB007B5-7576-039F-C823-AF395E7BC11E}"/>
                </a:ext>
              </a:extLst>
            </p:cNvPr>
            <p:cNvSpPr txBox="1"/>
            <p:nvPr/>
          </p:nvSpPr>
          <p:spPr>
            <a:xfrm>
              <a:off x="4345430" y="847749"/>
              <a:ext cx="75052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solidFill>
                    <a:srgbClr val="594DE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·  </a:t>
              </a:r>
              <a:r>
                <a:rPr lang="ko-KR" altLang="en-US" sz="1000" b="1" dirty="0">
                  <a:solidFill>
                    <a:srgbClr val="594DE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추가 정보</a:t>
              </a:r>
            </a:p>
          </p:txBody>
        </p:sp>
        <p:sp>
          <p:nvSpPr>
            <p:cNvPr id="155" name="Text 2">
              <a:extLst>
                <a:ext uri="{FF2B5EF4-FFF2-40B4-BE49-F238E27FC236}">
                  <a16:creationId xmlns:a16="http://schemas.microsoft.com/office/drawing/2014/main" id="{B84BF225-57CB-A15C-5209-A407ACE9527A}"/>
                </a:ext>
              </a:extLst>
            </p:cNvPr>
            <p:cNvSpPr/>
            <p:nvPr/>
          </p:nvSpPr>
          <p:spPr>
            <a:xfrm>
              <a:off x="5017796" y="889295"/>
              <a:ext cx="1340623" cy="1794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800" dirty="0">
                  <a:solidFill>
                    <a:srgbClr val="AEAEB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우리 가게의 상황을 알려주세요</a:t>
              </a:r>
              <a:endParaRPr 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56" name="Text 3">
              <a:extLst>
                <a:ext uri="{FF2B5EF4-FFF2-40B4-BE49-F238E27FC236}">
                  <a16:creationId xmlns:a16="http://schemas.microsoft.com/office/drawing/2014/main" id="{476714FF-ADAB-FD2B-5BF2-2179E508DD2B}"/>
                </a:ext>
              </a:extLst>
            </p:cNvPr>
            <p:cNvSpPr/>
            <p:nvPr/>
          </p:nvSpPr>
          <p:spPr>
            <a:xfrm>
              <a:off x="4466344" y="1059832"/>
              <a:ext cx="815788" cy="2462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900" b="1" dirty="0">
                  <a:solidFill>
                    <a:srgbClr val="48484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주 고객 유형</a:t>
              </a:r>
              <a:endParaRPr lang="en-US" altLang="ko-KR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57" name="사각형: 둥근 모서리 156">
              <a:extLst>
                <a:ext uri="{FF2B5EF4-FFF2-40B4-BE49-F238E27FC236}">
                  <a16:creationId xmlns:a16="http://schemas.microsoft.com/office/drawing/2014/main" id="{80358812-61AF-52B9-74CE-2970E4314896}"/>
                </a:ext>
              </a:extLst>
            </p:cNvPr>
            <p:cNvSpPr/>
            <p:nvPr/>
          </p:nvSpPr>
          <p:spPr>
            <a:xfrm>
              <a:off x="4466345" y="1389066"/>
              <a:ext cx="714670" cy="33030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신규 손님</a:t>
              </a:r>
            </a:p>
          </p:txBody>
        </p:sp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46D012CB-3E4C-530B-D3BD-6D0FDF5131E4}"/>
                </a:ext>
              </a:extLst>
            </p:cNvPr>
            <p:cNvSpPr/>
            <p:nvPr/>
          </p:nvSpPr>
          <p:spPr>
            <a:xfrm>
              <a:off x="5282132" y="1389066"/>
              <a:ext cx="714670" cy="33030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단골 손님</a:t>
              </a:r>
            </a:p>
          </p:txBody>
        </p:sp>
        <p:sp>
          <p:nvSpPr>
            <p:cNvPr id="159" name="사각형: 둥근 모서리 158">
              <a:extLst>
                <a:ext uri="{FF2B5EF4-FFF2-40B4-BE49-F238E27FC236}">
                  <a16:creationId xmlns:a16="http://schemas.microsoft.com/office/drawing/2014/main" id="{BEF5676A-8B50-6DE2-662F-1189C30F58B1}"/>
                </a:ext>
              </a:extLst>
            </p:cNvPr>
            <p:cNvSpPr/>
            <p:nvPr/>
          </p:nvSpPr>
          <p:spPr>
            <a:xfrm>
              <a:off x="6097919" y="1389066"/>
              <a:ext cx="714670" cy="330301"/>
            </a:xfrm>
            <a:prstGeom prst="roundRect">
              <a:avLst/>
            </a:prstGeom>
            <a:solidFill>
              <a:srgbClr val="5B4F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반반</a:t>
              </a:r>
            </a:p>
          </p:txBody>
        </p:sp>
        <p:sp>
          <p:nvSpPr>
            <p:cNvPr id="160" name="Text 2">
              <a:extLst>
                <a:ext uri="{FF2B5EF4-FFF2-40B4-BE49-F238E27FC236}">
                  <a16:creationId xmlns:a16="http://schemas.microsoft.com/office/drawing/2014/main" id="{863B4A42-76C8-DD7B-C7DA-26D522CED6F8}"/>
                </a:ext>
              </a:extLst>
            </p:cNvPr>
            <p:cNvSpPr/>
            <p:nvPr/>
          </p:nvSpPr>
          <p:spPr>
            <a:xfrm>
              <a:off x="4467707" y="1216639"/>
              <a:ext cx="1183161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700" dirty="0">
                  <a:solidFill>
                    <a:srgbClr val="AEAEB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손님이 주로 어떤 편인가요</a:t>
              </a:r>
              <a:r>
                <a:rPr lang="en-US" altLang="ko-KR" sz="700" dirty="0">
                  <a:solidFill>
                    <a:srgbClr val="AEAEB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?</a:t>
              </a:r>
              <a:endParaRPr lang="en-US" sz="7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64" name="Text 3">
              <a:extLst>
                <a:ext uri="{FF2B5EF4-FFF2-40B4-BE49-F238E27FC236}">
                  <a16:creationId xmlns:a16="http://schemas.microsoft.com/office/drawing/2014/main" id="{BB9EED76-11BB-1212-50E1-DCAFD330D5D6}"/>
                </a:ext>
              </a:extLst>
            </p:cNvPr>
            <p:cNvSpPr/>
            <p:nvPr/>
          </p:nvSpPr>
          <p:spPr>
            <a:xfrm>
              <a:off x="4466344" y="1769547"/>
              <a:ext cx="815788" cy="2462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900" b="1" dirty="0">
                  <a:solidFill>
                    <a:srgbClr val="48484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우리 가게의 장점</a:t>
              </a:r>
              <a:endParaRPr lang="en-US" altLang="ko-KR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65" name="Text 2">
              <a:extLst>
                <a:ext uri="{FF2B5EF4-FFF2-40B4-BE49-F238E27FC236}">
                  <a16:creationId xmlns:a16="http://schemas.microsoft.com/office/drawing/2014/main" id="{B8B92CB8-D14C-55C7-80BE-354441EF624D}"/>
                </a:ext>
              </a:extLst>
            </p:cNvPr>
            <p:cNvSpPr/>
            <p:nvPr/>
          </p:nvSpPr>
          <p:spPr>
            <a:xfrm>
              <a:off x="4467707" y="1926353"/>
              <a:ext cx="1428779" cy="2088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700" dirty="0">
                  <a:solidFill>
                    <a:srgbClr val="AEAEB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우리 가게의 가장 큰 장점을 말해주세요</a:t>
              </a:r>
              <a:endParaRPr lang="en-US" sz="7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66" name="사각형: 둥근 모서리 165">
              <a:extLst>
                <a:ext uri="{FF2B5EF4-FFF2-40B4-BE49-F238E27FC236}">
                  <a16:creationId xmlns:a16="http://schemas.microsoft.com/office/drawing/2014/main" id="{274F5654-EA88-FFC8-AAF4-64A5BF5D25B7}"/>
                </a:ext>
              </a:extLst>
            </p:cNvPr>
            <p:cNvSpPr/>
            <p:nvPr/>
          </p:nvSpPr>
          <p:spPr>
            <a:xfrm>
              <a:off x="4463836" y="2110021"/>
              <a:ext cx="2348753" cy="24622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예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: </a:t>
              </a:r>
              <a:r>
                <a:rPr lang="ko-KR" altLang="en-US" sz="8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아인슈페너가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맛있기로 유명해요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.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67" name="Text 3">
              <a:extLst>
                <a:ext uri="{FF2B5EF4-FFF2-40B4-BE49-F238E27FC236}">
                  <a16:creationId xmlns:a16="http://schemas.microsoft.com/office/drawing/2014/main" id="{D862B871-46FD-7650-CE26-FBD915524835}"/>
                </a:ext>
              </a:extLst>
            </p:cNvPr>
            <p:cNvSpPr/>
            <p:nvPr/>
          </p:nvSpPr>
          <p:spPr>
            <a:xfrm>
              <a:off x="4470401" y="2391492"/>
              <a:ext cx="1043223" cy="2462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900" b="1" dirty="0">
                  <a:solidFill>
                    <a:srgbClr val="48484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가게 분위기 선택</a:t>
              </a:r>
              <a:endParaRPr 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68" name="사각형: 둥근 모서리 167">
              <a:extLst>
                <a:ext uri="{FF2B5EF4-FFF2-40B4-BE49-F238E27FC236}">
                  <a16:creationId xmlns:a16="http://schemas.microsoft.com/office/drawing/2014/main" id="{B5205994-65EB-C849-B337-638CC77C8D5B}"/>
                </a:ext>
              </a:extLst>
            </p:cNvPr>
            <p:cNvSpPr/>
            <p:nvPr/>
          </p:nvSpPr>
          <p:spPr>
            <a:xfrm>
              <a:off x="4443506" y="2660238"/>
              <a:ext cx="647692" cy="246221"/>
            </a:xfrm>
            <a:prstGeom prst="roundRect">
              <a:avLst/>
            </a:prstGeom>
            <a:solidFill>
              <a:srgbClr val="EEED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rgbClr val="8E87E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조용한</a:t>
              </a:r>
            </a:p>
          </p:txBody>
        </p:sp>
        <p:sp>
          <p:nvSpPr>
            <p:cNvPr id="169" name="사각형: 둥근 모서리 168">
              <a:extLst>
                <a:ext uri="{FF2B5EF4-FFF2-40B4-BE49-F238E27FC236}">
                  <a16:creationId xmlns:a16="http://schemas.microsoft.com/office/drawing/2014/main" id="{825BDE9C-BE55-E4F7-E483-CF56619136A5}"/>
                </a:ext>
              </a:extLst>
            </p:cNvPr>
            <p:cNvSpPr/>
            <p:nvPr/>
          </p:nvSpPr>
          <p:spPr>
            <a:xfrm>
              <a:off x="6210537" y="2660238"/>
              <a:ext cx="606108" cy="246221"/>
            </a:xfrm>
            <a:prstGeom prst="roundRect">
              <a:avLst/>
            </a:prstGeom>
            <a:solidFill>
              <a:srgbClr val="EEED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rgbClr val="8E87E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활기찬</a:t>
              </a:r>
            </a:p>
          </p:txBody>
        </p: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4EFF2374-CE7F-152D-645C-C6B49BF8EE47}"/>
                </a:ext>
              </a:extLst>
            </p:cNvPr>
            <p:cNvCxnSpPr>
              <a:cxnSpLocks/>
              <a:stCxn id="168" idx="3"/>
              <a:endCxn id="169" idx="1"/>
            </p:cNvCxnSpPr>
            <p:nvPr/>
          </p:nvCxnSpPr>
          <p:spPr>
            <a:xfrm>
              <a:off x="5091198" y="2783349"/>
              <a:ext cx="1119339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1" name="타원 170">
              <a:extLst>
                <a:ext uri="{FF2B5EF4-FFF2-40B4-BE49-F238E27FC236}">
                  <a16:creationId xmlns:a16="http://schemas.microsoft.com/office/drawing/2014/main" id="{86CCC45A-BEC2-25EE-C1FC-E41E96ECCCEC}"/>
                </a:ext>
              </a:extLst>
            </p:cNvPr>
            <p:cNvSpPr/>
            <p:nvPr/>
          </p:nvSpPr>
          <p:spPr>
            <a:xfrm>
              <a:off x="5597694" y="2726546"/>
              <a:ext cx="108000" cy="108000"/>
            </a:xfrm>
            <a:prstGeom prst="ellipse">
              <a:avLst/>
            </a:prstGeom>
            <a:solidFill>
              <a:srgbClr val="594D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" name="사각형: 둥근 모서리 171">
              <a:extLst>
                <a:ext uri="{FF2B5EF4-FFF2-40B4-BE49-F238E27FC236}">
                  <a16:creationId xmlns:a16="http://schemas.microsoft.com/office/drawing/2014/main" id="{8F38A02F-5BDB-DB96-DAD4-3E363E89C120}"/>
                </a:ext>
              </a:extLst>
            </p:cNvPr>
            <p:cNvSpPr/>
            <p:nvPr/>
          </p:nvSpPr>
          <p:spPr>
            <a:xfrm>
              <a:off x="4443506" y="3089799"/>
              <a:ext cx="647692" cy="246221"/>
            </a:xfrm>
            <a:prstGeom prst="roundRect">
              <a:avLst/>
            </a:prstGeom>
            <a:solidFill>
              <a:srgbClr val="EEED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rgbClr val="8E87E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밝고 환한</a:t>
              </a:r>
            </a:p>
          </p:txBody>
        </p:sp>
        <p:sp>
          <p:nvSpPr>
            <p:cNvPr id="173" name="사각형: 둥근 모서리 172">
              <a:extLst>
                <a:ext uri="{FF2B5EF4-FFF2-40B4-BE49-F238E27FC236}">
                  <a16:creationId xmlns:a16="http://schemas.microsoft.com/office/drawing/2014/main" id="{251ACF38-2E77-F8FB-8DA2-3F8B51A70089}"/>
                </a:ext>
              </a:extLst>
            </p:cNvPr>
            <p:cNvSpPr/>
            <p:nvPr/>
          </p:nvSpPr>
          <p:spPr>
            <a:xfrm>
              <a:off x="6210537" y="3089799"/>
              <a:ext cx="606108" cy="246221"/>
            </a:xfrm>
            <a:prstGeom prst="roundRect">
              <a:avLst/>
            </a:prstGeom>
            <a:solidFill>
              <a:srgbClr val="EEED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rgbClr val="8E87E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어둡고</a:t>
              </a:r>
              <a:endParaRPr lang="en-US" altLang="ko-KR" sz="800" b="1" dirty="0">
                <a:solidFill>
                  <a:srgbClr val="8E87E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800" b="1" dirty="0">
                  <a:solidFill>
                    <a:srgbClr val="8E87E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무드있는</a:t>
              </a:r>
            </a:p>
          </p:txBody>
        </p:sp>
        <p:cxnSp>
          <p:nvCxnSpPr>
            <p:cNvPr id="174" name="직선 연결선 173">
              <a:extLst>
                <a:ext uri="{FF2B5EF4-FFF2-40B4-BE49-F238E27FC236}">
                  <a16:creationId xmlns:a16="http://schemas.microsoft.com/office/drawing/2014/main" id="{D31CB158-0CF7-D80D-D340-B6FF5B8E1753}"/>
                </a:ext>
              </a:extLst>
            </p:cNvPr>
            <p:cNvCxnSpPr>
              <a:cxnSpLocks/>
              <a:stCxn id="172" idx="3"/>
              <a:endCxn id="173" idx="1"/>
            </p:cNvCxnSpPr>
            <p:nvPr/>
          </p:nvCxnSpPr>
          <p:spPr>
            <a:xfrm>
              <a:off x="5091198" y="3212910"/>
              <a:ext cx="1119339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342BDD06-4129-3C18-40C4-8C18AC146D39}"/>
                </a:ext>
              </a:extLst>
            </p:cNvPr>
            <p:cNvSpPr txBox="1"/>
            <p:nvPr/>
          </p:nvSpPr>
          <p:spPr>
            <a:xfrm>
              <a:off x="6358419" y="2853569"/>
              <a:ext cx="310343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50</a:t>
              </a:r>
              <a:endPara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5E91E433-60D5-088F-4E10-E5DCD40C5881}"/>
                </a:ext>
              </a:extLst>
            </p:cNvPr>
            <p:cNvSpPr/>
            <p:nvPr/>
          </p:nvSpPr>
          <p:spPr>
            <a:xfrm>
              <a:off x="5597694" y="3155777"/>
              <a:ext cx="108000" cy="108000"/>
            </a:xfrm>
            <a:prstGeom prst="ellipse">
              <a:avLst/>
            </a:prstGeom>
            <a:solidFill>
              <a:srgbClr val="594D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104018B7-56FD-28B1-2867-040A5E094DEA}"/>
                </a:ext>
              </a:extLst>
            </p:cNvPr>
            <p:cNvSpPr txBox="1"/>
            <p:nvPr/>
          </p:nvSpPr>
          <p:spPr>
            <a:xfrm>
              <a:off x="4612180" y="2853569"/>
              <a:ext cx="310343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50</a:t>
              </a:r>
              <a:endPara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972B1DA6-7BE4-3CDC-03EC-B62B4B631803}"/>
                </a:ext>
              </a:extLst>
            </p:cNvPr>
            <p:cNvSpPr txBox="1"/>
            <p:nvPr/>
          </p:nvSpPr>
          <p:spPr>
            <a:xfrm>
              <a:off x="4612180" y="3290829"/>
              <a:ext cx="310343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50</a:t>
              </a:r>
              <a:endPara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ADD58AC5-3E2F-F6C2-4604-FA7380B763F1}"/>
                </a:ext>
              </a:extLst>
            </p:cNvPr>
            <p:cNvSpPr txBox="1"/>
            <p:nvPr/>
          </p:nvSpPr>
          <p:spPr>
            <a:xfrm>
              <a:off x="6358419" y="3290829"/>
              <a:ext cx="310343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50</a:t>
              </a:r>
              <a:endPara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88" name="Text 3">
              <a:extLst>
                <a:ext uri="{FF2B5EF4-FFF2-40B4-BE49-F238E27FC236}">
                  <a16:creationId xmlns:a16="http://schemas.microsoft.com/office/drawing/2014/main" id="{A0367454-4AFB-D207-3D4A-70DBAF5F92E4}"/>
                </a:ext>
              </a:extLst>
            </p:cNvPr>
            <p:cNvSpPr/>
            <p:nvPr/>
          </p:nvSpPr>
          <p:spPr>
            <a:xfrm>
              <a:off x="4443506" y="120716"/>
              <a:ext cx="967392" cy="2462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900" b="1" dirty="0">
                  <a:solidFill>
                    <a:srgbClr val="48484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객단가</a:t>
              </a:r>
              <a:endParaRPr lang="en-US" altLang="ko-KR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89" name="사각형: 둥근 모서리 188">
              <a:extLst>
                <a:ext uri="{FF2B5EF4-FFF2-40B4-BE49-F238E27FC236}">
                  <a16:creationId xmlns:a16="http://schemas.microsoft.com/office/drawing/2014/main" id="{FCFE535E-3B36-94FC-99F7-DD755D1A46E4}"/>
                </a:ext>
              </a:extLst>
            </p:cNvPr>
            <p:cNvSpPr/>
            <p:nvPr/>
          </p:nvSpPr>
          <p:spPr>
            <a:xfrm>
              <a:off x="4443508" y="393964"/>
              <a:ext cx="714670" cy="33030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</a:t>
              </a:r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만원 이하</a:t>
              </a:r>
            </a:p>
          </p:txBody>
        </p:sp>
        <p:sp>
          <p:nvSpPr>
            <p:cNvPr id="190" name="사각형: 둥근 모서리 189">
              <a:extLst>
                <a:ext uri="{FF2B5EF4-FFF2-40B4-BE49-F238E27FC236}">
                  <a16:creationId xmlns:a16="http://schemas.microsoft.com/office/drawing/2014/main" id="{044DBD6C-4E38-2628-AFEF-3C5D67480B1F}"/>
                </a:ext>
              </a:extLst>
            </p:cNvPr>
            <p:cNvSpPr/>
            <p:nvPr/>
          </p:nvSpPr>
          <p:spPr>
            <a:xfrm>
              <a:off x="5259295" y="393964"/>
              <a:ext cx="714670" cy="33030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1~2</a:t>
              </a:r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만원</a:t>
              </a:r>
            </a:p>
          </p:txBody>
        </p:sp>
        <p:sp>
          <p:nvSpPr>
            <p:cNvPr id="191" name="사각형: 둥근 모서리 190">
              <a:extLst>
                <a:ext uri="{FF2B5EF4-FFF2-40B4-BE49-F238E27FC236}">
                  <a16:creationId xmlns:a16="http://schemas.microsoft.com/office/drawing/2014/main" id="{60D5C18E-9ABE-354D-BF62-F9592333E08C}"/>
                </a:ext>
              </a:extLst>
            </p:cNvPr>
            <p:cNvSpPr/>
            <p:nvPr/>
          </p:nvSpPr>
          <p:spPr>
            <a:xfrm>
              <a:off x="6075082" y="393964"/>
              <a:ext cx="714670" cy="330301"/>
            </a:xfrm>
            <a:prstGeom prst="roundRect">
              <a:avLst/>
            </a:prstGeom>
            <a:solidFill>
              <a:srgbClr val="5B4F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2</a:t>
              </a:r>
              <a:r>
                <a:rPr lang="ko-KR" altLang="en-US" sz="8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만원 이상</a:t>
              </a:r>
            </a:p>
          </p:txBody>
        </p:sp>
        <p:sp>
          <p:nvSpPr>
            <p:cNvPr id="192" name="Text 3">
              <a:extLst>
                <a:ext uri="{FF2B5EF4-FFF2-40B4-BE49-F238E27FC236}">
                  <a16:creationId xmlns:a16="http://schemas.microsoft.com/office/drawing/2014/main" id="{E34B5020-FE0F-0A3F-ADCE-7316A77882B3}"/>
                </a:ext>
              </a:extLst>
            </p:cNvPr>
            <p:cNvSpPr/>
            <p:nvPr/>
          </p:nvSpPr>
          <p:spPr>
            <a:xfrm>
              <a:off x="4466343" y="3877823"/>
              <a:ext cx="922933" cy="2462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900" b="1" dirty="0">
                  <a:solidFill>
                    <a:srgbClr val="48484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최근 가게 위협 요인</a:t>
              </a:r>
              <a:endParaRPr lang="en-US" altLang="ko-KR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93" name="Text 2">
              <a:extLst>
                <a:ext uri="{FF2B5EF4-FFF2-40B4-BE49-F238E27FC236}">
                  <a16:creationId xmlns:a16="http://schemas.microsoft.com/office/drawing/2014/main" id="{8F082E19-9D27-F2CF-D36B-26789CB9598A}"/>
                </a:ext>
              </a:extLst>
            </p:cNvPr>
            <p:cNvSpPr/>
            <p:nvPr/>
          </p:nvSpPr>
          <p:spPr>
            <a:xfrm>
              <a:off x="4467707" y="4034629"/>
              <a:ext cx="1742830" cy="2123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700" dirty="0">
                  <a:solidFill>
                    <a:srgbClr val="AEAEB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최근 고민중인 사항을 선택해주세요</a:t>
              </a:r>
              <a:r>
                <a:rPr lang="en-US" altLang="ko-KR" sz="700" dirty="0">
                  <a:solidFill>
                    <a:srgbClr val="AEAEB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AEAEB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복수 응답 가능</a:t>
              </a:r>
              <a:r>
                <a:rPr lang="en-US" altLang="ko-KR" sz="700" dirty="0">
                  <a:solidFill>
                    <a:srgbClr val="AEAEB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</a:t>
              </a:r>
              <a:endParaRPr lang="en-US" sz="7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94" name="사각형: 둥근 모서리 193">
              <a:extLst>
                <a:ext uri="{FF2B5EF4-FFF2-40B4-BE49-F238E27FC236}">
                  <a16:creationId xmlns:a16="http://schemas.microsoft.com/office/drawing/2014/main" id="{EF84FF9F-FAC0-3A48-5506-DEF04A6E1E2D}"/>
                </a:ext>
              </a:extLst>
            </p:cNvPr>
            <p:cNvSpPr/>
            <p:nvPr/>
          </p:nvSpPr>
          <p:spPr>
            <a:xfrm>
              <a:off x="4459532" y="5019885"/>
              <a:ext cx="2348753" cy="24622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기타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: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유동인구는 많은데 구매전환이 낮아요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95" name="사각형: 둥근 모서리 194">
              <a:extLst>
                <a:ext uri="{FF2B5EF4-FFF2-40B4-BE49-F238E27FC236}">
                  <a16:creationId xmlns:a16="http://schemas.microsoft.com/office/drawing/2014/main" id="{FF9374E6-D208-B6E7-11D7-F0579F03C920}"/>
                </a:ext>
              </a:extLst>
            </p:cNvPr>
            <p:cNvSpPr/>
            <p:nvPr/>
          </p:nvSpPr>
          <p:spPr>
            <a:xfrm>
              <a:off x="4443508" y="4267309"/>
              <a:ext cx="714670" cy="33030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임대료 상승</a:t>
              </a:r>
            </a:p>
          </p:txBody>
        </p:sp>
        <p:sp>
          <p:nvSpPr>
            <p:cNvPr id="196" name="사각형: 둥근 모서리 195">
              <a:extLst>
                <a:ext uri="{FF2B5EF4-FFF2-40B4-BE49-F238E27FC236}">
                  <a16:creationId xmlns:a16="http://schemas.microsoft.com/office/drawing/2014/main" id="{B68DEB55-2000-031B-7E84-0C356B36DE6E}"/>
                </a:ext>
              </a:extLst>
            </p:cNvPr>
            <p:cNvSpPr/>
            <p:nvPr/>
          </p:nvSpPr>
          <p:spPr>
            <a:xfrm>
              <a:off x="5210423" y="4270163"/>
              <a:ext cx="519088" cy="33030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인건비</a:t>
              </a:r>
              <a:endParaRPr lang="ko-KR" altLang="en-US" sz="8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197" name="사각형: 둥근 모서리 196">
              <a:extLst>
                <a:ext uri="{FF2B5EF4-FFF2-40B4-BE49-F238E27FC236}">
                  <a16:creationId xmlns:a16="http://schemas.microsoft.com/office/drawing/2014/main" id="{979893B0-73AF-9FA6-B9F7-A4E88299E5D4}"/>
                </a:ext>
              </a:extLst>
            </p:cNvPr>
            <p:cNvSpPr/>
            <p:nvPr/>
          </p:nvSpPr>
          <p:spPr>
            <a:xfrm>
              <a:off x="5781756" y="4267309"/>
              <a:ext cx="714670" cy="330301"/>
            </a:xfrm>
            <a:prstGeom prst="roundRect">
              <a:avLst/>
            </a:prstGeom>
            <a:solidFill>
              <a:srgbClr val="594D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경쟁 심화</a:t>
              </a:r>
            </a:p>
          </p:txBody>
        </p:sp>
        <p:sp>
          <p:nvSpPr>
            <p:cNvPr id="198" name="사각형: 둥근 모서리 197">
              <a:extLst>
                <a:ext uri="{FF2B5EF4-FFF2-40B4-BE49-F238E27FC236}">
                  <a16:creationId xmlns:a16="http://schemas.microsoft.com/office/drawing/2014/main" id="{8AAE8C98-FB3E-C643-0A38-C38085C6F973}"/>
                </a:ext>
              </a:extLst>
            </p:cNvPr>
            <p:cNvSpPr/>
            <p:nvPr/>
          </p:nvSpPr>
          <p:spPr>
            <a:xfrm>
              <a:off x="4443508" y="4636526"/>
              <a:ext cx="714670" cy="330301"/>
            </a:xfrm>
            <a:prstGeom prst="roundRect">
              <a:avLst/>
            </a:prstGeom>
            <a:solidFill>
              <a:srgbClr val="594D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단골 이탈</a:t>
              </a:r>
            </a:p>
          </p:txBody>
        </p:sp>
        <p:sp>
          <p:nvSpPr>
            <p:cNvPr id="199" name="사각형: 둥근 모서리 198">
              <a:extLst>
                <a:ext uri="{FF2B5EF4-FFF2-40B4-BE49-F238E27FC236}">
                  <a16:creationId xmlns:a16="http://schemas.microsoft.com/office/drawing/2014/main" id="{C252A116-862B-0327-5EEE-D68E3B7C0644}"/>
                </a:ext>
              </a:extLst>
            </p:cNvPr>
            <p:cNvSpPr/>
            <p:nvPr/>
          </p:nvSpPr>
          <p:spPr>
            <a:xfrm>
              <a:off x="5210423" y="4636526"/>
              <a:ext cx="916904" cy="33030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온라인</a:t>
              </a:r>
              <a:r>
                <a:rPr lang="en-US" altLang="ko-KR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·</a:t>
              </a:r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배달 전환</a:t>
              </a:r>
            </a:p>
          </p:txBody>
        </p:sp>
        <p:sp>
          <p:nvSpPr>
            <p:cNvPr id="200" name="사각형: 둥근 모서리 199">
              <a:extLst>
                <a:ext uri="{FF2B5EF4-FFF2-40B4-BE49-F238E27FC236}">
                  <a16:creationId xmlns:a16="http://schemas.microsoft.com/office/drawing/2014/main" id="{A90BD9C2-35F5-7AFD-89C3-89E68A50A56C}"/>
                </a:ext>
              </a:extLst>
            </p:cNvPr>
            <p:cNvSpPr/>
            <p:nvPr/>
          </p:nvSpPr>
          <p:spPr>
            <a:xfrm>
              <a:off x="6041688" y="6087491"/>
              <a:ext cx="519088" cy="33030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기타</a:t>
              </a:r>
            </a:p>
          </p:txBody>
        </p:sp>
        <p:sp>
          <p:nvSpPr>
            <p:cNvPr id="201" name="Text 3">
              <a:extLst>
                <a:ext uri="{FF2B5EF4-FFF2-40B4-BE49-F238E27FC236}">
                  <a16:creationId xmlns:a16="http://schemas.microsoft.com/office/drawing/2014/main" id="{6090AF8B-D120-895A-0ECB-481621FC5D24}"/>
                </a:ext>
              </a:extLst>
            </p:cNvPr>
            <p:cNvSpPr/>
            <p:nvPr/>
          </p:nvSpPr>
          <p:spPr>
            <a:xfrm>
              <a:off x="4466343" y="5326037"/>
              <a:ext cx="1263168" cy="2462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900" b="1" dirty="0">
                  <a:solidFill>
                    <a:srgbClr val="48484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가장 신경쓰이는 경쟁 대상</a:t>
              </a:r>
              <a:endParaRPr lang="en-US" altLang="ko-KR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02" name="Text 2">
              <a:extLst>
                <a:ext uri="{FF2B5EF4-FFF2-40B4-BE49-F238E27FC236}">
                  <a16:creationId xmlns:a16="http://schemas.microsoft.com/office/drawing/2014/main" id="{1D7E3547-1022-AFFC-B460-C373E7650D2D}"/>
                </a:ext>
              </a:extLst>
            </p:cNvPr>
            <p:cNvSpPr/>
            <p:nvPr/>
          </p:nvSpPr>
          <p:spPr>
            <a:xfrm>
              <a:off x="4467707" y="5482843"/>
              <a:ext cx="1742830" cy="2123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700" dirty="0">
                  <a:solidFill>
                    <a:srgbClr val="AEAEB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복수 응답 가능</a:t>
              </a:r>
              <a:endParaRPr lang="en-US" sz="7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03" name="사각형: 둥근 모서리 202">
              <a:extLst>
                <a:ext uri="{FF2B5EF4-FFF2-40B4-BE49-F238E27FC236}">
                  <a16:creationId xmlns:a16="http://schemas.microsoft.com/office/drawing/2014/main" id="{93216AC3-5149-849F-DEB0-313196F25015}"/>
                </a:ext>
              </a:extLst>
            </p:cNvPr>
            <p:cNvSpPr/>
            <p:nvPr/>
          </p:nvSpPr>
          <p:spPr>
            <a:xfrm>
              <a:off x="4459532" y="6468099"/>
              <a:ext cx="2348753" cy="24622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기타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: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가게 건너편에 대형마트가 생겼어요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endPara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04" name="사각형: 둥근 모서리 203">
              <a:extLst>
                <a:ext uri="{FF2B5EF4-FFF2-40B4-BE49-F238E27FC236}">
                  <a16:creationId xmlns:a16="http://schemas.microsoft.com/office/drawing/2014/main" id="{9797B1EF-A371-B712-2129-CF2DC194AC1F}"/>
                </a:ext>
              </a:extLst>
            </p:cNvPr>
            <p:cNvSpPr/>
            <p:nvPr/>
          </p:nvSpPr>
          <p:spPr>
            <a:xfrm>
              <a:off x="4443508" y="5715523"/>
              <a:ext cx="1154186" cy="330301"/>
            </a:xfrm>
            <a:prstGeom prst="roundRect">
              <a:avLst/>
            </a:prstGeom>
            <a:solidFill>
              <a:srgbClr val="594D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같은 업종의 특정 가게</a:t>
              </a:r>
            </a:p>
          </p:txBody>
        </p:sp>
        <p:sp>
          <p:nvSpPr>
            <p:cNvPr id="206" name="사각형: 둥근 모서리 205">
              <a:extLst>
                <a:ext uri="{FF2B5EF4-FFF2-40B4-BE49-F238E27FC236}">
                  <a16:creationId xmlns:a16="http://schemas.microsoft.com/office/drawing/2014/main" id="{ECF5A11A-232D-CC75-DFD6-488D7C9A8E62}"/>
                </a:ext>
              </a:extLst>
            </p:cNvPr>
            <p:cNvSpPr/>
            <p:nvPr/>
          </p:nvSpPr>
          <p:spPr>
            <a:xfrm>
              <a:off x="5650868" y="5715523"/>
              <a:ext cx="1017894" cy="330301"/>
            </a:xfrm>
            <a:prstGeom prst="roundRect">
              <a:avLst/>
            </a:prstGeom>
            <a:solidFill>
              <a:srgbClr val="594D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다른 업종의 대체재</a:t>
              </a:r>
            </a:p>
          </p:txBody>
        </p:sp>
        <p:sp>
          <p:nvSpPr>
            <p:cNvPr id="207" name="사각형: 둥근 모서리 206">
              <a:extLst>
                <a:ext uri="{FF2B5EF4-FFF2-40B4-BE49-F238E27FC236}">
                  <a16:creationId xmlns:a16="http://schemas.microsoft.com/office/drawing/2014/main" id="{B377AEA4-EFE0-99C3-482B-8B3CC1C9DA97}"/>
                </a:ext>
              </a:extLst>
            </p:cNvPr>
            <p:cNvSpPr/>
            <p:nvPr/>
          </p:nvSpPr>
          <p:spPr>
            <a:xfrm>
              <a:off x="4443508" y="6084740"/>
              <a:ext cx="815787" cy="330301"/>
            </a:xfrm>
            <a:prstGeom prst="roundRect">
              <a:avLst/>
            </a:prstGeom>
            <a:solidFill>
              <a:srgbClr val="594D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배달앱</a:t>
              </a:r>
              <a:r>
                <a:rPr lang="en-US" altLang="ko-KR" sz="8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·</a:t>
              </a:r>
              <a:r>
                <a:rPr lang="ko-KR" altLang="en-US" sz="8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온라인</a:t>
              </a:r>
            </a:p>
          </p:txBody>
        </p:sp>
        <p:sp>
          <p:nvSpPr>
            <p:cNvPr id="209" name="사각형: 둥근 모서리 208">
              <a:extLst>
                <a:ext uri="{FF2B5EF4-FFF2-40B4-BE49-F238E27FC236}">
                  <a16:creationId xmlns:a16="http://schemas.microsoft.com/office/drawing/2014/main" id="{21D89EF8-D40D-E174-8668-C4C1031A2322}"/>
                </a:ext>
              </a:extLst>
            </p:cNvPr>
            <p:cNvSpPr/>
            <p:nvPr/>
          </p:nvSpPr>
          <p:spPr>
            <a:xfrm>
              <a:off x="5302205" y="6080615"/>
              <a:ext cx="697324" cy="33030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특별히 없음</a:t>
              </a:r>
            </a:p>
          </p:txBody>
        </p:sp>
        <p:sp>
          <p:nvSpPr>
            <p:cNvPr id="210" name="사각형: 둥근 모서리 209">
              <a:extLst>
                <a:ext uri="{FF2B5EF4-FFF2-40B4-BE49-F238E27FC236}">
                  <a16:creationId xmlns:a16="http://schemas.microsoft.com/office/drawing/2014/main" id="{08E62B56-59C8-A9AB-174B-9B6D41968FFC}"/>
                </a:ext>
              </a:extLst>
            </p:cNvPr>
            <p:cNvSpPr/>
            <p:nvPr/>
          </p:nvSpPr>
          <p:spPr>
            <a:xfrm>
              <a:off x="4443506" y="3472524"/>
              <a:ext cx="647692" cy="246221"/>
            </a:xfrm>
            <a:prstGeom prst="roundRect">
              <a:avLst/>
            </a:prstGeom>
            <a:solidFill>
              <a:srgbClr val="EEED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rgbClr val="8E87E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밝고 환한</a:t>
              </a:r>
            </a:p>
          </p:txBody>
        </p:sp>
        <p:sp>
          <p:nvSpPr>
            <p:cNvPr id="211" name="사각형: 둥근 모서리 210">
              <a:extLst>
                <a:ext uri="{FF2B5EF4-FFF2-40B4-BE49-F238E27FC236}">
                  <a16:creationId xmlns:a16="http://schemas.microsoft.com/office/drawing/2014/main" id="{7954E856-081A-D047-F5ED-06D982B8D387}"/>
                </a:ext>
              </a:extLst>
            </p:cNvPr>
            <p:cNvSpPr/>
            <p:nvPr/>
          </p:nvSpPr>
          <p:spPr>
            <a:xfrm>
              <a:off x="6210537" y="3472524"/>
              <a:ext cx="606108" cy="246221"/>
            </a:xfrm>
            <a:prstGeom prst="roundRect">
              <a:avLst/>
            </a:prstGeom>
            <a:solidFill>
              <a:srgbClr val="EEED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rgbClr val="8E87E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어둡고</a:t>
              </a:r>
              <a:endParaRPr lang="en-US" altLang="ko-KR" sz="800" b="1" dirty="0">
                <a:solidFill>
                  <a:srgbClr val="8E87E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800" b="1" dirty="0">
                  <a:solidFill>
                    <a:srgbClr val="8E87EF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무드있는</a:t>
              </a:r>
            </a:p>
          </p:txBody>
        </p:sp>
        <p:cxnSp>
          <p:nvCxnSpPr>
            <p:cNvPr id="212" name="직선 연결선 211">
              <a:extLst>
                <a:ext uri="{FF2B5EF4-FFF2-40B4-BE49-F238E27FC236}">
                  <a16:creationId xmlns:a16="http://schemas.microsoft.com/office/drawing/2014/main" id="{EF80ADCE-8924-1E95-BF03-B648580AB548}"/>
                </a:ext>
              </a:extLst>
            </p:cNvPr>
            <p:cNvCxnSpPr>
              <a:cxnSpLocks/>
              <a:stCxn id="210" idx="3"/>
              <a:endCxn id="211" idx="1"/>
            </p:cNvCxnSpPr>
            <p:nvPr/>
          </p:nvCxnSpPr>
          <p:spPr>
            <a:xfrm>
              <a:off x="5091198" y="3595635"/>
              <a:ext cx="1119339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3" name="타원 212">
              <a:extLst>
                <a:ext uri="{FF2B5EF4-FFF2-40B4-BE49-F238E27FC236}">
                  <a16:creationId xmlns:a16="http://schemas.microsoft.com/office/drawing/2014/main" id="{91E0B4F6-F9FA-8529-939D-EAD6FF13FFAF}"/>
                </a:ext>
              </a:extLst>
            </p:cNvPr>
            <p:cNvSpPr/>
            <p:nvPr/>
          </p:nvSpPr>
          <p:spPr>
            <a:xfrm>
              <a:off x="5597694" y="3538502"/>
              <a:ext cx="108000" cy="108000"/>
            </a:xfrm>
            <a:prstGeom prst="ellipse">
              <a:avLst/>
            </a:prstGeom>
            <a:solidFill>
              <a:srgbClr val="594D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72E04900-33E6-9577-5427-90C9E8FABDCF}"/>
                </a:ext>
              </a:extLst>
            </p:cNvPr>
            <p:cNvSpPr txBox="1"/>
            <p:nvPr/>
          </p:nvSpPr>
          <p:spPr>
            <a:xfrm>
              <a:off x="4612180" y="3673554"/>
              <a:ext cx="310343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50</a:t>
              </a:r>
              <a:endPara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94BFE9F5-EDBB-CAD2-2798-952D781C217D}"/>
                </a:ext>
              </a:extLst>
            </p:cNvPr>
            <p:cNvSpPr txBox="1"/>
            <p:nvPr/>
          </p:nvSpPr>
          <p:spPr>
            <a:xfrm>
              <a:off x="6358419" y="3673554"/>
              <a:ext cx="310343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50</a:t>
              </a:r>
              <a:endParaRPr lang="ko-KR" altLang="en-US" sz="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16" name="사각형: 둥근 모서리 215">
              <a:extLst>
                <a:ext uri="{FF2B5EF4-FFF2-40B4-BE49-F238E27FC236}">
                  <a16:creationId xmlns:a16="http://schemas.microsoft.com/office/drawing/2014/main" id="{ADDC6654-2C21-8051-B30B-A17D4C590DDC}"/>
                </a:ext>
              </a:extLst>
            </p:cNvPr>
            <p:cNvSpPr/>
            <p:nvPr/>
          </p:nvSpPr>
          <p:spPr>
            <a:xfrm>
              <a:off x="6165513" y="4640162"/>
              <a:ext cx="519088" cy="33030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기타</a:t>
              </a:r>
            </a:p>
          </p:txBody>
        </p:sp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1218F78-A238-5FFE-22AD-F8EDBC1772CD}"/>
                </a:ext>
              </a:extLst>
            </p:cNvPr>
            <p:cNvSpPr/>
            <p:nvPr/>
          </p:nvSpPr>
          <p:spPr>
            <a:xfrm>
              <a:off x="6863709" y="120510"/>
              <a:ext cx="64800" cy="667304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이등변 삼각형 222">
              <a:extLst>
                <a:ext uri="{FF2B5EF4-FFF2-40B4-BE49-F238E27FC236}">
                  <a16:creationId xmlns:a16="http://schemas.microsoft.com/office/drawing/2014/main" id="{71C4ED0A-2643-6E71-0CF9-DB5650FF0E33}"/>
                </a:ext>
              </a:extLst>
            </p:cNvPr>
            <p:cNvSpPr/>
            <p:nvPr/>
          </p:nvSpPr>
          <p:spPr>
            <a:xfrm>
              <a:off x="6872200" y="123548"/>
              <a:ext cx="54000" cy="5400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4" name="이등변 삼각형 223">
              <a:extLst>
                <a:ext uri="{FF2B5EF4-FFF2-40B4-BE49-F238E27FC236}">
                  <a16:creationId xmlns:a16="http://schemas.microsoft.com/office/drawing/2014/main" id="{F5D6B031-C903-33ED-BF0E-EC724DDC9FDD}"/>
                </a:ext>
              </a:extLst>
            </p:cNvPr>
            <p:cNvSpPr/>
            <p:nvPr/>
          </p:nvSpPr>
          <p:spPr>
            <a:xfrm rot="10800000">
              <a:off x="6871537" y="6734203"/>
              <a:ext cx="54000" cy="5400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6" name="직사각형 285">
              <a:extLst>
                <a:ext uri="{FF2B5EF4-FFF2-40B4-BE49-F238E27FC236}">
                  <a16:creationId xmlns:a16="http://schemas.microsoft.com/office/drawing/2014/main" id="{795B8941-2BB0-0BDF-0D90-5A821BECC0BF}"/>
                </a:ext>
              </a:extLst>
            </p:cNvPr>
            <p:cNvSpPr/>
            <p:nvPr/>
          </p:nvSpPr>
          <p:spPr>
            <a:xfrm>
              <a:off x="6871604" y="2324349"/>
              <a:ext cx="64800" cy="1164803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94" name="그룹 293">
            <a:extLst>
              <a:ext uri="{FF2B5EF4-FFF2-40B4-BE49-F238E27FC236}">
                <a16:creationId xmlns:a16="http://schemas.microsoft.com/office/drawing/2014/main" id="{500AB182-4A39-3B95-9218-2987F2F70CC6}"/>
              </a:ext>
            </a:extLst>
          </p:cNvPr>
          <p:cNvGrpSpPr/>
          <p:nvPr/>
        </p:nvGrpSpPr>
        <p:grpSpPr>
          <a:xfrm>
            <a:off x="7200160" y="115946"/>
            <a:ext cx="2595663" cy="3495002"/>
            <a:chOff x="7200160" y="115946"/>
            <a:chExt cx="2595663" cy="3495002"/>
          </a:xfrm>
        </p:grpSpPr>
        <p:sp>
          <p:nvSpPr>
            <p:cNvPr id="226" name="직사각형 225">
              <a:extLst>
                <a:ext uri="{FF2B5EF4-FFF2-40B4-BE49-F238E27FC236}">
                  <a16:creationId xmlns:a16="http://schemas.microsoft.com/office/drawing/2014/main" id="{A219F332-B731-A56D-BB8E-AB2C3D6D79C1}"/>
                </a:ext>
              </a:extLst>
            </p:cNvPr>
            <p:cNvSpPr/>
            <p:nvPr/>
          </p:nvSpPr>
          <p:spPr>
            <a:xfrm>
              <a:off x="7200160" y="115946"/>
              <a:ext cx="2591337" cy="34950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0A8311E3-46A5-2B2F-32DA-8D0133322D71}"/>
                </a:ext>
              </a:extLst>
            </p:cNvPr>
            <p:cNvSpPr txBox="1"/>
            <p:nvPr/>
          </p:nvSpPr>
          <p:spPr>
            <a:xfrm>
              <a:off x="7200160" y="118791"/>
              <a:ext cx="10667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>
                  <a:solidFill>
                    <a:srgbClr val="594DE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·  </a:t>
              </a:r>
              <a:r>
                <a:rPr lang="ko-KR" altLang="en-US" sz="1000" b="1" dirty="0">
                  <a:solidFill>
                    <a:srgbClr val="594DE8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함께 성장하기</a:t>
              </a:r>
            </a:p>
          </p:txBody>
        </p:sp>
        <p:sp>
          <p:nvSpPr>
            <p:cNvPr id="228" name="Text 2">
              <a:extLst>
                <a:ext uri="{FF2B5EF4-FFF2-40B4-BE49-F238E27FC236}">
                  <a16:creationId xmlns:a16="http://schemas.microsoft.com/office/drawing/2014/main" id="{DB1DAFED-461F-9353-0590-7B44CCFB7E15}"/>
                </a:ext>
              </a:extLst>
            </p:cNvPr>
            <p:cNvSpPr/>
            <p:nvPr/>
          </p:nvSpPr>
          <p:spPr>
            <a:xfrm>
              <a:off x="8103346" y="151006"/>
              <a:ext cx="1183161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800" dirty="0">
                  <a:solidFill>
                    <a:srgbClr val="AEAEB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상권 공동 브랜딩을 위해</a:t>
              </a:r>
              <a:endParaRPr lang="en-US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36" name="Text 3">
              <a:extLst>
                <a:ext uri="{FF2B5EF4-FFF2-40B4-BE49-F238E27FC236}">
                  <a16:creationId xmlns:a16="http://schemas.microsoft.com/office/drawing/2014/main" id="{164DB09B-7DB3-1845-7071-4D28375C1653}"/>
                </a:ext>
              </a:extLst>
            </p:cNvPr>
            <p:cNvSpPr/>
            <p:nvPr/>
          </p:nvSpPr>
          <p:spPr>
            <a:xfrm>
              <a:off x="7322436" y="337071"/>
              <a:ext cx="1215077" cy="2462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900" b="1" dirty="0">
                  <a:solidFill>
                    <a:srgbClr val="48484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상권 공동 브랜딩 의향</a:t>
              </a:r>
              <a:endParaRPr lang="en-US" altLang="ko-KR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37" name="사각형: 둥근 모서리 236">
              <a:extLst>
                <a:ext uri="{FF2B5EF4-FFF2-40B4-BE49-F238E27FC236}">
                  <a16:creationId xmlns:a16="http://schemas.microsoft.com/office/drawing/2014/main" id="{17AF3D31-C514-E30C-385C-F36BD47DEBFD}"/>
                </a:ext>
              </a:extLst>
            </p:cNvPr>
            <p:cNvSpPr/>
            <p:nvPr/>
          </p:nvSpPr>
          <p:spPr>
            <a:xfrm>
              <a:off x="7322438" y="694296"/>
              <a:ext cx="714670" cy="330301"/>
            </a:xfrm>
            <a:prstGeom prst="roundRect">
              <a:avLst/>
            </a:prstGeom>
            <a:solidFill>
              <a:srgbClr val="594D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적극 관심</a:t>
              </a:r>
            </a:p>
          </p:txBody>
        </p:sp>
        <p:sp>
          <p:nvSpPr>
            <p:cNvPr id="238" name="사각형: 둥근 모서리 237">
              <a:extLst>
                <a:ext uri="{FF2B5EF4-FFF2-40B4-BE49-F238E27FC236}">
                  <a16:creationId xmlns:a16="http://schemas.microsoft.com/office/drawing/2014/main" id="{8EA8FBA5-2A95-6A21-E600-8DD5670D11C7}"/>
                </a:ext>
              </a:extLst>
            </p:cNvPr>
            <p:cNvSpPr/>
            <p:nvPr/>
          </p:nvSpPr>
          <p:spPr>
            <a:xfrm>
              <a:off x="8138225" y="694296"/>
              <a:ext cx="714670" cy="33030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조건부</a:t>
              </a:r>
            </a:p>
          </p:txBody>
        </p:sp>
        <p:sp>
          <p:nvSpPr>
            <p:cNvPr id="239" name="사각형: 둥근 모서리 238">
              <a:extLst>
                <a:ext uri="{FF2B5EF4-FFF2-40B4-BE49-F238E27FC236}">
                  <a16:creationId xmlns:a16="http://schemas.microsoft.com/office/drawing/2014/main" id="{1D1C83B7-5DD2-49BC-C198-C51A15928FF0}"/>
                </a:ext>
              </a:extLst>
            </p:cNvPr>
            <p:cNvSpPr/>
            <p:nvPr/>
          </p:nvSpPr>
          <p:spPr>
            <a:xfrm>
              <a:off x="8954012" y="694296"/>
              <a:ext cx="714670" cy="33030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관심 없음</a:t>
              </a:r>
            </a:p>
          </p:txBody>
        </p:sp>
        <p:sp>
          <p:nvSpPr>
            <p:cNvPr id="272" name="Text 2">
              <a:extLst>
                <a:ext uri="{FF2B5EF4-FFF2-40B4-BE49-F238E27FC236}">
                  <a16:creationId xmlns:a16="http://schemas.microsoft.com/office/drawing/2014/main" id="{74EE3984-FBB1-27C5-B7C0-1163CAC70B71}"/>
                </a:ext>
              </a:extLst>
            </p:cNvPr>
            <p:cNvSpPr/>
            <p:nvPr/>
          </p:nvSpPr>
          <p:spPr>
            <a:xfrm>
              <a:off x="7333423" y="493875"/>
              <a:ext cx="2053175" cy="2303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700" dirty="0">
                  <a:solidFill>
                    <a:srgbClr val="AEAEB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주변 가게들과 함께 상권을 브랜딩 할 생각이 있으신가요</a:t>
              </a:r>
              <a:r>
                <a:rPr lang="en-US" altLang="ko-KR" sz="700" dirty="0">
                  <a:solidFill>
                    <a:srgbClr val="AEAEB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?</a:t>
              </a:r>
              <a:endParaRPr lang="en-US" sz="7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76" name="Text 3">
              <a:extLst>
                <a:ext uri="{FF2B5EF4-FFF2-40B4-BE49-F238E27FC236}">
                  <a16:creationId xmlns:a16="http://schemas.microsoft.com/office/drawing/2014/main" id="{5BA4DE4D-7195-7A5E-0A24-E77F8F03E185}"/>
                </a:ext>
              </a:extLst>
            </p:cNvPr>
            <p:cNvSpPr/>
            <p:nvPr/>
          </p:nvSpPr>
          <p:spPr>
            <a:xfrm>
              <a:off x="7322436" y="1058553"/>
              <a:ext cx="1215077" cy="2462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900" b="1" dirty="0">
                  <a:solidFill>
                    <a:srgbClr val="48484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희망 협업 유형</a:t>
              </a:r>
              <a:endParaRPr lang="en-US" altLang="ko-KR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77" name="Text 2">
              <a:extLst>
                <a:ext uri="{FF2B5EF4-FFF2-40B4-BE49-F238E27FC236}">
                  <a16:creationId xmlns:a16="http://schemas.microsoft.com/office/drawing/2014/main" id="{F3E43D24-DF54-96C9-6858-0773D1D79D00}"/>
                </a:ext>
              </a:extLst>
            </p:cNvPr>
            <p:cNvSpPr/>
            <p:nvPr/>
          </p:nvSpPr>
          <p:spPr>
            <a:xfrm>
              <a:off x="7333423" y="1215357"/>
              <a:ext cx="2053175" cy="2303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700" dirty="0">
                  <a:solidFill>
                    <a:srgbClr val="AEAEB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희망하는 협업을 선택해주세요</a:t>
              </a:r>
              <a:r>
                <a:rPr lang="en-US" altLang="ko-KR" sz="700" dirty="0">
                  <a:solidFill>
                    <a:srgbClr val="AEAEB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AEAEB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복수 응답 가능</a:t>
              </a:r>
              <a:r>
                <a:rPr lang="en-US" altLang="ko-KR" sz="700" dirty="0">
                  <a:solidFill>
                    <a:srgbClr val="AEAEB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</a:t>
              </a:r>
              <a:endParaRPr lang="en-US" sz="7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78" name="사각형: 둥근 모서리 277">
              <a:extLst>
                <a:ext uri="{FF2B5EF4-FFF2-40B4-BE49-F238E27FC236}">
                  <a16:creationId xmlns:a16="http://schemas.microsoft.com/office/drawing/2014/main" id="{B129BB6B-FB83-B734-575A-A6F7953E1A39}"/>
                </a:ext>
              </a:extLst>
            </p:cNvPr>
            <p:cNvSpPr/>
            <p:nvPr/>
          </p:nvSpPr>
          <p:spPr>
            <a:xfrm>
              <a:off x="7327411" y="1417754"/>
              <a:ext cx="1070143" cy="330301"/>
            </a:xfrm>
            <a:prstGeom prst="roundRect">
              <a:avLst/>
            </a:prstGeom>
            <a:solidFill>
              <a:srgbClr val="594D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공동 이벤트</a:t>
              </a:r>
              <a:r>
                <a:rPr lang="en-US" altLang="ko-KR" sz="8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·</a:t>
              </a:r>
              <a:r>
                <a:rPr lang="ko-KR" altLang="en-US" sz="8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프로모션</a:t>
              </a:r>
            </a:p>
          </p:txBody>
        </p:sp>
        <p:sp>
          <p:nvSpPr>
            <p:cNvPr id="279" name="사각형: 둥근 모서리 278">
              <a:extLst>
                <a:ext uri="{FF2B5EF4-FFF2-40B4-BE49-F238E27FC236}">
                  <a16:creationId xmlns:a16="http://schemas.microsoft.com/office/drawing/2014/main" id="{093C8036-BB67-8C66-F3DF-805C3E5D33F2}"/>
                </a:ext>
              </a:extLst>
            </p:cNvPr>
            <p:cNvSpPr/>
            <p:nvPr/>
          </p:nvSpPr>
          <p:spPr>
            <a:xfrm>
              <a:off x="8456416" y="1417754"/>
              <a:ext cx="799555" cy="330301"/>
            </a:xfrm>
            <a:prstGeom prst="roundRect">
              <a:avLst/>
            </a:prstGeom>
            <a:solidFill>
              <a:srgbClr val="594D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bg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손님 상호 추천</a:t>
              </a:r>
            </a:p>
          </p:txBody>
        </p:sp>
        <p:sp>
          <p:nvSpPr>
            <p:cNvPr id="280" name="사각형: 둥근 모서리 279">
              <a:extLst>
                <a:ext uri="{FF2B5EF4-FFF2-40B4-BE49-F238E27FC236}">
                  <a16:creationId xmlns:a16="http://schemas.microsoft.com/office/drawing/2014/main" id="{1F7A5EAE-F032-69B7-2B46-883D9C24F159}"/>
                </a:ext>
              </a:extLst>
            </p:cNvPr>
            <p:cNvSpPr/>
            <p:nvPr/>
          </p:nvSpPr>
          <p:spPr>
            <a:xfrm>
              <a:off x="7319093" y="1789239"/>
              <a:ext cx="593270" cy="33030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공동 구매</a:t>
              </a:r>
            </a:p>
          </p:txBody>
        </p:sp>
        <p:sp>
          <p:nvSpPr>
            <p:cNvPr id="281" name="사각형: 둥근 모서리 280">
              <a:extLst>
                <a:ext uri="{FF2B5EF4-FFF2-40B4-BE49-F238E27FC236}">
                  <a16:creationId xmlns:a16="http://schemas.microsoft.com/office/drawing/2014/main" id="{49640AD8-05ED-87F9-EACF-D270FD44B0E6}"/>
                </a:ext>
              </a:extLst>
            </p:cNvPr>
            <p:cNvSpPr/>
            <p:nvPr/>
          </p:nvSpPr>
          <p:spPr>
            <a:xfrm>
              <a:off x="7971225" y="1779720"/>
              <a:ext cx="818216" cy="33030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공동 </a:t>
              </a:r>
              <a:r>
                <a:rPr lang="en-US" altLang="ko-KR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SNS·</a:t>
              </a:r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홍보</a:t>
              </a:r>
            </a:p>
          </p:txBody>
        </p:sp>
        <p:sp>
          <p:nvSpPr>
            <p:cNvPr id="282" name="사각형: 둥근 모서리 281">
              <a:extLst>
                <a:ext uri="{FF2B5EF4-FFF2-40B4-BE49-F238E27FC236}">
                  <a16:creationId xmlns:a16="http://schemas.microsoft.com/office/drawing/2014/main" id="{A614CA5B-E5F0-5759-3CA0-0C83C39A8A05}"/>
                </a:ext>
              </a:extLst>
            </p:cNvPr>
            <p:cNvSpPr/>
            <p:nvPr/>
          </p:nvSpPr>
          <p:spPr>
            <a:xfrm>
              <a:off x="8848302" y="1779720"/>
              <a:ext cx="696918" cy="33030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상권 브랜딩 </a:t>
              </a:r>
              <a:endParaRPr lang="en-US" altLang="ko-KR" sz="8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컨설팅</a:t>
              </a:r>
            </a:p>
          </p:txBody>
        </p:sp>
        <p:sp>
          <p:nvSpPr>
            <p:cNvPr id="283" name="Text 3">
              <a:extLst>
                <a:ext uri="{FF2B5EF4-FFF2-40B4-BE49-F238E27FC236}">
                  <a16:creationId xmlns:a16="http://schemas.microsoft.com/office/drawing/2014/main" id="{6B429517-B67E-1533-76E5-B11C199905C1}"/>
                </a:ext>
              </a:extLst>
            </p:cNvPr>
            <p:cNvSpPr/>
            <p:nvPr/>
          </p:nvSpPr>
          <p:spPr>
            <a:xfrm>
              <a:off x="7322436" y="2138155"/>
              <a:ext cx="1215077" cy="2462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9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현재 우리 동네 상권은</a:t>
              </a:r>
              <a:r>
                <a:rPr lang="en-US" altLang="ko-KR" sz="900" b="1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?</a:t>
              </a:r>
            </a:p>
          </p:txBody>
        </p:sp>
        <p:sp>
          <p:nvSpPr>
            <p:cNvPr id="284" name="Text 2">
              <a:extLst>
                <a:ext uri="{FF2B5EF4-FFF2-40B4-BE49-F238E27FC236}">
                  <a16:creationId xmlns:a16="http://schemas.microsoft.com/office/drawing/2014/main" id="{9742170E-3998-F7C5-CE88-8849D8D4BC13}"/>
                </a:ext>
              </a:extLst>
            </p:cNvPr>
            <p:cNvSpPr/>
            <p:nvPr/>
          </p:nvSpPr>
          <p:spPr>
            <a:xfrm>
              <a:off x="7333423" y="2294959"/>
              <a:ext cx="2053175" cy="2303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700" dirty="0">
                  <a:solidFill>
                    <a:srgbClr val="AEAEB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우리 상권이 어떤 색깔이라고 생각하세요</a:t>
              </a:r>
              <a:r>
                <a:rPr lang="en-US" altLang="ko-KR" sz="700" dirty="0">
                  <a:solidFill>
                    <a:srgbClr val="AEAEB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? (</a:t>
              </a:r>
              <a:r>
                <a:rPr lang="ko-KR" altLang="en-US" sz="700" dirty="0">
                  <a:solidFill>
                    <a:srgbClr val="AEAEB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선택</a:t>
              </a:r>
              <a:r>
                <a:rPr lang="en-US" altLang="ko-KR" sz="700" dirty="0">
                  <a:solidFill>
                    <a:srgbClr val="AEAEB2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)</a:t>
              </a:r>
              <a:endParaRPr lang="en-US" sz="7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285" name="사각형: 둥근 모서리 284">
              <a:extLst>
                <a:ext uri="{FF2B5EF4-FFF2-40B4-BE49-F238E27FC236}">
                  <a16:creationId xmlns:a16="http://schemas.microsoft.com/office/drawing/2014/main" id="{C199AEE3-E6EC-128D-55F4-4C5A26DE2DB9}"/>
                </a:ext>
              </a:extLst>
            </p:cNvPr>
            <p:cNvSpPr/>
            <p:nvPr/>
          </p:nvSpPr>
          <p:spPr>
            <a:xfrm>
              <a:off x="7322437" y="2501177"/>
              <a:ext cx="2348753" cy="24622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대표 메뉴를 입력하세요</a:t>
              </a:r>
            </a:p>
          </p:txBody>
        </p:sp>
        <p:sp>
          <p:nvSpPr>
            <p:cNvPr id="288" name="직사각형 287">
              <a:extLst>
                <a:ext uri="{FF2B5EF4-FFF2-40B4-BE49-F238E27FC236}">
                  <a16:creationId xmlns:a16="http://schemas.microsoft.com/office/drawing/2014/main" id="{437022D1-DA21-F570-6B95-480A4368CA6B}"/>
                </a:ext>
              </a:extLst>
            </p:cNvPr>
            <p:cNvSpPr/>
            <p:nvPr/>
          </p:nvSpPr>
          <p:spPr>
            <a:xfrm>
              <a:off x="9723127" y="120511"/>
              <a:ext cx="64800" cy="348110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9" name="이등변 삼각형 288">
              <a:extLst>
                <a:ext uri="{FF2B5EF4-FFF2-40B4-BE49-F238E27FC236}">
                  <a16:creationId xmlns:a16="http://schemas.microsoft.com/office/drawing/2014/main" id="{8A59DA4D-75EE-DC11-B87B-B1372D0C7416}"/>
                </a:ext>
              </a:extLst>
            </p:cNvPr>
            <p:cNvSpPr/>
            <p:nvPr/>
          </p:nvSpPr>
          <p:spPr>
            <a:xfrm>
              <a:off x="9731619" y="123548"/>
              <a:ext cx="54000" cy="5400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0" name="이등변 삼각형 289">
              <a:extLst>
                <a:ext uri="{FF2B5EF4-FFF2-40B4-BE49-F238E27FC236}">
                  <a16:creationId xmlns:a16="http://schemas.microsoft.com/office/drawing/2014/main" id="{931FCECB-68CD-8687-4D89-4C4F50509EC8}"/>
                </a:ext>
              </a:extLst>
            </p:cNvPr>
            <p:cNvSpPr/>
            <p:nvPr/>
          </p:nvSpPr>
          <p:spPr>
            <a:xfrm rot="10800000">
              <a:off x="9730956" y="3543132"/>
              <a:ext cx="54000" cy="54000"/>
            </a:xfrm>
            <a:prstGeom prst="triangl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1" name="직사각형 290">
              <a:extLst>
                <a:ext uri="{FF2B5EF4-FFF2-40B4-BE49-F238E27FC236}">
                  <a16:creationId xmlns:a16="http://schemas.microsoft.com/office/drawing/2014/main" id="{4D836051-B493-8ACE-4E72-2A8EE87589AC}"/>
                </a:ext>
              </a:extLst>
            </p:cNvPr>
            <p:cNvSpPr/>
            <p:nvPr/>
          </p:nvSpPr>
          <p:spPr>
            <a:xfrm>
              <a:off x="9731023" y="2324349"/>
              <a:ext cx="64800" cy="1164803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82251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</Words>
  <Application>Microsoft Office PowerPoint</Application>
  <PresentationFormat>와이드스크린</PresentationFormat>
  <Paragraphs>107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Pretendard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승건 이</dc:creator>
  <cp:lastModifiedBy>승건 이</cp:lastModifiedBy>
  <cp:revision>1</cp:revision>
  <dcterms:created xsi:type="dcterms:W3CDTF">2026-06-28T13:03:32Z</dcterms:created>
  <dcterms:modified xsi:type="dcterms:W3CDTF">2026-06-28T13:03:43Z</dcterms:modified>
</cp:coreProperties>
</file>