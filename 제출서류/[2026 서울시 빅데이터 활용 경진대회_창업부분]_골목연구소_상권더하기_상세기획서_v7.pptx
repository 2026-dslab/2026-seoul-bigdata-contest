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832" r:id="rId1"/>
    <p:sldMasterId id="2147483834" r:id="rId2"/>
  </p:sldMasterIdLst>
  <p:notesMasterIdLst>
    <p:notesMasterId r:id="rId34"/>
  </p:notesMasterIdLst>
  <p:handoutMasterIdLst>
    <p:handoutMasterId r:id="rId35"/>
  </p:handoutMasterIdLst>
  <p:sldIdLst>
    <p:sldId id="277" r:id="rId3"/>
    <p:sldId id="268" r:id="rId4"/>
    <p:sldId id="270" r:id="rId5"/>
    <p:sldId id="351" r:id="rId6"/>
    <p:sldId id="275" r:id="rId7"/>
    <p:sldId id="272" r:id="rId8"/>
    <p:sldId id="348" r:id="rId9"/>
    <p:sldId id="349" r:id="rId10"/>
    <p:sldId id="350" r:id="rId11"/>
    <p:sldId id="273" r:id="rId12"/>
    <p:sldId id="274" r:id="rId13"/>
    <p:sldId id="341" r:id="rId14"/>
    <p:sldId id="330" r:id="rId15"/>
    <p:sldId id="331" r:id="rId16"/>
    <p:sldId id="332" r:id="rId17"/>
    <p:sldId id="265" r:id="rId18"/>
    <p:sldId id="334" r:id="rId19"/>
    <p:sldId id="335" r:id="rId20"/>
    <p:sldId id="336" r:id="rId21"/>
    <p:sldId id="342" r:id="rId22"/>
    <p:sldId id="337" r:id="rId23"/>
    <p:sldId id="338" r:id="rId24"/>
    <p:sldId id="340" r:id="rId25"/>
    <p:sldId id="339" r:id="rId26"/>
    <p:sldId id="259" r:id="rId27"/>
    <p:sldId id="260" r:id="rId28"/>
    <p:sldId id="343" r:id="rId29"/>
    <p:sldId id="344" r:id="rId30"/>
    <p:sldId id="345" r:id="rId31"/>
    <p:sldId id="346" r:id="rId32"/>
    <p:sldId id="347" r:id="rId33"/>
  </p:sldIdLst>
  <p:sldSz cx="12192000" cy="6858000"/>
  <p:notesSz cx="6797675" cy="9928225"/>
  <p:embeddedFontLst>
    <p:embeddedFont>
      <p:font typeface="Optima" pitchFamily="2" charset="0"/>
      <p:bold r:id="rId36"/>
    </p:embeddedFont>
    <p:embeddedFont>
      <p:font typeface="Pretendard" panose="02000503000000020004" pitchFamily="50" charset="-127"/>
      <p:regular r:id="rId37"/>
      <p:bold r:id="rId38"/>
    </p:embeddedFont>
    <p:embeddedFont>
      <p:font typeface="나눔고딕" panose="020D0604000000000000" pitchFamily="50" charset="-127"/>
      <p:regular r:id="rId39"/>
      <p:bold r:id="rId40"/>
    </p:embeddedFont>
    <p:embeddedFont>
      <p:font typeface="맑은 고딕" panose="020B0503020000020004" pitchFamily="50" charset="-127"/>
      <p:regular r:id="rId41"/>
      <p:bold r:id="rId42"/>
    </p:embeddedFont>
    <p:embeddedFont>
      <p:font typeface="맑은 고딕" panose="020B0503020000020004" pitchFamily="50" charset="-127"/>
      <p:regular r:id="rId41"/>
      <p:bold r:id="rId42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sz="1000" b="1" kern="1200">
        <a:solidFill>
          <a:schemeClr val="tx1"/>
        </a:solidFill>
        <a:latin typeface="Arial" panose="020B060402020202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836">
          <p15:clr>
            <a:srgbClr val="A4A3A4"/>
          </p15:clr>
        </p15:guide>
        <p15:guide id="3" orient="horz" pos="672">
          <p15:clr>
            <a:srgbClr val="A4A3A4"/>
          </p15:clr>
        </p15:guide>
        <p15:guide id="4" orient="horz" pos="1483">
          <p15:clr>
            <a:srgbClr val="A4A3A4"/>
          </p15:clr>
        </p15:guide>
        <p15:guide id="5" orient="horz" pos="1603">
          <p15:clr>
            <a:srgbClr val="A4A3A4"/>
          </p15:clr>
        </p15:guide>
        <p15:guide id="6" orient="horz" pos="612">
          <p15:clr>
            <a:srgbClr val="A4A3A4"/>
          </p15:clr>
        </p15:guide>
        <p15:guide id="7" orient="horz" pos="3873">
          <p15:clr>
            <a:srgbClr val="A4A3A4"/>
          </p15:clr>
        </p15:guide>
        <p15:guide id="8" orient="horz" pos="369">
          <p15:clr>
            <a:srgbClr val="A4A3A4"/>
          </p15:clr>
        </p15:guide>
        <p15:guide id="9" orient="horz" pos="3893">
          <p15:clr>
            <a:srgbClr val="A4A3A4"/>
          </p15:clr>
        </p15:guide>
        <p15:guide id="10" pos="303">
          <p15:clr>
            <a:srgbClr val="A4A3A4"/>
          </p15:clr>
        </p15:guide>
        <p15:guide id="11" pos="2076">
          <p15:clr>
            <a:srgbClr val="A4A3A4"/>
          </p15:clr>
        </p15:guide>
        <p15:guide id="12" pos="4597">
          <p15:clr>
            <a:srgbClr val="A4A3A4"/>
          </p15:clr>
        </p15:guide>
        <p15:guide id="13" pos="1906">
          <p15:clr>
            <a:srgbClr val="A4A3A4"/>
          </p15:clr>
        </p15:guide>
        <p15:guide id="14" pos="3724">
          <p15:clr>
            <a:srgbClr val="A4A3A4"/>
          </p15:clr>
        </p15:guide>
        <p15:guide id="15" pos="6073">
          <p15:clr>
            <a:srgbClr val="A4A3A4"/>
          </p15:clr>
        </p15:guide>
        <p15:guide id="16" pos="24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5E3"/>
    <a:srgbClr val="FFFFFF"/>
    <a:srgbClr val="F0FE9A"/>
    <a:srgbClr val="DDDDDD"/>
    <a:srgbClr val="A9A9A9"/>
    <a:srgbClr val="BFBFBF"/>
    <a:srgbClr val="839BD1"/>
    <a:srgbClr val="FF7F82"/>
    <a:srgbClr val="F2F5FB"/>
    <a:srgbClr val="B7BD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none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none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none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보통 스타일 2 - 강조 2">
    <a:wholeTbl>
      <a:tcTxStyle>
        <a:fontRef idx="none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none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none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none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96074" autoAdjust="0"/>
  </p:normalViewPr>
  <p:slideViewPr>
    <p:cSldViewPr snapToGrid="0" snapToObjects="1">
      <p:cViewPr varScale="1">
        <p:scale>
          <a:sx n="113" d="100"/>
          <a:sy n="113" d="100"/>
        </p:scale>
        <p:origin x="594" y="-492"/>
      </p:cViewPr>
      <p:guideLst>
        <p:guide orient="horz" pos="2158"/>
        <p:guide pos="3836"/>
        <p:guide orient="horz" pos="672"/>
        <p:guide orient="horz" pos="1483"/>
        <p:guide orient="horz" pos="1603"/>
        <p:guide orient="horz" pos="612"/>
        <p:guide orient="horz" pos="3873"/>
        <p:guide orient="horz" pos="369"/>
        <p:guide orient="horz" pos="3893"/>
        <p:guide pos="303"/>
        <p:guide pos="2076"/>
        <p:guide pos="4597"/>
        <p:guide pos="1906"/>
        <p:guide pos="3724"/>
        <p:guide pos="6073"/>
        <p:guide pos="24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7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font" Target="fonts/font6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서울시 애로사항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218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DA9-4785-AA3E-B8B01C836CE9}"/>
              </c:ext>
            </c:extLst>
          </c:dPt>
          <c:dPt>
            <c:idx val="1"/>
            <c:bubble3D val="0"/>
            <c:spPr>
              <a:solidFill>
                <a:srgbClr val="6A1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DA9-4785-AA3E-B8B01C836CE9}"/>
              </c:ext>
            </c:extLst>
          </c:dPt>
          <c:dPt>
            <c:idx val="2"/>
            <c:bubble3D val="0"/>
            <c:spPr>
              <a:solidFill>
                <a:srgbClr val="7B3D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DA9-4785-AA3E-B8B01C836CE9}"/>
              </c:ext>
            </c:extLst>
          </c:dPt>
          <c:dPt>
            <c:idx val="3"/>
            <c:bubble3D val="0"/>
            <c:spPr>
              <a:solidFill>
                <a:srgbClr val="AB47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DA9-4785-AA3E-B8B01C836CE9}"/>
              </c:ext>
            </c:extLst>
          </c:dPt>
          <c:dPt>
            <c:idx val="4"/>
            <c:bubble3D val="0"/>
            <c:spPr>
              <a:solidFill>
                <a:srgbClr val="CE93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DA9-4785-AA3E-B8B01C836CE9}"/>
              </c:ext>
            </c:extLst>
          </c:dPt>
          <c:dPt>
            <c:idx val="5"/>
            <c:bubble3D val="0"/>
            <c:spPr>
              <a:solidFill>
                <a:srgbClr val="E0D0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DA9-4785-AA3E-B8B01C836CE9}"/>
              </c:ext>
            </c:extLst>
          </c:dPt>
          <c:cat>
            <c:strRef>
              <c:f>Sheet1!$A$2:$A$7</c:f>
              <c:strCache>
                <c:ptCount val="6"/>
                <c:pt idx="0">
                  <c:v>상권 쇠퇴</c:v>
                </c:pt>
                <c:pt idx="1">
                  <c:v>원재료·재료매입비</c:v>
                </c:pt>
                <c:pt idx="2">
                  <c:v>동일업종 경쟁 심화</c:v>
                </c:pt>
                <c:pt idx="3">
                  <c:v>보증금·월세</c:v>
                </c:pt>
                <c:pt idx="4">
                  <c:v>부채상환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31.5</c:v>
                </c:pt>
                <c:pt idx="1">
                  <c:v>21.1</c:v>
                </c:pt>
                <c:pt idx="2">
                  <c:v>15.2</c:v>
                </c:pt>
                <c:pt idx="3">
                  <c:v>11.1</c:v>
                </c:pt>
                <c:pt idx="4">
                  <c:v>9.3000000000000007</c:v>
                </c:pt>
                <c:pt idx="5">
                  <c:v>11.8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DA9-4785-AA3E-B8B01C836C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연남동 재방문 이유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7F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CA-40E3-9491-4157CCB2629F}"/>
              </c:ext>
            </c:extLst>
          </c:dPt>
          <c:dPt>
            <c:idx val="1"/>
            <c:bubble3D val="0"/>
            <c:spPr>
              <a:solidFill>
                <a:srgbClr val="D0E6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CA-40E3-9491-4157CCB2629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4238488783943327"/>
                      <c:h val="0.3672366621067031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4CA-40E3-9491-4157CCB2629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  <a:endParaRPr lang="ko-KR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E4CA-40E3-9491-4157CCB2629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chemeClr val="tx1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상권의 분위기</c:v>
                </c:pt>
                <c:pt idx="1">
                  <c:v>기타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</c:v>
                </c:pt>
                <c:pt idx="1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CA-40E3-9491-4157CCB262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solidFill>
        <a:schemeClr val="tx1"/>
      </a:solidFill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F65DF070-341E-4367-A2CB-77A37ADB56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45A0CD1C-1E26-4A32-893B-313EF1BF9FF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B32DA378-2BCC-450C-80B5-238E7E16A07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6304072D-E980-498C-B1E7-5F2E45D691B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defRPr kumimoji="1" sz="1300" b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fld id="{63DA45C6-56ED-4983-8AA0-8C79D72E1D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43C9DE0B-6525-44B8-A9DF-67C769C02CA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9277EB6C-9E9C-448D-8063-943A89981AD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>
            <a:lvl1pPr algn="r"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71D477B8-35C4-43EE-820D-031614F956A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2950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7" name="Rectangle 5">
            <a:extLst>
              <a:ext uri="{FF2B5EF4-FFF2-40B4-BE49-F238E27FC236}">
                <a16:creationId xmlns:a16="http://schemas.microsoft.com/office/drawing/2014/main" id="{2356BDE1-0093-4319-8273-54E6A743BC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>
          <a:xfrm>
            <a:off x="906463" y="4714875"/>
            <a:ext cx="4984750" cy="4468813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t" anchorCtr="0"/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177158" name="Rectangle 6">
            <a:extLst>
              <a:ext uri="{FF2B5EF4-FFF2-40B4-BE49-F238E27FC236}">
                <a16:creationId xmlns:a16="http://schemas.microsoft.com/office/drawing/2014/main" id="{22AB6045-41C5-4B5A-945A-727B652E05D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32925"/>
            <a:ext cx="2944813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anchor="b" anchorCtr="0"/>
          <a:lstStyle>
            <a:lvl1pPr defTabSz="955273" eaLnBrk="1" latinLnBrk="1" hangingPunct="1">
              <a:spcBef>
                <a:spcPct val="50000"/>
              </a:spcBef>
              <a:defRPr kumimoji="1" sz="1300" b="0" dirty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7159" name="Rectangle 7">
            <a:extLst>
              <a:ext uri="{FF2B5EF4-FFF2-40B4-BE49-F238E27FC236}">
                <a16:creationId xmlns:a16="http://schemas.microsoft.com/office/drawing/2014/main" id="{155AA4E9-8C62-4ED3-ADE4-F2D6115F9D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2863" y="9432925"/>
            <a:ext cx="2944812" cy="4953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vert="horz" wrap="square" lIns="95594" tIns="47796" rIns="95594" bIns="47796" numCol="1" anchor="b" anchorCtr="0" compatLnSpc="1">
            <a:prstTxWarp prst="textNoShape">
              <a:avLst/>
            </a:prstTxWarp>
          </a:bodyPr>
          <a:lstStyle>
            <a:lvl1pPr algn="r" defTabSz="954088" eaLnBrk="1" latinLnBrk="1" hangingPunct="1">
              <a:spcBef>
                <a:spcPct val="50000"/>
              </a:spcBef>
              <a:defRPr kumimoji="1" sz="1300" b="0" smtClean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pPr>
              <a:defRPr/>
            </a:pPr>
            <a:fld id="{6A9F95F4-9487-48DC-AA0F-B00014BA906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Pretendard" panose="02000503000000020004" pitchFamily="50" charset="-127"/>
        <a:ea typeface="Pretendard" panose="0200050300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5"/>
          <p:cNvSpPr>
            <a:spLocks noGrp="1"/>
          </p:cNvSpPr>
          <p:nvPr>
            <p:ph type="body" sz="quarter" idx="13"/>
          </p:nvPr>
        </p:nvSpPr>
        <p:spPr>
          <a:xfrm>
            <a:off x="1101470" y="3067224"/>
            <a:ext cx="4164797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ko-KR" altLang="en-US" dirty="0"/>
          </a:p>
        </p:txBody>
      </p:sp>
      <p:sp>
        <p:nvSpPr>
          <p:cNvPr id="3" name="텍스트 개체 틀 15"/>
          <p:cNvSpPr>
            <a:spLocks noGrp="1"/>
          </p:cNvSpPr>
          <p:nvPr>
            <p:ph type="body" sz="quarter" idx="14"/>
          </p:nvPr>
        </p:nvSpPr>
        <p:spPr>
          <a:xfrm>
            <a:off x="1465535" y="3642955"/>
            <a:ext cx="4164797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053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. 서비스 제작배경 및 필요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20E9692F-6DC8-49CC-A0AA-DBD9C15D98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88925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1.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제안배경 및 출품작 소개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4351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활용 공공데이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1004A927-1385-4635-8B65-4D74257302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621188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2.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 핵심내용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공공데이터 활용 적정성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실현가능성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 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92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2AFE44E2-9031-4875-9356-E7705A7DF04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876550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3.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기존 서비스와의 차별성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독창성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933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3. 개발과정 및 방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D1512B2-4258-46FD-8475-388176C916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383698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4.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개발과정 및 방법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제품 및 서비스개발만 해당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057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DFDD3E95-1CF8-4380-8F75-76BD438490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299243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5. IA(Information Architecture)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6921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6. 서비스 활용방안 및 기대효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B82DBD5-00A0-416A-9298-5BFAD56B4D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5964238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6.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출품작의 창업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사업화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시장성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매출 발생 및 투자가능성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발전 가능성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170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B3F3DD5A-1C8A-4606-92B4-A2ADAC7FA8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818063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7.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출품작 상용에 따른 파급효과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기대효과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사회적 가치 창출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926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preserve="1" userDrawn="1">
  <p:cSld name="7. 개발 툴 및 참고문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3526137-8D1B-4D81-A9F8-67CA227F36D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7000" y="84138"/>
            <a:ext cx="4048125" cy="307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latinLnBrk="0" hangingPunct="1">
              <a:lnSpc>
                <a:spcPct val="140000"/>
              </a:lnSpc>
              <a:defRPr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7.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개발 툴 및 참고문헌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제품 및 서비스개발만 해당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9538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E9C818-B8B6-4329-A5A3-98991D0A0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3B36D-4F86-4DF3-9451-CFDF2F8F2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FD594-2330-43E3-9240-B5E89D542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A7197-8235-4E7A-BCE4-33C09BF0AC50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CE391-BB84-4DB6-8253-A462CCABF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DFBE29-6FE7-4990-BCFE-C45A68ED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4ED3F-6F9F-447B-9ECD-4E87855B75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26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4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그레이바탕">
            <a:extLst>
              <a:ext uri="{FF2B5EF4-FFF2-40B4-BE49-F238E27FC236}">
                <a16:creationId xmlns:a16="http://schemas.microsoft.com/office/drawing/2014/main" id="{55F7BD3E-0B96-44E3-9034-5C9D1CBAA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62475"/>
            <a:ext cx="121920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Line 462">
            <a:extLst>
              <a:ext uri="{FF2B5EF4-FFF2-40B4-BE49-F238E27FC236}">
                <a16:creationId xmlns:a16="http://schemas.microsoft.com/office/drawing/2014/main" id="{ECE4ABCF-68B8-493C-889E-D4D3305AB2E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1430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8" name="Line 488">
            <a:extLst>
              <a:ext uri="{FF2B5EF4-FFF2-40B4-BE49-F238E27FC236}">
                <a16:creationId xmlns:a16="http://schemas.microsoft.com/office/drawing/2014/main" id="{0A6CF33A-EA4A-42F0-A6FB-61CA81082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4290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29" name="Line 489">
            <a:extLst>
              <a:ext uri="{FF2B5EF4-FFF2-40B4-BE49-F238E27FC236}">
                <a16:creationId xmlns:a16="http://schemas.microsoft.com/office/drawing/2014/main" id="{11233526-3C9F-4928-BEC5-773B33F1B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000500"/>
            <a:ext cx="5351463" cy="0"/>
          </a:xfrm>
          <a:prstGeom prst="line">
            <a:avLst/>
          </a:prstGeom>
          <a:noFill/>
          <a:ln w="9525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1030" name="Text Box 539">
            <a:extLst>
              <a:ext uri="{FF2B5EF4-FFF2-40B4-BE49-F238E27FC236}">
                <a16:creationId xmlns:a16="http://schemas.microsoft.com/office/drawing/2014/main" id="{F2759659-4FBB-4705-8827-72150306F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704975"/>
            <a:ext cx="5256212" cy="4619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ko-KR" altLang="en-US" sz="30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상세기획서</a:t>
            </a:r>
          </a:p>
        </p:txBody>
      </p:sp>
      <p:sp>
        <p:nvSpPr>
          <p:cNvPr id="1031" name="Text Box 510">
            <a:extLst>
              <a:ext uri="{FF2B5EF4-FFF2-40B4-BE49-F238E27FC236}">
                <a16:creationId xmlns:a16="http://schemas.microsoft.com/office/drawing/2014/main" id="{70854706-E568-4E12-B124-A7E8F9A7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1395413"/>
            <a:ext cx="7653337" cy="2460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2026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년 서울시 빅데이터 활용 경진대회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서울 열린데이터광장</a:t>
            </a:r>
            <a:r>
              <a:rPr lang="en-US" altLang="ko-KR" sz="1600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sz="1600" b="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1032" name="그림 1">
            <a:extLst>
              <a:ext uri="{FF2B5EF4-FFF2-40B4-BE49-F238E27FC236}">
                <a16:creationId xmlns:a16="http://schemas.microsoft.com/office/drawing/2014/main" id="{D6C2F4C5-9D36-4B55-8C7F-92D773DB74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7275" y="6373813"/>
            <a:ext cx="20955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그림 12">
            <a:extLst>
              <a:ext uri="{FF2B5EF4-FFF2-40B4-BE49-F238E27FC236}">
                <a16:creationId xmlns:a16="http://schemas.microsoft.com/office/drawing/2014/main" id="{28249751-894D-418C-B0B7-B954474DFA7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558800"/>
            <a:ext cx="1760537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텍스트 개체 틀 15">
            <a:extLst>
              <a:ext uri="{FF2B5EF4-FFF2-40B4-BE49-F238E27FC236}">
                <a16:creationId xmlns:a16="http://schemas.microsoft.com/office/drawing/2014/main" id="{491F08E7-4DD7-4433-8F56-1AADF6432CE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9063" y="3071813"/>
            <a:ext cx="1430337" cy="3603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542925" indent="-1588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990600" indent="-762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438275" indent="-23813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1790700" indent="381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2479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7051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1623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6195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서비스명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:</a:t>
            </a:r>
            <a:endParaRPr kumimoji="1"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035" name="텍스트 개체 틀 15">
            <a:extLst>
              <a:ext uri="{FF2B5EF4-FFF2-40B4-BE49-F238E27FC236}">
                <a16:creationId xmlns:a16="http://schemas.microsoft.com/office/drawing/2014/main" id="{D169740E-0E9B-476F-A1F2-0DDB5015DD3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9063" y="3644900"/>
            <a:ext cx="1430337" cy="358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542925" indent="-1588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990600" indent="-762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438275" indent="-23813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1790700" indent="381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2479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7051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1623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619500" indent="381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  <a:defRPr/>
            </a:pP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참가자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팀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r>
              <a:rPr kumimoji="1"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명</a:t>
            </a:r>
            <a:r>
              <a:rPr kumimoji="1"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</a:rPr>
              <a:t>:</a:t>
            </a:r>
            <a:endParaRPr kumimoji="1" lang="ko-KR" altLang="en-US" sz="16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9_기본 디자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직사각형 15">
            <a:extLst>
              <a:ext uri="{FF2B5EF4-FFF2-40B4-BE49-F238E27FC236}">
                <a16:creationId xmlns:a16="http://schemas.microsoft.com/office/drawing/2014/main" id="{E289CBA3-FDDF-4113-9432-3D7B17F87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106363"/>
            <a:ext cx="32766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 latinLnBrk="1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2026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년 서울시 빅데이터 활용 경진대회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서울 열린데이터광장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B1AC150-33DE-4BB4-A40F-D7220710849A}"/>
              </a:ext>
            </a:extLst>
          </p:cNvPr>
          <p:cNvSpPr/>
          <p:nvPr/>
        </p:nvSpPr>
        <p:spPr>
          <a:xfrm>
            <a:off x="8337550" y="107950"/>
            <a:ext cx="50800" cy="244475"/>
          </a:xfrm>
          <a:prstGeom prst="rect">
            <a:avLst/>
          </a:prstGeom>
          <a:solidFill>
            <a:srgbClr val="E8E8E8"/>
          </a:solidFill>
          <a:ln w="25400">
            <a:solidFill>
              <a:srgbClr val="FEFFFE"/>
            </a:solidFill>
            <a:miter/>
          </a:ln>
          <a:effectLst/>
        </p:spPr>
        <p:txBody>
          <a:bodyPr lIns="0" tIns="0" rIns="0" bIns="0" anchor="ctr"/>
          <a:lstStyle/>
          <a:p>
            <a:pPr algn="ctr" defTabSz="1080135" eaLnBrk="1" hangingPunct="1">
              <a:defRPr/>
            </a:pPr>
            <a:endParaRPr lang="ko-KR" altLang="en-US" sz="2000" b="0" spc="5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B2B798FB-19AC-429B-A127-D10754097EE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6616700"/>
            <a:ext cx="12192000" cy="223838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01000"/>
              </a:lnSpc>
              <a:spcBef>
                <a:spcPct val="50000"/>
              </a:spcBef>
              <a:defRPr/>
            </a:pPr>
            <a:r>
              <a:rPr kumimoji="1" lang="en-US" altLang="ko-KR" sz="9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- </a:t>
            </a:r>
            <a:fld id="{9FA08651-405C-44B8-B710-91BD47940B55}" type="slidenum">
              <a:rPr kumimoji="1" lang="en-US" altLang="ko-KR" sz="900" b="0" smtClean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pPr algn="ctr">
                <a:lnSpc>
                  <a:spcPct val="101000"/>
                </a:lnSpc>
                <a:spcBef>
                  <a:spcPct val="50000"/>
                </a:spcBef>
                <a:defRPr/>
              </a:pPr>
              <a:t>‹#›</a:t>
            </a:fld>
            <a:r>
              <a:rPr kumimoji="1" lang="en-US" altLang="ko-KR" sz="9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-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80520E7-DD5B-455E-ACB3-9F2C14819AEE}"/>
              </a:ext>
            </a:extLst>
          </p:cNvPr>
          <p:cNvCxnSpPr/>
          <p:nvPr userDrawn="1"/>
        </p:nvCxnSpPr>
        <p:spPr>
          <a:xfrm>
            <a:off x="119063" y="476250"/>
            <a:ext cx="11953875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</a:ln>
          <a:effectLst/>
        </p:spPr>
      </p:cxnSp>
      <p:pic>
        <p:nvPicPr>
          <p:cNvPr id="2054" name="그림 6">
            <a:extLst>
              <a:ext uri="{FF2B5EF4-FFF2-40B4-BE49-F238E27FC236}">
                <a16:creationId xmlns:a16="http://schemas.microsoft.com/office/drawing/2014/main" id="{115E4D90-EBEE-4AE2-9826-D090C143135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775" y="120650"/>
            <a:ext cx="947738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/>
          <a:ea typeface="맑은 고딕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bg1"/>
          </a:solidFill>
          <a:latin typeface="Optima"/>
          <a:ea typeface="굴림"/>
        </a:defRPr>
      </a:lvl9pPr>
    </p:titleStyle>
    <p:bodyStyle>
      <a:lvl1pPr marL="342900" indent="-342900" algn="l" rtl="0" eaLnBrk="0" fontAlgn="base" latinLnBrk="1" hangingPunct="0">
        <a:lnSpc>
          <a:spcPct val="110000"/>
        </a:lnSpc>
        <a:spcBef>
          <a:spcPct val="20000"/>
        </a:spcBef>
        <a:spcAft>
          <a:spcPct val="0"/>
        </a:spcAft>
        <a:defRPr kumimoji="1" sz="1600" b="1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5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Times New Roman"/>
          <a:ea typeface="+mn-ea"/>
        </a:defRPr>
      </a:lvl2pPr>
      <a:lvl3pPr marL="990600" indent="-762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>
          <a:solidFill>
            <a:schemeClr val="tx1"/>
          </a:solidFill>
          <a:latin typeface="Times New Roman"/>
          <a:ea typeface="+mn-ea"/>
        </a:defRPr>
      </a:lvl3pPr>
      <a:lvl4pPr marL="1438275" indent="-2381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Times New Roman"/>
          <a:ea typeface="+mn-ea"/>
        </a:defRPr>
      </a:lvl4pPr>
      <a:lvl5pPr marL="1790700" indent="381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Times New Roman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Times New Roman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hub.seoul.go.kr/archives/2016341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v.daum.net/v/20250327030508187" TargetMode="External"/><Relationship Id="rId7" Type="http://schemas.openxmlformats.org/officeDocument/2006/relationships/image" Target="../media/image9.png"/><Relationship Id="rId2" Type="http://schemas.openxmlformats.org/officeDocument/2006/relationships/hyperlink" Target="https://www.m-joongang.com/news/articleView.html?idxno=40193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fashionbiz.co.kr/article/218209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si.re.kr/sites/default/files/small%2022-01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today.co.kr/news/view/2502605" TargetMode="External"/><Relationship Id="rId3" Type="http://schemas.openxmlformats.org/officeDocument/2006/relationships/hyperlink" Target="https://blog.igisam.com/%ec%84%9c%ec%9a%b8-%ec%a3%bc%eb%aa%a9%eb%b0%9b%eb%8a%94-%ec%a7%80%ec%97%ad-%ec%84%b1%ec%88%98-%ec%a0%95%eb%a6%ac/" TargetMode="External"/><Relationship Id="rId7" Type="http://schemas.openxmlformats.org/officeDocument/2006/relationships/hyperlink" Target="https://www.sidae.com/article/2024091916341272916" TargetMode="External"/><Relationship Id="rId2" Type="http://schemas.openxmlformats.org/officeDocument/2006/relationships/hyperlink" Target="https://fashionbiz.co.kr/article/15374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ankyung.com/article/2020070120841" TargetMode="External"/><Relationship Id="rId5" Type="http://schemas.openxmlformats.org/officeDocument/2006/relationships/hyperlink" Target="https://vircle.co.kr/blog/%ED%8C%A8%EC%85%98-%EC%9E%A0%EC%9E%AC-%EA%B3%A0%EA%B0%9D%EC%9D%80-%EC%96%B4%EB%94%94%EC%97%90-%EC%9E%88%EC%9D%84%EA%B9%8C" TargetMode="External"/><Relationship Id="rId4" Type="http://schemas.openxmlformats.org/officeDocument/2006/relationships/hyperlink" Target="https://www.sisajournal.com/news/articleView.html?idxno=231041" TargetMode="External"/><Relationship Id="rId9" Type="http://schemas.openxmlformats.org/officeDocument/2006/relationships/hyperlink" Target="https://fashionbiz.co.kr/article/21292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mp.seoul.co.kr/news/society/2025/12/24/20251224500212?cp=en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.seoul.go.kr/economy/archives/562241" TargetMode="External"/><Relationship Id="rId7" Type="http://schemas.openxmlformats.org/officeDocument/2006/relationships/hyperlink" Target="https://www.narasallim.net/view3/1481" TargetMode="External"/><Relationship Id="rId2" Type="http://schemas.openxmlformats.org/officeDocument/2006/relationships/hyperlink" Target="https://www.seoul.co.kr/news/society/2026/02/02/2026020250013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hankyung.com/article/2025110286751" TargetMode="External"/><Relationship Id="rId5" Type="http://schemas.openxmlformats.org/officeDocument/2006/relationships/hyperlink" Target="https://koreabizreview.com/detail.php?number=7271&amp;thread=26r05" TargetMode="Externa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4.png"/><Relationship Id="rId21" Type="http://schemas.openxmlformats.org/officeDocument/2006/relationships/image" Target="../media/image39.png"/><Relationship Id="rId34" Type="http://schemas.openxmlformats.org/officeDocument/2006/relationships/image" Target="../media/image52.png"/><Relationship Id="rId42" Type="http://schemas.openxmlformats.org/officeDocument/2006/relationships/image" Target="../media/image60.png"/><Relationship Id="rId47" Type="http://schemas.openxmlformats.org/officeDocument/2006/relationships/image" Target="../media/image65.png"/><Relationship Id="rId50" Type="http://schemas.openxmlformats.org/officeDocument/2006/relationships/image" Target="../media/image68.png"/><Relationship Id="rId55" Type="http://schemas.openxmlformats.org/officeDocument/2006/relationships/image" Target="../media/image73.png"/><Relationship Id="rId63" Type="http://schemas.openxmlformats.org/officeDocument/2006/relationships/image" Target="../media/image8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29" Type="http://schemas.openxmlformats.org/officeDocument/2006/relationships/image" Target="../media/image47.png"/><Relationship Id="rId11" Type="http://schemas.openxmlformats.org/officeDocument/2006/relationships/image" Target="../media/image29.png"/><Relationship Id="rId24" Type="http://schemas.openxmlformats.org/officeDocument/2006/relationships/image" Target="../media/image42.png"/><Relationship Id="rId32" Type="http://schemas.openxmlformats.org/officeDocument/2006/relationships/image" Target="../media/image50.png"/><Relationship Id="rId37" Type="http://schemas.openxmlformats.org/officeDocument/2006/relationships/image" Target="../media/image55.png"/><Relationship Id="rId40" Type="http://schemas.openxmlformats.org/officeDocument/2006/relationships/image" Target="../media/image58.png"/><Relationship Id="rId45" Type="http://schemas.openxmlformats.org/officeDocument/2006/relationships/image" Target="../media/image63.png"/><Relationship Id="rId53" Type="http://schemas.openxmlformats.org/officeDocument/2006/relationships/image" Target="../media/image71.png"/><Relationship Id="rId58" Type="http://schemas.openxmlformats.org/officeDocument/2006/relationships/image" Target="../media/image76.png"/><Relationship Id="rId66" Type="http://schemas.openxmlformats.org/officeDocument/2006/relationships/image" Target="../media/image84.png"/><Relationship Id="rId5" Type="http://schemas.openxmlformats.org/officeDocument/2006/relationships/image" Target="../media/image23.png"/><Relationship Id="rId61" Type="http://schemas.openxmlformats.org/officeDocument/2006/relationships/image" Target="../media/image79.png"/><Relationship Id="rId19" Type="http://schemas.openxmlformats.org/officeDocument/2006/relationships/image" Target="../media/image37.png"/><Relationship Id="rId14" Type="http://schemas.openxmlformats.org/officeDocument/2006/relationships/image" Target="../media/image32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53.png"/><Relationship Id="rId43" Type="http://schemas.openxmlformats.org/officeDocument/2006/relationships/image" Target="../media/image61.png"/><Relationship Id="rId48" Type="http://schemas.openxmlformats.org/officeDocument/2006/relationships/image" Target="../media/image66.png"/><Relationship Id="rId56" Type="http://schemas.openxmlformats.org/officeDocument/2006/relationships/image" Target="../media/image74.png"/><Relationship Id="rId64" Type="http://schemas.openxmlformats.org/officeDocument/2006/relationships/image" Target="../media/image82.png"/><Relationship Id="rId8" Type="http://schemas.openxmlformats.org/officeDocument/2006/relationships/image" Target="../media/image26.png"/><Relationship Id="rId51" Type="http://schemas.openxmlformats.org/officeDocument/2006/relationships/image" Target="../media/image69.png"/><Relationship Id="rId3" Type="http://schemas.openxmlformats.org/officeDocument/2006/relationships/image" Target="../media/image21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33" Type="http://schemas.openxmlformats.org/officeDocument/2006/relationships/image" Target="../media/image51.png"/><Relationship Id="rId38" Type="http://schemas.openxmlformats.org/officeDocument/2006/relationships/image" Target="../media/image56.png"/><Relationship Id="rId46" Type="http://schemas.openxmlformats.org/officeDocument/2006/relationships/image" Target="../media/image64.png"/><Relationship Id="rId59" Type="http://schemas.openxmlformats.org/officeDocument/2006/relationships/image" Target="../media/image77.png"/><Relationship Id="rId20" Type="http://schemas.openxmlformats.org/officeDocument/2006/relationships/image" Target="../media/image38.png"/><Relationship Id="rId41" Type="http://schemas.openxmlformats.org/officeDocument/2006/relationships/image" Target="../media/image59.png"/><Relationship Id="rId54" Type="http://schemas.openxmlformats.org/officeDocument/2006/relationships/image" Target="../media/image72.png"/><Relationship Id="rId62" Type="http://schemas.openxmlformats.org/officeDocument/2006/relationships/image" Target="../media/image80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36" Type="http://schemas.openxmlformats.org/officeDocument/2006/relationships/image" Target="../media/image54.png"/><Relationship Id="rId49" Type="http://schemas.openxmlformats.org/officeDocument/2006/relationships/image" Target="../media/image67.png"/><Relationship Id="rId57" Type="http://schemas.openxmlformats.org/officeDocument/2006/relationships/image" Target="../media/image75.png"/><Relationship Id="rId10" Type="http://schemas.openxmlformats.org/officeDocument/2006/relationships/image" Target="../media/image28.png"/><Relationship Id="rId31" Type="http://schemas.openxmlformats.org/officeDocument/2006/relationships/image" Target="../media/image49.png"/><Relationship Id="rId44" Type="http://schemas.openxmlformats.org/officeDocument/2006/relationships/image" Target="../media/image62.png"/><Relationship Id="rId52" Type="http://schemas.openxmlformats.org/officeDocument/2006/relationships/image" Target="../media/image70.png"/><Relationship Id="rId60" Type="http://schemas.openxmlformats.org/officeDocument/2006/relationships/image" Target="../media/image78.png"/><Relationship Id="rId65" Type="http://schemas.openxmlformats.org/officeDocument/2006/relationships/image" Target="../media/image8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9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79.png"/><Relationship Id="rId3" Type="http://schemas.openxmlformats.org/officeDocument/2006/relationships/image" Target="../media/image90.png"/><Relationship Id="rId7" Type="http://schemas.openxmlformats.org/officeDocument/2006/relationships/image" Target="../media/image78.png"/><Relationship Id="rId12" Type="http://schemas.openxmlformats.org/officeDocument/2006/relationships/image" Target="../media/image77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5.png"/><Relationship Id="rId11" Type="http://schemas.openxmlformats.org/officeDocument/2006/relationships/image" Target="../media/image76.png"/><Relationship Id="rId5" Type="http://schemas.openxmlformats.org/officeDocument/2006/relationships/image" Target="../media/image92.png"/><Relationship Id="rId10" Type="http://schemas.openxmlformats.org/officeDocument/2006/relationships/image" Target="../media/image21.png"/><Relationship Id="rId4" Type="http://schemas.openxmlformats.org/officeDocument/2006/relationships/image" Target="../media/image80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0.jpeg"/><Relationship Id="rId4" Type="http://schemas.openxmlformats.org/officeDocument/2006/relationships/image" Target="../media/image9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olmok.seoul.go.kr/owner/owner.do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텍스트 개체 틀 1">
            <a:extLst>
              <a:ext uri="{FF2B5EF4-FFF2-40B4-BE49-F238E27FC236}">
                <a16:creationId xmlns:a16="http://schemas.microsoft.com/office/drawing/2014/main" id="{6A2C0C7F-8628-4F16-8372-E51064D88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1101725" y="3067050"/>
            <a:ext cx="4164013" cy="360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 err="1"/>
              <a:t>상권더하기</a:t>
            </a:r>
            <a:endParaRPr lang="ko-KR" altLang="en-US" dirty="0"/>
          </a:p>
        </p:txBody>
      </p:sp>
      <p:sp>
        <p:nvSpPr>
          <p:cNvPr id="13315" name="텍스트 개체 틀 2">
            <a:extLst>
              <a:ext uri="{FF2B5EF4-FFF2-40B4-BE49-F238E27FC236}">
                <a16:creationId xmlns:a16="http://schemas.microsoft.com/office/drawing/2014/main" id="{01138803-E67D-4649-934A-DF9478E6E8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xfrm>
            <a:off x="1465263" y="3643313"/>
            <a:ext cx="4165600" cy="3603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 dirty="0"/>
              <a:t>골목연구소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BFCEAC-022D-40AF-800B-60DE1374A1F1}"/>
              </a:ext>
            </a:extLst>
          </p:cNvPr>
          <p:cNvSpPr/>
          <p:nvPr/>
        </p:nvSpPr>
        <p:spPr>
          <a:xfrm>
            <a:off x="28575" y="4635500"/>
            <a:ext cx="9540875" cy="129222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  <p:txBody>
          <a:bodyPr>
            <a:spAutoFit/>
          </a:bodyPr>
          <a:lstStyle/>
          <a:p>
            <a:pPr marL="285750" indent="-2857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상세기획서 작성항목을 준수하여 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PPT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작성합니다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 marL="285750" indent="-2857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PPT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디자인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폰트 등은 자유롭게 구성합니다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*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별도의 폰트 사용시 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[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파일에 글꼴 포함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]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저장하여 제출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285750" indent="-285750" eaLnBrk="1" latinLnBrk="1" hangingPunct="1">
              <a:buFont typeface="Wingdings" panose="05000000000000000000" pitchFamily="2" charset="2"/>
              <a:buChar char="l"/>
              <a:defRPr/>
            </a:pP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①상세기획서</a:t>
            </a:r>
            <a:r>
              <a:rPr lang="en-US" altLang="ko-KR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(PPT)</a:t>
            </a:r>
            <a:r>
              <a:rPr lang="ko-KR" altLang="en-US" sz="140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제출</a:t>
            </a:r>
            <a:endParaRPr lang="en-US" altLang="ko-KR" sz="1400" dirty="0">
              <a:solidFill>
                <a:srgbClr val="FF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eaLnBrk="1" latinLnBrk="1" hangingPunct="1">
              <a:defRPr/>
            </a:pPr>
            <a:r>
              <a:rPr lang="en-US" altLang="ko-KR" sz="800" u="sng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</a:p>
          <a:p>
            <a:pPr eaLnBrk="1" latinLnBrk="1" hangingPunct="1">
              <a:defRPr/>
            </a:pP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-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 분량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10~30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 내외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</a:t>
            </a:r>
          </a:p>
          <a:p>
            <a:pPr eaLnBrk="1" latinLnBrk="1" hangingPunct="1">
              <a:defRPr/>
            </a:pP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공정한 심사를 위해 상세기획서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(PPT)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내에 개인정보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기재를 금지 합니다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.(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팀이름만 기재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4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개인은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성명 작성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418496D-2922-4379-93E3-08F8E1651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925" y="153987"/>
            <a:ext cx="7331075" cy="4887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1A70-A41C-804C-06CD-F6C665AE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28D69C-45BB-E7FC-9570-87F024E11C78}"/>
              </a:ext>
            </a:extLst>
          </p:cNvPr>
          <p:cNvSpPr txBox="1"/>
          <p:nvPr/>
        </p:nvSpPr>
        <p:spPr>
          <a:xfrm>
            <a:off x="206492" y="597007"/>
            <a:ext cx="11536680" cy="51828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소상공인 창업 후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내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폐업률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약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60%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달하며 골목상권 쇠퇴가 가속화되고 있음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기사자료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폐업률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쇠퇴율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수치가 담긴 도표 넣기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3A4FF5-79EE-EDAF-293F-5E1A1C987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87" y="1203842"/>
            <a:ext cx="4693443" cy="27648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377E4D-3076-DA16-2A06-3AD37127D02F}"/>
              </a:ext>
            </a:extLst>
          </p:cNvPr>
          <p:cNvSpPr txBox="1"/>
          <p:nvPr/>
        </p:nvSpPr>
        <p:spPr>
          <a:xfrm>
            <a:off x="413658" y="5206492"/>
            <a:ext cx="4792979" cy="835870"/>
          </a:xfrm>
          <a:prstGeom prst="rect">
            <a:avLst/>
          </a:prstGeom>
          <a:noFill/>
          <a:ln w="9525" algn="ctr">
            <a:solidFill>
              <a:schemeClr val="tx1"/>
            </a:solidFill>
            <a:miter/>
          </a:ln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양쪽 통계자료 모두 아래 링크에서 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dirty="0">
                <a:hlinkClick r:id="rId3"/>
              </a:rPr>
              <a:t>창업준비 </a:t>
            </a:r>
            <a:r>
              <a:rPr lang="en-US" altLang="ko-KR" dirty="0">
                <a:hlinkClick r:id="rId3"/>
              </a:rPr>
              <a:t>1</a:t>
            </a:r>
            <a:r>
              <a:rPr lang="ko-KR" altLang="en-US" dirty="0" err="1">
                <a:hlinkClick r:id="rId3"/>
              </a:rPr>
              <a:t>년하고</a:t>
            </a:r>
            <a:r>
              <a:rPr lang="ko-KR" altLang="en-US" dirty="0">
                <a:hlinkClick r:id="rId3"/>
              </a:rPr>
              <a:t> </a:t>
            </a:r>
            <a:r>
              <a:rPr lang="en-US" altLang="ko-KR" dirty="0">
                <a:hlinkClick r:id="rId3"/>
              </a:rPr>
              <a:t>1</a:t>
            </a:r>
            <a:r>
              <a:rPr lang="ko-KR" altLang="en-US" dirty="0">
                <a:hlinkClick r:id="rId3"/>
              </a:rPr>
              <a:t>억 투자</a:t>
            </a:r>
            <a:r>
              <a:rPr lang="en-US" altLang="ko-KR" dirty="0">
                <a:hlinkClick r:id="rId3"/>
              </a:rPr>
              <a:t>…</a:t>
            </a:r>
            <a:r>
              <a:rPr lang="ko-KR" altLang="en-US" dirty="0">
                <a:hlinkClick r:id="rId3"/>
              </a:rPr>
              <a:t>소상공인 실태 분석 </a:t>
            </a:r>
            <a:r>
              <a:rPr lang="en-US" altLang="ko-KR" dirty="0">
                <a:hlinkClick r:id="rId3"/>
              </a:rPr>
              <a:t>'</a:t>
            </a:r>
            <a:r>
              <a:rPr lang="ko-KR" altLang="en-US" dirty="0">
                <a:hlinkClick r:id="rId3"/>
              </a:rPr>
              <a:t>백서</a:t>
            </a:r>
            <a:r>
              <a:rPr lang="en-US" altLang="ko-KR" dirty="0">
                <a:hlinkClick r:id="rId3"/>
              </a:rPr>
              <a:t>' </a:t>
            </a:r>
            <a:r>
              <a:rPr lang="ko-KR" altLang="en-US" dirty="0">
                <a:hlinkClick r:id="rId3"/>
              </a:rPr>
              <a:t>발간 </a:t>
            </a:r>
            <a:r>
              <a:rPr lang="en-US" altLang="ko-KR" dirty="0">
                <a:hlinkClick r:id="rId3"/>
              </a:rPr>
              <a:t>| </a:t>
            </a:r>
            <a:r>
              <a:rPr lang="ko-KR" altLang="en-US" dirty="0">
                <a:hlinkClick r:id="rId3"/>
              </a:rPr>
              <a:t>서울시 </a:t>
            </a:r>
            <a:r>
              <a:rPr lang="en-US" altLang="ko-KR" dirty="0">
                <a:hlinkClick r:id="rId3"/>
              </a:rPr>
              <a:t>- </a:t>
            </a:r>
            <a:r>
              <a:rPr lang="ko-KR" altLang="en-US" dirty="0">
                <a:hlinkClick r:id="rId3"/>
              </a:rPr>
              <a:t>내 손안에 서울</a:t>
            </a:r>
            <a:endParaRPr lang="en-US" altLang="ko-KR" dirty="0"/>
          </a:p>
          <a:p>
            <a:pPr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81B7EA-AE1D-89CC-F902-20FAAEC49CDB}"/>
              </a:ext>
            </a:extLst>
          </p:cNvPr>
          <p:cNvSpPr txBox="1"/>
          <p:nvPr/>
        </p:nvSpPr>
        <p:spPr>
          <a:xfrm>
            <a:off x="5953576" y="4097638"/>
            <a:ext cx="6005638" cy="620426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폐업의 주된 원인은 지역마다 다르지만 평균적으로 상권 쇠퇴가 주 원인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폐업을 고려하는 소상공인 비율이 매년 증가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(22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14.4%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20.2%)</a:t>
            </a:r>
          </a:p>
          <a:p>
            <a:pPr algn="l" latinLnBrk="0">
              <a:lnSpc>
                <a:spcPct val="14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특히 이러한 비율에서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2~4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미만이 제일 많으며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내 폐업을 하는 소상공인이 많음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3" name="Chart 0">
            <a:extLst>
              <a:ext uri="{FF2B5EF4-FFF2-40B4-BE49-F238E27FC236}">
                <a16:creationId xmlns:a16="http://schemas.microsoft.com/office/drawing/2014/main" id="{2B80D1F3-D8F7-4F44-B132-C303CC9F2B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2387575"/>
              </p:ext>
            </p:extLst>
          </p:nvPr>
        </p:nvGraphicFramePr>
        <p:xfrm>
          <a:off x="180940" y="1558114"/>
          <a:ext cx="3073037" cy="2322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5" name="Text 4">
            <a:extLst>
              <a:ext uri="{FF2B5EF4-FFF2-40B4-BE49-F238E27FC236}">
                <a16:creationId xmlns:a16="http://schemas.microsoft.com/office/drawing/2014/main" id="{C5F770E3-020F-4654-8EEC-5521D6E51FDF}"/>
              </a:ext>
            </a:extLst>
          </p:cNvPr>
          <p:cNvSpPr/>
          <p:nvPr/>
        </p:nvSpPr>
        <p:spPr>
          <a:xfrm>
            <a:off x="914684" y="2239960"/>
            <a:ext cx="1607435" cy="196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1위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D8AD15C7-41C9-4492-9A3A-CC6CD46487FF}"/>
              </a:ext>
            </a:extLst>
          </p:cNvPr>
          <p:cNvSpPr/>
          <p:nvPr/>
        </p:nvSpPr>
        <p:spPr>
          <a:xfrm>
            <a:off x="914684" y="2541712"/>
            <a:ext cx="1607435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>
                <a:solidFill>
                  <a:srgbClr val="C2185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쇠퇴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7A4A7869-16BB-4EE6-87B1-107F7FB2C341}"/>
              </a:ext>
            </a:extLst>
          </p:cNvPr>
          <p:cNvSpPr/>
          <p:nvPr/>
        </p:nvSpPr>
        <p:spPr>
          <a:xfrm>
            <a:off x="975644" y="2750561"/>
            <a:ext cx="1607435" cy="258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C2185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31.5%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Shape 7">
            <a:extLst>
              <a:ext uri="{FF2B5EF4-FFF2-40B4-BE49-F238E27FC236}">
                <a16:creationId xmlns:a16="http://schemas.microsoft.com/office/drawing/2014/main" id="{FB961535-FA49-4A12-8FE0-1AF3B1A6675B}"/>
              </a:ext>
            </a:extLst>
          </p:cNvPr>
          <p:cNvSpPr/>
          <p:nvPr/>
        </p:nvSpPr>
        <p:spPr>
          <a:xfrm>
            <a:off x="2987034" y="1910363"/>
            <a:ext cx="2363875" cy="340644"/>
          </a:xfrm>
          <a:prstGeom prst="rect">
            <a:avLst/>
          </a:prstGeom>
          <a:solidFill>
            <a:srgbClr val="FDE8F0"/>
          </a:solidFill>
          <a:ln w="889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8">
            <a:extLst>
              <a:ext uri="{FF2B5EF4-FFF2-40B4-BE49-F238E27FC236}">
                <a16:creationId xmlns:a16="http://schemas.microsoft.com/office/drawing/2014/main" id="{A3C431D0-7593-4830-99E3-304DF24F8B68}"/>
              </a:ext>
            </a:extLst>
          </p:cNvPr>
          <p:cNvSpPr/>
          <p:nvPr/>
        </p:nvSpPr>
        <p:spPr>
          <a:xfrm>
            <a:off x="3078474" y="2031410"/>
            <a:ext cx="130013" cy="113548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9">
            <a:extLst>
              <a:ext uri="{FF2B5EF4-FFF2-40B4-BE49-F238E27FC236}">
                <a16:creationId xmlns:a16="http://schemas.microsoft.com/office/drawing/2014/main" id="{678FBF4A-FA93-41DB-8CF5-53C02571995C}"/>
              </a:ext>
            </a:extLst>
          </p:cNvPr>
          <p:cNvSpPr/>
          <p:nvPr/>
        </p:nvSpPr>
        <p:spPr>
          <a:xfrm>
            <a:off x="3352794" y="2004414"/>
            <a:ext cx="224568" cy="134193"/>
          </a:xfrm>
          <a:prstGeom prst="rect">
            <a:avLst/>
          </a:prstGeom>
          <a:solidFill>
            <a:srgbClr val="C2185B"/>
          </a:solidFill>
          <a:ln w="1270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E2514F55-890C-4C6B-A21A-44A7CE4BB828}"/>
              </a:ext>
            </a:extLst>
          </p:cNvPr>
          <p:cNvSpPr/>
          <p:nvPr/>
        </p:nvSpPr>
        <p:spPr>
          <a:xfrm>
            <a:off x="3352794" y="2004414"/>
            <a:ext cx="224568" cy="13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1위</a:t>
            </a:r>
            <a:endParaRPr lang="en-US" sz="800" dirty="0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F092F6E1-315C-44A6-8A16-9857D0189EB7}"/>
              </a:ext>
            </a:extLst>
          </p:cNvPr>
          <p:cNvSpPr/>
          <p:nvPr/>
        </p:nvSpPr>
        <p:spPr>
          <a:xfrm>
            <a:off x="3773418" y="1904206"/>
            <a:ext cx="1359228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b="1" dirty="0">
                <a:solidFill>
                  <a:srgbClr val="C2185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쇠퇴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81FCC2E6-0ADE-43EB-B4BF-4F9C9FB45760}"/>
              </a:ext>
            </a:extLst>
          </p:cNvPr>
          <p:cNvSpPr/>
          <p:nvPr/>
        </p:nvSpPr>
        <p:spPr>
          <a:xfrm>
            <a:off x="5389173" y="1936319"/>
            <a:ext cx="564403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 dirty="0">
                <a:solidFill>
                  <a:srgbClr val="C2185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31.5%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Shape 13">
            <a:extLst>
              <a:ext uri="{FF2B5EF4-FFF2-40B4-BE49-F238E27FC236}">
                <a16:creationId xmlns:a16="http://schemas.microsoft.com/office/drawing/2014/main" id="{06DB2566-6446-415E-870F-21C80841643A}"/>
              </a:ext>
            </a:extLst>
          </p:cNvPr>
          <p:cNvSpPr/>
          <p:nvPr/>
        </p:nvSpPr>
        <p:spPr>
          <a:xfrm>
            <a:off x="3078474" y="2373658"/>
            <a:ext cx="130013" cy="11354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14">
            <a:extLst>
              <a:ext uri="{FF2B5EF4-FFF2-40B4-BE49-F238E27FC236}">
                <a16:creationId xmlns:a16="http://schemas.microsoft.com/office/drawing/2014/main" id="{9C116E78-CC8F-4374-8D23-4E3C2F9D3384}"/>
              </a:ext>
            </a:extLst>
          </p:cNvPr>
          <p:cNvSpPr/>
          <p:nvPr/>
        </p:nvSpPr>
        <p:spPr>
          <a:xfrm>
            <a:off x="3352794" y="2355370"/>
            <a:ext cx="224568" cy="134193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88AF5EBF-9D91-4501-B757-3A71A4A30CA2}"/>
              </a:ext>
            </a:extLst>
          </p:cNvPr>
          <p:cNvSpPr/>
          <p:nvPr/>
        </p:nvSpPr>
        <p:spPr>
          <a:xfrm>
            <a:off x="3352794" y="2355370"/>
            <a:ext cx="224568" cy="13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2위</a:t>
            </a:r>
            <a:endParaRPr lang="en-US" sz="800" dirty="0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C000C9E0-2D36-4751-B92B-FDFD26E6B4E9}"/>
              </a:ext>
            </a:extLst>
          </p:cNvPr>
          <p:cNvSpPr/>
          <p:nvPr/>
        </p:nvSpPr>
        <p:spPr>
          <a:xfrm>
            <a:off x="3773418" y="2245642"/>
            <a:ext cx="1359228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원재료·재료매입비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8" name="Text 17">
            <a:extLst>
              <a:ext uri="{FF2B5EF4-FFF2-40B4-BE49-F238E27FC236}">
                <a16:creationId xmlns:a16="http://schemas.microsoft.com/office/drawing/2014/main" id="{2CE69475-594F-49E3-808E-646D1176D52D}"/>
              </a:ext>
            </a:extLst>
          </p:cNvPr>
          <p:cNvSpPr/>
          <p:nvPr/>
        </p:nvSpPr>
        <p:spPr>
          <a:xfrm>
            <a:off x="5399801" y="2265779"/>
            <a:ext cx="564403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21.1%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" name="Shape 18">
            <a:extLst>
              <a:ext uri="{FF2B5EF4-FFF2-40B4-BE49-F238E27FC236}">
                <a16:creationId xmlns:a16="http://schemas.microsoft.com/office/drawing/2014/main" id="{F50C97CA-5402-4F87-941E-0914529068CB}"/>
              </a:ext>
            </a:extLst>
          </p:cNvPr>
          <p:cNvSpPr/>
          <p:nvPr/>
        </p:nvSpPr>
        <p:spPr>
          <a:xfrm>
            <a:off x="3078474" y="2628821"/>
            <a:ext cx="130013" cy="113548"/>
          </a:xfrm>
          <a:prstGeom prst="rect">
            <a:avLst/>
          </a:prstGeom>
          <a:solidFill>
            <a:srgbClr val="7B3DBE"/>
          </a:solidFill>
          <a:ln w="12700">
            <a:solidFill>
              <a:srgbClr val="7B3DB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19">
            <a:extLst>
              <a:ext uri="{FF2B5EF4-FFF2-40B4-BE49-F238E27FC236}">
                <a16:creationId xmlns:a16="http://schemas.microsoft.com/office/drawing/2014/main" id="{CE75DE98-7A7B-45F5-ADCB-FA75CAAB3E06}"/>
              </a:ext>
            </a:extLst>
          </p:cNvPr>
          <p:cNvSpPr/>
          <p:nvPr/>
        </p:nvSpPr>
        <p:spPr>
          <a:xfrm>
            <a:off x="3352794" y="2610533"/>
            <a:ext cx="224568" cy="134193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2D5E09CA-41B1-417E-A48C-CF257ECFA6F4}"/>
              </a:ext>
            </a:extLst>
          </p:cNvPr>
          <p:cNvSpPr/>
          <p:nvPr/>
        </p:nvSpPr>
        <p:spPr>
          <a:xfrm>
            <a:off x="3352794" y="2610533"/>
            <a:ext cx="224568" cy="13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3위</a:t>
            </a:r>
            <a:endParaRPr lang="en-US" sz="800" dirty="0"/>
          </a:p>
        </p:txBody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24E3195F-9234-4F6B-89CF-DEF3365AB36D}"/>
              </a:ext>
            </a:extLst>
          </p:cNvPr>
          <p:cNvSpPr/>
          <p:nvPr/>
        </p:nvSpPr>
        <p:spPr>
          <a:xfrm>
            <a:off x="3773418" y="2500805"/>
            <a:ext cx="1359228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동일업종 경쟁 심화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3" name="Text 22">
            <a:extLst>
              <a:ext uri="{FF2B5EF4-FFF2-40B4-BE49-F238E27FC236}">
                <a16:creationId xmlns:a16="http://schemas.microsoft.com/office/drawing/2014/main" id="{4AD2958C-F544-42A9-A3EB-2A5BEA739572}"/>
              </a:ext>
            </a:extLst>
          </p:cNvPr>
          <p:cNvSpPr/>
          <p:nvPr/>
        </p:nvSpPr>
        <p:spPr>
          <a:xfrm>
            <a:off x="5399800" y="2528166"/>
            <a:ext cx="564403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15.2%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Shape 23">
            <a:extLst>
              <a:ext uri="{FF2B5EF4-FFF2-40B4-BE49-F238E27FC236}">
                <a16:creationId xmlns:a16="http://schemas.microsoft.com/office/drawing/2014/main" id="{DD6429E5-BA36-4107-B51D-28344F08E492}"/>
              </a:ext>
            </a:extLst>
          </p:cNvPr>
          <p:cNvSpPr/>
          <p:nvPr/>
        </p:nvSpPr>
        <p:spPr>
          <a:xfrm>
            <a:off x="3078474" y="2857856"/>
            <a:ext cx="130013" cy="11354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24">
            <a:extLst>
              <a:ext uri="{FF2B5EF4-FFF2-40B4-BE49-F238E27FC236}">
                <a16:creationId xmlns:a16="http://schemas.microsoft.com/office/drawing/2014/main" id="{864A3299-9E13-4BA4-8F34-AADEEC6BA684}"/>
              </a:ext>
            </a:extLst>
          </p:cNvPr>
          <p:cNvSpPr/>
          <p:nvPr/>
        </p:nvSpPr>
        <p:spPr>
          <a:xfrm>
            <a:off x="3352794" y="2839568"/>
            <a:ext cx="224568" cy="134193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24C7CAD6-854B-463C-8D3D-76BCE26707FC}"/>
              </a:ext>
            </a:extLst>
          </p:cNvPr>
          <p:cNvSpPr/>
          <p:nvPr/>
        </p:nvSpPr>
        <p:spPr>
          <a:xfrm>
            <a:off x="3352794" y="2839568"/>
            <a:ext cx="224568" cy="13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4위</a:t>
            </a:r>
            <a:endParaRPr lang="en-US" sz="800" dirty="0"/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15C4443E-17BE-41FC-B6B5-314B29D31F43}"/>
              </a:ext>
            </a:extLst>
          </p:cNvPr>
          <p:cNvSpPr/>
          <p:nvPr/>
        </p:nvSpPr>
        <p:spPr>
          <a:xfrm>
            <a:off x="3773418" y="2729840"/>
            <a:ext cx="1359228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보증금·월세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8" name="Text 27">
            <a:extLst>
              <a:ext uri="{FF2B5EF4-FFF2-40B4-BE49-F238E27FC236}">
                <a16:creationId xmlns:a16="http://schemas.microsoft.com/office/drawing/2014/main" id="{81A6CF97-7AFC-4495-8A9C-A2F0C47C9377}"/>
              </a:ext>
            </a:extLst>
          </p:cNvPr>
          <p:cNvSpPr/>
          <p:nvPr/>
        </p:nvSpPr>
        <p:spPr>
          <a:xfrm>
            <a:off x="5389173" y="2733815"/>
            <a:ext cx="564403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11.1%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Shape 28">
            <a:extLst>
              <a:ext uri="{FF2B5EF4-FFF2-40B4-BE49-F238E27FC236}">
                <a16:creationId xmlns:a16="http://schemas.microsoft.com/office/drawing/2014/main" id="{EE3088BA-C127-4DD3-A39B-051A9F0BD179}"/>
              </a:ext>
            </a:extLst>
          </p:cNvPr>
          <p:cNvSpPr/>
          <p:nvPr/>
        </p:nvSpPr>
        <p:spPr>
          <a:xfrm>
            <a:off x="3078474" y="3121723"/>
            <a:ext cx="130013" cy="11354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29">
            <a:extLst>
              <a:ext uri="{FF2B5EF4-FFF2-40B4-BE49-F238E27FC236}">
                <a16:creationId xmlns:a16="http://schemas.microsoft.com/office/drawing/2014/main" id="{8FAF7898-CC81-4506-95E9-D3309EC8D506}"/>
              </a:ext>
            </a:extLst>
          </p:cNvPr>
          <p:cNvSpPr/>
          <p:nvPr/>
        </p:nvSpPr>
        <p:spPr>
          <a:xfrm>
            <a:off x="3352794" y="3103435"/>
            <a:ext cx="224568" cy="134193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30">
            <a:extLst>
              <a:ext uri="{FF2B5EF4-FFF2-40B4-BE49-F238E27FC236}">
                <a16:creationId xmlns:a16="http://schemas.microsoft.com/office/drawing/2014/main" id="{84B04697-D785-4121-B684-7DE02A377C48}"/>
              </a:ext>
            </a:extLst>
          </p:cNvPr>
          <p:cNvSpPr/>
          <p:nvPr/>
        </p:nvSpPr>
        <p:spPr>
          <a:xfrm>
            <a:off x="3352794" y="3103435"/>
            <a:ext cx="224568" cy="13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5위</a:t>
            </a:r>
            <a:endParaRPr lang="en-US" sz="800" dirty="0"/>
          </a:p>
        </p:txBody>
      </p:sp>
      <p:sp>
        <p:nvSpPr>
          <p:cNvPr id="82" name="Text 31">
            <a:extLst>
              <a:ext uri="{FF2B5EF4-FFF2-40B4-BE49-F238E27FC236}">
                <a16:creationId xmlns:a16="http://schemas.microsoft.com/office/drawing/2014/main" id="{F424BF52-24F3-4563-A5FC-E0D93EAF3353}"/>
              </a:ext>
            </a:extLst>
          </p:cNvPr>
          <p:cNvSpPr/>
          <p:nvPr/>
        </p:nvSpPr>
        <p:spPr>
          <a:xfrm>
            <a:off x="3773418" y="2993707"/>
            <a:ext cx="1359228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부채상환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3" name="Text 32">
            <a:extLst>
              <a:ext uri="{FF2B5EF4-FFF2-40B4-BE49-F238E27FC236}">
                <a16:creationId xmlns:a16="http://schemas.microsoft.com/office/drawing/2014/main" id="{AB847DA5-1F67-4DB7-B396-1C87BC9AA06E}"/>
              </a:ext>
            </a:extLst>
          </p:cNvPr>
          <p:cNvSpPr/>
          <p:nvPr/>
        </p:nvSpPr>
        <p:spPr>
          <a:xfrm>
            <a:off x="5399799" y="2965236"/>
            <a:ext cx="564403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9.3%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4" name="Shape 33">
            <a:extLst>
              <a:ext uri="{FF2B5EF4-FFF2-40B4-BE49-F238E27FC236}">
                <a16:creationId xmlns:a16="http://schemas.microsoft.com/office/drawing/2014/main" id="{9BB9AC59-8111-4769-9596-7EC5CC596C87}"/>
              </a:ext>
            </a:extLst>
          </p:cNvPr>
          <p:cNvSpPr/>
          <p:nvPr/>
        </p:nvSpPr>
        <p:spPr>
          <a:xfrm>
            <a:off x="3078474" y="3368172"/>
            <a:ext cx="130013" cy="113548"/>
          </a:xfrm>
          <a:prstGeom prst="rect">
            <a:avLst/>
          </a:prstGeom>
          <a:solidFill>
            <a:srgbClr val="E0D0F0"/>
          </a:solidFill>
          <a:ln w="12700">
            <a:solidFill>
              <a:srgbClr val="E0D0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34">
            <a:extLst>
              <a:ext uri="{FF2B5EF4-FFF2-40B4-BE49-F238E27FC236}">
                <a16:creationId xmlns:a16="http://schemas.microsoft.com/office/drawing/2014/main" id="{46227CDE-E2BD-4EE0-9C80-08D65CB38E1D}"/>
              </a:ext>
            </a:extLst>
          </p:cNvPr>
          <p:cNvSpPr/>
          <p:nvPr/>
        </p:nvSpPr>
        <p:spPr>
          <a:xfrm>
            <a:off x="3352794" y="3349884"/>
            <a:ext cx="224568" cy="134193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35">
            <a:extLst>
              <a:ext uri="{FF2B5EF4-FFF2-40B4-BE49-F238E27FC236}">
                <a16:creationId xmlns:a16="http://schemas.microsoft.com/office/drawing/2014/main" id="{8AF9DF86-4AA5-4DB5-8315-FB99260F2CF2}"/>
              </a:ext>
            </a:extLst>
          </p:cNvPr>
          <p:cNvSpPr/>
          <p:nvPr/>
        </p:nvSpPr>
        <p:spPr>
          <a:xfrm>
            <a:off x="3352794" y="3349884"/>
            <a:ext cx="224568" cy="13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기타</a:t>
            </a:r>
            <a:endParaRPr lang="en-US" sz="800" dirty="0"/>
          </a:p>
        </p:txBody>
      </p:sp>
      <p:sp>
        <p:nvSpPr>
          <p:cNvPr id="87" name="Text 36">
            <a:extLst>
              <a:ext uri="{FF2B5EF4-FFF2-40B4-BE49-F238E27FC236}">
                <a16:creationId xmlns:a16="http://schemas.microsoft.com/office/drawing/2014/main" id="{1BA64198-341C-4CC8-AE7E-08D87772672E}"/>
              </a:ext>
            </a:extLst>
          </p:cNvPr>
          <p:cNvSpPr/>
          <p:nvPr/>
        </p:nvSpPr>
        <p:spPr>
          <a:xfrm>
            <a:off x="3773418" y="3240156"/>
            <a:ext cx="1359228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50" dirty="0">
                <a:solidFill>
                  <a:srgbClr val="33333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기타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8" name="Text 37">
            <a:extLst>
              <a:ext uri="{FF2B5EF4-FFF2-40B4-BE49-F238E27FC236}">
                <a16:creationId xmlns:a16="http://schemas.microsoft.com/office/drawing/2014/main" id="{3EDA2980-D53D-46AA-9C77-B07EB8510801}"/>
              </a:ext>
            </a:extLst>
          </p:cNvPr>
          <p:cNvSpPr/>
          <p:nvPr/>
        </p:nvSpPr>
        <p:spPr>
          <a:xfrm>
            <a:off x="5399798" y="3216439"/>
            <a:ext cx="564403" cy="34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100" dirty="0">
                <a:solidFill>
                  <a:srgbClr val="55555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11.8%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D37F15E-0BA7-45CF-9748-FD820F702231}"/>
              </a:ext>
            </a:extLst>
          </p:cNvPr>
          <p:cNvSpPr txBox="1"/>
          <p:nvPr/>
        </p:nvSpPr>
        <p:spPr>
          <a:xfrm>
            <a:off x="413658" y="1411413"/>
            <a:ext cx="5185953" cy="24622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</a:t>
            </a:r>
            <a:r>
              <a:rPr lang="en-US" altLang="ko-KR" sz="1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소상공인</a:t>
            </a:r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사업체</a:t>
            </a:r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운영에</a:t>
            </a:r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따른</a:t>
            </a:r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0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애로사항</a:t>
            </a:r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(1~5순위),*</a:t>
            </a:r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출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</a:t>
            </a:r>
            <a:r>
              <a:rPr lang="en-US" altLang="ko-KR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2025 </a:t>
            </a:r>
            <a:r>
              <a:rPr lang="ko-KR" altLang="en-US" sz="10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소상공인 생활백서</a:t>
            </a:r>
            <a:endParaRPr lang="en-US" altLang="ko-KR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1774172-DCD4-4622-BAD4-FAEBE05D3181}"/>
              </a:ext>
            </a:extLst>
          </p:cNvPr>
          <p:cNvSpPr/>
          <p:nvPr/>
        </p:nvSpPr>
        <p:spPr>
          <a:xfrm>
            <a:off x="206492" y="4064441"/>
            <a:ext cx="6005638" cy="2676848"/>
          </a:xfrm>
          <a:prstGeom prst="roundRect">
            <a:avLst/>
          </a:prstGeom>
          <a:noFill/>
          <a:ln w="3175">
            <a:solidFill>
              <a:schemeClr val="accent6">
                <a:lumMod val="50000"/>
              </a:schemeClr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latin typeface="+mn-ea"/>
              <a:ea typeface="+mn-ea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574344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A11A6-03E7-3F2E-E96E-73C878C20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5E6F2A-C031-9FC6-F60C-0D774186354E}"/>
              </a:ext>
            </a:extLst>
          </p:cNvPr>
          <p:cNvSpPr txBox="1"/>
          <p:nvPr/>
        </p:nvSpPr>
        <p:spPr>
          <a:xfrm>
            <a:off x="269336" y="609146"/>
            <a:ext cx="11536680" cy="107228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그러나 계속 활성화 되는 상권이 존재함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유동인구 많은 상권의 특징은 개별 가게가 잘된 것이 아닌 상권 전체가 하나의 정체성과 브랜드로 움직임</a:t>
            </a:r>
            <a:b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유동인구 많은 상권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특징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ex)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신당동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힙당동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성수동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가게가 아닌 성수동이라는 브랜드 자체가 소비 이유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폐업율이 년마다 점점 증가하는 상황에서도 계속 유지되어 영업이익을 회복하는 상권들이 존재함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C9AB8AC-6B5E-E479-1EFD-0DD5D30AE767}"/>
              </a:ext>
            </a:extLst>
          </p:cNvPr>
          <p:cNvSpPr/>
          <p:nvPr/>
        </p:nvSpPr>
        <p:spPr>
          <a:xfrm>
            <a:off x="10058400" y="182880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>
                <a:latin typeface="+mn-ea"/>
                <a:ea typeface="+mn-ea"/>
                <a:sym typeface="Gill Sans"/>
              </a:rPr>
              <a:t>5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latin typeface="+mn-ea"/>
                <a:ea typeface="+mn-ea"/>
                <a:sym typeface="Gill Sans"/>
              </a:rPr>
              <a:t>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9B61E8-2875-FB59-9E02-523D8F90E504}"/>
              </a:ext>
            </a:extLst>
          </p:cNvPr>
          <p:cNvSpPr txBox="1"/>
          <p:nvPr/>
        </p:nvSpPr>
        <p:spPr>
          <a:xfrm>
            <a:off x="3984606" y="4880702"/>
            <a:ext cx="3946593" cy="1482201"/>
          </a:xfrm>
          <a:prstGeom prst="rect">
            <a:avLst/>
          </a:prstGeom>
          <a:noFill/>
          <a:ln w="9525" algn="ctr">
            <a:solidFill>
              <a:schemeClr val="tx1"/>
            </a:solidFill>
            <a:miter/>
          </a:ln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성수동 자료 링크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  <a:hlinkClick r:id="rId2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https://www.m-joongang.com/news/articleView.html?idxno=401934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https://v.daum.net/v/20250327030508187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힙당동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자료 링크</a:t>
            </a:r>
            <a:b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4"/>
              </a:rPr>
              <a:t>https://fashionbiz.co.kr/article/218209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33DDC0F-BFA5-444E-A580-53630959F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621" y="1992599"/>
            <a:ext cx="2748709" cy="12108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F64DB7-B533-4A10-89E3-47DAE094F6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8228" y="1992600"/>
            <a:ext cx="1725126" cy="19867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ABC691-8EDE-440D-8603-21ACF72CC3F8}"/>
              </a:ext>
            </a:extLst>
          </p:cNvPr>
          <p:cNvSpPr txBox="1"/>
          <p:nvPr/>
        </p:nvSpPr>
        <p:spPr>
          <a:xfrm>
            <a:off x="5809707" y="1992599"/>
            <a:ext cx="6096000" cy="270843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전통적인 상권에 대한 정의는 도보로 이동할 수 있는 거리였지만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최근 상권의 경계가 희미해지고 있다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“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뒷받침 자료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국내 사례 — '메가 홍대' 상권</a:t>
            </a:r>
          </a:p>
          <a:p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홍대입구역 일대에 머물렀던 홍대 상권이,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합정·상수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/ 연남동 / 경의선 책거리 까지 4개 인접 상권을 아우르는 광역 상권으로 확장.</a:t>
            </a:r>
          </a:p>
          <a:p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링크 : https://magazine.hankyung.com/money/article/202401182631c</a:t>
            </a:r>
          </a:p>
          <a:p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해외 사례 —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Greater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Shibuya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2.0 (도쿄)</a:t>
            </a:r>
          </a:p>
          <a:p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도큐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그룹이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시부야역을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중심으로 반경 2.5km를 "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Greater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Shibuya"로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공식 정의하고, 하라주쿠 ·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오모테산도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·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다이칸야마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·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에비스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까지 광역 상권 단위로 통합 개발.</a:t>
            </a:r>
          </a:p>
          <a:p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링크 1 : https://www.tokyu-land.co.jp/english/urban/area/shibuya.html</a:t>
            </a:r>
          </a:p>
          <a:p>
            <a:endParaRPr lang="ko-KR" altLang="en-US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링크 2 : https://www.tokyu.co.jp/global/e-book/ebtkk/#page=21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A947C2-A409-4C5E-BD26-9778E353C8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621" y="3300857"/>
            <a:ext cx="2855904" cy="33456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3710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E4DAC-4382-2680-F5FA-575F730C5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A7FDD3-A37A-7534-BD03-5863D219AA86}"/>
              </a:ext>
            </a:extLst>
          </p:cNvPr>
          <p:cNvSpPr txBox="1"/>
          <p:nvPr/>
        </p:nvSpPr>
        <p:spPr>
          <a:xfrm>
            <a:off x="203200" y="568960"/>
            <a:ext cx="11536680" cy="51828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실제로 연남동 방문자의 방문 이유는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분위기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꼽았음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이거도 언급을 뒷받침해줄 수 있는 시각자료가 있으면 좋을 듯함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E4AC0-2272-D681-BEF7-419DCDD24F03}"/>
              </a:ext>
            </a:extLst>
          </p:cNvPr>
          <p:cNvSpPr txBox="1"/>
          <p:nvPr/>
        </p:nvSpPr>
        <p:spPr>
          <a:xfrm>
            <a:off x="1973547" y="3275763"/>
            <a:ext cx="3311804" cy="40498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https://www.si.re.kr/sites/default/files/small%2022-01.pdf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endParaRPr lang="ko-KR" altLang="en-US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8F8BFE-0BC4-3052-3300-6FFC800CBB5F}"/>
              </a:ext>
            </a:extLst>
          </p:cNvPr>
          <p:cNvSpPr txBox="1"/>
          <p:nvPr/>
        </p:nvSpPr>
        <p:spPr>
          <a:xfrm>
            <a:off x="342164" y="1492321"/>
            <a:ext cx="6005638" cy="169764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마지막 링크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페이지에 연남동 상권을 이용하는 소비자들을 대상으로 설문조사를 실시한 결과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상권을 다른 상권에 비해 더 자주 방문하는 이유 중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상권의 분위기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46%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가장 많은 비중을 차지하였다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연남동 상권 특유의 분위기를 조성하는 데 적지 않은 기여를 하는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경의선숲길공원이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해당 상권을 이용하는 소비자들로 하여금 상권을 자주 방문하는 이유로 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상권의 분위기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＇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라는 응답을 가장 많이 고르게 한 것으로 생각된다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어떤 뉴스나 정확한 지표가 </a:t>
            </a:r>
            <a:r>
              <a:rPr lang="ko-KR" altLang="en-US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있는게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아니라 단순히 보고서에서 직접 설문조사로 찾은 내용이라 애매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72216A17-BD86-48BB-A1EE-8D3E417F636A}"/>
              </a:ext>
            </a:extLst>
          </p:cNvPr>
          <p:cNvSpPr/>
          <p:nvPr/>
        </p:nvSpPr>
        <p:spPr>
          <a:xfrm>
            <a:off x="9225023" y="239175"/>
            <a:ext cx="2858946" cy="2050344"/>
          </a:xfrm>
          <a:prstGeom prst="snip1Rect">
            <a:avLst/>
          </a:prstGeom>
          <a:solidFill>
            <a:srgbClr val="FFFF00"/>
          </a:solidFill>
          <a:ln w="3175">
            <a:noFill/>
            <a:miter/>
          </a:ln>
          <a:effectLst/>
        </p:spPr>
        <p:txBody>
          <a:bodyPr lIns="0" tIns="0" rIns="0" bIns="0" rtlCol="0" anchor="ctr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둘중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 하나 맘에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드는거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..?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2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왼쪽은 제가 만들었고</a:t>
            </a:r>
            <a:r>
              <a:rPr lang="en-US" altLang="ko-KR" sz="12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, </a:t>
            </a:r>
            <a:r>
              <a:rPr lang="ko-KR" altLang="en-US" sz="1200" b="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오른쪽은 현기가 </a:t>
            </a:r>
            <a:r>
              <a:rPr lang="ko-KR" altLang="en-US" sz="1200" b="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만든거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4B097BF-2C56-0015-57AA-DAE527FF9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163" y="2619304"/>
            <a:ext cx="4184500" cy="3119845"/>
          </a:xfrm>
          <a:prstGeom prst="rect">
            <a:avLst/>
          </a:prstGeom>
        </p:spPr>
      </p:pic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3D78EBF2-15C3-6F0F-A2D3-D51B57A8C59D}"/>
              </a:ext>
            </a:extLst>
          </p:cNvPr>
          <p:cNvGraphicFramePr/>
          <p:nvPr/>
        </p:nvGraphicFramePr>
        <p:xfrm>
          <a:off x="2467093" y="4146765"/>
          <a:ext cx="3227070" cy="1856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4">
            <a:extLst>
              <a:ext uri="{FF2B5EF4-FFF2-40B4-BE49-F238E27FC236}">
                <a16:creationId xmlns:a16="http://schemas.microsoft.com/office/drawing/2014/main" id="{9E686846-D870-E775-13EC-8ADF6077D540}"/>
              </a:ext>
            </a:extLst>
          </p:cNvPr>
          <p:cNvSpPr/>
          <p:nvPr/>
        </p:nvSpPr>
        <p:spPr>
          <a:xfrm>
            <a:off x="3078725" y="3689852"/>
            <a:ext cx="1927750" cy="153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999999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연남동</a:t>
            </a:r>
            <a:r>
              <a:rPr lang="en-US" sz="1100" dirty="0">
                <a:solidFill>
                  <a:srgbClr val="999999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lang="ko-KR" altLang="en-US" sz="1100" dirty="0">
                <a:solidFill>
                  <a:srgbClr val="999999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방문 이유 </a:t>
            </a:r>
            <a:r>
              <a:rPr lang="en-US" sz="1100" dirty="0" err="1">
                <a:solidFill>
                  <a:srgbClr val="999999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설문응답</a:t>
            </a:r>
            <a:endParaRPr lang="en-US" sz="1100" dirty="0"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A01C78DB-87AF-BCAA-2FEB-93D9D6376E4E}"/>
              </a:ext>
            </a:extLst>
          </p:cNvPr>
          <p:cNvSpPr/>
          <p:nvPr/>
        </p:nvSpPr>
        <p:spPr>
          <a:xfrm>
            <a:off x="2953883" y="3891899"/>
            <a:ext cx="2253490" cy="20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1B7FC4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상권의</a:t>
            </a:r>
            <a:r>
              <a:rPr lang="en-US" sz="2000" b="1" dirty="0">
                <a:solidFill>
                  <a:srgbClr val="1B7FC4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lang="en-US" sz="2000" b="1" dirty="0" err="1">
                <a:solidFill>
                  <a:srgbClr val="1B7FC4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분위기</a:t>
            </a:r>
            <a:r>
              <a:rPr lang="en-US" sz="2000" b="1" dirty="0">
                <a:solidFill>
                  <a:srgbClr val="1B7FC4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 </a:t>
            </a:r>
            <a:r>
              <a:rPr lang="en-US" altLang="ko-KR" sz="2000" dirty="0">
                <a:solidFill>
                  <a:srgbClr val="1B7FC4"/>
                </a:solidFill>
                <a:latin typeface="Pretendard" panose="020B0600000101010101" charset="-127"/>
                <a:ea typeface="Pretendard" panose="020B0600000101010101" charset="-127"/>
                <a:cs typeface="Pretendard" panose="020B0600000101010101" charset="-127"/>
              </a:rPr>
              <a:t>46%</a:t>
            </a:r>
            <a:endParaRPr lang="en-US" sz="2000" dirty="0">
              <a:latin typeface="Pretendard" panose="020B0600000101010101" charset="-127"/>
              <a:ea typeface="Pretendard" panose="020B0600000101010101" charset="-127"/>
              <a:cs typeface="Pretendar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5972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5B310-B5C2-8591-5832-F15B12B1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2E0D9-8B30-5E93-EE3C-936E30965C62}"/>
              </a:ext>
            </a:extLst>
          </p:cNvPr>
          <p:cNvSpPr txBox="1"/>
          <p:nvPr/>
        </p:nvSpPr>
        <p:spPr>
          <a:xfrm>
            <a:off x="203200" y="568960"/>
            <a:ext cx="11536680" cy="51828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사례 찾기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상권은 고정된 개념이 아니다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시간의 흐름에 따라 상권 브랜드가 바뀐다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AB106-9633-2343-48F4-A59BB50F4CD5}"/>
              </a:ext>
            </a:extLst>
          </p:cNvPr>
          <p:cNvSpPr txBox="1"/>
          <p:nvPr/>
        </p:nvSpPr>
        <p:spPr>
          <a:xfrm>
            <a:off x="342163" y="1112099"/>
            <a:ext cx="12154637" cy="5791073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사례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성수동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1.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수제화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인쇄 공장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(1970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년대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~2000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년대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b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성수동은 본래 수제화 제조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인쇄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봉제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자동차 정비 등 소규모 공장들이 밀집한 서울의 대표적 준공업지역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2"/>
              </a:rPr>
              <a:t>https://fashionbiz.co.kr/article/153747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창고형 카페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복합문화공간으로 변화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2011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이전까지 공장 부자재 창고였던 건물을 개조한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대림창고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문을 열면서 성수동에 변화가 시작됨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시작으로 인쇄공장을 리모델링한 카페가 등장하고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공장 부지를 활용한 베이커리 카페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‘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어니언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 개점하면서 성수동은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카페족의 성지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자리매김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이른바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뉴트로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감성으로 젊은 세대의 발길을 이끌었음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3"/>
              </a:rPr>
              <a:t>https://blog.igisam.com/%ec%84%9c%ec%9a%b8-%ec%a3%bc%eb%aa%a9%eb%b0%9b%eb%8a%94-%ec%a7%80%ec%97%ad-%ec%84%b1%ec%88%98-%ec%a0%95%eb%a6%ac/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3.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로컬브랜드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편집숍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체험형으로 변화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커피 상권이 안정되자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편집숍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‘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띵굴스토어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’,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패션브랜드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아더에러의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플래그십 스토어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아더스페이스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2.0’,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아모레퍼시픽의 체험형 매장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아모레 성수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＇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 개성 있는 로컬 브랜드와 체험형 매장들이 속속 들어섬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2019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년에는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블루보틀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한국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호점이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성수동에 오픈하면서 상권의 주목도가 높아짐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단순히 카페를 넘어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경험을 소비하는 공간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성격이 전환됨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4"/>
              </a:rPr>
              <a:t>https://www.sisajournal.com/news/articleView.html?idxno=231041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5"/>
              </a:rPr>
              <a:t>https://vircle.co.kr/blog/%ED%8C%A8%EC%85%98-%EC%9E%A0%EC%9E%AC-%EA%B3%A0%EA%B0%9D%EC%9D%80-%EC%96%B4%EB%94%94%EC%97%90-%EC%9E%88%EC%9D%84%EA%B9%8C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4.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패션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,IT,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기업 본사 이전 등 대형 브랜드 진입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온라인 패션 플랫폼 무신사가 본사를 옮기고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아이웨어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브랜드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젠틀몬스터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등등이 성수동으로 이동함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이와 같이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곳 이상의 패션 회사가 이동하면서 성수동은 수제화 거리에서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패션 클러스터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탈바꿈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2021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년에는 </a:t>
            </a:r>
            <a:r>
              <a:rPr lang="ko-KR" altLang="en-US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디올이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성수동에 대규모 팝업 공간을 열기도 함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6"/>
              </a:rPr>
              <a:t>https://www.hankyung.com/article/2020070120841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7"/>
              </a:rPr>
              <a:t>https://www.sidae.com/article/2024091916341272916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5.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팝업스토어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l" latinLnBrk="0">
              <a:lnSpc>
                <a:spcPct val="140000"/>
              </a:lnSpc>
            </a:pP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성수동은 매주 수십 개의 팝업 스토어가 열리는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‘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팝업의 성지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’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 되었음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구찌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버버리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등등 글로벌 럭셔리 브랜드가 대규모 팝업을 열고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K-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뷰티 브랜드들의 성수동 매장 오픈도 크게 늘어남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8"/>
              </a:rPr>
              <a:t>https://www.etoday.co.kr/news/view/2502605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hlinkClick r:id="rId9"/>
              </a:rPr>
              <a:t>https://fashionbiz.co.kr/article/212923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188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71CFC-9A65-0425-B838-091FFCBF7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A37E1E-85F9-FCC6-FD96-2897728BD1F1}"/>
              </a:ext>
            </a:extLst>
          </p:cNvPr>
          <p:cNvSpPr txBox="1"/>
          <p:nvPr/>
        </p:nvSpPr>
        <p:spPr>
          <a:xfrm>
            <a:off x="269336" y="1025814"/>
            <a:ext cx="11536680" cy="107228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문제 인식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로컬브랜드 육성사업 결과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브랜딩을 받은 상권은 </a:t>
            </a:r>
            <a:r>
              <a:rPr lang="ko-KR" altLang="en-US" sz="12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비지원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상권보다 매출증가율이 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2.9%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높았고</a:t>
            </a:r>
            <a:r>
              <a:rPr lang="ko-KR" altLang="en-US" sz="1200" b="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일부는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년차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매출이 최대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F32DDC-332D-9C04-9353-F004B526F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836" y="2975227"/>
            <a:ext cx="6456142" cy="2567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FFD8B6-CCFE-FB79-41D5-C5C62092B6EC}"/>
              </a:ext>
            </a:extLst>
          </p:cNvPr>
          <p:cNvSpPr txBox="1"/>
          <p:nvPr/>
        </p:nvSpPr>
        <p:spPr>
          <a:xfrm>
            <a:off x="7764902" y="6568247"/>
            <a:ext cx="4310475" cy="189539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  <a:hlinkClick r:id="rId3"/>
              </a:rPr>
              <a:t>https://amp.seoul.co.kr/news/society/2025/12/24/20251224500212?cp=en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661EE-873C-A255-08EC-1FF3EAA008B2}"/>
              </a:ext>
            </a:extLst>
          </p:cNvPr>
          <p:cNvSpPr txBox="1"/>
          <p:nvPr/>
        </p:nvSpPr>
        <p:spPr>
          <a:xfrm>
            <a:off x="385984" y="1423454"/>
            <a:ext cx="6888480" cy="33361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서울시도 이를 인지하고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2022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년부터 로컬브랜드 상권 육성사업을 직접 추진하고있다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0056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F472E-A7C2-0040-E7BA-CF633BA43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45B3248-C8B2-BAFB-E1B1-67470DC772C1}"/>
              </a:ext>
            </a:extLst>
          </p:cNvPr>
          <p:cNvSpPr/>
          <p:nvPr/>
        </p:nvSpPr>
        <p:spPr>
          <a:xfrm>
            <a:off x="6724755" y="2329022"/>
            <a:ext cx="5935663" cy="801041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900" dirty="0">
                <a:latin typeface="+mn-ea"/>
                <a:ea typeface="+mn-ea"/>
              </a:rPr>
              <a:t>[</a:t>
            </a:r>
            <a:r>
              <a:rPr lang="ko-KR" altLang="en-US" sz="900" dirty="0">
                <a:latin typeface="+mn-ea"/>
                <a:ea typeface="+mn-ea"/>
              </a:rPr>
              <a:t>참고 자료</a:t>
            </a:r>
            <a:r>
              <a:rPr lang="en-US" altLang="ko-KR" sz="900" dirty="0">
                <a:latin typeface="+mn-ea"/>
                <a:ea typeface="+mn-ea"/>
              </a:rPr>
              <a:t>]</a:t>
            </a:r>
            <a:endParaRPr lang="ko-KR" altLang="en-US" sz="900" dirty="0">
              <a:latin typeface="+mn-ea"/>
              <a:ea typeface="+mn-ea"/>
            </a:endParaRPr>
          </a:p>
          <a:p>
            <a:r>
              <a:rPr lang="en-US" altLang="ko-KR" sz="900" b="0" dirty="0">
                <a:latin typeface="+mn-ea"/>
                <a:ea typeface="+mn-ea"/>
              </a:rPr>
              <a:t>2026</a:t>
            </a:r>
            <a:r>
              <a:rPr lang="ko-KR" altLang="en-US" sz="900" b="0" dirty="0">
                <a:latin typeface="+mn-ea"/>
                <a:ea typeface="+mn-ea"/>
              </a:rPr>
              <a:t>년 선정 현황</a:t>
            </a:r>
            <a:r>
              <a:rPr lang="en-US" altLang="ko-KR" sz="900" b="0" dirty="0">
                <a:latin typeface="+mn-ea"/>
                <a:ea typeface="+mn-ea"/>
              </a:rPr>
              <a:t>: </a:t>
            </a:r>
            <a:r>
              <a:rPr lang="ko-KR" altLang="en-US" sz="900" b="0" dirty="0">
                <a:latin typeface="+mn-ea"/>
                <a:ea typeface="+mn-ea"/>
              </a:rPr>
              <a:t>서울신문 </a:t>
            </a:r>
            <a:r>
              <a:rPr lang="en-US" altLang="ko-KR" sz="900" b="0" dirty="0">
                <a:latin typeface="+mn-ea"/>
                <a:ea typeface="+mn-ea"/>
              </a:rPr>
              <a:t>(2026.02) </a:t>
            </a:r>
            <a:r>
              <a:rPr lang="en-US" altLang="ko-KR" sz="900" b="0" dirty="0">
                <a:latin typeface="+mn-ea"/>
                <a:ea typeface="+mn-ea"/>
                <a:hlinkClick r:id="rId2"/>
              </a:rPr>
              <a:t>https://www.seoul.co.kr/news/society/2026/02/02/20260202500135</a:t>
            </a:r>
            <a:endParaRPr lang="ko-KR" altLang="en-US" sz="900" b="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로컬브랜드 육성상권 현황</a:t>
            </a:r>
            <a:r>
              <a:rPr lang="en-US" altLang="ko-KR" sz="900" b="0" dirty="0">
                <a:latin typeface="+mn-ea"/>
                <a:ea typeface="+mn-ea"/>
              </a:rPr>
              <a:t>: </a:t>
            </a:r>
            <a:r>
              <a:rPr lang="ko-KR" altLang="en-US" sz="900" b="0" dirty="0">
                <a:latin typeface="+mn-ea"/>
                <a:ea typeface="+mn-ea"/>
              </a:rPr>
              <a:t>서울시 공식 </a:t>
            </a:r>
            <a:r>
              <a:rPr lang="en-US" altLang="ko-KR" sz="900" b="0" dirty="0">
                <a:latin typeface="+mn-ea"/>
                <a:ea typeface="+mn-ea"/>
                <a:hlinkClick r:id="rId3"/>
              </a:rPr>
              <a:t>https://news.seoul.go.kr/economy/archives/562241</a:t>
            </a:r>
            <a:endParaRPr lang="ko-KR" altLang="en-US" sz="900" b="0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342B2-DF05-4CDD-85E3-AE9A4B74956F}"/>
              </a:ext>
            </a:extLst>
          </p:cNvPr>
          <p:cNvSpPr txBox="1"/>
          <p:nvPr/>
        </p:nvSpPr>
        <p:spPr>
          <a:xfrm>
            <a:off x="157134" y="690271"/>
            <a:ext cx="6436039" cy="1200329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상권 브랜딩 정책의 한계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기준 총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자치구 신청 → 단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상권만 선정 선정된 소수 상권만 혜택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- &gt;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나머지 대다수 소상공인은 사각지대</a:t>
            </a:r>
            <a:endParaRPr lang="en-US" altLang="ko-KR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2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087C6E-E705-1CD3-2107-3193CB589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8457" y="1793350"/>
            <a:ext cx="5059160" cy="219998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E2CDD74-755C-A9D0-5299-B7413F28B9B8}"/>
              </a:ext>
            </a:extLst>
          </p:cNvPr>
          <p:cNvSpPr/>
          <p:nvPr/>
        </p:nvSpPr>
        <p:spPr>
          <a:xfrm>
            <a:off x="6681892" y="513035"/>
            <a:ext cx="5935663" cy="15548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900" dirty="0">
                <a:latin typeface="+mn-ea"/>
                <a:ea typeface="+mn-ea"/>
              </a:rPr>
              <a:t>이 슬라이드에서 전달하고 싶은 것</a:t>
            </a:r>
            <a:r>
              <a:rPr lang="en-US" altLang="ko-KR" sz="900" dirty="0">
                <a:latin typeface="+mn-ea"/>
                <a:ea typeface="+mn-ea"/>
              </a:rPr>
              <a:t>: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서울시</a:t>
            </a:r>
            <a:r>
              <a:rPr lang="en-US" altLang="ko-KR" sz="900" b="0" dirty="0">
                <a:latin typeface="+mn-ea"/>
                <a:ea typeface="+mn-ea"/>
              </a:rPr>
              <a:t> </a:t>
            </a:r>
            <a:r>
              <a:rPr lang="ko-KR" altLang="en-US" sz="900" b="0" dirty="0">
                <a:latin typeface="+mn-ea"/>
                <a:ea typeface="+mn-ea"/>
              </a:rPr>
              <a:t>상권 브랜딩 정책의 혜택이 선정된 소수 상권에 집중되어 대다수 소상공인이 사각지대에 있음을 보여줌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endParaRPr lang="en-US" altLang="ko-KR" sz="900" b="0" dirty="0">
              <a:latin typeface="+mn-ea"/>
              <a:ea typeface="+mn-ea"/>
            </a:endParaRPr>
          </a:p>
          <a:p>
            <a:r>
              <a:rPr lang="ko-KR" altLang="en-US" sz="900" dirty="0">
                <a:latin typeface="+mn-ea"/>
                <a:ea typeface="+mn-ea"/>
              </a:rPr>
              <a:t>서울시 상권 브랜딩 정책의 한계 </a:t>
            </a:r>
            <a:endParaRPr lang="en-US" altLang="ko-KR" sz="900" dirty="0">
              <a:latin typeface="+mn-ea"/>
              <a:ea typeface="+mn-ea"/>
            </a:endParaRPr>
          </a:p>
          <a:p>
            <a:r>
              <a:rPr lang="en-US" altLang="ko-KR" sz="900" b="0" dirty="0">
                <a:latin typeface="+mn-ea"/>
                <a:ea typeface="+mn-ea"/>
              </a:rPr>
              <a:t>2026</a:t>
            </a:r>
            <a:r>
              <a:rPr lang="ko-KR" altLang="en-US" sz="900" b="0" dirty="0">
                <a:latin typeface="+mn-ea"/>
                <a:ea typeface="+mn-ea"/>
              </a:rPr>
              <a:t>년 공모에 </a:t>
            </a:r>
            <a:r>
              <a:rPr lang="en-US" altLang="ko-KR" sz="900" b="0" dirty="0">
                <a:latin typeface="+mn-ea"/>
                <a:ea typeface="+mn-ea"/>
              </a:rPr>
              <a:t>9</a:t>
            </a:r>
            <a:r>
              <a:rPr lang="ko-KR" altLang="en-US" sz="900" b="0" dirty="0">
                <a:latin typeface="+mn-ea"/>
                <a:ea typeface="+mn-ea"/>
              </a:rPr>
              <a:t>개 자치구가 신청했지만 </a:t>
            </a:r>
            <a:r>
              <a:rPr lang="en-US" altLang="ko-KR" sz="900" b="0" dirty="0">
                <a:latin typeface="+mn-ea"/>
                <a:ea typeface="+mn-ea"/>
              </a:rPr>
              <a:t>3</a:t>
            </a:r>
            <a:r>
              <a:rPr lang="ko-KR" altLang="en-US" sz="900" b="0" dirty="0">
                <a:latin typeface="+mn-ea"/>
                <a:ea typeface="+mn-ea"/>
              </a:rPr>
              <a:t>개만 선정됐다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서울시 </a:t>
            </a:r>
            <a:r>
              <a:rPr lang="en-US" altLang="ko-KR" sz="900" b="0" dirty="0">
                <a:latin typeface="+mn-ea"/>
                <a:ea typeface="+mn-ea"/>
              </a:rPr>
              <a:t>25</a:t>
            </a:r>
            <a:r>
              <a:rPr lang="ko-KR" altLang="en-US" sz="900" b="0" dirty="0">
                <a:latin typeface="+mn-ea"/>
                <a:ea typeface="+mn-ea"/>
              </a:rPr>
              <a:t>개 자치구 기준으로 혜택을 받는 상권은 극소수다</a:t>
            </a:r>
            <a:r>
              <a:rPr lang="en-US" altLang="ko-KR" sz="900" b="0" dirty="0">
                <a:latin typeface="+mn-ea"/>
                <a:ea typeface="+mn-ea"/>
              </a:rPr>
              <a:t>.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선정되지 않은 대다수 소상공인은 서울시 상권분석서비스의 데이터 조회 외에는 활용할 수단이 없다</a:t>
            </a:r>
            <a:r>
              <a:rPr lang="en-US" altLang="ko-KR" sz="900" b="0" dirty="0">
                <a:latin typeface="+mn-ea"/>
                <a:ea typeface="+mn-ea"/>
              </a:rPr>
              <a:t>.</a:t>
            </a:r>
          </a:p>
          <a:p>
            <a:pPr algn="ctr" eaLnBrk="1" hangingPunct="1">
              <a:defRPr/>
            </a:pPr>
            <a:endParaRPr lang="ko-KR" altLang="en-US" sz="900" b="0" dirty="0">
              <a:solidFill>
                <a:srgbClr val="000000"/>
              </a:solidFill>
              <a:latin typeface="+mn-ea"/>
              <a:ea typeface="+mn-ea"/>
              <a:sym typeface="Gill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73B053-2A0B-9E2D-B99F-281813FDC0E3}"/>
              </a:ext>
            </a:extLst>
          </p:cNvPr>
          <p:cNvSpPr txBox="1"/>
          <p:nvPr/>
        </p:nvSpPr>
        <p:spPr>
          <a:xfrm>
            <a:off x="2069602" y="1629415"/>
            <a:ext cx="4336870" cy="276999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정책의 혜택을 받는 상권은 전체의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12%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불과하다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489810-FAB6-0ED8-68DC-47DE05B2C76C}"/>
              </a:ext>
            </a:extLst>
          </p:cNvPr>
          <p:cNvSpPr txBox="1"/>
          <p:nvPr/>
        </p:nvSpPr>
        <p:spPr>
          <a:xfrm>
            <a:off x="-1135507" y="6300584"/>
            <a:ext cx="8442378" cy="46166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살아난 상권과 쇠퇴하는 상권의 차이는 개별 점포 역량이 아닌 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buNone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전체를 함께 성장시키는 구조의 유무다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9B0CC8EA-FAE1-4C54-8D75-14626631267A}"/>
              </a:ext>
            </a:extLst>
          </p:cNvPr>
          <p:cNvSpPr txBox="1"/>
          <p:nvPr/>
        </p:nvSpPr>
        <p:spPr>
          <a:xfrm>
            <a:off x="268107" y="3541606"/>
            <a:ext cx="5205162" cy="13619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소상공인 현황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연간 </a:t>
            </a:r>
            <a:r>
              <a:rPr lang="ko-KR" altLang="en-US" sz="11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폐업자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만 명 돌파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역대 최초 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자영업자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생존율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40.2% -&gt; 10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곳 중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곳은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내 폐업 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 외식 점포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2024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분기에만 </a:t>
            </a:r>
            <a:r>
              <a:rPr lang="en-US" altLang="ko-KR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5,922</a:t>
            </a:r>
            <a:r>
              <a:rPr lang="ko-KR" altLang="en-US" sz="11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 폐업</a:t>
            </a:r>
            <a:endParaRPr lang="en-US" altLang="ko-KR" sz="11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423D62B-B659-4B67-9B69-7A481211DD8C}"/>
              </a:ext>
            </a:extLst>
          </p:cNvPr>
          <p:cNvSpPr/>
          <p:nvPr/>
        </p:nvSpPr>
        <p:spPr>
          <a:xfrm>
            <a:off x="379080" y="4976835"/>
            <a:ext cx="5613075" cy="1259741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900" dirty="0">
                <a:latin typeface="+mn-ea"/>
                <a:ea typeface="+mn-ea"/>
              </a:rPr>
              <a:t>[</a:t>
            </a:r>
            <a:r>
              <a:rPr lang="ko-KR" altLang="en-US" sz="900" dirty="0">
                <a:latin typeface="+mn-ea"/>
                <a:ea typeface="+mn-ea"/>
              </a:rPr>
              <a:t>참고 기사 링크</a:t>
            </a:r>
            <a:r>
              <a:rPr lang="en-US" altLang="ko-KR" sz="900" dirty="0">
                <a:latin typeface="+mn-ea"/>
                <a:ea typeface="+mn-ea"/>
              </a:rPr>
              <a:t>]</a:t>
            </a:r>
            <a:endParaRPr lang="ko-KR" altLang="en-US" sz="90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연간 </a:t>
            </a:r>
            <a:r>
              <a:rPr lang="ko-KR" altLang="en-US" sz="900" b="0" dirty="0" err="1">
                <a:latin typeface="+mn-ea"/>
                <a:ea typeface="+mn-ea"/>
              </a:rPr>
              <a:t>폐업자</a:t>
            </a:r>
            <a:r>
              <a:rPr lang="ko-KR" altLang="en-US" sz="900" b="0" dirty="0">
                <a:latin typeface="+mn-ea"/>
                <a:ea typeface="+mn-ea"/>
              </a:rPr>
              <a:t> </a:t>
            </a:r>
            <a:r>
              <a:rPr lang="en-US" altLang="ko-KR" sz="900" b="0" dirty="0">
                <a:latin typeface="+mn-ea"/>
                <a:ea typeface="+mn-ea"/>
              </a:rPr>
              <a:t>100</a:t>
            </a:r>
            <a:r>
              <a:rPr lang="ko-KR" altLang="en-US" sz="900" b="0" dirty="0">
                <a:latin typeface="+mn-ea"/>
                <a:ea typeface="+mn-ea"/>
              </a:rPr>
              <a:t>만명 돌파 </a:t>
            </a:r>
            <a:r>
              <a:rPr lang="en-US" altLang="ko-KR" sz="900" b="0" dirty="0">
                <a:latin typeface="+mn-ea"/>
                <a:ea typeface="+mn-ea"/>
              </a:rPr>
              <a:t>(2025.11): </a:t>
            </a:r>
            <a:r>
              <a:rPr lang="en-US" altLang="ko-KR" sz="900" b="0" dirty="0">
                <a:latin typeface="+mn-ea"/>
                <a:ea typeface="+mn-ea"/>
                <a:hlinkClick r:id="rId5"/>
              </a:rPr>
              <a:t>https://koreabizreview.com/detail.php?number=7271&amp;thread=26r05</a:t>
            </a:r>
            <a:endParaRPr lang="ko-KR" altLang="en-US" sz="900" b="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자영업자 </a:t>
            </a:r>
            <a:r>
              <a:rPr lang="en-US" altLang="ko-KR" sz="900" b="0" dirty="0">
                <a:latin typeface="+mn-ea"/>
                <a:ea typeface="+mn-ea"/>
              </a:rPr>
              <a:t>5</a:t>
            </a:r>
            <a:r>
              <a:rPr lang="ko-KR" altLang="en-US" sz="900" b="0" dirty="0">
                <a:latin typeface="+mn-ea"/>
                <a:ea typeface="+mn-ea"/>
              </a:rPr>
              <a:t>년 생존율 </a:t>
            </a:r>
            <a:r>
              <a:rPr lang="en-US" altLang="ko-KR" sz="900" b="0" dirty="0">
                <a:latin typeface="+mn-ea"/>
                <a:ea typeface="+mn-ea"/>
              </a:rPr>
              <a:t>40.2% (</a:t>
            </a:r>
            <a:r>
              <a:rPr lang="ko-KR" altLang="en-US" sz="900" b="0" dirty="0">
                <a:latin typeface="+mn-ea"/>
                <a:ea typeface="+mn-ea"/>
              </a:rPr>
              <a:t>한국경제 </a:t>
            </a:r>
            <a:r>
              <a:rPr lang="en-US" altLang="ko-KR" sz="900" b="0" dirty="0">
                <a:latin typeface="+mn-ea"/>
                <a:ea typeface="+mn-ea"/>
              </a:rPr>
              <a:t>2025.11): </a:t>
            </a:r>
            <a:r>
              <a:rPr lang="en-US" altLang="ko-KR" sz="900" b="0" dirty="0">
                <a:latin typeface="+mn-ea"/>
                <a:ea typeface="+mn-ea"/>
                <a:hlinkClick r:id="rId6"/>
              </a:rPr>
              <a:t>https://www.hankyung.com/article/2025110286751</a:t>
            </a:r>
            <a:endParaRPr lang="ko-KR" altLang="en-US" sz="900" b="0" dirty="0">
              <a:latin typeface="+mn-ea"/>
              <a:ea typeface="+mn-ea"/>
            </a:endParaRPr>
          </a:p>
          <a:p>
            <a:r>
              <a:rPr lang="ko-KR" altLang="en-US" sz="900" b="0" dirty="0">
                <a:latin typeface="+mn-ea"/>
                <a:ea typeface="+mn-ea"/>
              </a:rPr>
              <a:t>서울 외식 점포 </a:t>
            </a:r>
            <a:r>
              <a:rPr lang="en-US" altLang="ko-KR" sz="900" b="0" dirty="0">
                <a:latin typeface="+mn-ea"/>
                <a:ea typeface="+mn-ea"/>
              </a:rPr>
              <a:t>1</a:t>
            </a:r>
            <a:r>
              <a:rPr lang="ko-KR" altLang="en-US" sz="900" b="0" dirty="0">
                <a:latin typeface="+mn-ea"/>
                <a:ea typeface="+mn-ea"/>
              </a:rPr>
              <a:t>분기 </a:t>
            </a:r>
            <a:r>
              <a:rPr lang="en-US" altLang="ko-KR" sz="900" b="0" dirty="0">
                <a:latin typeface="+mn-ea"/>
                <a:ea typeface="+mn-ea"/>
              </a:rPr>
              <a:t>5,922</a:t>
            </a:r>
            <a:r>
              <a:rPr lang="ko-KR" altLang="en-US" sz="900" b="0" dirty="0">
                <a:latin typeface="+mn-ea"/>
                <a:ea typeface="+mn-ea"/>
              </a:rPr>
              <a:t>개 폐업 </a:t>
            </a:r>
            <a:r>
              <a:rPr lang="en-US" altLang="ko-KR" sz="900" b="0" dirty="0">
                <a:latin typeface="+mn-ea"/>
                <a:ea typeface="+mn-ea"/>
              </a:rPr>
              <a:t>(2024): </a:t>
            </a:r>
            <a:r>
              <a:rPr lang="en-US" altLang="ko-KR" sz="900" b="0" dirty="0">
                <a:latin typeface="+mn-ea"/>
                <a:ea typeface="+mn-ea"/>
                <a:hlinkClick r:id="rId7"/>
              </a:rPr>
              <a:t>https://www.narasallim.net/view3/1481</a:t>
            </a:r>
            <a:endParaRPr lang="ko-KR" altLang="en-US" sz="9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6959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E85A6-D59F-9729-A642-423EC001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9">
            <a:extLst>
              <a:ext uri="{FF2B5EF4-FFF2-40B4-BE49-F238E27FC236}">
                <a16:creationId xmlns:a16="http://schemas.microsoft.com/office/drawing/2014/main" id="{F8BB607E-A0C0-FC31-16C3-FF7C82728F93}"/>
              </a:ext>
            </a:extLst>
          </p:cNvPr>
          <p:cNvSpPr txBox="1"/>
          <p:nvPr/>
        </p:nvSpPr>
        <p:spPr>
          <a:xfrm>
            <a:off x="2072944" y="1032108"/>
            <a:ext cx="8753820" cy="6798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서울시 상권분석서비스가 존재하지만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데이터를 보여주는 데서 끝난다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>
              <a:lnSpc>
                <a:spcPct val="200000"/>
              </a:lnSpc>
              <a:defRPr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5B3263A-BE70-BC0A-BD33-F2A4660B5C8C}"/>
              </a:ext>
            </a:extLst>
          </p:cNvPr>
          <p:cNvSpPr/>
          <p:nvPr/>
        </p:nvSpPr>
        <p:spPr>
          <a:xfrm>
            <a:off x="6176168" y="5825892"/>
            <a:ext cx="5935663" cy="841189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900" dirty="0">
                <a:latin typeface="+mn-ea"/>
                <a:ea typeface="+mn-ea"/>
              </a:rPr>
              <a:t>이 슬라이드에서 전달하고 싶은 것 </a:t>
            </a:r>
            <a:r>
              <a:rPr lang="en-US" altLang="ko-KR" sz="900" dirty="0">
                <a:latin typeface="+mn-ea"/>
                <a:ea typeface="+mn-ea"/>
              </a:rPr>
              <a:t>: </a:t>
            </a:r>
          </a:p>
          <a:p>
            <a:r>
              <a:rPr lang="ko-KR" altLang="en-US" sz="900" b="0" dirty="0">
                <a:latin typeface="+mn-ea"/>
                <a:ea typeface="+mn-ea"/>
              </a:rPr>
              <a:t>기존 서울시 상권분석서비스가 데이터 제공에 그쳐 점주가 실행할 수 없고</a:t>
            </a:r>
            <a:r>
              <a:rPr lang="en-US" altLang="ko-KR" sz="900" b="0" dirty="0">
                <a:latin typeface="+mn-ea"/>
                <a:ea typeface="+mn-ea"/>
              </a:rPr>
              <a:t>, </a:t>
            </a:r>
            <a:r>
              <a:rPr lang="ko-KR" altLang="en-US" sz="900" b="0" dirty="0">
                <a:latin typeface="+mn-ea"/>
                <a:ea typeface="+mn-ea"/>
              </a:rPr>
              <a:t>개별 점포 단위에서 끝나 상권 전체를 함께 성장시키는 구조가 없음을 보여주기</a:t>
            </a:r>
            <a:endParaRPr lang="en-US" altLang="ko-KR" sz="900" b="0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E1E71D-6139-F9F7-1E20-8B65EB2BEC5B}"/>
              </a:ext>
            </a:extLst>
          </p:cNvPr>
          <p:cNvSpPr txBox="1"/>
          <p:nvPr/>
        </p:nvSpPr>
        <p:spPr>
          <a:xfrm>
            <a:off x="616812" y="656494"/>
            <a:ext cx="6097424" cy="33361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20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서울시의 기존 서비스로는 부족하다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E955EAA-E7A1-3BB2-4907-D9813EFAC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32" y="2915195"/>
            <a:ext cx="4809417" cy="25918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AB5D42-B03A-AD65-CEA4-F465A3D677A8}"/>
              </a:ext>
            </a:extLst>
          </p:cNvPr>
          <p:cNvSpPr txBox="1"/>
          <p:nvPr/>
        </p:nvSpPr>
        <p:spPr>
          <a:xfrm>
            <a:off x="530698" y="1447964"/>
            <a:ext cx="6096000" cy="1289840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■ 서울시 상권분석서비스의 한계</a:t>
            </a:r>
            <a:endParaRPr lang="en-US" altLang="ko-KR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조회와 리포트 제공에 그침</a:t>
            </a:r>
            <a:endParaRPr lang="en-US" altLang="ko-KR" sz="10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점주가 무엇을 해야 할지 알 수 없음</a:t>
            </a:r>
            <a:endParaRPr lang="en-US" altLang="ko-KR" sz="10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-</a:t>
            </a: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개별 점포 분석에만 집중 </a:t>
            </a:r>
            <a:r>
              <a:rPr lang="en-US" altLang="ko-KR" sz="10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단위 연결 구조 없음</a:t>
            </a:r>
            <a:r>
              <a:rPr lang="en-US" altLang="ko-KR" sz="10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C45050-6526-5173-AA62-134E425EF700}"/>
              </a:ext>
            </a:extLst>
          </p:cNvPr>
          <p:cNvSpPr txBox="1"/>
          <p:nvPr/>
        </p:nvSpPr>
        <p:spPr>
          <a:xfrm>
            <a:off x="5740445" y="3132920"/>
            <a:ext cx="3142298" cy="40286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점주가 무엇을 </a:t>
            </a:r>
            <a:r>
              <a:rPr lang="ko-KR" altLang="en-US" sz="12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해야하는지</a:t>
            </a:r>
            <a:r>
              <a:rPr lang="ko-KR" altLang="en-US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알 수 없다</a:t>
            </a:r>
            <a:r>
              <a:rPr lang="en-US" altLang="ko-KR" sz="1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9BDFBC-6B4F-4331-D512-8DF142F3E989}"/>
              </a:ext>
            </a:extLst>
          </p:cNvPr>
          <p:cNvSpPr txBox="1"/>
          <p:nvPr/>
        </p:nvSpPr>
        <p:spPr>
          <a:xfrm>
            <a:off x="618236" y="479103"/>
            <a:ext cx="6096000" cy="24622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서울시의 상권분석서비스도 있음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하지만</a:t>
            </a:r>
            <a:r>
              <a:rPr lang="en-US" altLang="ko-KR" sz="10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5751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FD9E2-31D9-D31E-B95B-3D73E89D3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2F0C517F-52CF-C3F4-7ED2-1B9894CA8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73" y="4363322"/>
            <a:ext cx="5617029" cy="1716314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66D7AE31-6CE7-DEAF-296D-806876BAF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50" y="2414531"/>
            <a:ext cx="4794902" cy="1141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lang="ko-KR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"점주에게 무엇을 해야 할지 알려주고, 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200000"/>
              </a:lnSpc>
              <a:defRPr/>
            </a:pPr>
            <a:r>
              <a:rPr lang="ko-KR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전체가 함께 나아갈 방향까지 만들어주는 플랫폼이 필요하다"</a:t>
            </a:r>
          </a:p>
          <a:p>
            <a:pPr algn="ctr">
              <a:lnSpc>
                <a:spcPct val="200000"/>
              </a:lnSpc>
              <a:defRPr/>
            </a:pPr>
            <a:endParaRPr lang="ko-KR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641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30E70-3D75-6F52-9244-9168E6174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3883CF-C109-622E-18A1-2B57FA50E327}"/>
              </a:ext>
            </a:extLst>
          </p:cNvPr>
          <p:cNvSpPr txBox="1"/>
          <p:nvPr/>
        </p:nvSpPr>
        <p:spPr>
          <a:xfrm>
            <a:off x="269336" y="552989"/>
            <a:ext cx="11536680" cy="24128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출품작 소개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핵심 기능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가지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0130BF-F991-2DD9-E1D8-2C3ADEA22B1F}"/>
              </a:ext>
            </a:extLst>
          </p:cNvPr>
          <p:cNvSpPr txBox="1"/>
          <p:nvPr/>
        </p:nvSpPr>
        <p:spPr>
          <a:xfrm>
            <a:off x="269336" y="1088220"/>
            <a:ext cx="6005638" cy="3205749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상권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 솔루션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매장 →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파악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점주가 매장 정보를 입력하면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AI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상권 데이터를 분석하여 해당 매장의 상권 유형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(MBTI)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도출하고 유형에 맞는 운영 솔루션을 제안한다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손님이 없다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는 막연한 고민을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어느 시간대에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어떤 방식으로 운영을 바꿔야 하는가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"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라는 구체적인 실행 방향으로 바꿔준다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02.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브랜딩 솔루션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분석을 통해 상권 브랜딩 정의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같은 상권 내 여러 매장 데이터를 통합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클러스터링하여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상권 고유의 성격과 특성을 담은 상권 브랜딩을 도출한다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점주는 자신의 매장이 속한 상권이 어떤 구조와 맥락을 가진 곳인지를 한눈에 파악할 수 있다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03. MBTI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 상권 통합 솔루션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단위 → 공동 전략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단위로 파악된 공통 문제점을 바탕으로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 상권에 실질적으로 필요한 가치창출 방향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가지를 제안한다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점주를 넘어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전체가 함께 나아갈 수 있는 방향을 제시한다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40000"/>
              </a:lnSpc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통합 가치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가게 진단 → 우리 상권 정의 → 함께 성장하는 전략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l" latinLnBrk="0">
              <a:lnSpc>
                <a:spcPct val="14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개별 매장의 상권 유형을 진단하고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전체의 고유한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DNA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정의하여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매장 단위의 운영 개선에서 상권 공동의 성장 전략까지 하나로 연결한다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0635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085BB-1322-C3C9-8FEE-8822211E5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A34547-5C6F-7714-DFA3-056FE79D96A7}"/>
              </a:ext>
            </a:extLst>
          </p:cNvPr>
          <p:cNvSpPr txBox="1"/>
          <p:nvPr/>
        </p:nvSpPr>
        <p:spPr>
          <a:xfrm>
            <a:off x="269336" y="552989"/>
            <a:ext cx="11536680" cy="79528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출품작 소개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공공데이터와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기술을 활용해 개별 매장 마켓 성향 진단에서 출발해 상권 전체의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마켓 성향을 도출하고 공동 브랜딩 솔루션을 제안하는 상권 활성화 플랫폼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나의 매장이 모여 상권의 이름이 되는 곳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파편화된 매장 데이터를 모아 숨겨진 상권의 가치를 더하고 지속 가능한 상생을 만듦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6750E71-1B98-1E12-AEBA-7E0E6B2F8237}"/>
              </a:ext>
            </a:extLst>
          </p:cNvPr>
          <p:cNvGraphicFramePr>
            <a:graphicFrameLocks noGrp="1"/>
          </p:cNvGraphicFramePr>
          <p:nvPr/>
        </p:nvGraphicFramePr>
        <p:xfrm>
          <a:off x="346923" y="1498600"/>
          <a:ext cx="9987279" cy="193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567">
                  <a:extLst>
                    <a:ext uri="{9D8B030D-6E8A-4147-A177-3AD203B41FA5}">
                      <a16:colId xmlns:a16="http://schemas.microsoft.com/office/drawing/2014/main" val="2868996428"/>
                    </a:ext>
                  </a:extLst>
                </a:gridCol>
                <a:gridCol w="4129356">
                  <a:extLst>
                    <a:ext uri="{9D8B030D-6E8A-4147-A177-3AD203B41FA5}">
                      <a16:colId xmlns:a16="http://schemas.microsoft.com/office/drawing/2014/main" val="1767183450"/>
                    </a:ext>
                  </a:extLst>
                </a:gridCol>
                <a:gridCol w="4129356">
                  <a:extLst>
                    <a:ext uri="{9D8B030D-6E8A-4147-A177-3AD203B41FA5}">
                      <a16:colId xmlns:a16="http://schemas.microsoft.com/office/drawing/2014/main" val="3174080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AS-IS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TO-BE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674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활용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개별 점포 분석 가능하지만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상권 전체 아우르는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통합 솔루션으로 연결성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개별 매장 </a:t>
                      </a:r>
                      <a:r>
                        <a:rPr lang="en-US" altLang="ko-KR" sz="1000" dirty="0"/>
                        <a:t>MBTI </a:t>
                      </a:r>
                      <a:r>
                        <a:rPr lang="ko-KR" altLang="en-US" sz="1000" dirty="0"/>
                        <a:t>분석에서 상권 브랜딩까지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연결되는 통합 솔루션 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3046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개별 점포 고립 경쟁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점주 간 연결 구조 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</a:t>
                      </a:r>
                      <a:r>
                        <a:rPr lang="en-US" altLang="ko-KR" sz="1000" dirty="0"/>
                        <a:t>MBTI </a:t>
                      </a:r>
                      <a:r>
                        <a:rPr lang="ko-KR" altLang="en-US" sz="1000" dirty="0"/>
                        <a:t>기반 공동 브랜딩 및 협력 구조로 전환</a:t>
                      </a:r>
                      <a:endParaRPr lang="en-US" altLang="ko-KR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273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정체성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자생적 이미지는 있으나 체계적으로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 err="1"/>
                        <a:t>관리〮활용되지</a:t>
                      </a:r>
                      <a:r>
                        <a:rPr lang="ko-KR" altLang="en-US" sz="1000" dirty="0"/>
                        <a:t> 못함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데이터 기반 상권 브랜딩으로 정체성을 구조화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및 지속적으로 고도화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309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상권 문제 대응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매출 </a:t>
                      </a:r>
                      <a:r>
                        <a:rPr lang="ko-KR" altLang="en-US" sz="1000" dirty="0" err="1"/>
                        <a:t>하락〮유동인구</a:t>
                      </a:r>
                      <a:r>
                        <a:rPr lang="ko-KR" altLang="en-US" sz="1000" dirty="0"/>
                        <a:t> 감소 등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문제 발생 시 개별 대응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/>
                        <a:t>개별〮상권</a:t>
                      </a:r>
                      <a:r>
                        <a:rPr lang="ko-KR" altLang="en-US" sz="1000" dirty="0"/>
                        <a:t> 단위로 문제를 동시에 파악하고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ko-KR" altLang="en-US" sz="1000" dirty="0"/>
                        <a:t>공동 솔루션으로 함께 대응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5402310"/>
                  </a:ext>
                </a:extLst>
              </a:tr>
            </a:tbl>
          </a:graphicData>
        </a:graphic>
      </p:graphicFrame>
      <p:sp>
        <p:nvSpPr>
          <p:cNvPr id="5" name="사각형: 잘린 한쪽 모서리 4">
            <a:extLst>
              <a:ext uri="{FF2B5EF4-FFF2-40B4-BE49-F238E27FC236}">
                <a16:creationId xmlns:a16="http://schemas.microsoft.com/office/drawing/2014/main" id="{059D9294-F018-4E06-A2E6-9B9EFD8EA21E}"/>
              </a:ext>
            </a:extLst>
          </p:cNvPr>
          <p:cNvSpPr/>
          <p:nvPr/>
        </p:nvSpPr>
        <p:spPr>
          <a:xfrm>
            <a:off x="9333054" y="0"/>
            <a:ext cx="2858946" cy="2050344"/>
          </a:xfrm>
          <a:prstGeom prst="snip1Rect">
            <a:avLst/>
          </a:prstGeom>
          <a:solidFill>
            <a:srgbClr val="FFFF00"/>
          </a:solidFill>
          <a:ln w="3175">
            <a:noFill/>
            <a:miter/>
          </a:ln>
          <a:effectLst/>
        </p:spPr>
        <p:txBody>
          <a:bodyPr lIns="0" tIns="0" rIns="0" bIns="0" rtlCol="0" anchor="ctr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해당 내용 보류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(</a:t>
            </a: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현행유지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)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12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뒤에 </a:t>
            </a:r>
            <a:r>
              <a:rPr lang="ko-KR" altLang="en-US" sz="12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넣을건데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어디 넣을지 아직 안정함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4128474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C531F41E-E7FC-4470-BC50-254A677D7536}"/>
              </a:ext>
            </a:extLst>
          </p:cNvPr>
          <p:cNvSpPr/>
          <p:nvPr/>
        </p:nvSpPr>
        <p:spPr>
          <a:xfrm>
            <a:off x="1657350" y="1409700"/>
            <a:ext cx="8229600" cy="503238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서비스 시나리오</a:t>
            </a:r>
            <a:endParaRPr lang="en-US" sz="16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483" name="Shape 1">
            <a:extLst>
              <a:ext uri="{FF2B5EF4-FFF2-40B4-BE49-F238E27FC236}">
                <a16:creationId xmlns:a16="http://schemas.microsoft.com/office/drawing/2014/main" id="{C7565F02-1B3C-4DD9-8A0E-DA581BDFB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276" y="2049463"/>
            <a:ext cx="1211792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en-US" altLang="ko-KR" dirty="0" err="1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점주</a:t>
            </a:r>
            <a:r>
              <a:rPr lang="en-US" altLang="ko-KR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 입</a:t>
            </a: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력</a:t>
            </a:r>
            <a:endParaRPr lang="en-US" altLang="ko-KR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8EE90A3-657E-4AEA-A748-924C259675A6}"/>
              </a:ext>
            </a:extLst>
          </p:cNvPr>
          <p:cNvSpPr/>
          <p:nvPr/>
        </p:nvSpPr>
        <p:spPr>
          <a:xfrm>
            <a:off x="2837553" y="204946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pic>
        <p:nvPicPr>
          <p:cNvPr id="33" name="그림 2">
            <a:extLst>
              <a:ext uri="{FF2B5EF4-FFF2-40B4-BE49-F238E27FC236}">
                <a16:creationId xmlns:a16="http://schemas.microsoft.com/office/drawing/2014/main" id="{17280268-7C55-4563-912E-5128B5CA7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3025" y="1665288"/>
            <a:ext cx="1258888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말풍선: 모서리가 둥근 사각형 33">
            <a:extLst>
              <a:ext uri="{FF2B5EF4-FFF2-40B4-BE49-F238E27FC236}">
                <a16:creationId xmlns:a16="http://schemas.microsoft.com/office/drawing/2014/main" id="{10BD2ED6-F4C2-4A7F-B7E5-316B1B3838DD}"/>
              </a:ext>
            </a:extLst>
          </p:cNvPr>
          <p:cNvSpPr/>
          <p:nvPr/>
        </p:nvSpPr>
        <p:spPr>
          <a:xfrm>
            <a:off x="650875" y="723900"/>
            <a:ext cx="1979613" cy="785813"/>
          </a:xfrm>
          <a:prstGeom prst="wedgeRoundRectCallout">
            <a:avLst>
              <a:gd name="adj1" fmla="val -43186"/>
              <a:gd name="adj2" fmla="val 72250"/>
              <a:gd name="adj3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요즘 제 점포가 </a:t>
            </a:r>
            <a:r>
              <a:rPr lang="ko-KR" altLang="en-US" dirty="0" err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속해있는</a:t>
            </a: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endParaRPr lang="en-US" altLang="ko-KR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defRPr/>
            </a:pPr>
            <a:r>
              <a:rPr lang="ko-KR" altLang="en-US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상권의 분위기가 궁금해요</a:t>
            </a:r>
            <a:r>
              <a:rPr lang="en-US" altLang="ko-KR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ko-KR" altLang="en-US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657B7A93-A3EE-4BFC-9953-B4C431A4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359" y="2049463"/>
            <a:ext cx="1211792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매장 </a:t>
            </a:r>
            <a:r>
              <a:rPr lang="en-US" altLang="ko-KR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MBTI </a:t>
            </a: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분석</a:t>
            </a:r>
            <a:endParaRPr lang="en-US" altLang="ko-KR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83A87484-814E-4AF3-AE8B-F5E119E2A101}"/>
              </a:ext>
            </a:extLst>
          </p:cNvPr>
          <p:cNvSpPr/>
          <p:nvPr/>
        </p:nvSpPr>
        <p:spPr>
          <a:xfrm>
            <a:off x="4279027" y="204946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F1320391-82C4-49BB-A7BA-D0223C8DE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7442" y="2049463"/>
            <a:ext cx="1211792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endParaRPr lang="ko-KR" altLang="en-US" dirty="0">
              <a:latin typeface="Pretendard" panose="02000503000000020004" pitchFamily="50" charset="-127"/>
            </a:endParaRP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167F85FD-5495-4B00-8383-371224C64D61}"/>
              </a:ext>
            </a:extLst>
          </p:cNvPr>
          <p:cNvSpPr/>
          <p:nvPr/>
        </p:nvSpPr>
        <p:spPr>
          <a:xfrm>
            <a:off x="4507442" y="2049463"/>
            <a:ext cx="1211792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/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매장</a:t>
            </a:r>
            <a:r>
              <a:rPr lang="en-US" altLang="ko-KR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 MBTI </a:t>
            </a: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클러스터링</a:t>
            </a:r>
            <a:endParaRPr lang="en-US" altLang="ko-KR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33A0A304-D88F-4A25-A534-8F973BB01690}"/>
              </a:ext>
            </a:extLst>
          </p:cNvPr>
          <p:cNvSpPr/>
          <p:nvPr/>
        </p:nvSpPr>
        <p:spPr>
          <a:xfrm>
            <a:off x="5750110" y="204946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E29ED07D-CD13-45B2-A3A5-B2CD0AA40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89" y="2049463"/>
            <a:ext cx="1211792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endParaRPr lang="ko-KR" altLang="en-US" dirty="0">
              <a:latin typeface="Pretendard" panose="02000503000000020004" pitchFamily="50" charset="-127"/>
            </a:endParaRP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3EEB5475-A72E-4877-BEDA-F733CBDBE53F}"/>
              </a:ext>
            </a:extLst>
          </p:cNvPr>
          <p:cNvSpPr/>
          <p:nvPr/>
        </p:nvSpPr>
        <p:spPr>
          <a:xfrm>
            <a:off x="5962689" y="2049463"/>
            <a:ext cx="1211792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/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상권 브랜딩 </a:t>
            </a:r>
            <a:r>
              <a:rPr lang="en-US" altLang="ko-KR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3</a:t>
            </a: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개 추천</a:t>
            </a:r>
            <a:endParaRPr lang="en-US" altLang="ko-KR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CC767B18-9268-492B-9767-6361BC2C9304}"/>
              </a:ext>
            </a:extLst>
          </p:cNvPr>
          <p:cNvSpPr/>
          <p:nvPr/>
        </p:nvSpPr>
        <p:spPr>
          <a:xfrm>
            <a:off x="7250535" y="204946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45" name="Shape 1">
            <a:extLst>
              <a:ext uri="{FF2B5EF4-FFF2-40B4-BE49-F238E27FC236}">
                <a16:creationId xmlns:a16="http://schemas.microsoft.com/office/drawing/2014/main" id="{D6B5D5DF-E0B2-49D0-92BF-F79202D70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3114" y="2049463"/>
            <a:ext cx="1211792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endParaRPr lang="ko-KR" altLang="en-US" dirty="0">
              <a:latin typeface="Pretendard" panose="02000503000000020004" pitchFamily="50" charset="-127"/>
            </a:endParaRPr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750BDB05-7C99-40E1-AA4A-D07F54E2B743}"/>
              </a:ext>
            </a:extLst>
          </p:cNvPr>
          <p:cNvSpPr/>
          <p:nvPr/>
        </p:nvSpPr>
        <p:spPr>
          <a:xfrm>
            <a:off x="7463114" y="2049463"/>
            <a:ext cx="1211792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/>
            <a:r>
              <a:rPr lang="en-US" altLang="ko-KR" dirty="0" err="1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점주</a:t>
            </a:r>
            <a:r>
              <a:rPr lang="en-US" altLang="ko-KR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 입</a:t>
            </a:r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력</a:t>
            </a:r>
            <a:endParaRPr lang="en-US" altLang="ko-KR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51D526B6-3F03-4822-B721-8B012A80A20B}"/>
              </a:ext>
            </a:extLst>
          </p:cNvPr>
          <p:cNvSpPr/>
          <p:nvPr/>
        </p:nvSpPr>
        <p:spPr>
          <a:xfrm>
            <a:off x="8721618" y="2049463"/>
            <a:ext cx="136525" cy="3095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E5E7EB"/>
                </a:solidFill>
                <a:latin typeface="Pretendard" panose="02000503000000020004" pitchFamily="50" charset="-127"/>
                <a:ea typeface="+mn-ea"/>
              </a:rPr>
              <a:t>→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48" name="Shape 1">
            <a:extLst>
              <a:ext uri="{FF2B5EF4-FFF2-40B4-BE49-F238E27FC236}">
                <a16:creationId xmlns:a16="http://schemas.microsoft.com/office/drawing/2014/main" id="{B6AB636E-B463-4097-9E2A-63DC29472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4197" y="2049463"/>
            <a:ext cx="1211792" cy="347662"/>
          </a:xfrm>
          <a:prstGeom prst="roundRect">
            <a:avLst>
              <a:gd name="adj" fmla="val 15787"/>
            </a:avLst>
          </a:prstGeom>
          <a:solidFill>
            <a:srgbClr val="D9770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/>
            <a:endParaRPr lang="ko-KR" altLang="en-US" dirty="0">
              <a:latin typeface="Pretendard" panose="02000503000000020004" pitchFamily="50" charset="-127"/>
            </a:endParaRPr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CEED8390-C90C-45B6-BD50-3D84CDD277EB}"/>
              </a:ext>
            </a:extLst>
          </p:cNvPr>
          <p:cNvSpPr/>
          <p:nvPr/>
        </p:nvSpPr>
        <p:spPr>
          <a:xfrm>
            <a:off x="8934197" y="2049463"/>
            <a:ext cx="1211792" cy="347662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/>
            <a:r>
              <a:rPr lang="ko-KR" altLang="en-US" dirty="0">
                <a:solidFill>
                  <a:srgbClr val="FFFFFF"/>
                </a:solidFill>
                <a:latin typeface="Pretendard" panose="02000503000000020004" pitchFamily="50" charset="-127"/>
                <a:ea typeface="+mn-ea"/>
              </a:rPr>
              <a:t>상권 브랜딩 분석 </a:t>
            </a:r>
            <a:endParaRPr lang="en-US" altLang="ko-KR" dirty="0">
              <a:latin typeface="Pretendard" panose="02000503000000020004" pitchFamily="50" charset="-127"/>
              <a:ea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B6058CA6-6C08-49AF-A9AB-2BEA52D5339B}"/>
              </a:ext>
            </a:extLst>
          </p:cNvPr>
          <p:cNvSpPr txBox="1"/>
          <p:nvPr/>
        </p:nvSpPr>
        <p:spPr>
          <a:xfrm>
            <a:off x="6052880" y="1933407"/>
            <a:ext cx="5708650" cy="9214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점포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-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최종 사용 데이터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점포 수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카테고리 점포 수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폐업율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프랜차이즈 점포 수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 총 점포 수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sz="105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   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7DDB5-4E1D-45B7-8933-B8D7769EA924}"/>
              </a:ext>
            </a:extLst>
          </p:cNvPr>
          <p:cNvSpPr txBox="1"/>
          <p:nvPr/>
        </p:nvSpPr>
        <p:spPr>
          <a:xfrm>
            <a:off x="5943871" y="3320869"/>
            <a:ext cx="6546850" cy="66204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길단위인구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최종 사용 데이터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요일별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 유동인구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시간대별 유동인구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연령대별 유동인구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성별 유동인구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09B46E-8735-4EEA-A177-B66A031C29D6}"/>
              </a:ext>
            </a:extLst>
          </p:cNvPr>
          <p:cNvSpPr txBox="1"/>
          <p:nvPr/>
        </p:nvSpPr>
        <p:spPr>
          <a:xfrm>
            <a:off x="5943871" y="3985552"/>
            <a:ext cx="3381375" cy="96981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서울교통공사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(1~8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호선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+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국가철도공단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9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호선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최종 사용 데이터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호선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역명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위도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경도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C0F9D2-02A4-4D28-BCE7-309515B444FC}"/>
              </a:ext>
            </a:extLst>
          </p:cNvPr>
          <p:cNvSpPr txBox="1"/>
          <p:nvPr/>
        </p:nvSpPr>
        <p:spPr>
          <a:xfrm>
            <a:off x="5943871" y="2664216"/>
            <a:ext cx="5926667" cy="662041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서울시 상권분석서비스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추정매출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최종 사용 데이터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주중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주말 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요일별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 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시간대별 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연령대별 매출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성별 매출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7853E3-959C-4BB7-B6CC-EE66AAFB7DB8}"/>
              </a:ext>
            </a:extLst>
          </p:cNvPr>
          <p:cNvSpPr txBox="1"/>
          <p:nvPr/>
        </p:nvSpPr>
        <p:spPr>
          <a:xfrm>
            <a:off x="231320" y="823044"/>
            <a:ext cx="5864679" cy="136223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 marL="228600" indent="-228600">
              <a:lnSpc>
                <a:spcPct val="140000"/>
              </a:lnSpc>
              <a:buAutoNum type="arabicPeriod"/>
            </a:pP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 상권 </a:t>
            </a: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솔루션 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lnSpc>
                <a:spcPct val="140000"/>
              </a:lnSpc>
              <a:buAutoNum type="arabicPeriod"/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228600" indent="-228600">
              <a:lnSpc>
                <a:spcPct val="140000"/>
              </a:lnSpc>
              <a:buAutoNum type="arabicPeriod"/>
            </a:pPr>
            <a:r>
              <a:rPr lang="en-US" altLang="ko-KR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상권 통합 솔루션 </a:t>
            </a: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endParaRPr lang="en-US" altLang="ko-KR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위 세가지 기능을 구현하기 위해 사용자 입력 상점의 상권에 대해 다양한 관점에서의 분석이 필요하여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LLM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멀티에이전트 시스템을 통해 서비스하고자 함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이에 필요한 데이터는 다음과 같음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9299A7-FF56-44D1-B8A1-0217480814C5}"/>
              </a:ext>
            </a:extLst>
          </p:cNvPr>
          <p:cNvSpPr txBox="1"/>
          <p:nvPr/>
        </p:nvSpPr>
        <p:spPr>
          <a:xfrm>
            <a:off x="5943871" y="4645766"/>
            <a:ext cx="3381375" cy="96981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■ 카카오 지도 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API</a:t>
            </a: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최종 사용 데이터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: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키워드 검색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-&gt; 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</a:rPr>
              <a:t>사용자 입력 상점 좌표 조회</a:t>
            </a:r>
            <a:endParaRPr lang="en-US" altLang="ko-KR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</a:rPr>
              <a:t> 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F7853E3-959C-4BB7-B6CC-EE66AAFB7DB8}"/>
              </a:ext>
            </a:extLst>
          </p:cNvPr>
          <p:cNvSpPr txBox="1"/>
          <p:nvPr/>
        </p:nvSpPr>
        <p:spPr>
          <a:xfrm>
            <a:off x="231321" y="641723"/>
            <a:ext cx="5864679" cy="28187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LLM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에이전트 소개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67953A7-56DF-4B16-93E7-014AED538D74}"/>
              </a:ext>
            </a:extLst>
          </p:cNvPr>
          <p:cNvSpPr/>
          <p:nvPr/>
        </p:nvSpPr>
        <p:spPr>
          <a:xfrm>
            <a:off x="9109075" y="923595"/>
            <a:ext cx="2782888" cy="3733799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DDB472E-67CD-4FD7-809A-22E5BCD6AAFA}"/>
              </a:ext>
            </a:extLst>
          </p:cNvPr>
          <p:cNvSpPr/>
          <p:nvPr/>
        </p:nvSpPr>
        <p:spPr>
          <a:xfrm>
            <a:off x="6156325" y="956732"/>
            <a:ext cx="2782888" cy="3733799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0728E62-41FE-4D32-AD90-7F1B0C69CBEC}"/>
              </a:ext>
            </a:extLst>
          </p:cNvPr>
          <p:cNvSpPr/>
          <p:nvPr/>
        </p:nvSpPr>
        <p:spPr>
          <a:xfrm>
            <a:off x="3201988" y="956732"/>
            <a:ext cx="2784475" cy="3733799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AA4829F-D7B0-48C0-BC63-898CC0B70900}"/>
              </a:ext>
            </a:extLst>
          </p:cNvPr>
          <p:cNvSpPr/>
          <p:nvPr/>
        </p:nvSpPr>
        <p:spPr>
          <a:xfrm>
            <a:off x="249238" y="956732"/>
            <a:ext cx="2784475" cy="3733799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C39DADC-0FCA-43C1-B47D-A73B5D41618E}"/>
              </a:ext>
            </a:extLst>
          </p:cNvPr>
          <p:cNvSpPr/>
          <p:nvPr/>
        </p:nvSpPr>
        <p:spPr>
          <a:xfrm>
            <a:off x="1100138" y="1282170"/>
            <a:ext cx="1082675" cy="1082675"/>
          </a:xfrm>
          <a:prstGeom prst="ellipse">
            <a:avLst/>
          </a:prstGeom>
          <a:solidFill>
            <a:srgbClr val="FFBF93"/>
          </a:solidFill>
          <a:ln w="3175">
            <a:solidFill>
              <a:srgbClr val="FFBF93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8686644E-0072-4BB4-A8FC-09A814015B4A}"/>
              </a:ext>
            </a:extLst>
          </p:cNvPr>
          <p:cNvSpPr/>
          <p:nvPr/>
        </p:nvSpPr>
        <p:spPr>
          <a:xfrm>
            <a:off x="7005638" y="1277407"/>
            <a:ext cx="1084262" cy="1084263"/>
          </a:xfrm>
          <a:prstGeom prst="ellipse">
            <a:avLst/>
          </a:prstGeom>
          <a:solidFill>
            <a:srgbClr val="FF6600"/>
          </a:solidFill>
          <a:ln w="3175">
            <a:solidFill>
              <a:srgbClr val="FF6600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874773D-55A4-484B-8FBC-ACC04C16CFB5}"/>
              </a:ext>
            </a:extLst>
          </p:cNvPr>
          <p:cNvSpPr/>
          <p:nvPr/>
        </p:nvSpPr>
        <p:spPr>
          <a:xfrm>
            <a:off x="4052888" y="1277407"/>
            <a:ext cx="1082675" cy="1084263"/>
          </a:xfrm>
          <a:prstGeom prst="ellipse">
            <a:avLst/>
          </a:prstGeom>
          <a:solidFill>
            <a:srgbClr val="CC00FF"/>
          </a:solidFill>
          <a:ln w="3175">
            <a:solidFill>
              <a:srgbClr val="CC00FF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BD076C03-1161-4F99-BD40-E0CBC441869A}"/>
              </a:ext>
            </a:extLst>
          </p:cNvPr>
          <p:cNvSpPr/>
          <p:nvPr/>
        </p:nvSpPr>
        <p:spPr>
          <a:xfrm>
            <a:off x="9961563" y="1249033"/>
            <a:ext cx="1082675" cy="1082675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3175">
            <a:solidFill>
              <a:srgbClr val="77933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C1E6FD83-0AC6-4E40-9BC4-745A94980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1426632"/>
            <a:ext cx="79216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Image 2" descr="preencoded.png">
            <a:extLst>
              <a:ext uri="{FF2B5EF4-FFF2-40B4-BE49-F238E27FC236}">
                <a16:creationId xmlns:a16="http://schemas.microsoft.com/office/drawing/2014/main" id="{E13D3EBD-9A6E-4F1F-9156-7C57F814A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600" y="1391707"/>
            <a:ext cx="8572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" name="TextBox 26">
            <a:extLst>
              <a:ext uri="{FF2B5EF4-FFF2-40B4-BE49-F238E27FC236}">
                <a16:creationId xmlns:a16="http://schemas.microsoft.com/office/drawing/2014/main" id="{DDB4CDE4-D151-4B56-A1B4-837B4C2C1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2518832"/>
            <a:ext cx="2292294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에이전트</a:t>
            </a:r>
          </a:p>
        </p:txBody>
      </p:sp>
      <p:sp>
        <p:nvSpPr>
          <p:cNvPr id="43" name="TextBox 33">
            <a:extLst>
              <a:ext uri="{FF2B5EF4-FFF2-40B4-BE49-F238E27FC236}">
                <a16:creationId xmlns:a16="http://schemas.microsoft.com/office/drawing/2014/main" id="{973460CD-D9D0-4897-A202-E362FA107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688" y="2522007"/>
            <a:ext cx="2093522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 에이전트</a:t>
            </a:r>
          </a:p>
        </p:txBody>
      </p:sp>
      <p:sp>
        <p:nvSpPr>
          <p:cNvPr id="45" name="TextBox 35">
            <a:extLst>
              <a:ext uri="{FF2B5EF4-FFF2-40B4-BE49-F238E27FC236}">
                <a16:creationId xmlns:a16="http://schemas.microsoft.com/office/drawing/2014/main" id="{4A463C56-0D6A-4B0B-A989-D876E3285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522007"/>
            <a:ext cx="2146421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 에이전트</a:t>
            </a:r>
          </a:p>
        </p:txBody>
      </p:sp>
      <p:sp>
        <p:nvSpPr>
          <p:cNvPr id="47" name="TextBox 37">
            <a:extLst>
              <a:ext uri="{FF2B5EF4-FFF2-40B4-BE49-F238E27FC236}">
                <a16:creationId xmlns:a16="http://schemas.microsoft.com/office/drawing/2014/main" id="{3EC0E131-E5C3-4881-A905-A11425CF9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69450" y="2488870"/>
            <a:ext cx="1859483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에이전트</a:t>
            </a:r>
          </a:p>
        </p:txBody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B49C5943-EDB4-497D-B6C0-39E5789CB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013" y="1469495"/>
            <a:ext cx="76358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TextBox 26">
            <a:extLst>
              <a:ext uri="{FF2B5EF4-FFF2-40B4-BE49-F238E27FC236}">
                <a16:creationId xmlns:a16="http://schemas.microsoft.com/office/drawing/2014/main" id="{00F891E0-1DCA-49D6-B646-C893C5B5C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035" y="2839682"/>
            <a:ext cx="2291292" cy="2040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유동인구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패턴과 역세권 여부를 종합해 상권의 활성도를 분석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항목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시간대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성별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연령대별 유동인구 분포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매출 패턴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역까지 거리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역세권 분석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타겟 고객과 실제 데이터의 정합성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보고서 출력</a:t>
            </a: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87641E17-ADFA-49CE-A173-69729C5F8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579" y="2839682"/>
            <a:ext cx="2291292" cy="1782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자치구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 내 유사 업종 점포 수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비율을 분석하여 시장 내 경쟁 강도 평가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항목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 전체 대비 카테고리 비중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프랜차이즈 포화도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경쟁강도 분석 보고서 출력</a:t>
            </a:r>
          </a:p>
        </p:txBody>
      </p:sp>
      <p:sp>
        <p:nvSpPr>
          <p:cNvPr id="53" name="TextBox 26">
            <a:extLst>
              <a:ext uri="{FF2B5EF4-FFF2-40B4-BE49-F238E27FC236}">
                <a16:creationId xmlns:a16="http://schemas.microsoft.com/office/drawing/2014/main" id="{FB49A595-3E1D-4B54-9256-AF6AE091FD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123" y="2839682"/>
            <a:ext cx="2291292" cy="1782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역할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자치구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행정동 내 업종별 매출 순위를 기반으로 현재 업종의 경쟁력 분석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업종 포지셔닝 분석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항목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현재 업종 유지 전략과 수익성 제고 마케팅 인사이트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업종 분석 보고서 출력</a:t>
            </a:r>
          </a:p>
        </p:txBody>
      </p:sp>
      <p:sp>
        <p:nvSpPr>
          <p:cNvPr id="54" name="TextBox 26">
            <a:extLst>
              <a:ext uri="{FF2B5EF4-FFF2-40B4-BE49-F238E27FC236}">
                <a16:creationId xmlns:a16="http://schemas.microsoft.com/office/drawing/2014/main" id="{0ACE7797-83A8-4AFD-B30C-41D298308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792" y="2806545"/>
            <a:ext cx="2291292" cy="48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사용자의 입력 상점 분석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결과를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시각화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A5436A96-6E0E-4F9C-BB55-B6A1A49BB1B2}"/>
              </a:ext>
            </a:extLst>
          </p:cNvPr>
          <p:cNvSpPr/>
          <p:nvPr/>
        </p:nvSpPr>
        <p:spPr>
          <a:xfrm>
            <a:off x="-60238" y="5198300"/>
            <a:ext cx="6046701" cy="2469863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08BCAA3C-0686-4A4E-B9B0-7FF735F44916}"/>
              </a:ext>
            </a:extLst>
          </p:cNvPr>
          <p:cNvSpPr/>
          <p:nvPr/>
        </p:nvSpPr>
        <p:spPr>
          <a:xfrm>
            <a:off x="2723443" y="5295154"/>
            <a:ext cx="1082675" cy="1082675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3175">
            <a:solidFill>
              <a:srgbClr val="77933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57" name="TextBox 37">
            <a:extLst>
              <a:ext uri="{FF2B5EF4-FFF2-40B4-BE49-F238E27FC236}">
                <a16:creationId xmlns:a16="http://schemas.microsoft.com/office/drawing/2014/main" id="{CB764506-3E9A-4123-B2D3-206D8E9D3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1330" y="6534991"/>
            <a:ext cx="1894749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</a:p>
        </p:txBody>
      </p:sp>
      <p:pic>
        <p:nvPicPr>
          <p:cNvPr id="58" name="Image 3" descr="preencoded.png">
            <a:extLst>
              <a:ext uri="{FF2B5EF4-FFF2-40B4-BE49-F238E27FC236}">
                <a16:creationId xmlns:a16="http://schemas.microsoft.com/office/drawing/2014/main" id="{61B572B6-5926-4485-8044-92A8899CA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168" y="5526929"/>
            <a:ext cx="65246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26">
            <a:extLst>
              <a:ext uri="{FF2B5EF4-FFF2-40B4-BE49-F238E27FC236}">
                <a16:creationId xmlns:a16="http://schemas.microsoft.com/office/drawing/2014/main" id="{D09A35B9-4D5A-42CF-B2E6-D6C260BAE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5543" y="6907888"/>
            <a:ext cx="5777972" cy="489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클러스터링과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통해 상권 브랜딩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추천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이후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사용자가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후보 중 한 개 선택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0647725-CF11-4194-9B41-852B0EBD8A37}"/>
              </a:ext>
            </a:extLst>
          </p:cNvPr>
          <p:cNvSpPr/>
          <p:nvPr/>
        </p:nvSpPr>
        <p:spPr>
          <a:xfrm>
            <a:off x="6145299" y="5198300"/>
            <a:ext cx="6046701" cy="2469863"/>
          </a:xfrm>
          <a:prstGeom prst="roundRect">
            <a:avLst>
              <a:gd name="adj" fmla="val 9596"/>
            </a:avLst>
          </a:prstGeom>
          <a:solidFill>
            <a:srgbClr val="2D6CB9"/>
          </a:solidFill>
          <a:ln w="3175">
            <a:solidFill>
              <a:srgbClr val="61616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800D69DC-BE79-4789-ABE3-C7E6C5936240}"/>
              </a:ext>
            </a:extLst>
          </p:cNvPr>
          <p:cNvSpPr/>
          <p:nvPr/>
        </p:nvSpPr>
        <p:spPr>
          <a:xfrm>
            <a:off x="8928980" y="5295154"/>
            <a:ext cx="1082675" cy="1082675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3175">
            <a:solidFill>
              <a:srgbClr val="77933C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endParaRPr lang="ko-KR" altLang="en-US" sz="800" b="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4" name="TextBox 37">
            <a:extLst>
              <a:ext uri="{FF2B5EF4-FFF2-40B4-BE49-F238E27FC236}">
                <a16:creationId xmlns:a16="http://schemas.microsoft.com/office/drawing/2014/main" id="{2F58D2CC-E348-462B-96B7-732E4D5A6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6867" y="6534991"/>
            <a:ext cx="1695977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</a:p>
        </p:txBody>
      </p:sp>
      <p:sp>
        <p:nvSpPr>
          <p:cNvPr id="48" name="TextBox 26">
            <a:extLst>
              <a:ext uri="{FF2B5EF4-FFF2-40B4-BE49-F238E27FC236}">
                <a16:creationId xmlns:a16="http://schemas.microsoft.com/office/drawing/2014/main" id="{C639974A-65EA-45C3-9F57-72D958EB2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539" y="6907888"/>
            <a:ext cx="5777972" cy="748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에이전트의 결결과와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결과 통합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통합한 자료를 추가 분석하여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해당 상권 최종 분석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 탐색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0579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AF7853E3-959C-4BB7-B6CC-EE66AAFB7DB8}"/>
              </a:ext>
            </a:extLst>
          </p:cNvPr>
          <p:cNvSpPr txBox="1"/>
          <p:nvPr/>
        </p:nvSpPr>
        <p:spPr>
          <a:xfrm>
            <a:off x="231321" y="641723"/>
            <a:ext cx="7822067" cy="28187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MBTI: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지역 상권을 분석하여 사용자 입력 상점에 대한 유형을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가지 축으로 정리하는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기능을 함 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1CCF7B9-AF8F-41EF-9178-8347615BC12D}"/>
              </a:ext>
            </a:extLst>
          </p:cNvPr>
          <p:cNvSpPr/>
          <p:nvPr/>
        </p:nvSpPr>
        <p:spPr>
          <a:xfrm>
            <a:off x="863600" y="1909763"/>
            <a:ext cx="1677988" cy="1393825"/>
          </a:xfrm>
          <a:prstGeom prst="roundRect">
            <a:avLst/>
          </a:prstGeom>
          <a:solidFill>
            <a:srgbClr val="77FBD8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D/N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1B6566-FDDD-4964-AC2C-263E7E0FA051}"/>
              </a:ext>
            </a:extLst>
          </p:cNvPr>
          <p:cNvSpPr txBox="1"/>
          <p:nvPr/>
        </p:nvSpPr>
        <p:spPr>
          <a:xfrm>
            <a:off x="3178752" y="2274888"/>
            <a:ext cx="1266372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Day  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   Night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05C64E4A-51D2-47A3-A6C6-0EB26A7A5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6983" y="1919287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주간형  </a:t>
            </a:r>
            <a:r>
              <a:rPr lang="en-US" altLang="ko-KR" sz="2000" dirty="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 dirty="0">
                <a:solidFill>
                  <a:srgbClr val="77FBD8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야간형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A39AE0-255A-4775-AE00-EEC7AB42B952}"/>
              </a:ext>
            </a:extLst>
          </p:cNvPr>
          <p:cNvSpPr txBox="1"/>
          <p:nvPr/>
        </p:nvSpPr>
        <p:spPr>
          <a:xfrm>
            <a:off x="2768599" y="2620963"/>
            <a:ext cx="2908391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매장의 핵심 소비가 집중되는 시간대 판별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0144B8B-B6F9-4284-9E43-1376DF81C9EA}"/>
              </a:ext>
            </a:extLst>
          </p:cNvPr>
          <p:cNvSpPr/>
          <p:nvPr/>
        </p:nvSpPr>
        <p:spPr>
          <a:xfrm>
            <a:off x="6142038" y="1909763"/>
            <a:ext cx="1677987" cy="1393825"/>
          </a:xfrm>
          <a:prstGeom prst="roundRect">
            <a:avLst/>
          </a:prstGeom>
          <a:solidFill>
            <a:srgbClr val="1F497D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U/F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56E094-8E75-4163-8FC9-C550BB0FCFBE}"/>
              </a:ext>
            </a:extLst>
          </p:cNvPr>
          <p:cNvSpPr txBox="1"/>
          <p:nvPr/>
        </p:nvSpPr>
        <p:spPr>
          <a:xfrm>
            <a:off x="8361363" y="2274888"/>
            <a:ext cx="1514838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Utility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  Feeling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Box 27">
            <a:extLst>
              <a:ext uri="{FF2B5EF4-FFF2-40B4-BE49-F238E27FC236}">
                <a16:creationId xmlns:a16="http://schemas.microsoft.com/office/drawing/2014/main" id="{3AA14842-446B-4E68-BA02-8F26E9C69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5073" y="1919288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실용형  </a:t>
            </a:r>
            <a:r>
              <a:rPr lang="en-US" altLang="ko-KR" sz="2000" dirty="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 dirty="0">
                <a:solidFill>
                  <a:srgbClr val="1F497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12C095-4247-4491-9119-08D8976E9E46}"/>
              </a:ext>
            </a:extLst>
          </p:cNvPr>
          <p:cNvSpPr txBox="1"/>
          <p:nvPr/>
        </p:nvSpPr>
        <p:spPr>
          <a:xfrm>
            <a:off x="8047038" y="2620963"/>
            <a:ext cx="2499082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고객의 방문 동기가 목적형 소비인지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감성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경험 기반 소비인지 판별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8F55D6AF-69AF-4B88-B1F8-B47378A20FAC}"/>
              </a:ext>
            </a:extLst>
          </p:cNvPr>
          <p:cNvSpPr/>
          <p:nvPr/>
        </p:nvSpPr>
        <p:spPr>
          <a:xfrm>
            <a:off x="863600" y="4137025"/>
            <a:ext cx="1677988" cy="1381125"/>
          </a:xfrm>
          <a:prstGeom prst="roundRect">
            <a:avLst/>
          </a:prstGeom>
          <a:solidFill>
            <a:srgbClr val="B3A2C7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L/T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2D9772-199F-409F-A19B-7AE530B83462}"/>
              </a:ext>
            </a:extLst>
          </p:cNvPr>
          <p:cNvSpPr txBox="1"/>
          <p:nvPr/>
        </p:nvSpPr>
        <p:spPr>
          <a:xfrm>
            <a:off x="3125259" y="4490387"/>
            <a:ext cx="1452321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Local 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  Transit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TextBox 31">
            <a:extLst>
              <a:ext uri="{FF2B5EF4-FFF2-40B4-BE49-F238E27FC236}">
                <a16:creationId xmlns:a16="http://schemas.microsoft.com/office/drawing/2014/main" id="{677C1D4A-1797-4AAF-80F4-1C810A3C6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158" y="4137025"/>
            <a:ext cx="1659109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로컬형  </a:t>
            </a:r>
            <a:r>
              <a:rPr lang="en-US" altLang="ko-KR" sz="2000" dirty="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 </a:t>
            </a:r>
            <a:r>
              <a:rPr lang="ko-KR" altLang="en-US" sz="2000" dirty="0">
                <a:solidFill>
                  <a:srgbClr val="B3A2C7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통과형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0C2D2D-7D1E-4C42-BD1C-BD2AE83F01A9}"/>
              </a:ext>
            </a:extLst>
          </p:cNvPr>
          <p:cNvSpPr txBox="1"/>
          <p:nvPr/>
        </p:nvSpPr>
        <p:spPr>
          <a:xfrm>
            <a:off x="2768599" y="4848225"/>
            <a:ext cx="3005667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생활권 기반 재방문 중심인지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 기반 통과인지 판별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B50BC0B-AA42-4919-8D0A-D7138FBDABF6}"/>
              </a:ext>
            </a:extLst>
          </p:cNvPr>
          <p:cNvSpPr/>
          <p:nvPr/>
        </p:nvSpPr>
        <p:spPr>
          <a:xfrm>
            <a:off x="6142038" y="4137025"/>
            <a:ext cx="1677987" cy="1381125"/>
          </a:xfrm>
          <a:prstGeom prst="roundRect">
            <a:avLst/>
          </a:prstGeom>
          <a:solidFill>
            <a:srgbClr val="E46C0A"/>
          </a:solidFill>
          <a:ln w="3175">
            <a:solidFill>
              <a:schemeClr val="bg1"/>
            </a:solidFill>
            <a:miter/>
          </a:ln>
          <a:effectLst/>
        </p:spPr>
        <p:txBody>
          <a:bodyPr lIns="0" tIns="0" rIns="0" bIns="0" anchor="ctr"/>
          <a:lstStyle/>
          <a:p>
            <a:pPr algn="ctr" eaLnBrk="1" hangingPunct="1">
              <a:defRPr/>
            </a:pPr>
            <a:r>
              <a:rPr lang="en-US" altLang="ko-KR" sz="340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S/M</a:t>
            </a:r>
            <a:endParaRPr lang="ko-KR" altLang="en-US" sz="3400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6B61F8-9248-4337-8C54-7A4A00945BDA}"/>
              </a:ext>
            </a:extLst>
          </p:cNvPr>
          <p:cNvSpPr txBox="1"/>
          <p:nvPr/>
        </p:nvSpPr>
        <p:spPr>
          <a:xfrm>
            <a:off x="8114816" y="4502150"/>
            <a:ext cx="1641475" cy="2697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Specialized / Mixed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TextBox 35">
            <a:extLst>
              <a:ext uri="{FF2B5EF4-FFF2-40B4-BE49-F238E27FC236}">
                <a16:creationId xmlns:a16="http://schemas.microsoft.com/office/drawing/2014/main" id="{8F9F6446-5B26-471C-A0F3-9812907A3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3696" y="4137025"/>
            <a:ext cx="154048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특화형 </a:t>
            </a:r>
            <a:r>
              <a:rPr lang="en-US" altLang="ko-KR" sz="2000" dirty="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 </a:t>
            </a:r>
            <a:r>
              <a:rPr lang="ko-KR" altLang="en-US" sz="2000" dirty="0">
                <a:solidFill>
                  <a:srgbClr val="E46C0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혼합형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0B4E02-A7AF-4120-9B0D-33E2F1B99E85}"/>
              </a:ext>
            </a:extLst>
          </p:cNvPr>
          <p:cNvSpPr txBox="1"/>
          <p:nvPr/>
        </p:nvSpPr>
        <p:spPr>
          <a:xfrm>
            <a:off x="8047038" y="4848225"/>
            <a:ext cx="3763851" cy="57137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none" lIns="0" tIns="0" rIns="0" bIns="0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특정 업종이 몰려 있는 상권인지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다양한 업종이 골고루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>
              <a:lnSpc>
                <a:spcPct val="140000"/>
              </a:lnSpc>
              <a:defRPr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분포하는 상권인지 판별</a:t>
            </a:r>
          </a:p>
        </p:txBody>
      </p:sp>
    </p:spTree>
    <p:extLst>
      <p:ext uri="{BB962C8B-B14F-4D97-AF65-F5344CB8AC3E}">
        <p14:creationId xmlns:p14="http://schemas.microsoft.com/office/powerpoint/2010/main" val="793674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F54411D-6BA1-48C9-B8F1-93665104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7624" y="3522379"/>
            <a:ext cx="343383" cy="32718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0975C3F-4A39-46CD-9F64-1161E05D3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329" y="3511898"/>
            <a:ext cx="348147" cy="34814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7417C4A6-03D1-417A-BBDC-A5A443DCC93B}"/>
              </a:ext>
            </a:extLst>
          </p:cNvPr>
          <p:cNvGrpSpPr/>
          <p:nvPr/>
        </p:nvGrpSpPr>
        <p:grpSpPr>
          <a:xfrm>
            <a:off x="137895" y="3123870"/>
            <a:ext cx="1337396" cy="1373305"/>
            <a:chOff x="711540" y="3239765"/>
            <a:chExt cx="2101977" cy="1950738"/>
          </a:xfrm>
        </p:grpSpPr>
        <p:pic>
          <p:nvPicPr>
            <p:cNvPr id="161" name="Image 177" descr="preencoded.png">
              <a:extLst>
                <a:ext uri="{FF2B5EF4-FFF2-40B4-BE49-F238E27FC236}">
                  <a16:creationId xmlns:a16="http://schemas.microsoft.com/office/drawing/2014/main" id="{D3C40A50-9908-4916-92AB-B1BCD933F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496" y="3242985"/>
              <a:ext cx="2010217" cy="1835774"/>
            </a:xfrm>
            <a:prstGeom prst="rect">
              <a:avLst/>
            </a:prstGeom>
          </p:spPr>
        </p:pic>
        <p:pic>
          <p:nvPicPr>
            <p:cNvPr id="70" name="Image 125" descr="preencoded.png">
              <a:extLst>
                <a:ext uri="{FF2B5EF4-FFF2-40B4-BE49-F238E27FC236}">
                  <a16:creationId xmlns:a16="http://schemas.microsoft.com/office/drawing/2014/main" id="{5B0302EB-ADD6-45F2-9AE0-6C12E1D37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1623" y="3239765"/>
              <a:ext cx="465174" cy="564854"/>
            </a:xfrm>
            <a:prstGeom prst="rect">
              <a:avLst/>
            </a:prstGeom>
          </p:spPr>
        </p:pic>
        <p:pic>
          <p:nvPicPr>
            <p:cNvPr id="74" name="Image 126" descr="preencoded.png">
              <a:extLst>
                <a:ext uri="{FF2B5EF4-FFF2-40B4-BE49-F238E27FC236}">
                  <a16:creationId xmlns:a16="http://schemas.microsoft.com/office/drawing/2014/main" id="{BFA429C7-79C6-4D98-A26E-75C0A83B3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17792" y="5006427"/>
              <a:ext cx="49840" cy="74759"/>
            </a:xfrm>
            <a:prstGeom prst="rect">
              <a:avLst/>
            </a:prstGeom>
          </p:spPr>
        </p:pic>
        <p:pic>
          <p:nvPicPr>
            <p:cNvPr id="76" name="Image 127" descr="preencoded.png">
              <a:extLst>
                <a:ext uri="{FF2B5EF4-FFF2-40B4-BE49-F238E27FC236}">
                  <a16:creationId xmlns:a16="http://schemas.microsoft.com/office/drawing/2014/main" id="{B1F9BC49-F26B-4651-8A8C-1E73F1B47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181988" y="4724831"/>
              <a:ext cx="49840" cy="299040"/>
            </a:xfrm>
            <a:prstGeom prst="rect">
              <a:avLst/>
            </a:prstGeom>
          </p:spPr>
        </p:pic>
        <p:pic>
          <p:nvPicPr>
            <p:cNvPr id="77" name="Image 128" descr="preencoded.png">
              <a:extLst>
                <a:ext uri="{FF2B5EF4-FFF2-40B4-BE49-F238E27FC236}">
                  <a16:creationId xmlns:a16="http://schemas.microsoft.com/office/drawing/2014/main" id="{7B12F606-18BE-405F-A7CF-65006A745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95533" y="3373586"/>
              <a:ext cx="1320762" cy="1370599"/>
            </a:xfrm>
            <a:prstGeom prst="rect">
              <a:avLst/>
            </a:prstGeom>
          </p:spPr>
        </p:pic>
        <p:pic>
          <p:nvPicPr>
            <p:cNvPr id="78" name="Image 129" descr="preencoded.png">
              <a:extLst>
                <a:ext uri="{FF2B5EF4-FFF2-40B4-BE49-F238E27FC236}">
                  <a16:creationId xmlns:a16="http://schemas.microsoft.com/office/drawing/2014/main" id="{4C6DA928-FCAA-44BA-A8EC-6DA1EE8C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32354" y="4542969"/>
              <a:ext cx="232587" cy="199360"/>
            </a:xfrm>
            <a:prstGeom prst="rect">
              <a:avLst/>
            </a:prstGeom>
          </p:spPr>
        </p:pic>
        <p:pic>
          <p:nvPicPr>
            <p:cNvPr id="79" name="Image 130" descr="preencoded.png">
              <a:extLst>
                <a:ext uri="{FF2B5EF4-FFF2-40B4-BE49-F238E27FC236}">
                  <a16:creationId xmlns:a16="http://schemas.microsoft.com/office/drawing/2014/main" id="{23553249-CAF1-4F91-9318-68E44551F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72490" y="4726409"/>
              <a:ext cx="315654" cy="16614"/>
            </a:xfrm>
            <a:prstGeom prst="rect">
              <a:avLst/>
            </a:prstGeom>
          </p:spPr>
        </p:pic>
        <p:pic>
          <p:nvPicPr>
            <p:cNvPr id="80" name="Image 131" descr="preencoded.png">
              <a:extLst>
                <a:ext uri="{FF2B5EF4-FFF2-40B4-BE49-F238E27FC236}">
                  <a16:creationId xmlns:a16="http://schemas.microsoft.com/office/drawing/2014/main" id="{16D13EEA-B4CA-4DEA-B9C6-22E327085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22471" y="4394309"/>
              <a:ext cx="564854" cy="348880"/>
            </a:xfrm>
            <a:prstGeom prst="rect">
              <a:avLst/>
            </a:prstGeom>
          </p:spPr>
        </p:pic>
        <p:pic>
          <p:nvPicPr>
            <p:cNvPr id="81" name="Image 132" descr="preencoded.png">
              <a:extLst>
                <a:ext uri="{FF2B5EF4-FFF2-40B4-BE49-F238E27FC236}">
                  <a16:creationId xmlns:a16="http://schemas.microsoft.com/office/drawing/2014/main" id="{5FE004F3-0BA1-4AA9-B0D2-784BEB832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22921" y="3760926"/>
              <a:ext cx="16614" cy="647920"/>
            </a:xfrm>
            <a:prstGeom prst="rect">
              <a:avLst/>
            </a:prstGeom>
          </p:spPr>
        </p:pic>
        <p:pic>
          <p:nvPicPr>
            <p:cNvPr id="87" name="Image 133" descr="preencoded.png">
              <a:extLst>
                <a:ext uri="{FF2B5EF4-FFF2-40B4-BE49-F238E27FC236}">
                  <a16:creationId xmlns:a16="http://schemas.microsoft.com/office/drawing/2014/main" id="{8885FCCD-1709-478F-858A-A3B9E8625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11540" y="4376955"/>
              <a:ext cx="24919" cy="33228"/>
            </a:xfrm>
            <a:prstGeom prst="rect">
              <a:avLst/>
            </a:prstGeom>
          </p:spPr>
        </p:pic>
        <p:pic>
          <p:nvPicPr>
            <p:cNvPr id="89" name="Image 134" descr="preencoded.png">
              <a:extLst>
                <a:ext uri="{FF2B5EF4-FFF2-40B4-BE49-F238E27FC236}">
                  <a16:creationId xmlns:a16="http://schemas.microsoft.com/office/drawing/2014/main" id="{633F37C7-73FB-4297-882E-52799F589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57940" y="3250730"/>
              <a:ext cx="1221082" cy="1885613"/>
            </a:xfrm>
            <a:prstGeom prst="rect">
              <a:avLst/>
            </a:prstGeom>
          </p:spPr>
        </p:pic>
        <p:pic>
          <p:nvPicPr>
            <p:cNvPr id="90" name="Image 135" descr="preencoded.png">
              <a:extLst>
                <a:ext uri="{FF2B5EF4-FFF2-40B4-BE49-F238E27FC236}">
                  <a16:creationId xmlns:a16="http://schemas.microsoft.com/office/drawing/2014/main" id="{632F1989-8432-4326-BD02-A55B1AA9F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50296" y="4243642"/>
              <a:ext cx="647921" cy="689453"/>
            </a:xfrm>
            <a:prstGeom prst="rect">
              <a:avLst/>
            </a:prstGeom>
          </p:spPr>
        </p:pic>
        <p:pic>
          <p:nvPicPr>
            <p:cNvPr id="92" name="Image 136" descr="preencoded.png">
              <a:extLst>
                <a:ext uri="{FF2B5EF4-FFF2-40B4-BE49-F238E27FC236}">
                  <a16:creationId xmlns:a16="http://schemas.microsoft.com/office/drawing/2014/main" id="{28340877-C637-477D-9841-C612758EB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681262" y="4531098"/>
              <a:ext cx="33227" cy="33228"/>
            </a:xfrm>
            <a:prstGeom prst="rect">
              <a:avLst/>
            </a:prstGeom>
          </p:spPr>
        </p:pic>
        <p:pic>
          <p:nvPicPr>
            <p:cNvPr id="93" name="Image 137" descr="preencoded.png">
              <a:extLst>
                <a:ext uri="{FF2B5EF4-FFF2-40B4-BE49-F238E27FC236}">
                  <a16:creationId xmlns:a16="http://schemas.microsoft.com/office/drawing/2014/main" id="{1ACF3A6A-977E-47C7-BB97-7307C53F7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616636" y="4311326"/>
              <a:ext cx="24919" cy="49840"/>
            </a:xfrm>
            <a:prstGeom prst="rect">
              <a:avLst/>
            </a:prstGeom>
          </p:spPr>
        </p:pic>
        <p:pic>
          <p:nvPicPr>
            <p:cNvPr id="94" name="Image 138" descr="preencoded.png">
              <a:extLst>
                <a:ext uri="{FF2B5EF4-FFF2-40B4-BE49-F238E27FC236}">
                  <a16:creationId xmlns:a16="http://schemas.microsoft.com/office/drawing/2014/main" id="{0284BFA7-1382-4A37-9E70-0CC01FF3B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06579" y="3373588"/>
              <a:ext cx="1295843" cy="1187853"/>
            </a:xfrm>
            <a:prstGeom prst="rect">
              <a:avLst/>
            </a:prstGeom>
          </p:spPr>
        </p:pic>
        <p:pic>
          <p:nvPicPr>
            <p:cNvPr id="95" name="Image 139" descr="preencoded.png">
              <a:extLst>
                <a:ext uri="{FF2B5EF4-FFF2-40B4-BE49-F238E27FC236}">
                  <a16:creationId xmlns:a16="http://schemas.microsoft.com/office/drawing/2014/main" id="{A5A8E798-DF16-4EC6-B4E3-4AE2E9AED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69571" y="4531536"/>
              <a:ext cx="58146" cy="24919"/>
            </a:xfrm>
            <a:prstGeom prst="rect">
              <a:avLst/>
            </a:prstGeom>
          </p:spPr>
        </p:pic>
        <p:pic>
          <p:nvPicPr>
            <p:cNvPr id="97" name="Image 140" descr="preencoded.png">
              <a:extLst>
                <a:ext uri="{FF2B5EF4-FFF2-40B4-BE49-F238E27FC236}">
                  <a16:creationId xmlns:a16="http://schemas.microsoft.com/office/drawing/2014/main" id="{BBD39C63-BB15-4D1F-8399-B24AEFF40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931125" y="5115744"/>
              <a:ext cx="41534" cy="74759"/>
            </a:xfrm>
            <a:prstGeom prst="rect">
              <a:avLst/>
            </a:prstGeom>
          </p:spPr>
        </p:pic>
        <p:pic>
          <p:nvPicPr>
            <p:cNvPr id="98" name="Image 141" descr="preencoded.png">
              <a:extLst>
                <a:ext uri="{FF2B5EF4-FFF2-40B4-BE49-F238E27FC236}">
                  <a16:creationId xmlns:a16="http://schemas.microsoft.com/office/drawing/2014/main" id="{BADD0B08-E39A-4E2F-8AC7-E7E98BA1F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62909" y="4110887"/>
              <a:ext cx="1121402" cy="440253"/>
            </a:xfrm>
            <a:prstGeom prst="rect">
              <a:avLst/>
            </a:prstGeom>
          </p:spPr>
        </p:pic>
        <p:pic>
          <p:nvPicPr>
            <p:cNvPr id="99" name="Image 142" descr="preencoded.png">
              <a:extLst>
                <a:ext uri="{FF2B5EF4-FFF2-40B4-BE49-F238E27FC236}">
                  <a16:creationId xmlns:a16="http://schemas.microsoft.com/office/drawing/2014/main" id="{599B9C52-07B0-47CD-ADBC-5DE14893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76617" y="4124591"/>
              <a:ext cx="946961" cy="299040"/>
            </a:xfrm>
            <a:prstGeom prst="rect">
              <a:avLst/>
            </a:prstGeom>
          </p:spPr>
        </p:pic>
        <p:pic>
          <p:nvPicPr>
            <p:cNvPr id="100" name="Image 143" descr="preencoded.png">
              <a:extLst>
                <a:ext uri="{FF2B5EF4-FFF2-40B4-BE49-F238E27FC236}">
                  <a16:creationId xmlns:a16="http://schemas.microsoft.com/office/drawing/2014/main" id="{A6943B1B-497F-4E69-86B4-EC6AD387E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727861" y="4309735"/>
              <a:ext cx="41534" cy="58147"/>
            </a:xfrm>
            <a:prstGeom prst="rect">
              <a:avLst/>
            </a:prstGeom>
          </p:spPr>
        </p:pic>
        <p:pic>
          <p:nvPicPr>
            <p:cNvPr id="101" name="Image 144" descr="preencoded.png">
              <a:extLst>
                <a:ext uri="{FF2B5EF4-FFF2-40B4-BE49-F238E27FC236}">
                  <a16:creationId xmlns:a16="http://schemas.microsoft.com/office/drawing/2014/main" id="{F13F2558-7829-45C5-B9A8-AAC802047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612743" y="4229726"/>
              <a:ext cx="132907" cy="99681"/>
            </a:xfrm>
            <a:prstGeom prst="rect">
              <a:avLst/>
            </a:prstGeom>
          </p:spPr>
        </p:pic>
        <p:pic>
          <p:nvPicPr>
            <p:cNvPr id="102" name="Image 145" descr="preencoded.png">
              <a:extLst>
                <a:ext uri="{FF2B5EF4-FFF2-40B4-BE49-F238E27FC236}">
                  <a16:creationId xmlns:a16="http://schemas.microsoft.com/office/drawing/2014/main" id="{7AA41B57-C16F-448B-A2DA-87FE63A88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330636" y="4309499"/>
              <a:ext cx="315654" cy="58147"/>
            </a:xfrm>
            <a:prstGeom prst="rect">
              <a:avLst/>
            </a:prstGeom>
          </p:spPr>
        </p:pic>
        <p:pic>
          <p:nvPicPr>
            <p:cNvPr id="103" name="Image 146" descr="preencoded.png">
              <a:extLst>
                <a:ext uri="{FF2B5EF4-FFF2-40B4-BE49-F238E27FC236}">
                  <a16:creationId xmlns:a16="http://schemas.microsoft.com/office/drawing/2014/main" id="{C8A612EC-53CE-45B1-B1F7-83BDF65C6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628680" y="4348457"/>
              <a:ext cx="33227" cy="58147"/>
            </a:xfrm>
            <a:prstGeom prst="rect">
              <a:avLst/>
            </a:prstGeom>
          </p:spPr>
        </p:pic>
        <p:pic>
          <p:nvPicPr>
            <p:cNvPr id="104" name="Image 181" descr="preencoded.png">
              <a:extLst>
                <a:ext uri="{FF2B5EF4-FFF2-40B4-BE49-F238E27FC236}">
                  <a16:creationId xmlns:a16="http://schemas.microsoft.com/office/drawing/2014/main" id="{D1AD518B-EF0A-4355-88B8-FBA3208CDF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99687" y="3377741"/>
              <a:ext cx="1312456" cy="1179547"/>
            </a:xfrm>
            <a:prstGeom prst="rect">
              <a:avLst/>
            </a:prstGeom>
          </p:spPr>
        </p:pic>
        <p:pic>
          <p:nvPicPr>
            <p:cNvPr id="105" name="Image 203" descr="preencoded.png">
              <a:extLst>
                <a:ext uri="{FF2B5EF4-FFF2-40B4-BE49-F238E27FC236}">
                  <a16:creationId xmlns:a16="http://schemas.microsoft.com/office/drawing/2014/main" id="{A1E109B1-09FB-4B51-9A80-7B46DEF07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15692" y="3765081"/>
              <a:ext cx="16614" cy="639613"/>
            </a:xfrm>
            <a:prstGeom prst="rect">
              <a:avLst/>
            </a:prstGeom>
          </p:spPr>
        </p:pic>
        <p:pic>
          <p:nvPicPr>
            <p:cNvPr id="106" name="Image 229" descr="preencoded.png">
              <a:extLst>
                <a:ext uri="{FF2B5EF4-FFF2-40B4-BE49-F238E27FC236}">
                  <a16:creationId xmlns:a16="http://schemas.microsoft.com/office/drawing/2014/main" id="{788BDD3B-1D42-41F6-9508-FF3E95503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067062" y="4115041"/>
              <a:ext cx="971882" cy="299040"/>
            </a:xfrm>
            <a:prstGeom prst="rect">
              <a:avLst/>
            </a:prstGeom>
          </p:spPr>
        </p:pic>
        <p:pic>
          <p:nvPicPr>
            <p:cNvPr id="107" name="Image 239" descr="preencoded.png">
              <a:extLst>
                <a:ext uri="{FF2B5EF4-FFF2-40B4-BE49-F238E27FC236}">
                  <a16:creationId xmlns:a16="http://schemas.microsoft.com/office/drawing/2014/main" id="{FF530A9A-B272-43C6-8250-B5E061B03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1334789" y="4233882"/>
              <a:ext cx="897121" cy="897120"/>
            </a:xfrm>
            <a:prstGeom prst="rect">
              <a:avLst/>
            </a:prstGeom>
          </p:spPr>
        </p:pic>
        <p:pic>
          <p:nvPicPr>
            <p:cNvPr id="109" name="Image 240" descr="preencoded.png">
              <a:extLst>
                <a:ext uri="{FF2B5EF4-FFF2-40B4-BE49-F238E27FC236}">
                  <a16:creationId xmlns:a16="http://schemas.microsoft.com/office/drawing/2014/main" id="{FB255FED-557E-4E67-9CEC-E597E5199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715692" y="4381111"/>
              <a:ext cx="573161" cy="373801"/>
            </a:xfrm>
            <a:prstGeom prst="rect">
              <a:avLst/>
            </a:prstGeom>
          </p:spPr>
        </p:pic>
        <p:pic>
          <p:nvPicPr>
            <p:cNvPr id="110" name="Image 242" descr="preencoded.png">
              <a:extLst>
                <a:ext uri="{FF2B5EF4-FFF2-40B4-BE49-F238E27FC236}">
                  <a16:creationId xmlns:a16="http://schemas.microsoft.com/office/drawing/2014/main" id="{169EA737-650D-4603-A6D8-39FB1D818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1173723" y="4535255"/>
              <a:ext cx="531627" cy="24919"/>
            </a:xfrm>
            <a:prstGeom prst="rect">
              <a:avLst/>
            </a:prstGeom>
          </p:spPr>
        </p:pic>
        <p:pic>
          <p:nvPicPr>
            <p:cNvPr id="111" name="Image 244" descr="preencoded.png">
              <a:extLst>
                <a:ext uri="{FF2B5EF4-FFF2-40B4-BE49-F238E27FC236}">
                  <a16:creationId xmlns:a16="http://schemas.microsoft.com/office/drawing/2014/main" id="{46A80A47-0B8D-4235-B71B-87DB61E99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1244744" y="4730565"/>
              <a:ext cx="365494" cy="24919"/>
            </a:xfrm>
            <a:prstGeom prst="rect">
              <a:avLst/>
            </a:prstGeom>
          </p:spPr>
        </p:pic>
        <p:pic>
          <p:nvPicPr>
            <p:cNvPr id="112" name="Image 251" descr="preencoded.png">
              <a:extLst>
                <a:ext uri="{FF2B5EF4-FFF2-40B4-BE49-F238E27FC236}">
                  <a16:creationId xmlns:a16="http://schemas.microsoft.com/office/drawing/2014/main" id="{9CF450BE-0443-462B-A1D6-DB8C25AC7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1701031" y="4911899"/>
              <a:ext cx="265814" cy="274121"/>
            </a:xfrm>
            <a:prstGeom prst="rect">
              <a:avLst/>
            </a:prstGeom>
          </p:spPr>
        </p:pic>
        <p:pic>
          <p:nvPicPr>
            <p:cNvPr id="113" name="Image 253" descr="preencoded.png">
              <a:extLst>
                <a:ext uri="{FF2B5EF4-FFF2-40B4-BE49-F238E27FC236}">
                  <a16:creationId xmlns:a16="http://schemas.microsoft.com/office/drawing/2014/main" id="{718CCB19-E167-46AD-AD92-02D9CE698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1935279" y="5010582"/>
              <a:ext cx="323961" cy="174439"/>
            </a:xfrm>
            <a:prstGeom prst="rect">
              <a:avLst/>
            </a:prstGeom>
          </p:spPr>
        </p:pic>
        <p:sp>
          <p:nvSpPr>
            <p:cNvPr id="114" name="Shape 9">
              <a:extLst>
                <a:ext uri="{FF2B5EF4-FFF2-40B4-BE49-F238E27FC236}">
                  <a16:creationId xmlns:a16="http://schemas.microsoft.com/office/drawing/2014/main" id="{F0AA134B-870C-456B-ABC9-A2001C3C1AA4}"/>
                </a:ext>
              </a:extLst>
            </p:cNvPr>
            <p:cNvSpPr/>
            <p:nvPr/>
          </p:nvSpPr>
          <p:spPr>
            <a:xfrm rot="13302000">
              <a:off x="1001110" y="3537312"/>
              <a:ext cx="111142" cy="104332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15" name="Shape 10">
              <a:extLst>
                <a:ext uri="{FF2B5EF4-FFF2-40B4-BE49-F238E27FC236}">
                  <a16:creationId xmlns:a16="http://schemas.microsoft.com/office/drawing/2014/main" id="{B838D7DF-E901-4F6E-954E-ECF1DAF17E36}"/>
                </a:ext>
              </a:extLst>
            </p:cNvPr>
            <p:cNvSpPr/>
            <p:nvPr/>
          </p:nvSpPr>
          <p:spPr>
            <a:xfrm>
              <a:off x="1162924" y="3537394"/>
              <a:ext cx="932010" cy="36218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6" name="Shape 11">
              <a:extLst>
                <a:ext uri="{FF2B5EF4-FFF2-40B4-BE49-F238E27FC236}">
                  <a16:creationId xmlns:a16="http://schemas.microsoft.com/office/drawing/2014/main" id="{0D16C1AB-335E-43F7-ADB4-A3B11020E9C3}"/>
                </a:ext>
              </a:extLst>
            </p:cNvPr>
            <p:cNvSpPr/>
            <p:nvPr/>
          </p:nvSpPr>
          <p:spPr>
            <a:xfrm rot="21588000">
              <a:off x="1159436" y="3600693"/>
              <a:ext cx="454873" cy="36881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17" name="Shape 16">
              <a:extLst>
                <a:ext uri="{FF2B5EF4-FFF2-40B4-BE49-F238E27FC236}">
                  <a16:creationId xmlns:a16="http://schemas.microsoft.com/office/drawing/2014/main" id="{D8C5C000-ECA7-491F-A4A2-AD8680EA0915}"/>
                </a:ext>
              </a:extLst>
            </p:cNvPr>
            <p:cNvSpPr/>
            <p:nvPr/>
          </p:nvSpPr>
          <p:spPr>
            <a:xfrm rot="17760000">
              <a:off x="1003685" y="3710755"/>
              <a:ext cx="105329" cy="10184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0" name="Shape 17">
              <a:extLst>
                <a:ext uri="{FF2B5EF4-FFF2-40B4-BE49-F238E27FC236}">
                  <a16:creationId xmlns:a16="http://schemas.microsoft.com/office/drawing/2014/main" id="{E8DAA706-9A87-42AC-B095-E12C06277A6B}"/>
                </a:ext>
              </a:extLst>
            </p:cNvPr>
            <p:cNvSpPr/>
            <p:nvPr/>
          </p:nvSpPr>
          <p:spPr>
            <a:xfrm>
              <a:off x="1160433" y="3709924"/>
              <a:ext cx="931512" cy="36052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1" name="Shape 18">
              <a:extLst>
                <a:ext uri="{FF2B5EF4-FFF2-40B4-BE49-F238E27FC236}">
                  <a16:creationId xmlns:a16="http://schemas.microsoft.com/office/drawing/2014/main" id="{191F42B0-F8F3-4446-BC06-284CAC2BE0D4}"/>
                </a:ext>
              </a:extLst>
            </p:cNvPr>
            <p:cNvSpPr/>
            <p:nvPr/>
          </p:nvSpPr>
          <p:spPr>
            <a:xfrm>
              <a:off x="1163672" y="3772389"/>
              <a:ext cx="720688" cy="35719"/>
            </a:xfrm>
            <a:prstGeom prst="roundRect">
              <a:avLst/>
            </a:prstGeom>
            <a:solidFill>
              <a:srgbClr val="C8D1E4"/>
            </a:solidFill>
            <a:ln/>
          </p:spPr>
        </p:sp>
        <p:sp>
          <p:nvSpPr>
            <p:cNvPr id="124" name="Shape 23">
              <a:extLst>
                <a:ext uri="{FF2B5EF4-FFF2-40B4-BE49-F238E27FC236}">
                  <a16:creationId xmlns:a16="http://schemas.microsoft.com/office/drawing/2014/main" id="{6825D910-9D97-4583-9665-9A4508DE1211}"/>
                </a:ext>
              </a:extLst>
            </p:cNvPr>
            <p:cNvSpPr/>
            <p:nvPr/>
          </p:nvSpPr>
          <p:spPr>
            <a:xfrm rot="21594000">
              <a:off x="804076" y="3856787"/>
              <a:ext cx="28243" cy="263653"/>
            </a:xfrm>
            <a:prstGeom prst="roundRect">
              <a:avLst/>
            </a:prstGeom>
            <a:solidFill>
              <a:srgbClr val="373736"/>
            </a:solidFill>
            <a:ln/>
          </p:spPr>
        </p:sp>
        <p:sp>
          <p:nvSpPr>
            <p:cNvPr id="125" name="Shape 24">
              <a:extLst>
                <a:ext uri="{FF2B5EF4-FFF2-40B4-BE49-F238E27FC236}">
                  <a16:creationId xmlns:a16="http://schemas.microsoft.com/office/drawing/2014/main" id="{5FC439D8-E0EE-49C9-A0D3-FE36C445E00A}"/>
                </a:ext>
              </a:extLst>
            </p:cNvPr>
            <p:cNvSpPr/>
            <p:nvPr/>
          </p:nvSpPr>
          <p:spPr>
            <a:xfrm rot="15420000">
              <a:off x="1003353" y="3879796"/>
              <a:ext cx="108652" cy="104830"/>
            </a:xfrm>
            <a:prstGeom prst="ellipse">
              <a:avLst/>
            </a:prstGeom>
            <a:solidFill>
              <a:srgbClr val="C8D1E4"/>
            </a:solidFill>
            <a:ln/>
          </p:spPr>
        </p:sp>
        <p:sp>
          <p:nvSpPr>
            <p:cNvPr id="126" name="Shape 25">
              <a:extLst>
                <a:ext uri="{FF2B5EF4-FFF2-40B4-BE49-F238E27FC236}">
                  <a16:creationId xmlns:a16="http://schemas.microsoft.com/office/drawing/2014/main" id="{499EEBD7-AD9F-4961-BB8D-EDCA21FB7ECE}"/>
                </a:ext>
              </a:extLst>
            </p:cNvPr>
            <p:cNvSpPr/>
            <p:nvPr/>
          </p:nvSpPr>
          <p:spPr>
            <a:xfrm>
              <a:off x="1162093" y="3914850"/>
              <a:ext cx="592599" cy="37047"/>
            </a:xfrm>
            <a:prstGeom prst="roundRect">
              <a:avLst/>
            </a:prstGeom>
            <a:solidFill>
              <a:srgbClr val="C8D1E4"/>
            </a:solidFill>
            <a:ln/>
          </p:spPr>
        </p:sp>
        <p:pic>
          <p:nvPicPr>
            <p:cNvPr id="127" name="Image 386" descr="preencoded.png">
              <a:extLst>
                <a:ext uri="{FF2B5EF4-FFF2-40B4-BE49-F238E27FC236}">
                  <a16:creationId xmlns:a16="http://schemas.microsoft.com/office/drawing/2014/main" id="{46470289-3A32-445B-89E2-B58B5A35A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2225950" y="3928439"/>
              <a:ext cx="124601" cy="124601"/>
            </a:xfrm>
            <a:prstGeom prst="rect">
              <a:avLst/>
            </a:prstGeom>
          </p:spPr>
        </p:pic>
        <p:sp>
          <p:nvSpPr>
            <p:cNvPr id="128" name="Shape 33">
              <a:extLst>
                <a:ext uri="{FF2B5EF4-FFF2-40B4-BE49-F238E27FC236}">
                  <a16:creationId xmlns:a16="http://schemas.microsoft.com/office/drawing/2014/main" id="{B4B11505-C5D0-48E1-8099-E53E9FE0A61B}"/>
                </a:ext>
              </a:extLst>
            </p:cNvPr>
            <p:cNvSpPr/>
            <p:nvPr/>
          </p:nvSpPr>
          <p:spPr>
            <a:xfrm rot="72000">
              <a:off x="1105691" y="4165296"/>
              <a:ext cx="87386" cy="49840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32" name="Shape 34">
              <a:extLst>
                <a:ext uri="{FF2B5EF4-FFF2-40B4-BE49-F238E27FC236}">
                  <a16:creationId xmlns:a16="http://schemas.microsoft.com/office/drawing/2014/main" id="{3F5E0202-4356-4E59-9137-D47FC8C00814}"/>
                </a:ext>
              </a:extLst>
            </p:cNvPr>
            <p:cNvSpPr/>
            <p:nvPr/>
          </p:nvSpPr>
          <p:spPr>
            <a:xfrm rot="21570000">
              <a:off x="1679848" y="4165131"/>
              <a:ext cx="85227" cy="4967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2" name="Shape 35">
              <a:extLst>
                <a:ext uri="{FF2B5EF4-FFF2-40B4-BE49-F238E27FC236}">
                  <a16:creationId xmlns:a16="http://schemas.microsoft.com/office/drawing/2014/main" id="{AE778B23-7582-4133-89F2-D1C904DC2724}"/>
                </a:ext>
              </a:extLst>
            </p:cNvPr>
            <p:cNvSpPr/>
            <p:nvPr/>
          </p:nvSpPr>
          <p:spPr>
            <a:xfrm rot="21588000">
              <a:off x="1906038" y="4164963"/>
              <a:ext cx="87055" cy="5083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4" name="Shape 36">
              <a:extLst>
                <a:ext uri="{FF2B5EF4-FFF2-40B4-BE49-F238E27FC236}">
                  <a16:creationId xmlns:a16="http://schemas.microsoft.com/office/drawing/2014/main" id="{36767359-071C-4A24-A833-CA79DC9563D8}"/>
                </a:ext>
              </a:extLst>
            </p:cNvPr>
            <p:cNvSpPr/>
            <p:nvPr/>
          </p:nvSpPr>
          <p:spPr>
            <a:xfrm rot="24000">
              <a:off x="1220156" y="4167040"/>
              <a:ext cx="86223" cy="4917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5" name="Shape 37">
              <a:extLst>
                <a:ext uri="{FF2B5EF4-FFF2-40B4-BE49-F238E27FC236}">
                  <a16:creationId xmlns:a16="http://schemas.microsoft.com/office/drawing/2014/main" id="{D3D72F8A-3E2E-4D26-BAD3-741B3FBA4341}"/>
                </a:ext>
              </a:extLst>
            </p:cNvPr>
            <p:cNvSpPr/>
            <p:nvPr/>
          </p:nvSpPr>
          <p:spPr>
            <a:xfrm rot="12000">
              <a:off x="1336200" y="4166541"/>
              <a:ext cx="84230" cy="48677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6" name="Shape 38">
              <a:extLst>
                <a:ext uri="{FF2B5EF4-FFF2-40B4-BE49-F238E27FC236}">
                  <a16:creationId xmlns:a16="http://schemas.microsoft.com/office/drawing/2014/main" id="{D733C84C-A276-4051-B253-470609401D76}"/>
                </a:ext>
              </a:extLst>
            </p:cNvPr>
            <p:cNvSpPr/>
            <p:nvPr/>
          </p:nvSpPr>
          <p:spPr>
            <a:xfrm rot="24000">
              <a:off x="1450998" y="4165960"/>
              <a:ext cx="85227" cy="4900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7" name="Shape 39">
              <a:extLst>
                <a:ext uri="{FF2B5EF4-FFF2-40B4-BE49-F238E27FC236}">
                  <a16:creationId xmlns:a16="http://schemas.microsoft.com/office/drawing/2014/main" id="{5138B95A-7D20-4337-A710-F17FD989087A}"/>
                </a:ext>
              </a:extLst>
            </p:cNvPr>
            <p:cNvSpPr/>
            <p:nvPr/>
          </p:nvSpPr>
          <p:spPr>
            <a:xfrm rot="18000">
              <a:off x="1565217" y="4166127"/>
              <a:ext cx="85393" cy="495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8" name="Shape 40">
              <a:extLst>
                <a:ext uri="{FF2B5EF4-FFF2-40B4-BE49-F238E27FC236}">
                  <a16:creationId xmlns:a16="http://schemas.microsoft.com/office/drawing/2014/main" id="{17C918A3-6406-4835-A4DF-1BBD8F733509}"/>
                </a:ext>
              </a:extLst>
            </p:cNvPr>
            <p:cNvSpPr/>
            <p:nvPr/>
          </p:nvSpPr>
          <p:spPr>
            <a:xfrm rot="84000">
              <a:off x="1793318" y="4165546"/>
              <a:ext cx="86223" cy="50172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49" name="Shape 45">
              <a:extLst>
                <a:ext uri="{FF2B5EF4-FFF2-40B4-BE49-F238E27FC236}">
                  <a16:creationId xmlns:a16="http://schemas.microsoft.com/office/drawing/2014/main" id="{6F295352-1D54-4B4A-8400-7DCB555DDE47}"/>
                </a:ext>
              </a:extLst>
            </p:cNvPr>
            <p:cNvSpPr/>
            <p:nvPr/>
          </p:nvSpPr>
          <p:spPr>
            <a:xfrm rot="21534000">
              <a:off x="1108847" y="4236983"/>
              <a:ext cx="141878" cy="5200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0" name="Shape 46">
              <a:extLst>
                <a:ext uri="{FF2B5EF4-FFF2-40B4-BE49-F238E27FC236}">
                  <a16:creationId xmlns:a16="http://schemas.microsoft.com/office/drawing/2014/main" id="{2417412E-85AF-49D7-8AF3-9CD13667732A}"/>
                </a:ext>
              </a:extLst>
            </p:cNvPr>
            <p:cNvSpPr/>
            <p:nvPr/>
          </p:nvSpPr>
          <p:spPr>
            <a:xfrm rot="30000">
              <a:off x="1276726" y="4237563"/>
              <a:ext cx="87055" cy="52165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1" name="Shape 47">
              <a:extLst>
                <a:ext uri="{FF2B5EF4-FFF2-40B4-BE49-F238E27FC236}">
                  <a16:creationId xmlns:a16="http://schemas.microsoft.com/office/drawing/2014/main" id="{724531BC-25A1-4599-BF67-35F07534BDFD}"/>
                </a:ext>
              </a:extLst>
            </p:cNvPr>
            <p:cNvSpPr/>
            <p:nvPr/>
          </p:nvSpPr>
          <p:spPr>
            <a:xfrm rot="12000">
              <a:off x="1845816" y="4237813"/>
              <a:ext cx="146862" cy="50671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2" name="Shape 48">
              <a:extLst>
                <a:ext uri="{FF2B5EF4-FFF2-40B4-BE49-F238E27FC236}">
                  <a16:creationId xmlns:a16="http://schemas.microsoft.com/office/drawing/2014/main" id="{4FCC6473-54E8-4138-B41D-1C1C3EAFED34}"/>
                </a:ext>
              </a:extLst>
            </p:cNvPr>
            <p:cNvSpPr/>
            <p:nvPr/>
          </p:nvSpPr>
          <p:spPr>
            <a:xfrm rot="36000">
              <a:off x="1389529" y="4239808"/>
              <a:ext cx="85227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3" name="Shape 49">
              <a:extLst>
                <a:ext uri="{FF2B5EF4-FFF2-40B4-BE49-F238E27FC236}">
                  <a16:creationId xmlns:a16="http://schemas.microsoft.com/office/drawing/2014/main" id="{22C7A6C3-D0AA-4BB7-921C-4D794C48C9F6}"/>
                </a:ext>
              </a:extLst>
            </p:cNvPr>
            <p:cNvSpPr/>
            <p:nvPr/>
          </p:nvSpPr>
          <p:spPr>
            <a:xfrm rot="21552000">
              <a:off x="1503165" y="4239640"/>
              <a:ext cx="84395" cy="50339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4" name="Shape 50">
              <a:extLst>
                <a:ext uri="{FF2B5EF4-FFF2-40B4-BE49-F238E27FC236}">
                  <a16:creationId xmlns:a16="http://schemas.microsoft.com/office/drawing/2014/main" id="{E1080A48-A771-4ACC-8F09-73AB97432532}"/>
                </a:ext>
              </a:extLst>
            </p:cNvPr>
            <p:cNvSpPr/>
            <p:nvPr/>
          </p:nvSpPr>
          <p:spPr>
            <a:xfrm rot="21588000">
              <a:off x="1732179" y="4239059"/>
              <a:ext cx="87386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5" name="Shape 54">
              <a:extLst>
                <a:ext uri="{FF2B5EF4-FFF2-40B4-BE49-F238E27FC236}">
                  <a16:creationId xmlns:a16="http://schemas.microsoft.com/office/drawing/2014/main" id="{C6724658-6096-4267-B661-D73DF2C0E101}"/>
                </a:ext>
              </a:extLst>
            </p:cNvPr>
            <p:cNvSpPr/>
            <p:nvPr/>
          </p:nvSpPr>
          <p:spPr>
            <a:xfrm rot="48000">
              <a:off x="1104693" y="4313404"/>
              <a:ext cx="87220" cy="51334"/>
            </a:xfrm>
            <a:prstGeom prst="roundRect">
              <a:avLst/>
            </a:prstGeom>
            <a:solidFill>
              <a:srgbClr val="B4C1D2"/>
            </a:solidFill>
            <a:ln/>
          </p:spPr>
        </p:sp>
        <p:sp>
          <p:nvSpPr>
            <p:cNvPr id="156" name="Shape 55">
              <a:extLst>
                <a:ext uri="{FF2B5EF4-FFF2-40B4-BE49-F238E27FC236}">
                  <a16:creationId xmlns:a16="http://schemas.microsoft.com/office/drawing/2014/main" id="{67ED1F39-91A5-4021-B5AD-66A67B487A2E}"/>
                </a:ext>
              </a:extLst>
            </p:cNvPr>
            <p:cNvSpPr/>
            <p:nvPr/>
          </p:nvSpPr>
          <p:spPr>
            <a:xfrm>
              <a:off x="1219741" y="4314483"/>
              <a:ext cx="85227" cy="50006"/>
            </a:xfrm>
            <a:prstGeom prst="roundRect">
              <a:avLst/>
            </a:prstGeom>
            <a:solidFill>
              <a:srgbClr val="B4C1D2"/>
            </a:solidFill>
            <a:ln/>
          </p:spPr>
        </p:sp>
        <p:pic>
          <p:nvPicPr>
            <p:cNvPr id="157" name="Image 394" descr="preencoded.png">
              <a:extLst>
                <a:ext uri="{FF2B5EF4-FFF2-40B4-BE49-F238E27FC236}">
                  <a16:creationId xmlns:a16="http://schemas.microsoft.com/office/drawing/2014/main" id="{5B39B0C1-3CD6-47F6-A4FD-F72DAAA99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1792570" y="4314566"/>
              <a:ext cx="83067" cy="49840"/>
            </a:xfrm>
            <a:prstGeom prst="rect">
              <a:avLst/>
            </a:prstGeom>
          </p:spPr>
        </p:pic>
        <p:pic>
          <p:nvPicPr>
            <p:cNvPr id="158" name="Image 395" descr="preencoded.png">
              <a:extLst>
                <a:ext uri="{FF2B5EF4-FFF2-40B4-BE49-F238E27FC236}">
                  <a16:creationId xmlns:a16="http://schemas.microsoft.com/office/drawing/2014/main" id="{54F3BA6A-7F8E-4BD9-9FCC-8C47509D4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1906205" y="4315481"/>
              <a:ext cx="83067" cy="49840"/>
            </a:xfrm>
            <a:prstGeom prst="rect">
              <a:avLst/>
            </a:prstGeom>
          </p:spPr>
        </p:pic>
        <p:pic>
          <p:nvPicPr>
            <p:cNvPr id="159" name="Image 396" descr="preencoded.png">
              <a:extLst>
                <a:ext uri="{FF2B5EF4-FFF2-40B4-BE49-F238E27FC236}">
                  <a16:creationId xmlns:a16="http://schemas.microsoft.com/office/drawing/2014/main" id="{D34DB12D-9611-482F-9A6A-FD4499B73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1741452" y="4744033"/>
              <a:ext cx="33227" cy="41535"/>
            </a:xfrm>
            <a:prstGeom prst="rect">
              <a:avLst/>
            </a:prstGeom>
          </p:spPr>
        </p:pic>
        <p:sp>
          <p:nvSpPr>
            <p:cNvPr id="160" name="Shape 136">
              <a:extLst>
                <a:ext uri="{FF2B5EF4-FFF2-40B4-BE49-F238E27FC236}">
                  <a16:creationId xmlns:a16="http://schemas.microsoft.com/office/drawing/2014/main" id="{79D92E4A-8BD1-472B-A2C6-C9C6589D78C3}"/>
                </a:ext>
              </a:extLst>
            </p:cNvPr>
            <p:cNvSpPr/>
            <p:nvPr/>
          </p:nvSpPr>
          <p:spPr>
            <a:xfrm>
              <a:off x="2238225" y="3940025"/>
              <a:ext cx="100512" cy="100511"/>
            </a:xfrm>
            <a:prstGeom prst="ellipse">
              <a:avLst/>
            </a:prstGeom>
            <a:solidFill>
              <a:srgbClr val="7C7C7C"/>
            </a:solidFill>
            <a:ln/>
          </p:spPr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E1A96FA-7C03-44DA-8FB0-F9143BF612CD}"/>
                </a:ext>
              </a:extLst>
            </p:cNvPr>
            <p:cNvSpPr/>
            <p:nvPr/>
          </p:nvSpPr>
          <p:spPr>
            <a:xfrm>
              <a:off x="2394822" y="3599906"/>
              <a:ext cx="418695" cy="328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A61E663-641C-493F-AC13-39AE112979B0}"/>
              </a:ext>
            </a:extLst>
          </p:cNvPr>
          <p:cNvSpPr/>
          <p:nvPr/>
        </p:nvSpPr>
        <p:spPr>
          <a:xfrm>
            <a:off x="55201" y="1179315"/>
            <a:ext cx="3553523" cy="4728993"/>
          </a:xfrm>
          <a:prstGeom prst="roundRect">
            <a:avLst>
              <a:gd name="adj" fmla="val 3538"/>
            </a:avLst>
          </a:prstGeom>
          <a:noFill/>
          <a:ln w="12700"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BD66B6-3388-41FC-9E4F-2BDB6AFEE863}"/>
              </a:ext>
            </a:extLst>
          </p:cNvPr>
          <p:cNvSpPr txBox="1"/>
          <p:nvPr/>
        </p:nvSpPr>
        <p:spPr>
          <a:xfrm>
            <a:off x="27492" y="4564308"/>
            <a:ext cx="1319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데이터 입력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7D05FD33-B46D-4A58-B33F-2C99255233E9}"/>
              </a:ext>
            </a:extLst>
          </p:cNvPr>
          <p:cNvSpPr txBox="1"/>
          <p:nvPr/>
        </p:nvSpPr>
        <p:spPr>
          <a:xfrm>
            <a:off x="10982116" y="6057457"/>
            <a:ext cx="1233030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브랜드 아이덴티티</a:t>
            </a:r>
            <a:endParaRPr lang="en-US" altLang="ko-KR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브랜드 활성화 방향</a:t>
            </a:r>
            <a:endParaRPr lang="en-US" altLang="ko-KR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맞춤 브랜딩</a:t>
            </a:r>
            <a:endParaRPr lang="en-US" altLang="ko-KR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sz="9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보고서</a:t>
            </a:r>
            <a:endParaRPr lang="en-US" altLang="ko-KR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endParaRPr lang="ko-KR" altLang="en-US" sz="9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04D1DEA-25EE-439B-B4CA-6BFA79359E92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565279" y="3207833"/>
            <a:ext cx="894132" cy="894132"/>
          </a:xfrm>
          <a:prstGeom prst="rect">
            <a:avLst/>
          </a:prstGeom>
        </p:spPr>
      </p:pic>
      <p:sp>
        <p:nvSpPr>
          <p:cNvPr id="166" name="TextBox 165">
            <a:extLst>
              <a:ext uri="{FF2B5EF4-FFF2-40B4-BE49-F238E27FC236}">
                <a16:creationId xmlns:a16="http://schemas.microsoft.com/office/drawing/2014/main" id="{DE289A21-1369-43D6-9077-6B17F9FAC3BB}"/>
              </a:ext>
            </a:extLst>
          </p:cNvPr>
          <p:cNvSpPr txBox="1"/>
          <p:nvPr/>
        </p:nvSpPr>
        <p:spPr>
          <a:xfrm>
            <a:off x="1522904" y="3963465"/>
            <a:ext cx="8851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융합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83CBC0F-791B-404E-ACF4-8E9FDAA28AB5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296220" y="4690142"/>
            <a:ext cx="380811" cy="38081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0D5CAB4-B040-49AC-95DD-BB4E2447B8C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996100" y="2130631"/>
            <a:ext cx="380811" cy="38081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1E9BDB7-934B-4DBC-A914-7C4BCAECA7CF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776688" y="4678822"/>
            <a:ext cx="380811" cy="380811"/>
          </a:xfrm>
          <a:prstGeom prst="rect">
            <a:avLst/>
          </a:prstGeom>
        </p:spPr>
      </p:pic>
      <p:cxnSp>
        <p:nvCxnSpPr>
          <p:cNvPr id="167" name="직선 화살표 연결선 166">
            <a:extLst>
              <a:ext uri="{FF2B5EF4-FFF2-40B4-BE49-F238E27FC236}">
                <a16:creationId xmlns:a16="http://schemas.microsoft.com/office/drawing/2014/main" id="{CB264098-4A55-4EA7-8633-EBF1D6ACFFCD}"/>
              </a:ext>
            </a:extLst>
          </p:cNvPr>
          <p:cNvCxnSpPr>
            <a:cxnSpLocks/>
          </p:cNvCxnSpPr>
          <p:nvPr/>
        </p:nvCxnSpPr>
        <p:spPr>
          <a:xfrm flipV="1">
            <a:off x="1986053" y="4274606"/>
            <a:ext cx="0" cy="313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A448E911-ABAA-4BF3-9306-0B07F464B86D}"/>
              </a:ext>
            </a:extLst>
          </p:cNvPr>
          <p:cNvSpPr txBox="1"/>
          <p:nvPr/>
        </p:nvSpPr>
        <p:spPr>
          <a:xfrm>
            <a:off x="994714" y="5058432"/>
            <a:ext cx="1941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유동인구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추정매출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상권현황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C96B415A-5260-4BE4-A98C-EB1042403DF8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564075" y="2082607"/>
            <a:ext cx="380811" cy="380811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19561C1D-880B-494D-8105-6116DBCB8469}"/>
              </a:ext>
            </a:extLst>
          </p:cNvPr>
          <p:cNvSpPr txBox="1"/>
          <p:nvPr/>
        </p:nvSpPr>
        <p:spPr>
          <a:xfrm>
            <a:off x="1330107" y="2571845"/>
            <a:ext cx="13644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지도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지하철 데이터</a:t>
            </a:r>
          </a:p>
        </p:txBody>
      </p:sp>
      <p:cxnSp>
        <p:nvCxnSpPr>
          <p:cNvPr id="171" name="직선 화살표 연결선 170">
            <a:extLst>
              <a:ext uri="{FF2B5EF4-FFF2-40B4-BE49-F238E27FC236}">
                <a16:creationId xmlns:a16="http://schemas.microsoft.com/office/drawing/2014/main" id="{7DA6AE40-50C8-4770-80C8-F835EF028543}"/>
              </a:ext>
            </a:extLst>
          </p:cNvPr>
          <p:cNvCxnSpPr>
            <a:cxnSpLocks/>
          </p:cNvCxnSpPr>
          <p:nvPr/>
        </p:nvCxnSpPr>
        <p:spPr>
          <a:xfrm>
            <a:off x="1996100" y="2892694"/>
            <a:ext cx="0" cy="3151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그림 43">
            <a:extLst>
              <a:ext uri="{FF2B5EF4-FFF2-40B4-BE49-F238E27FC236}">
                <a16:creationId xmlns:a16="http://schemas.microsoft.com/office/drawing/2014/main" id="{6758B142-0C99-4993-9407-43E02A005127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257156" y="4677622"/>
            <a:ext cx="380809" cy="38080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76867E18-7EA7-47A1-98B0-32292EFB4AFF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687973" y="3293539"/>
            <a:ext cx="729895" cy="729895"/>
          </a:xfrm>
          <a:prstGeom prst="rect">
            <a:avLst/>
          </a:prstGeom>
        </p:spPr>
      </p:pic>
      <p:sp>
        <p:nvSpPr>
          <p:cNvPr id="173" name="TextBox 172">
            <a:extLst>
              <a:ext uri="{FF2B5EF4-FFF2-40B4-BE49-F238E27FC236}">
                <a16:creationId xmlns:a16="http://schemas.microsoft.com/office/drawing/2014/main" id="{51AA329D-CAD1-4AE7-8F05-112A703350BF}"/>
              </a:ext>
            </a:extLst>
          </p:cNvPr>
          <p:cNvSpPr txBox="1"/>
          <p:nvPr/>
        </p:nvSpPr>
        <p:spPr>
          <a:xfrm>
            <a:off x="2450527" y="3963465"/>
            <a:ext cx="11929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생성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835F695-0C0D-4EB8-A2AB-F4D129BE5ED6}"/>
              </a:ext>
            </a:extLst>
          </p:cNvPr>
          <p:cNvSpPr/>
          <p:nvPr/>
        </p:nvSpPr>
        <p:spPr>
          <a:xfrm>
            <a:off x="65669" y="1194870"/>
            <a:ext cx="3543056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입력 기반 데이터 융합</a:t>
            </a:r>
          </a:p>
        </p:txBody>
      </p:sp>
      <p:sp>
        <p:nvSpPr>
          <p:cNvPr id="282" name="사각형: 둥근 모서리 281">
            <a:extLst>
              <a:ext uri="{FF2B5EF4-FFF2-40B4-BE49-F238E27FC236}">
                <a16:creationId xmlns:a16="http://schemas.microsoft.com/office/drawing/2014/main" id="{F73391EC-C0ED-4EF2-A48F-39AEF34AECE7}"/>
              </a:ext>
            </a:extLst>
          </p:cNvPr>
          <p:cNvSpPr/>
          <p:nvPr/>
        </p:nvSpPr>
        <p:spPr>
          <a:xfrm>
            <a:off x="3674780" y="1179315"/>
            <a:ext cx="2615462" cy="4728993"/>
          </a:xfrm>
          <a:prstGeom prst="roundRect">
            <a:avLst>
              <a:gd name="adj" fmla="val 3538"/>
            </a:avLst>
          </a:prstGeom>
          <a:noFill/>
          <a:ln w="12700"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2" name="사각형: 둥근 모서리 301">
            <a:extLst>
              <a:ext uri="{FF2B5EF4-FFF2-40B4-BE49-F238E27FC236}">
                <a16:creationId xmlns:a16="http://schemas.microsoft.com/office/drawing/2014/main" id="{BE8C0C91-8B16-4401-8151-730A58B5B833}"/>
              </a:ext>
            </a:extLst>
          </p:cNvPr>
          <p:cNvSpPr/>
          <p:nvPr/>
        </p:nvSpPr>
        <p:spPr>
          <a:xfrm>
            <a:off x="3684015" y="1194870"/>
            <a:ext cx="2607758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다면적 상권 심층 분석</a:t>
            </a:r>
          </a:p>
        </p:txBody>
      </p:sp>
      <p:sp>
        <p:nvSpPr>
          <p:cNvPr id="304" name="사각형: 둥근 모서리 303">
            <a:extLst>
              <a:ext uri="{FF2B5EF4-FFF2-40B4-BE49-F238E27FC236}">
                <a16:creationId xmlns:a16="http://schemas.microsoft.com/office/drawing/2014/main" id="{A85BB003-EE8E-4563-B222-DCA26D513970}"/>
              </a:ext>
            </a:extLst>
          </p:cNvPr>
          <p:cNvSpPr/>
          <p:nvPr/>
        </p:nvSpPr>
        <p:spPr>
          <a:xfrm>
            <a:off x="3786141" y="1873427"/>
            <a:ext cx="1335759" cy="1164327"/>
          </a:xfrm>
          <a:prstGeom prst="roundRect">
            <a:avLst>
              <a:gd name="adj" fmla="val 3538"/>
            </a:avLst>
          </a:prstGeom>
          <a:noFill/>
          <a:ln w="12700"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1FF6F1AC-BA8A-46BE-ABD9-B8F2A1B4017F}"/>
              </a:ext>
            </a:extLst>
          </p:cNvPr>
          <p:cNvSpPr/>
          <p:nvPr/>
        </p:nvSpPr>
        <p:spPr>
          <a:xfrm>
            <a:off x="3795377" y="1888982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분석 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</a:t>
            </a: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E47B6663-6F8C-4589-AFE4-F157E269C6F2}"/>
              </a:ext>
            </a:extLst>
          </p:cNvPr>
          <p:cNvSpPr/>
          <p:nvPr/>
        </p:nvSpPr>
        <p:spPr>
          <a:xfrm>
            <a:off x="3786141" y="3154241"/>
            <a:ext cx="1335759" cy="1164327"/>
          </a:xfrm>
          <a:prstGeom prst="roundRect">
            <a:avLst>
              <a:gd name="adj" fmla="val 3538"/>
            </a:avLst>
          </a:prstGeom>
          <a:noFill/>
          <a:ln w="12700"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7" name="사각형: 둥근 모서리 306">
            <a:extLst>
              <a:ext uri="{FF2B5EF4-FFF2-40B4-BE49-F238E27FC236}">
                <a16:creationId xmlns:a16="http://schemas.microsoft.com/office/drawing/2014/main" id="{91668258-B5BD-41E9-80CC-E7BDA3C17750}"/>
              </a:ext>
            </a:extLst>
          </p:cNvPr>
          <p:cNvSpPr/>
          <p:nvPr/>
        </p:nvSpPr>
        <p:spPr>
          <a:xfrm>
            <a:off x="3795377" y="3169796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</a:t>
            </a:r>
            <a:endParaRPr lang="en-US" altLang="ko-KR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에이전트</a:t>
            </a:r>
          </a:p>
        </p:txBody>
      </p:sp>
      <p:sp>
        <p:nvSpPr>
          <p:cNvPr id="308" name="사각형: 둥근 모서리 307">
            <a:extLst>
              <a:ext uri="{FF2B5EF4-FFF2-40B4-BE49-F238E27FC236}">
                <a16:creationId xmlns:a16="http://schemas.microsoft.com/office/drawing/2014/main" id="{D509AD29-48E9-41E2-983D-851A5622D057}"/>
              </a:ext>
            </a:extLst>
          </p:cNvPr>
          <p:cNvSpPr/>
          <p:nvPr/>
        </p:nvSpPr>
        <p:spPr>
          <a:xfrm>
            <a:off x="3786141" y="4435055"/>
            <a:ext cx="1335759" cy="1164327"/>
          </a:xfrm>
          <a:prstGeom prst="roundRect">
            <a:avLst>
              <a:gd name="adj" fmla="val 3538"/>
            </a:avLst>
          </a:prstGeom>
          <a:noFill/>
          <a:ln w="12700"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9" name="사각형: 둥근 모서리 308">
            <a:extLst>
              <a:ext uri="{FF2B5EF4-FFF2-40B4-BE49-F238E27FC236}">
                <a16:creationId xmlns:a16="http://schemas.microsoft.com/office/drawing/2014/main" id="{EFFC781A-831D-444B-B829-4A0136C0A06D}"/>
              </a:ext>
            </a:extLst>
          </p:cNvPr>
          <p:cNvSpPr/>
          <p:nvPr/>
        </p:nvSpPr>
        <p:spPr>
          <a:xfrm>
            <a:off x="3795377" y="4450610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D6F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 에이전트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BDC69F2-E0EF-4613-87AB-F77BF0258DB9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969653" y="2344149"/>
            <a:ext cx="414499" cy="392539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EC9DAD88-372C-4173-BFEA-F896FB727A6A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516427" y="2342793"/>
            <a:ext cx="473198" cy="392539"/>
          </a:xfrm>
          <a:prstGeom prst="rect">
            <a:avLst/>
          </a:prstGeom>
        </p:spPr>
      </p:pic>
      <p:sp>
        <p:nvSpPr>
          <p:cNvPr id="310" name="TextBox 309">
            <a:extLst>
              <a:ext uri="{FF2B5EF4-FFF2-40B4-BE49-F238E27FC236}">
                <a16:creationId xmlns:a16="http://schemas.microsoft.com/office/drawing/2014/main" id="{DFD2746A-E9D5-4DC8-87F9-A540E0D43157}"/>
              </a:ext>
            </a:extLst>
          </p:cNvPr>
          <p:cNvSpPr txBox="1"/>
          <p:nvPr/>
        </p:nvSpPr>
        <p:spPr>
          <a:xfrm>
            <a:off x="3734927" y="2805960"/>
            <a:ext cx="147416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7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상권활성화 점수 산출</a:t>
            </a:r>
            <a:r>
              <a:rPr lang="en-US" altLang="ko-KR" sz="7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(0-100)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88F93258-BD2E-4E0C-9E2A-F7F6D6DB2FCB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959237" y="3592862"/>
            <a:ext cx="435330" cy="43533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219F387F-6BA4-4EB0-A117-E9C5E3E0EB7A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516427" y="3616859"/>
            <a:ext cx="435330" cy="420819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18A25E7-FB57-456D-AD64-D02B38B46075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662042" y="3488052"/>
            <a:ext cx="155923" cy="137154"/>
          </a:xfrm>
          <a:prstGeom prst="rect">
            <a:avLst/>
          </a:prstGeom>
        </p:spPr>
      </p:pic>
      <p:sp>
        <p:nvSpPr>
          <p:cNvPr id="311" name="TextBox 310">
            <a:extLst>
              <a:ext uri="{FF2B5EF4-FFF2-40B4-BE49-F238E27FC236}">
                <a16:creationId xmlns:a16="http://schemas.microsoft.com/office/drawing/2014/main" id="{0C717753-B58E-43AA-8C3F-8A0270AFB699}"/>
              </a:ext>
            </a:extLst>
          </p:cNvPr>
          <p:cNvSpPr txBox="1"/>
          <p:nvPr/>
        </p:nvSpPr>
        <p:spPr>
          <a:xfrm>
            <a:off x="3734927" y="4043747"/>
            <a:ext cx="13767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유사업종</a:t>
            </a:r>
            <a:r>
              <a:rPr lang="en-US" altLang="ko-KR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</a:t>
            </a:r>
            <a:r>
              <a:rPr lang="en-US" altLang="ko-KR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</a:t>
            </a:r>
            <a:endParaRPr lang="en-US" altLang="ko-KR" sz="7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32846789-44B3-40BD-A9E1-F5C1FE6947C3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980822" y="4854142"/>
            <a:ext cx="473198" cy="434198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13B904DD-C722-4182-B6D5-DD33529478D4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526174" y="4861023"/>
            <a:ext cx="364713" cy="438641"/>
          </a:xfrm>
          <a:prstGeom prst="rect">
            <a:avLst/>
          </a:prstGeom>
        </p:spPr>
      </p:pic>
      <p:sp>
        <p:nvSpPr>
          <p:cNvPr id="312" name="TextBox 311">
            <a:extLst>
              <a:ext uri="{FF2B5EF4-FFF2-40B4-BE49-F238E27FC236}">
                <a16:creationId xmlns:a16="http://schemas.microsoft.com/office/drawing/2014/main" id="{DB87C7FD-B4D7-4DF0-B441-0C9F393BA2F5}"/>
              </a:ext>
            </a:extLst>
          </p:cNvPr>
          <p:cNvSpPr txBox="1"/>
          <p:nvPr/>
        </p:nvSpPr>
        <p:spPr>
          <a:xfrm>
            <a:off x="3734927" y="5316123"/>
            <a:ext cx="14741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7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업종 포지셔닝 비교</a:t>
            </a:r>
            <a:endParaRPr lang="en-US" altLang="ko-KR" sz="7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마케팅</a:t>
            </a:r>
            <a:r>
              <a:rPr lang="en-US" altLang="ko-KR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인사이트 제시</a:t>
            </a:r>
            <a:endParaRPr lang="en-US" altLang="ko-KR" sz="7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325" name="직선 화살표 연결선 324">
            <a:extLst>
              <a:ext uri="{FF2B5EF4-FFF2-40B4-BE49-F238E27FC236}">
                <a16:creationId xmlns:a16="http://schemas.microsoft.com/office/drawing/2014/main" id="{4A1BAA5E-A0DA-48B9-BB42-9F74DA8B802A}"/>
              </a:ext>
            </a:extLst>
          </p:cNvPr>
          <p:cNvCxnSpPr>
            <a:cxnSpLocks/>
          </p:cNvCxnSpPr>
          <p:nvPr/>
        </p:nvCxnSpPr>
        <p:spPr>
          <a:xfrm>
            <a:off x="5233261" y="3675250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3" name="TextBox 332">
            <a:extLst>
              <a:ext uri="{FF2B5EF4-FFF2-40B4-BE49-F238E27FC236}">
                <a16:creationId xmlns:a16="http://schemas.microsoft.com/office/drawing/2014/main" id="{FEC162C6-ED2B-4D1C-9FC6-E75D2325C1B3}"/>
              </a:ext>
            </a:extLst>
          </p:cNvPr>
          <p:cNvSpPr txBox="1"/>
          <p:nvPr/>
        </p:nvSpPr>
        <p:spPr>
          <a:xfrm>
            <a:off x="5302442" y="2619271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상권활성도 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0EB456F8-0175-4683-ACF6-0783E5624A6F}"/>
              </a:ext>
            </a:extLst>
          </p:cNvPr>
          <p:cNvSpPr txBox="1"/>
          <p:nvPr/>
        </p:nvSpPr>
        <p:spPr>
          <a:xfrm>
            <a:off x="5235920" y="3846264"/>
            <a:ext cx="1018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경쟁환경 분석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F0FB1FC7-E585-41D1-98A9-2BFC9FB2FF65}"/>
              </a:ext>
            </a:extLst>
          </p:cNvPr>
          <p:cNvSpPr txBox="1"/>
          <p:nvPr/>
        </p:nvSpPr>
        <p:spPr>
          <a:xfrm>
            <a:off x="5218288" y="5132994"/>
            <a:ext cx="1053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운영 전략 분석</a:t>
            </a:r>
            <a:endParaRPr lang="en-US" altLang="ko-KR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368" name="사각형: 둥근 모서리 367">
            <a:extLst>
              <a:ext uri="{FF2B5EF4-FFF2-40B4-BE49-F238E27FC236}">
                <a16:creationId xmlns:a16="http://schemas.microsoft.com/office/drawing/2014/main" id="{AC58BCB0-0E3C-45A2-82CF-99EC418663C1}"/>
              </a:ext>
            </a:extLst>
          </p:cNvPr>
          <p:cNvSpPr/>
          <p:nvPr/>
        </p:nvSpPr>
        <p:spPr>
          <a:xfrm>
            <a:off x="6375175" y="1179315"/>
            <a:ext cx="5764571" cy="4728993"/>
          </a:xfrm>
          <a:prstGeom prst="roundRect">
            <a:avLst>
              <a:gd name="adj" fmla="val 3538"/>
            </a:avLst>
          </a:prstGeom>
          <a:noFill/>
          <a:ln w="12700"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2" name="사각형: 둥근 모서리 371">
            <a:extLst>
              <a:ext uri="{FF2B5EF4-FFF2-40B4-BE49-F238E27FC236}">
                <a16:creationId xmlns:a16="http://schemas.microsoft.com/office/drawing/2014/main" id="{BBC9E7B4-378B-41BF-869F-30BF7922CD55}"/>
              </a:ext>
            </a:extLst>
          </p:cNvPr>
          <p:cNvSpPr/>
          <p:nvPr/>
        </p:nvSpPr>
        <p:spPr>
          <a:xfrm>
            <a:off x="6384410" y="1194870"/>
            <a:ext cx="5749328" cy="536141"/>
          </a:xfrm>
          <a:prstGeom prst="roundRect">
            <a:avLst>
              <a:gd name="adj" fmla="val 26807"/>
            </a:avLst>
          </a:prstGeom>
          <a:solidFill>
            <a:srgbClr val="E9F2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3. </a:t>
            </a:r>
            <a:r>
              <a:rPr lang="ko-KR" altLang="en-US" sz="14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및 통합 분석</a:t>
            </a:r>
          </a:p>
        </p:txBody>
      </p:sp>
      <p:sp>
        <p:nvSpPr>
          <p:cNvPr id="375" name="사각형: 둥근 모서리 374">
            <a:extLst>
              <a:ext uri="{FF2B5EF4-FFF2-40B4-BE49-F238E27FC236}">
                <a16:creationId xmlns:a16="http://schemas.microsoft.com/office/drawing/2014/main" id="{3117B53C-835A-43AA-A2E2-5C233CA202C0}"/>
              </a:ext>
            </a:extLst>
          </p:cNvPr>
          <p:cNvSpPr/>
          <p:nvPr/>
        </p:nvSpPr>
        <p:spPr>
          <a:xfrm>
            <a:off x="8920381" y="1812480"/>
            <a:ext cx="1335759" cy="2287067"/>
          </a:xfrm>
          <a:prstGeom prst="roundRect">
            <a:avLst>
              <a:gd name="adj" fmla="val 3538"/>
            </a:avLst>
          </a:prstGeom>
          <a:noFill/>
          <a:ln w="12700"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6" name="사각형: 둥근 모서리 375">
            <a:extLst>
              <a:ext uri="{FF2B5EF4-FFF2-40B4-BE49-F238E27FC236}">
                <a16:creationId xmlns:a16="http://schemas.microsoft.com/office/drawing/2014/main" id="{7C62B17C-BFCD-457D-B53D-6CBE13ABA6F0}"/>
              </a:ext>
            </a:extLst>
          </p:cNvPr>
          <p:cNvSpPr/>
          <p:nvPr/>
        </p:nvSpPr>
        <p:spPr>
          <a:xfrm>
            <a:off x="8929617" y="1826843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F0F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</a:t>
            </a:r>
          </a:p>
        </p:txBody>
      </p:sp>
      <p:sp>
        <p:nvSpPr>
          <p:cNvPr id="377" name="사각형: 둥근 모서리 376">
            <a:extLst>
              <a:ext uri="{FF2B5EF4-FFF2-40B4-BE49-F238E27FC236}">
                <a16:creationId xmlns:a16="http://schemas.microsoft.com/office/drawing/2014/main" id="{B8DE5737-CC8D-4334-964E-014AA5214237}"/>
              </a:ext>
            </a:extLst>
          </p:cNvPr>
          <p:cNvSpPr/>
          <p:nvPr/>
        </p:nvSpPr>
        <p:spPr>
          <a:xfrm>
            <a:off x="6465639" y="3007067"/>
            <a:ext cx="1335759" cy="1523140"/>
          </a:xfrm>
          <a:prstGeom prst="roundRect">
            <a:avLst>
              <a:gd name="adj" fmla="val 3538"/>
            </a:avLst>
          </a:prstGeom>
          <a:noFill/>
          <a:ln w="12700"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8" name="사각형: 둥근 모서리 377">
            <a:extLst>
              <a:ext uri="{FF2B5EF4-FFF2-40B4-BE49-F238E27FC236}">
                <a16:creationId xmlns:a16="http://schemas.microsoft.com/office/drawing/2014/main" id="{07039F99-5AD4-4F04-A6F2-4B3E3F1294BE}"/>
              </a:ext>
            </a:extLst>
          </p:cNvPr>
          <p:cNvSpPr/>
          <p:nvPr/>
        </p:nvSpPr>
        <p:spPr>
          <a:xfrm>
            <a:off x="6474875" y="3022622"/>
            <a:ext cx="1316320" cy="312751"/>
          </a:xfrm>
          <a:prstGeom prst="roundRect">
            <a:avLst>
              <a:gd name="adj" fmla="val 26807"/>
            </a:avLst>
          </a:prstGeom>
          <a:solidFill>
            <a:srgbClr val="F0F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9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에이전트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98559564-29FF-4BFD-BEA3-4D8179980D84}"/>
              </a:ext>
            </a:extLst>
          </p:cNvPr>
          <p:cNvSpPr txBox="1"/>
          <p:nvPr/>
        </p:nvSpPr>
        <p:spPr>
          <a:xfrm>
            <a:off x="8907726" y="2675399"/>
            <a:ext cx="13767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r>
              <a:rPr lang="en-US" altLang="ko-KR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추천</a:t>
            </a:r>
            <a:endParaRPr lang="en-US" altLang="ko-KR" sz="7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1F6C9D5A-76C8-4B86-A4C5-9DB33B7D7791}"/>
              </a:ext>
            </a:extLst>
          </p:cNvPr>
          <p:cNvSpPr txBox="1"/>
          <p:nvPr/>
        </p:nvSpPr>
        <p:spPr>
          <a:xfrm>
            <a:off x="6414425" y="4192466"/>
            <a:ext cx="14741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입력 가게 분석</a:t>
            </a:r>
            <a:endParaRPr lang="en-US" altLang="ko-KR" sz="7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7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</a:t>
            </a:r>
            <a:r>
              <a:rPr lang="en-US" altLang="ko-KR" sz="7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7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도출</a:t>
            </a:r>
            <a:r>
              <a:rPr lang="en-US" altLang="ko-KR" sz="7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(0-100)</a:t>
            </a:r>
          </a:p>
        </p:txBody>
      </p:sp>
      <p:cxnSp>
        <p:nvCxnSpPr>
          <p:cNvPr id="391" name="직선 화살표 연결선 390">
            <a:extLst>
              <a:ext uri="{FF2B5EF4-FFF2-40B4-BE49-F238E27FC236}">
                <a16:creationId xmlns:a16="http://schemas.microsoft.com/office/drawing/2014/main" id="{C08481FA-F5C4-4943-AF5F-3D358E02D3E0}"/>
              </a:ext>
            </a:extLst>
          </p:cNvPr>
          <p:cNvCxnSpPr>
            <a:cxnSpLocks/>
          </p:cNvCxnSpPr>
          <p:nvPr/>
        </p:nvCxnSpPr>
        <p:spPr>
          <a:xfrm flipV="1">
            <a:off x="1298617" y="3677668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02" name="그림 401">
            <a:extLst>
              <a:ext uri="{FF2B5EF4-FFF2-40B4-BE49-F238E27FC236}">
                <a16:creationId xmlns:a16="http://schemas.microsoft.com/office/drawing/2014/main" id="{D0B98AEB-854B-45C2-B07E-1AF08B9A4806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454541" y="4509875"/>
            <a:ext cx="521389" cy="618939"/>
          </a:xfrm>
          <a:prstGeom prst="rect">
            <a:avLst/>
          </a:prstGeom>
        </p:spPr>
      </p:pic>
      <p:pic>
        <p:nvPicPr>
          <p:cNvPr id="404" name="그림 403">
            <a:extLst>
              <a:ext uri="{FF2B5EF4-FFF2-40B4-BE49-F238E27FC236}">
                <a16:creationId xmlns:a16="http://schemas.microsoft.com/office/drawing/2014/main" id="{67120022-3B62-4537-908A-4C35328342AE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5458387" y="3224903"/>
            <a:ext cx="518854" cy="626668"/>
          </a:xfrm>
          <a:prstGeom prst="rect">
            <a:avLst/>
          </a:prstGeom>
        </p:spPr>
      </p:pic>
      <p:pic>
        <p:nvPicPr>
          <p:cNvPr id="406" name="그림 405">
            <a:extLst>
              <a:ext uri="{FF2B5EF4-FFF2-40B4-BE49-F238E27FC236}">
                <a16:creationId xmlns:a16="http://schemas.microsoft.com/office/drawing/2014/main" id="{9B4A4F33-0C57-47A1-873F-028AC7C5319F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475154" y="1996418"/>
            <a:ext cx="500776" cy="618408"/>
          </a:xfrm>
          <a:prstGeom prst="rect">
            <a:avLst/>
          </a:prstGeom>
        </p:spPr>
      </p:pic>
      <p:pic>
        <p:nvPicPr>
          <p:cNvPr id="408" name="그림 407">
            <a:extLst>
              <a:ext uri="{FF2B5EF4-FFF2-40B4-BE49-F238E27FC236}">
                <a16:creationId xmlns:a16="http://schemas.microsoft.com/office/drawing/2014/main" id="{4260B7D5-DB3D-4E52-BD7E-7DEB7AA31C79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496279" y="3396142"/>
            <a:ext cx="1093397" cy="763642"/>
          </a:xfrm>
          <a:prstGeom prst="rect">
            <a:avLst/>
          </a:prstGeom>
        </p:spPr>
      </p:pic>
      <p:pic>
        <p:nvPicPr>
          <p:cNvPr id="416" name="그림 415">
            <a:extLst>
              <a:ext uri="{FF2B5EF4-FFF2-40B4-BE49-F238E27FC236}">
                <a16:creationId xmlns:a16="http://schemas.microsoft.com/office/drawing/2014/main" id="{AC78E7A2-48E9-4F67-BEF5-655B07C72411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967039" y="3523503"/>
            <a:ext cx="348142" cy="33253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51E5F02-132F-474A-AD04-0D9A264C7A43}"/>
              </a:ext>
            </a:extLst>
      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886831" y="3277402"/>
            <a:ext cx="264427" cy="264427"/>
          </a:xfrm>
          <a:prstGeom prst="rect">
            <a:avLst/>
          </a:prstGeom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64241CE3-71A7-49D5-AFF9-7388E04435FB}"/>
              </a:ext>
            </a:extLst>
          </p:cNvPr>
          <p:cNvSpPr txBox="1"/>
          <p:nvPr/>
        </p:nvSpPr>
        <p:spPr>
          <a:xfrm>
            <a:off x="8907726" y="3864989"/>
            <a:ext cx="148560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선택</a:t>
            </a:r>
            <a:r>
              <a:rPr lang="en-US" altLang="ko-KR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입력</a:t>
            </a:r>
            <a:r>
              <a:rPr lang="en-US" altLang="ko-KR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altLang="ko-KR" sz="7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725013E-ED10-4BC5-98FC-6810A7C80F4D}"/>
              </a:ext>
            </a:extLst>
          </p:cNvPr>
          <p:cNvSpPr/>
          <p:nvPr/>
        </p:nvSpPr>
        <p:spPr>
          <a:xfrm>
            <a:off x="9794515" y="3270923"/>
            <a:ext cx="393844" cy="594066"/>
          </a:xfrm>
          <a:prstGeom prst="rect">
            <a:avLst/>
          </a:prstGeom>
          <a:noFill/>
          <a:ln w="19050">
            <a:solidFill>
              <a:srgbClr val="F58B9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pic>
        <p:nvPicPr>
          <p:cNvPr id="170" name="그림 169">
            <a:extLst>
              <a:ext uri="{FF2B5EF4-FFF2-40B4-BE49-F238E27FC236}">
                <a16:creationId xmlns:a16="http://schemas.microsoft.com/office/drawing/2014/main" id="{0A0F25A5-C18E-4689-9891-0D652FF25197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8054607" y="2246350"/>
            <a:ext cx="530286" cy="5302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40B74E9-5565-441E-B21C-70BA1A6CBB3A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086328" y="3238765"/>
            <a:ext cx="503434" cy="663842"/>
          </a:xfrm>
          <a:prstGeom prst="rect">
            <a:avLst/>
          </a:prstGeom>
        </p:spPr>
      </p:pic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9A050DB8-C499-423C-9162-D19C720855CF}"/>
              </a:ext>
            </a:extLst>
          </p:cNvPr>
          <p:cNvCxnSpPr>
            <a:cxnSpLocks/>
          </p:cNvCxnSpPr>
          <p:nvPr/>
        </p:nvCxnSpPr>
        <p:spPr>
          <a:xfrm flipV="1">
            <a:off x="8327407" y="2998239"/>
            <a:ext cx="3259" cy="173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5" name="그림 3">
            <a:extLst>
              <a:ext uri="{FF2B5EF4-FFF2-40B4-BE49-F238E27FC236}">
                <a16:creationId xmlns:a16="http://schemas.microsoft.com/office/drawing/2014/main" id="{E100DA82-38EC-4C34-AB87-30636C52F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093" y="1836496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6" name="TextBox 175">
            <a:extLst>
              <a:ext uri="{FF2B5EF4-FFF2-40B4-BE49-F238E27FC236}">
                <a16:creationId xmlns:a16="http://schemas.microsoft.com/office/drawing/2014/main" id="{A7BB2E18-C572-45BE-8CBE-15B5F76C0AB4}"/>
              </a:ext>
            </a:extLst>
          </p:cNvPr>
          <p:cNvSpPr txBox="1"/>
          <p:nvPr/>
        </p:nvSpPr>
        <p:spPr>
          <a:xfrm>
            <a:off x="7836006" y="3905646"/>
            <a:ext cx="9941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F8122849-7D89-4794-A8BF-9534AA362E56}"/>
              </a:ext>
            </a:extLst>
          </p:cNvPr>
          <p:cNvSpPr txBox="1"/>
          <p:nvPr/>
        </p:nvSpPr>
        <p:spPr>
          <a:xfrm>
            <a:off x="7755028" y="2762311"/>
            <a:ext cx="11512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클러스터링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C5927F20-0B56-482A-A540-22B5ACF9F88F}"/>
              </a:ext>
            </a:extLst>
          </p:cNvPr>
          <p:cNvSpPr/>
          <p:nvPr/>
        </p:nvSpPr>
        <p:spPr>
          <a:xfrm>
            <a:off x="8439793" y="4650600"/>
            <a:ext cx="1335759" cy="1178069"/>
          </a:xfrm>
          <a:prstGeom prst="roundRect">
            <a:avLst>
              <a:gd name="adj" fmla="val 3538"/>
            </a:avLst>
          </a:prstGeom>
          <a:noFill/>
          <a:ln w="12700">
            <a:solidFill>
              <a:srgbClr val="19471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CBF0BA13-3637-4DCF-A908-2422F4C40DFD}"/>
              </a:ext>
            </a:extLst>
          </p:cNvPr>
          <p:cNvSpPr/>
          <p:nvPr/>
        </p:nvSpPr>
        <p:spPr>
          <a:xfrm>
            <a:off x="8449028" y="4666155"/>
            <a:ext cx="1326523" cy="312751"/>
          </a:xfrm>
          <a:prstGeom prst="roundRect">
            <a:avLst>
              <a:gd name="adj" fmla="val 26807"/>
            </a:avLst>
          </a:prstGeom>
          <a:solidFill>
            <a:srgbClr val="F0FE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분석 에이전트</a:t>
            </a:r>
            <a:endParaRPr lang="ko-KR" altLang="en-US" sz="9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05AD406-D643-44D2-9CD5-19FE3C10C8A7}"/>
              </a:ext>
            </a:extLst>
          </p:cNvPr>
          <p:cNvSpPr txBox="1"/>
          <p:nvPr/>
        </p:nvSpPr>
        <p:spPr>
          <a:xfrm>
            <a:off x="8412667" y="5520892"/>
            <a:ext cx="14741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700" b="1" dirty="0">
                <a:solidFill>
                  <a:schemeClr val="tx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최종 분석</a:t>
            </a:r>
            <a:endParaRPr lang="en-US" altLang="ko-KR" sz="7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7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솔루션 탐색</a:t>
            </a:r>
            <a:endParaRPr lang="en-US" altLang="ko-KR" sz="7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5" name="그림 184">
            <a:extLst>
              <a:ext uri="{FF2B5EF4-FFF2-40B4-BE49-F238E27FC236}">
                <a16:creationId xmlns:a16="http://schemas.microsoft.com/office/drawing/2014/main" id="{B8092C6C-C5E1-4E4F-86AC-59337ADEE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574" y="5081415"/>
            <a:ext cx="411929" cy="392499"/>
          </a:xfrm>
          <a:prstGeom prst="rect">
            <a:avLst/>
          </a:prstGeom>
        </p:spPr>
      </p:pic>
      <p:pic>
        <p:nvPicPr>
          <p:cNvPr id="186" name="그림 185">
            <a:extLst>
              <a:ext uri="{FF2B5EF4-FFF2-40B4-BE49-F238E27FC236}">
                <a16:creationId xmlns:a16="http://schemas.microsoft.com/office/drawing/2014/main" id="{F5647BA1-9AD1-40E1-816A-A8A3428A4E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714918" y="5044460"/>
            <a:ext cx="336535" cy="44376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EFF9AC5-91ED-426B-A64A-3EB5E1158212}"/>
              </a:ext>
            </a:extLst>
      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363876" y="2106743"/>
            <a:ext cx="581823" cy="581823"/>
          </a:xfrm>
          <a:prstGeom prst="rect">
            <a:avLst/>
          </a:prstGeom>
        </p:spPr>
      </p:pic>
      <p:sp>
        <p:nvSpPr>
          <p:cNvPr id="188" name="TextBox 187">
            <a:extLst>
              <a:ext uri="{FF2B5EF4-FFF2-40B4-BE49-F238E27FC236}">
                <a16:creationId xmlns:a16="http://schemas.microsoft.com/office/drawing/2014/main" id="{81791E2B-5671-4B3E-B7EC-5798F0E60FCE}"/>
              </a:ext>
            </a:extLst>
          </p:cNvPr>
          <p:cNvSpPr txBox="1"/>
          <p:nvPr/>
        </p:nvSpPr>
        <p:spPr>
          <a:xfrm>
            <a:off x="10263596" y="2760755"/>
            <a:ext cx="1125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311C5EC-E6FB-48A5-9604-AAE4A7F5FB48}"/>
              </a:ext>
            </a:extLst>
          </p:cNvPr>
          <p:cNvCxnSpPr>
            <a:cxnSpLocks/>
          </p:cNvCxnSpPr>
          <p:nvPr/>
        </p:nvCxnSpPr>
        <p:spPr>
          <a:xfrm flipH="1">
            <a:off x="9963077" y="2473342"/>
            <a:ext cx="48393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2F252F1D-317D-4808-89D9-3F19453D167B}"/>
              </a:ext>
            </a:extLst>
          </p:cNvPr>
          <p:cNvCxnSpPr>
            <a:cxnSpLocks/>
          </p:cNvCxnSpPr>
          <p:nvPr/>
        </p:nvCxnSpPr>
        <p:spPr>
          <a:xfrm flipV="1">
            <a:off x="8705434" y="2511443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E6A719FB-2B83-4DBA-8E29-64750D681265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552467" y="2234598"/>
            <a:ext cx="536141" cy="536141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10463DE-1FC9-4CF2-AE0B-1983B2CC25C5}"/>
              </a:ext>
            </a:extLst>
      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753808" y="3429811"/>
            <a:ext cx="1107195" cy="770741"/>
          </a:xfrm>
          <a:prstGeom prst="rect">
            <a:avLst/>
          </a:prstGeom>
        </p:spPr>
      </p:pic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6592D664-AE74-418F-99DA-67235D7EB69A}"/>
              </a:ext>
            </a:extLst>
          </p:cNvPr>
          <p:cNvCxnSpPr>
            <a:cxnSpLocks/>
          </p:cNvCxnSpPr>
          <p:nvPr/>
        </p:nvCxnSpPr>
        <p:spPr>
          <a:xfrm flipV="1">
            <a:off x="2508096" y="3677668"/>
            <a:ext cx="20463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CAD2F2E-8383-47C3-BB95-7AA599DB0BD1}"/>
              </a:ext>
            </a:extLst>
          </p:cNvPr>
          <p:cNvCxnSpPr>
            <a:cxnSpLocks/>
          </p:cNvCxnSpPr>
          <p:nvPr/>
        </p:nvCxnSpPr>
        <p:spPr>
          <a:xfrm>
            <a:off x="5233261" y="2400591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37C901F2-779D-45AE-9EF4-4116B4B64D02}"/>
              </a:ext>
            </a:extLst>
          </p:cNvPr>
          <p:cNvCxnSpPr>
            <a:cxnSpLocks/>
          </p:cNvCxnSpPr>
          <p:nvPr/>
        </p:nvCxnSpPr>
        <p:spPr>
          <a:xfrm>
            <a:off x="5233261" y="4965608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1" name="직선 화살표 연결선 200">
            <a:extLst>
              <a:ext uri="{FF2B5EF4-FFF2-40B4-BE49-F238E27FC236}">
                <a16:creationId xmlns:a16="http://schemas.microsoft.com/office/drawing/2014/main" id="{747D8F94-2506-439C-A6DF-73A249A6CD69}"/>
              </a:ext>
            </a:extLst>
          </p:cNvPr>
          <p:cNvCxnSpPr>
            <a:cxnSpLocks/>
          </p:cNvCxnSpPr>
          <p:nvPr/>
        </p:nvCxnSpPr>
        <p:spPr>
          <a:xfrm>
            <a:off x="7880583" y="3675250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0391A8C0-E947-4CDE-8D3E-7535B55B55B6}"/>
              </a:ext>
            </a:extLst>
          </p:cNvPr>
          <p:cNvCxnSpPr>
            <a:cxnSpLocks/>
          </p:cNvCxnSpPr>
          <p:nvPr/>
        </p:nvCxnSpPr>
        <p:spPr>
          <a:xfrm>
            <a:off x="8672376" y="3675250"/>
            <a:ext cx="143374" cy="2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" name="Google Shape;93;p36">
            <a:extLst>
              <a:ext uri="{FF2B5EF4-FFF2-40B4-BE49-F238E27FC236}">
                <a16:creationId xmlns:a16="http://schemas.microsoft.com/office/drawing/2014/main" id="{7F9AAA5C-EC26-43D1-AF16-4F70BAF83CBC}"/>
              </a:ext>
            </a:extLst>
          </p:cNvPr>
          <p:cNvSpPr/>
          <p:nvPr/>
        </p:nvSpPr>
        <p:spPr>
          <a:xfrm rot="10800000">
            <a:off x="7821042" y="4124352"/>
            <a:ext cx="2572291" cy="511000"/>
          </a:xfrm>
          <a:custGeom>
            <a:avLst/>
            <a:gdLst/>
            <a:ahLst/>
            <a:cxnLst/>
            <a:rect l="l" t="t" r="r" b="b"/>
            <a:pathLst>
              <a:path w="3429000" h="771525" extrusionOk="0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26549">
                <a:srgbClr val="4F81BD">
                  <a:alpha val="33725"/>
                </a:srgbClr>
              </a:gs>
              <a:gs pos="50000">
                <a:srgbClr val="4F81BD">
                  <a:alpha val="49803"/>
                </a:srgbClr>
              </a:gs>
              <a:gs pos="76106">
                <a:srgbClr val="4F81BD">
                  <a:alpha val="80000"/>
                </a:srgbClr>
              </a:gs>
              <a:gs pos="89381">
                <a:schemeClr val="accent1"/>
              </a:gs>
              <a:gs pos="100000">
                <a:schemeClr val="accent1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DC7826FF-112E-4B09-A58A-62590BE4561E}"/>
              </a:ext>
            </a:extLst>
          </p:cNvPr>
          <p:cNvCxnSpPr>
            <a:cxnSpLocks/>
          </p:cNvCxnSpPr>
          <p:nvPr/>
        </p:nvCxnSpPr>
        <p:spPr>
          <a:xfrm>
            <a:off x="9587777" y="3003439"/>
            <a:ext cx="0" cy="2327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C39C749A-05EC-451E-910C-24570E8BC6B9}"/>
              </a:ext>
            </a:extLst>
          </p:cNvPr>
          <p:cNvSpPr txBox="1"/>
          <p:nvPr/>
        </p:nvSpPr>
        <p:spPr>
          <a:xfrm>
            <a:off x="10718550" y="4159621"/>
            <a:ext cx="13195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</a:t>
            </a:r>
            <a:r>
              <a:rPr lang="ko-KR" altLang="en-US" sz="12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솔루션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84E93C8B-933C-4526-B8FF-F210B0F56A2C}"/>
              </a:ext>
            </a:extLst>
          </p:cNvPr>
          <p:cNvCxnSpPr>
            <a:cxnSpLocks/>
          </p:cNvCxnSpPr>
          <p:nvPr/>
        </p:nvCxnSpPr>
        <p:spPr>
          <a:xfrm flipV="1">
            <a:off x="9930066" y="3791792"/>
            <a:ext cx="685278" cy="1458107"/>
          </a:xfrm>
          <a:prstGeom prst="bentConnector3">
            <a:avLst>
              <a:gd name="adj1" fmla="val 6945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0577DF5B-0439-4615-B318-7CD168E1A68D}"/>
              </a:ext>
            </a:extLst>
          </p:cNvPr>
          <p:cNvSpPr txBox="1"/>
          <p:nvPr/>
        </p:nvSpPr>
        <p:spPr>
          <a:xfrm>
            <a:off x="7167315" y="5632854"/>
            <a:ext cx="1125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재정의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DB</a:t>
            </a:r>
            <a:endParaRPr lang="ko-KR" altLang="en-US" sz="12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19" name="그림 218">
            <a:extLst>
              <a:ext uri="{FF2B5EF4-FFF2-40B4-BE49-F238E27FC236}">
                <a16:creationId xmlns:a16="http://schemas.microsoft.com/office/drawing/2014/main" id="{DB0A5373-36D1-413F-A6DF-93508BEC7BBC}"/>
              </a:ext>
            </a:extLst>
      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7465472" y="5070209"/>
            <a:ext cx="536141" cy="536141"/>
          </a:xfrm>
          <a:prstGeom prst="rect">
            <a:avLst/>
          </a:prstGeom>
        </p:spPr>
      </p:pic>
      <p:cxnSp>
        <p:nvCxnSpPr>
          <p:cNvPr id="221" name="직선 화살표 연결선 220">
            <a:extLst>
              <a:ext uri="{FF2B5EF4-FFF2-40B4-BE49-F238E27FC236}">
                <a16:creationId xmlns:a16="http://schemas.microsoft.com/office/drawing/2014/main" id="{9FFBD2C7-DF15-4AB9-8123-564D041FA468}"/>
              </a:ext>
            </a:extLst>
          </p:cNvPr>
          <p:cNvCxnSpPr>
            <a:cxnSpLocks/>
          </p:cNvCxnSpPr>
          <p:nvPr/>
        </p:nvCxnSpPr>
        <p:spPr>
          <a:xfrm flipV="1">
            <a:off x="9985759" y="2562801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DD79F63D-EDDC-49EE-B7DE-264B1EB98BD6}"/>
              </a:ext>
            </a:extLst>
          </p:cNvPr>
          <p:cNvCxnSpPr>
            <a:cxnSpLocks/>
          </p:cNvCxnSpPr>
          <p:nvPr/>
        </p:nvCxnSpPr>
        <p:spPr>
          <a:xfrm flipH="1">
            <a:off x="8097518" y="5309528"/>
            <a:ext cx="483935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직선 화살표 연결선 222">
            <a:extLst>
              <a:ext uri="{FF2B5EF4-FFF2-40B4-BE49-F238E27FC236}">
                <a16:creationId xmlns:a16="http://schemas.microsoft.com/office/drawing/2014/main" id="{680C8A6E-8A74-400A-A754-9ADD0C4AA6FA}"/>
              </a:ext>
            </a:extLst>
          </p:cNvPr>
          <p:cNvCxnSpPr>
            <a:cxnSpLocks/>
          </p:cNvCxnSpPr>
          <p:nvPr/>
        </p:nvCxnSpPr>
        <p:spPr>
          <a:xfrm flipV="1">
            <a:off x="8120200" y="5398987"/>
            <a:ext cx="469174" cy="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4" name="그림 3">
            <a:extLst>
              <a:ext uri="{FF2B5EF4-FFF2-40B4-BE49-F238E27FC236}">
                <a16:creationId xmlns:a16="http://schemas.microsoft.com/office/drawing/2014/main" id="{850318B7-6D2B-49BC-95FF-85A9A57CE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2198" y="1836496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6" name="그림 3">
            <a:extLst>
              <a:ext uri="{FF2B5EF4-FFF2-40B4-BE49-F238E27FC236}">
                <a16:creationId xmlns:a16="http://schemas.microsoft.com/office/drawing/2014/main" id="{F4C7A1E6-8B6E-4D0B-92A9-7CBE2F4F1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885" y="4694849"/>
            <a:ext cx="347313" cy="346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EECFFA3F-D33E-492A-9BE1-6DF7C039C5A0}"/>
              </a:ext>
            </a:extLst>
      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307405" y="3181593"/>
            <a:ext cx="347313" cy="347313"/>
          </a:xfrm>
          <a:prstGeom prst="rect">
            <a:avLst/>
          </a:prstGeom>
        </p:spPr>
      </p:pic>
      <p:sp>
        <p:nvSpPr>
          <p:cNvPr id="162" name="TextBox 5">
            <a:extLst>
              <a:ext uri="{FF2B5EF4-FFF2-40B4-BE49-F238E27FC236}">
                <a16:creationId xmlns:a16="http://schemas.microsoft.com/office/drawing/2014/main" id="{841AAD27-628A-4E5C-9FF6-0B21AEE2F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4" y="612943"/>
            <a:ext cx="3375025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서비스 전체 흐름 도식화</a:t>
            </a:r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041F0B24-CE6D-46D3-B6F9-E687B2AFCD07}"/>
              </a:ext>
            </a:extLst>
          </p:cNvPr>
          <p:cNvSpPr/>
          <p:nvPr/>
        </p:nvSpPr>
        <p:spPr>
          <a:xfrm>
            <a:off x="-93627" y="6457258"/>
            <a:ext cx="11197285" cy="269590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200" b="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상권더하기의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분석 파이프라인은 세 단계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(Phase)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구성된다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1: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 입력에 맞춰  데이터를 검색하여 매장 맞춤 지표를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포맷으로 융합한다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2: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LLM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멀티에이전트 시스템이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융합 데이터 파일을 다각도로 심층 분석하여 보고서를 작성한다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3: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크게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방식으로 동작한다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228600" indent="-228600">
              <a:buAutoNum type="arabicPeriod"/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Phase 2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보고서를 토대로 사용자 매장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보고서를 도출한다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(0-100)</a:t>
            </a:r>
          </a:p>
          <a:p>
            <a:pPr marL="228600" indent="-228600">
              <a:buAutoNum type="arabicPeriod"/>
              <a:defRPr/>
            </a:pP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BMTI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토대로 상권 클러스터링을 수행하고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 에이전트를 이용하여 상권 브랜딩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TOP-3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출력한다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사용자는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TOP-3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브랜딩 중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개를 선택한다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marL="228600" indent="-228600">
              <a:buAutoNum type="arabicPeriod"/>
              <a:defRPr/>
            </a:pP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사용자가 선택한 상권 브랜딩과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MBTI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보고서를 토대로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최종 분석을 통해 상권 브랜딩 솔루션을 탐색하여 출력한다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6A12B-DB75-433C-86B9-226739DF8D6A}"/>
              </a:ext>
            </a:extLst>
          </p:cNvPr>
          <p:cNvSpPr txBox="1"/>
          <p:nvPr/>
        </p:nvSpPr>
        <p:spPr>
          <a:xfrm>
            <a:off x="6916461" y="4022474"/>
            <a:ext cx="193964" cy="154145"/>
          </a:xfrm>
          <a:prstGeom prst="rect">
            <a:avLst/>
          </a:prstGeom>
          <a:solidFill>
            <a:srgbClr val="FFFFFF"/>
          </a:solidFill>
          <a:ln w="9525" algn="ctr">
            <a:noFill/>
            <a:miter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S/M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AAE3E07-844F-462D-A51F-BDB6B8396212}"/>
              </a:ext>
            </a:extLst>
          </p:cNvPr>
          <p:cNvSpPr txBox="1"/>
          <p:nvPr/>
        </p:nvSpPr>
        <p:spPr>
          <a:xfrm>
            <a:off x="6551483" y="4022474"/>
            <a:ext cx="160300" cy="154145"/>
          </a:xfrm>
          <a:prstGeom prst="rect">
            <a:avLst/>
          </a:prstGeom>
          <a:solidFill>
            <a:srgbClr val="FFFFFF"/>
          </a:solidFill>
          <a:ln w="9525" algn="ctr">
            <a:noFill/>
            <a:miter/>
          </a:ln>
          <a:effectLst/>
        </p:spPr>
        <p:txBody>
          <a:bodyPr wrap="none" lIns="0" tIns="0" rIns="0" bIns="0" rtlCol="0" anchor="ctr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T/L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D1602369-4A38-4999-A9BF-41291284FFD5}"/>
              </a:ext>
            </a:extLst>
          </p:cNvPr>
          <p:cNvSpPr txBox="1"/>
          <p:nvPr/>
        </p:nvSpPr>
        <p:spPr>
          <a:xfrm>
            <a:off x="6551483" y="3387477"/>
            <a:ext cx="219493" cy="154145"/>
          </a:xfrm>
          <a:prstGeom prst="rect">
            <a:avLst/>
          </a:prstGeom>
          <a:solidFill>
            <a:srgbClr val="FFFFFF"/>
          </a:solidFill>
          <a:ln w="9525" algn="ctr">
            <a:noFill/>
            <a:miter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D/N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19E3964-808B-4912-8D39-E25A5EE9FBD8}"/>
              </a:ext>
            </a:extLst>
          </p:cNvPr>
          <p:cNvSpPr txBox="1"/>
          <p:nvPr/>
        </p:nvSpPr>
        <p:spPr>
          <a:xfrm>
            <a:off x="6930817" y="3387477"/>
            <a:ext cx="219493" cy="154145"/>
          </a:xfrm>
          <a:prstGeom prst="rect">
            <a:avLst/>
          </a:prstGeom>
          <a:solidFill>
            <a:srgbClr val="FFFFFF"/>
          </a:solidFill>
          <a:ln w="9525" algn="ctr">
            <a:noFill/>
            <a:miter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U/F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E8503A5-8F07-4B12-861B-2028474742DA}"/>
              </a:ext>
            </a:extLst>
          </p:cNvPr>
          <p:cNvSpPr txBox="1"/>
          <p:nvPr/>
        </p:nvSpPr>
        <p:spPr>
          <a:xfrm>
            <a:off x="8141922" y="3372615"/>
            <a:ext cx="376885" cy="154145"/>
          </a:xfrm>
          <a:prstGeom prst="rect">
            <a:avLst/>
          </a:prstGeom>
          <a:solidFill>
            <a:srgbClr val="FAF5E3"/>
          </a:solidFill>
          <a:ln w="9525" algn="ctr">
            <a:noFill/>
            <a:miter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en-US" altLang="ko-KR" sz="8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DUTM</a:t>
            </a:r>
            <a:endParaRPr lang="ko-KR" alt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7FAA030-F243-4CE8-A0E2-229B5C050D7F}"/>
              </a:ext>
            </a:extLst>
          </p:cNvPr>
          <p:cNvSpPr txBox="1"/>
          <p:nvPr/>
        </p:nvSpPr>
        <p:spPr>
          <a:xfrm>
            <a:off x="8743359" y="5140161"/>
            <a:ext cx="267940" cy="96308"/>
          </a:xfrm>
          <a:prstGeom prst="rect">
            <a:avLst/>
          </a:prstGeom>
          <a:solidFill>
            <a:srgbClr val="FAF5E3"/>
          </a:solidFill>
          <a:ln w="9525" algn="ctr">
            <a:noFill/>
            <a:miter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en-US" altLang="ko-KR" sz="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DUTM</a:t>
            </a:r>
            <a:endParaRPr lang="ko-KR" altLang="en-US" sz="5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BC50CDED-48C9-45D5-B738-EE8F1FBD927B}"/>
              </a:ext>
            </a:extLst>
          </p:cNvPr>
          <p:cNvSpPr txBox="1"/>
          <p:nvPr/>
        </p:nvSpPr>
        <p:spPr>
          <a:xfrm>
            <a:off x="11019511" y="3697504"/>
            <a:ext cx="376885" cy="115609"/>
          </a:xfrm>
          <a:prstGeom prst="rect">
            <a:avLst/>
          </a:prstGeom>
          <a:solidFill>
            <a:srgbClr val="FAF5E3"/>
          </a:solidFill>
          <a:ln w="9525" algn="ctr">
            <a:noFill/>
            <a:miter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algn="l" latinLnBrk="0">
              <a:lnSpc>
                <a:spcPct val="140000"/>
              </a:lnSpc>
            </a:pPr>
            <a:r>
              <a:rPr lang="en-US" altLang="ko-KR" sz="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DUTM</a:t>
            </a:r>
            <a:endParaRPr lang="ko-KR" altLang="en-US" sz="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8373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그림 4">
            <a:extLst>
              <a:ext uri="{FF2B5EF4-FFF2-40B4-BE49-F238E27FC236}">
                <a16:creationId xmlns:a16="http://schemas.microsoft.com/office/drawing/2014/main" id="{736A105E-43BF-4D4F-8437-AB885F943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2660650"/>
            <a:ext cx="61595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Box 5">
            <a:extLst>
              <a:ext uri="{FF2B5EF4-FFF2-40B4-BE49-F238E27FC236}">
                <a16:creationId xmlns:a16="http://schemas.microsoft.com/office/drawing/2014/main" id="{77C8C9BD-ADEF-4F90-8B81-CE4A25B85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443288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Phase 1.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사용자 기반 데이터 융합</a:t>
            </a:r>
          </a:p>
        </p:txBody>
      </p:sp>
      <p:sp>
        <p:nvSpPr>
          <p:cNvPr id="26631" name="TextBox 12">
            <a:extLst>
              <a:ext uri="{FF2B5EF4-FFF2-40B4-BE49-F238E27FC236}">
                <a16:creationId xmlns:a16="http://schemas.microsoft.com/office/drawing/2014/main" id="{D38E23F1-3147-4887-A2CE-C76BF43E4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3276600"/>
            <a:ext cx="18891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사용자 데이터 입력</a:t>
            </a:r>
          </a:p>
        </p:txBody>
      </p:sp>
      <p:sp>
        <p:nvSpPr>
          <p:cNvPr id="26632" name="TextBox 13">
            <a:extLst>
              <a:ext uri="{FF2B5EF4-FFF2-40B4-BE49-F238E27FC236}">
                <a16:creationId xmlns:a16="http://schemas.microsoft.com/office/drawing/2014/main" id="{C6144814-7267-40CF-A32C-CF00A409F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25" y="3743325"/>
            <a:ext cx="1330325" cy="175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상호명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운영 요일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오픈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마감시간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시그니쳐 상품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고민 사항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주고객 연령층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성별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33" name="화살표: 오른쪽 14">
            <a:extLst>
              <a:ext uri="{FF2B5EF4-FFF2-40B4-BE49-F238E27FC236}">
                <a16:creationId xmlns:a16="http://schemas.microsoft.com/office/drawing/2014/main" id="{3904A5DB-659F-4DDE-B8C0-CE0AD8079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3743325"/>
            <a:ext cx="836612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pic>
        <p:nvPicPr>
          <p:cNvPr id="26634" name="그림 20">
            <a:extLst>
              <a:ext uri="{FF2B5EF4-FFF2-40B4-BE49-F238E27FC236}">
                <a16:creationId xmlns:a16="http://schemas.microsoft.com/office/drawing/2014/main" id="{BD83B92A-C3B5-4F6B-8559-D099CDF5E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3619500"/>
            <a:ext cx="5318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5" name="그림 22">
            <a:extLst>
              <a:ext uri="{FF2B5EF4-FFF2-40B4-BE49-F238E27FC236}">
                <a16:creationId xmlns:a16="http://schemas.microsoft.com/office/drawing/2014/main" id="{AA5E81B1-0834-40DC-B2A6-035246D20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4246563"/>
            <a:ext cx="5588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6" name="TextBox 23">
            <a:extLst>
              <a:ext uri="{FF2B5EF4-FFF2-40B4-BE49-F238E27FC236}">
                <a16:creationId xmlns:a16="http://schemas.microsoft.com/office/drawing/2014/main" id="{3F59141E-0BCF-48BF-BDD0-89C6372DD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186113"/>
            <a:ext cx="2389187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사용자 맞춤 데이터 검색</a:t>
            </a:r>
          </a:p>
        </p:txBody>
      </p:sp>
      <p:pic>
        <p:nvPicPr>
          <p:cNvPr id="26637" name="그림 24">
            <a:extLst>
              <a:ext uri="{FF2B5EF4-FFF2-40B4-BE49-F238E27FC236}">
                <a16:creationId xmlns:a16="http://schemas.microsoft.com/office/drawing/2014/main" id="{A2C1F10A-707F-4DD5-A324-732A7E2D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4754563"/>
            <a:ext cx="5588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8" name="그림 25">
            <a:extLst>
              <a:ext uri="{FF2B5EF4-FFF2-40B4-BE49-F238E27FC236}">
                <a16:creationId xmlns:a16="http://schemas.microsoft.com/office/drawing/2014/main" id="{1C0CE500-BEA7-4583-9F51-90684553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5264150"/>
            <a:ext cx="5588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9" name="TextBox 26">
            <a:extLst>
              <a:ext uri="{FF2B5EF4-FFF2-40B4-BE49-F238E27FC236}">
                <a16:creationId xmlns:a16="http://schemas.microsoft.com/office/drawing/2014/main" id="{7ECF8912-6BD3-4A9C-B5AE-20265AB4F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3783013"/>
            <a:ext cx="9842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카카오 지도 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API</a:t>
            </a:r>
          </a:p>
        </p:txBody>
      </p:sp>
      <p:sp>
        <p:nvSpPr>
          <p:cNvPr id="26640" name="TextBox 27">
            <a:extLst>
              <a:ext uri="{FF2B5EF4-FFF2-40B4-BE49-F238E27FC236}">
                <a16:creationId xmlns:a16="http://schemas.microsoft.com/office/drawing/2014/main" id="{C78C7CB9-2819-43F2-8911-120F0EBBE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4330700"/>
            <a:ext cx="185737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유동인구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1" name="TextBox 28">
            <a:extLst>
              <a:ext uri="{FF2B5EF4-FFF2-40B4-BE49-F238E27FC236}">
                <a16:creationId xmlns:a16="http://schemas.microsoft.com/office/drawing/2014/main" id="{1D634CF8-49F6-4498-8E20-D58D02D80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4829175"/>
            <a:ext cx="206057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점포 수 변화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2" name="TextBox 29">
            <a:extLst>
              <a:ext uri="{FF2B5EF4-FFF2-40B4-BE49-F238E27FC236}">
                <a16:creationId xmlns:a16="http://schemas.microsoft.com/office/drawing/2014/main" id="{A6BDCC6F-32E3-425B-986D-8C4EA2879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5380038"/>
            <a:ext cx="189230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행정동 추정 매출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26643" name="그림 30">
            <a:extLst>
              <a:ext uri="{FF2B5EF4-FFF2-40B4-BE49-F238E27FC236}">
                <a16:creationId xmlns:a16="http://schemas.microsoft.com/office/drawing/2014/main" id="{17DB401D-76D4-4E21-B976-5AEB27F0D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75" y="5702300"/>
            <a:ext cx="55880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44" name="TextBox 31">
            <a:extLst>
              <a:ext uri="{FF2B5EF4-FFF2-40B4-BE49-F238E27FC236}">
                <a16:creationId xmlns:a16="http://schemas.microsoft.com/office/drawing/2014/main" id="{0CE0BE6E-E395-4438-A790-B2489E3A4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650" y="5818188"/>
            <a:ext cx="200977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서울시 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1~9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호선 역사 좌표 데이터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6645" name="화살표: 오른쪽 32">
            <a:extLst>
              <a:ext uri="{FF2B5EF4-FFF2-40B4-BE49-F238E27FC236}">
                <a16:creationId xmlns:a16="http://schemas.microsoft.com/office/drawing/2014/main" id="{F80EBCF4-0A45-4325-BD2B-6794CB6BA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3743325"/>
            <a:ext cx="835025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6646" name="TextBox 37">
            <a:extLst>
              <a:ext uri="{FF2B5EF4-FFF2-40B4-BE49-F238E27FC236}">
                <a16:creationId xmlns:a16="http://schemas.microsoft.com/office/drawing/2014/main" id="{2E9DFF75-FC8F-42D3-BABC-19A174895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25" y="3276600"/>
            <a:ext cx="166687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타겟 데이터 출력</a:t>
            </a:r>
          </a:p>
        </p:txBody>
      </p:sp>
      <p:sp>
        <p:nvSpPr>
          <p:cNvPr id="26647" name="TextBox 38">
            <a:extLst>
              <a:ext uri="{FF2B5EF4-FFF2-40B4-BE49-F238E27FC236}">
                <a16:creationId xmlns:a16="http://schemas.microsoft.com/office/drawing/2014/main" id="{0522A145-7248-4888-83F4-4FE31A6A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9338" y="3854450"/>
            <a:ext cx="2413000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폐업률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프랜차이즈 점포 수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가장 가까운 역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역까지 거리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시간대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성별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연령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최저 매출 시간대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타겟 연령대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성별 유동인구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매출 순위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4" name="TextBox 5">
            <a:extLst>
              <a:ext uri="{FF2B5EF4-FFF2-40B4-BE49-F238E27FC236}">
                <a16:creationId xmlns:a16="http://schemas.microsoft.com/office/drawing/2014/main" id="{457CC647-EF85-4396-87ED-5C79D7C99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1027605-10A5-45E0-B16E-461671C0B796}"/>
              </a:ext>
            </a:extLst>
          </p:cNvPr>
          <p:cNvSpPr/>
          <p:nvPr/>
        </p:nvSpPr>
        <p:spPr>
          <a:xfrm>
            <a:off x="242914" y="5488148"/>
            <a:ext cx="2016728" cy="91899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14p. phase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 참고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4459D93-5028-4ACF-AAE1-8E5CBB4D3A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586487"/>
            <a:ext cx="2141816" cy="28179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그림 4">
            <a:extLst>
              <a:ext uri="{FF2B5EF4-FFF2-40B4-BE49-F238E27FC236}">
                <a16:creationId xmlns:a16="http://schemas.microsoft.com/office/drawing/2014/main" id="{4437B190-ECEC-47AE-8407-81080AC41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0013" y="2146300"/>
            <a:ext cx="61595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extBox 5">
            <a:extLst>
              <a:ext uri="{FF2B5EF4-FFF2-40B4-BE49-F238E27FC236}">
                <a16:creationId xmlns:a16="http://schemas.microsoft.com/office/drawing/2014/main" id="{5679DFD8-3FE9-4A7E-8978-732794BF1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25755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Phase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2.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 다면적 상권 심층 분석</a:t>
            </a:r>
          </a:p>
        </p:txBody>
      </p:sp>
      <p:sp>
        <p:nvSpPr>
          <p:cNvPr id="18439" name="TextBox 12">
            <a:extLst>
              <a:ext uri="{FF2B5EF4-FFF2-40B4-BE49-F238E27FC236}">
                <a16:creationId xmlns:a16="http://schemas.microsoft.com/office/drawing/2014/main" id="{C7E4017F-C72A-4773-82FC-EBF770F20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2762250"/>
            <a:ext cx="2617788" cy="38576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  <a:defRPr/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사용자 입력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+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타겟 데이터</a:t>
            </a:r>
          </a:p>
        </p:txBody>
      </p:sp>
      <p:sp>
        <p:nvSpPr>
          <p:cNvPr id="18440" name="TextBox 13">
            <a:extLst>
              <a:ext uri="{FF2B5EF4-FFF2-40B4-BE49-F238E27FC236}">
                <a16:creationId xmlns:a16="http://schemas.microsoft.com/office/drawing/2014/main" id="{32EDEC82-1108-4839-8AE8-84482E0BE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538" y="3130550"/>
            <a:ext cx="2413000" cy="3305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상호명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자치구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행정동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운영 요일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오픈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마감시간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시그니쳐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 상품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고민 사항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</a:rPr>
              <a:t>주고객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 연령층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성별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개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 err="1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폐업률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업종 카테고리 프랜차이즈 점포 수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가장 가까운 역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역까지 거리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시간대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유동인구 성별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연령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최저 매출 시간대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타겟 연령대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/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성별 유동인구</a:t>
            </a:r>
            <a:r>
              <a:rPr lang="en-US" altLang="ko-KR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매출 순위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57" name="화살표: 오른쪽 14">
            <a:extLst>
              <a:ext uri="{FF2B5EF4-FFF2-40B4-BE49-F238E27FC236}">
                <a16:creationId xmlns:a16="http://schemas.microsoft.com/office/drawing/2014/main" id="{1D76ADDF-8DE2-4E1B-B4BE-6F0CDE8B0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863" y="3743325"/>
            <a:ext cx="836612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7658" name="TextBox 23">
            <a:extLst>
              <a:ext uri="{FF2B5EF4-FFF2-40B4-BE49-F238E27FC236}">
                <a16:creationId xmlns:a16="http://schemas.microsoft.com/office/drawing/2014/main" id="{EA8D195D-C546-4F4B-996E-EF5CF35C3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150" y="2767013"/>
            <a:ext cx="38989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>
                <a:latin typeface="Pretendard" panose="02000503000000020004" pitchFamily="50" charset="-127"/>
                <a:ea typeface="Pretendard" panose="02000503000000020004" pitchFamily="50" charset="-127"/>
              </a:rPr>
              <a:t>LLM </a:t>
            </a:r>
            <a:r>
              <a:rPr lang="ko-KR" altLang="en-US" sz="2000">
                <a:latin typeface="Pretendard" panose="02000503000000020004" pitchFamily="50" charset="-127"/>
                <a:ea typeface="Pretendard" panose="02000503000000020004" pitchFamily="50" charset="-127"/>
              </a:rPr>
              <a:t>멀티에이전트 기반 상권 심층 분석</a:t>
            </a:r>
          </a:p>
        </p:txBody>
      </p:sp>
      <p:sp>
        <p:nvSpPr>
          <p:cNvPr id="27659" name="화살표: 오른쪽 32">
            <a:extLst>
              <a:ext uri="{FF2B5EF4-FFF2-40B4-BE49-F238E27FC236}">
                <a16:creationId xmlns:a16="http://schemas.microsoft.com/office/drawing/2014/main" id="{3B1B6D6B-AA75-4C33-9344-86096418B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3743325"/>
            <a:ext cx="835025" cy="101123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46FC263-66A2-4A25-B183-2C9AB3F6363D}"/>
              </a:ext>
            </a:extLst>
          </p:cNvPr>
          <p:cNvSpPr/>
          <p:nvPr/>
        </p:nvSpPr>
        <p:spPr>
          <a:xfrm>
            <a:off x="4643438" y="3635375"/>
            <a:ext cx="2033587" cy="449263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1" name="그림 42">
            <a:extLst>
              <a:ext uri="{FF2B5EF4-FFF2-40B4-BE49-F238E27FC236}">
                <a16:creationId xmlns:a16="http://schemas.microsoft.com/office/drawing/2014/main" id="{2DF5C889-73A5-4D26-A426-62D05BF5E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3668713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7391C34-5EB4-43E9-83FF-020563D4817B}"/>
              </a:ext>
            </a:extLst>
          </p:cNvPr>
          <p:cNvSpPr/>
          <p:nvPr/>
        </p:nvSpPr>
        <p:spPr>
          <a:xfrm>
            <a:off x="4643438" y="4178300"/>
            <a:ext cx="2033587" cy="449263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3" name="그림 44">
            <a:extLst>
              <a:ext uri="{FF2B5EF4-FFF2-40B4-BE49-F238E27FC236}">
                <a16:creationId xmlns:a16="http://schemas.microsoft.com/office/drawing/2014/main" id="{4228FD58-8331-487E-AEEA-BB4A55131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421322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4" name="TextBox 45">
            <a:extLst>
              <a:ext uri="{FF2B5EF4-FFF2-40B4-BE49-F238E27FC236}">
                <a16:creationId xmlns:a16="http://schemas.microsoft.com/office/drawing/2014/main" id="{416EDCD6-FE41-404F-9AD7-1E647F233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427513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경쟁환경 분석 에이전트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5B187A4-17BE-4AC6-99B9-80C9DC7EC62F}"/>
              </a:ext>
            </a:extLst>
          </p:cNvPr>
          <p:cNvSpPr/>
          <p:nvPr/>
        </p:nvSpPr>
        <p:spPr>
          <a:xfrm>
            <a:off x="4643438" y="4706938"/>
            <a:ext cx="2033587" cy="449262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7666" name="그림 47">
            <a:extLst>
              <a:ext uri="{FF2B5EF4-FFF2-40B4-BE49-F238E27FC236}">
                <a16:creationId xmlns:a16="http://schemas.microsoft.com/office/drawing/2014/main" id="{A5506E94-AC06-4DC8-95B7-A90BFFA38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988" y="474027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67" name="TextBox 48">
            <a:extLst>
              <a:ext uri="{FF2B5EF4-FFF2-40B4-BE49-F238E27FC236}">
                <a16:creationId xmlns:a16="http://schemas.microsoft.com/office/drawing/2014/main" id="{A2015238-124A-4533-8CB3-69BAEE7B3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480218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업종 추천 에이전트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68" name="TextBox 49">
            <a:extLst>
              <a:ext uri="{FF2B5EF4-FFF2-40B4-BE49-F238E27FC236}">
                <a16:creationId xmlns:a16="http://schemas.microsoft.com/office/drawing/2014/main" id="{50923C7B-8316-4DF3-9A66-A7C664CEB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8088" y="3730625"/>
            <a:ext cx="17129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분석 에이전트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69" name="TextBox 50">
            <a:extLst>
              <a:ext uri="{FF2B5EF4-FFF2-40B4-BE49-F238E27FC236}">
                <a16:creationId xmlns:a16="http://schemas.microsoft.com/office/drawing/2014/main" id="{2E1AEEF5-959B-43AC-9128-8F43D8417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5413" y="2767013"/>
            <a:ext cx="2168525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 분석 보고서 출력</a:t>
            </a:r>
          </a:p>
        </p:txBody>
      </p:sp>
      <p:pic>
        <p:nvPicPr>
          <p:cNvPr id="27670" name="그림 2">
            <a:extLst>
              <a:ext uri="{FF2B5EF4-FFF2-40B4-BE49-F238E27FC236}">
                <a16:creationId xmlns:a16="http://schemas.microsoft.com/office/drawing/2014/main" id="{940F748A-C334-40DA-8669-DB69AD006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35607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1" name="그림 51">
            <a:extLst>
              <a:ext uri="{FF2B5EF4-FFF2-40B4-BE49-F238E27FC236}">
                <a16:creationId xmlns:a16="http://schemas.microsoft.com/office/drawing/2014/main" id="{60461FC1-A8AF-46A6-8F7F-5C0CC624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4060825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2" name="그림 52">
            <a:extLst>
              <a:ext uri="{FF2B5EF4-FFF2-40B4-BE49-F238E27FC236}">
                <a16:creationId xmlns:a16="http://schemas.microsoft.com/office/drawing/2014/main" id="{49A42229-700A-45BF-B4A1-86B7DFC7B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3" y="4573588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73" name="TextBox 53">
            <a:extLst>
              <a:ext uri="{FF2B5EF4-FFF2-40B4-BE49-F238E27FC236}">
                <a16:creationId xmlns:a16="http://schemas.microsoft.com/office/drawing/2014/main" id="{5AA16A4D-3518-40CF-94C1-7F87EEB47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4706938"/>
            <a:ext cx="1711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업종 추천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74" name="TextBox 54">
            <a:extLst>
              <a:ext uri="{FF2B5EF4-FFF2-40B4-BE49-F238E27FC236}">
                <a16:creationId xmlns:a16="http://schemas.microsoft.com/office/drawing/2014/main" id="{4A25B7CF-3551-4F16-9F52-1B6ACBD78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4184650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경쟁환경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7675" name="TextBox 55">
            <a:extLst>
              <a:ext uri="{FF2B5EF4-FFF2-40B4-BE49-F238E27FC236}">
                <a16:creationId xmlns:a16="http://schemas.microsoft.com/office/drawing/2014/main" id="{73C284A6-37EF-471C-9E90-94C05DECE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613" y="3705225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" name="TextBox 5">
            <a:extLst>
              <a:ext uri="{FF2B5EF4-FFF2-40B4-BE49-F238E27FC236}">
                <a16:creationId xmlns:a16="http://schemas.microsoft.com/office/drawing/2014/main" id="{60D2FF56-6A12-4E53-9C23-B748A7A70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6729A1-3646-4FF9-B7DB-9EA9272AC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9675" y="386663"/>
            <a:ext cx="1346186" cy="2390792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8DCF456-18F7-4E20-8BF3-451E088784CC}"/>
              </a:ext>
            </a:extLst>
          </p:cNvPr>
          <p:cNvSpPr/>
          <p:nvPr/>
        </p:nvSpPr>
        <p:spPr>
          <a:xfrm>
            <a:off x="242914" y="5488148"/>
            <a:ext cx="2016728" cy="91899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14p. phase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 참고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extBox 5">
            <a:extLst>
              <a:ext uri="{FF2B5EF4-FFF2-40B4-BE49-F238E27FC236}">
                <a16:creationId xmlns:a16="http://schemas.microsoft.com/office/drawing/2014/main" id="{F196DA19-F01A-4103-8AAD-481209385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998538"/>
            <a:ext cx="3043238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Phase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en-US" altLang="ko-KR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3. </a:t>
            </a:r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</a:rPr>
              <a:t>통합 분석 및 브랜딩</a:t>
            </a:r>
          </a:p>
        </p:txBody>
      </p:sp>
      <p:sp>
        <p:nvSpPr>
          <p:cNvPr id="28678" name="화살표: 오른쪽 14">
            <a:extLst>
              <a:ext uri="{FF2B5EF4-FFF2-40B4-BE49-F238E27FC236}">
                <a16:creationId xmlns:a16="http://schemas.microsoft.com/office/drawing/2014/main" id="{8509668E-D283-46C1-A893-56C78EE33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325" y="3941763"/>
            <a:ext cx="836613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8679" name="TextBox 23">
            <a:extLst>
              <a:ext uri="{FF2B5EF4-FFF2-40B4-BE49-F238E27FC236}">
                <a16:creationId xmlns:a16="http://schemas.microsoft.com/office/drawing/2014/main" id="{E64C1E54-7375-43B5-9067-900E06F09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4133" y="2811505"/>
            <a:ext cx="1011495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en-US" altLang="ko-KR" sz="1800" dirty="0">
                <a:latin typeface="Pretendard" panose="02000503000000020004" pitchFamily="50" charset="-127"/>
                <a:ea typeface="Pretendard" panose="02000503000000020004" pitchFamily="50" charset="-127"/>
              </a:rPr>
              <a:t>MBTI </a:t>
            </a: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</a:rPr>
              <a:t>분석</a:t>
            </a:r>
          </a:p>
        </p:txBody>
      </p:sp>
      <p:sp>
        <p:nvSpPr>
          <p:cNvPr id="28680" name="화살표: 오른쪽 32">
            <a:extLst>
              <a:ext uri="{FF2B5EF4-FFF2-40B4-BE49-F238E27FC236}">
                <a16:creationId xmlns:a16="http://schemas.microsoft.com/office/drawing/2014/main" id="{8DB0E611-27D8-4FFC-A0C4-1D56FCC34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5450" y="3941763"/>
            <a:ext cx="835025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B12B402-FF01-47C2-9E7B-368A004F0ACB}"/>
              </a:ext>
            </a:extLst>
          </p:cNvPr>
          <p:cNvSpPr/>
          <p:nvPr/>
        </p:nvSpPr>
        <p:spPr>
          <a:xfrm>
            <a:off x="3113088" y="4014788"/>
            <a:ext cx="2033587" cy="449262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8682" name="그림 42">
            <a:extLst>
              <a:ext uri="{FF2B5EF4-FFF2-40B4-BE49-F238E27FC236}">
                <a16:creationId xmlns:a16="http://schemas.microsoft.com/office/drawing/2014/main" id="{D46E85F5-CB30-419A-934F-BA06CF8A7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8" y="404812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6" name="TextBox 49">
            <a:extLst>
              <a:ext uri="{FF2B5EF4-FFF2-40B4-BE49-F238E27FC236}">
                <a16:creationId xmlns:a16="http://schemas.microsoft.com/office/drawing/2014/main" id="{1D85F373-F6AE-415A-9EA4-0351AA461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7738" y="411003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MBTI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분석 에이전트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87" name="TextBox 50">
            <a:extLst>
              <a:ext uri="{FF2B5EF4-FFF2-40B4-BE49-F238E27FC236}">
                <a16:creationId xmlns:a16="http://schemas.microsoft.com/office/drawing/2014/main" id="{A8C54AC0-C6D5-443F-8FAD-0AA89D017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7709" y="2798012"/>
            <a:ext cx="1497205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ko-KR" altLang="en-US" sz="1800">
                <a:latin typeface="Pretendard" panose="02000503000000020004" pitchFamily="50" charset="-127"/>
                <a:ea typeface="Pretendard" panose="02000503000000020004" pitchFamily="50" charset="-127"/>
              </a:rPr>
              <a:t>상권 브랜딩 선택</a:t>
            </a:r>
            <a:endParaRPr lang="ko-KR" altLang="en-US" sz="18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28688" name="그림 2">
            <a:extLst>
              <a:ext uri="{FF2B5EF4-FFF2-40B4-BE49-F238E27FC236}">
                <a16:creationId xmlns:a16="http://schemas.microsoft.com/office/drawing/2014/main" id="{A213BE9D-B049-4ED3-ACAB-2B2BABB11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475" y="39417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1" name="TextBox 55">
            <a:extLst>
              <a:ext uri="{FF2B5EF4-FFF2-40B4-BE49-F238E27FC236}">
                <a16:creationId xmlns:a16="http://schemas.microsoft.com/office/drawing/2014/main" id="{DAF48DAD-9389-4280-BBE9-3DD78A0D0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075" y="4087813"/>
            <a:ext cx="17129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1. MBTI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보고서 입력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2" name="TextBox 36">
            <a:extLst>
              <a:ext uri="{FF2B5EF4-FFF2-40B4-BE49-F238E27FC236}">
                <a16:creationId xmlns:a16="http://schemas.microsoft.com/office/drawing/2014/main" id="{03D8793C-1439-4A4C-9655-20A2F1A43D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" y="2798763"/>
            <a:ext cx="19478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 분석 보고서 입력</a:t>
            </a:r>
          </a:p>
        </p:txBody>
      </p:sp>
      <p:pic>
        <p:nvPicPr>
          <p:cNvPr id="28693" name="그림 37">
            <a:extLst>
              <a:ext uri="{FF2B5EF4-FFF2-40B4-BE49-F238E27FC236}">
                <a16:creationId xmlns:a16="http://schemas.microsoft.com/office/drawing/2014/main" id="{F373C60D-7037-45D2-9502-F1684B0FA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759200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4" name="그림 38">
            <a:extLst>
              <a:ext uri="{FF2B5EF4-FFF2-40B4-BE49-F238E27FC236}">
                <a16:creationId xmlns:a16="http://schemas.microsoft.com/office/drawing/2014/main" id="{BCEBB54B-EE59-4622-ACEE-530A73F6C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4259263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95" name="그림 39">
            <a:extLst>
              <a:ext uri="{FF2B5EF4-FFF2-40B4-BE49-F238E27FC236}">
                <a16:creationId xmlns:a16="http://schemas.microsoft.com/office/drawing/2014/main" id="{74143C26-5A9D-4D9D-8FC3-EAC22E57A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4772025"/>
            <a:ext cx="5080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96" name="TextBox 40">
            <a:extLst>
              <a:ext uri="{FF2B5EF4-FFF2-40B4-BE49-F238E27FC236}">
                <a16:creationId xmlns:a16="http://schemas.microsoft.com/office/drawing/2014/main" id="{B070E48C-2001-4DDC-AC99-30CD5DD19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4905375"/>
            <a:ext cx="17113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운영 전략 보고서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7" name="TextBox 56">
            <a:extLst>
              <a:ext uri="{FF2B5EF4-FFF2-40B4-BE49-F238E27FC236}">
                <a16:creationId xmlns:a16="http://schemas.microsoft.com/office/drawing/2014/main" id="{1E2B18E8-BD88-4596-97A1-FA40F64C9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4383088"/>
            <a:ext cx="1711325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경쟁환경 분석 보고서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8" name="TextBox 57">
            <a:extLst>
              <a:ext uri="{FF2B5EF4-FFF2-40B4-BE49-F238E27FC236}">
                <a16:creationId xmlns:a16="http://schemas.microsoft.com/office/drawing/2014/main" id="{0AEA38A7-F0F4-4712-B640-6D39BD2C0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500" y="3903663"/>
            <a:ext cx="1711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</a:rPr>
              <a:t>상권활성도 보고서</a:t>
            </a:r>
            <a:endParaRPr lang="en-US" altLang="ko-KR" sz="11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28699" name="화살표: 오른쪽 58">
            <a:extLst>
              <a:ext uri="{FF2B5EF4-FFF2-40B4-BE49-F238E27FC236}">
                <a16:creationId xmlns:a16="http://schemas.microsoft.com/office/drawing/2014/main" id="{EEEAF8BD-80FD-4EE3-899E-C4B0D3D44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2675" y="3941763"/>
            <a:ext cx="835025" cy="10112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800" b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sym typeface="Gill Sans"/>
            </a:endParaRPr>
          </a:p>
        </p:txBody>
      </p:sp>
      <p:sp>
        <p:nvSpPr>
          <p:cNvPr id="28700" name="TextBox 59">
            <a:extLst>
              <a:ext uri="{FF2B5EF4-FFF2-40B4-BE49-F238E27FC236}">
                <a16:creationId xmlns:a16="http://schemas.microsoft.com/office/drawing/2014/main" id="{A3A02EE8-1AB4-48AA-A20E-F32290070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6413" y="2975393"/>
            <a:ext cx="2706687" cy="346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ko-KR" altLang="en-US" sz="18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 브랜딩 솔루션</a:t>
            </a:r>
            <a:endParaRPr lang="en-US" altLang="ko-KR" sz="18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28705" name="그림 3">
            <a:extLst>
              <a:ext uri="{FF2B5EF4-FFF2-40B4-BE49-F238E27FC236}">
                <a16:creationId xmlns:a16="http://schemas.microsoft.com/office/drawing/2014/main" id="{A7D15E92-EDBD-4190-BDF1-07F0A5A44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035" y="4977406"/>
            <a:ext cx="298154" cy="29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TextBox 5">
            <a:extLst>
              <a:ext uri="{FF2B5EF4-FFF2-40B4-BE49-F238E27FC236}">
                <a16:creationId xmlns:a16="http://schemas.microsoft.com/office/drawing/2014/main" id="{7B6D9442-0012-4F59-9806-C001E7DA0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612943"/>
            <a:ext cx="1962076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구체성</a:t>
            </a:r>
            <a:r>
              <a:rPr lang="en-US" altLang="ko-KR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2000" dirty="0" err="1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기술성</a:t>
            </a: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 측면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467EF34-9540-42AA-80E8-4E1353A640B8}"/>
              </a:ext>
            </a:extLst>
          </p:cNvPr>
          <p:cNvSpPr/>
          <p:nvPr/>
        </p:nvSpPr>
        <p:spPr>
          <a:xfrm>
            <a:off x="242914" y="5488148"/>
            <a:ext cx="2016728" cy="91899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14p. phase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설명 참고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9EDD7E-1498-4C62-B0B6-8AFC629157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16" y="436808"/>
            <a:ext cx="2840284" cy="233081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800CAC8D-5D96-4DBF-BC0C-BD44F87A5E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4765" y="4497387"/>
            <a:ext cx="1876304" cy="131043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4D96EE4D-DB25-463D-B251-3613194485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7093" y="4568795"/>
            <a:ext cx="530286" cy="530286"/>
          </a:xfrm>
          <a:prstGeom prst="rect">
            <a:avLst/>
          </a:prstGeom>
        </p:spPr>
      </p:pic>
      <p:sp>
        <p:nvSpPr>
          <p:cNvPr id="41" name="TextBox 55">
            <a:extLst>
              <a:ext uri="{FF2B5EF4-FFF2-40B4-BE49-F238E27FC236}">
                <a16:creationId xmlns:a16="http://schemas.microsoft.com/office/drawing/2014/main" id="{1B7BBE9F-D86A-42F6-89A7-2A82805DE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075" y="4702969"/>
            <a:ext cx="17129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2.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 클러스터링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F083EAF2-4A26-4587-8FC3-E15AE4E5D4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1622" y="5229937"/>
            <a:ext cx="536141" cy="53614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306C695-14A4-4B68-BA2C-7F47C6F2F1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207" y="5277535"/>
            <a:ext cx="530286" cy="530286"/>
          </a:xfrm>
          <a:prstGeom prst="rect">
            <a:avLst/>
          </a:prstGeom>
        </p:spPr>
      </p:pic>
      <p:sp>
        <p:nvSpPr>
          <p:cNvPr id="47" name="TextBox 55">
            <a:extLst>
              <a:ext uri="{FF2B5EF4-FFF2-40B4-BE49-F238E27FC236}">
                <a16:creationId xmlns:a16="http://schemas.microsoft.com/office/drawing/2014/main" id="{FE27FAF5-4052-4F71-A2A3-3BACF891E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075" y="5357179"/>
            <a:ext cx="17129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3.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 브랜딩 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3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개 추천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48" name="그림 42">
            <a:extLst>
              <a:ext uri="{FF2B5EF4-FFF2-40B4-BE49-F238E27FC236}">
                <a16:creationId xmlns:a16="http://schemas.microsoft.com/office/drawing/2014/main" id="{FC57BBEA-B17F-4120-B35D-BB485632A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037" y="5036344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TextBox 55">
            <a:extLst>
              <a:ext uri="{FF2B5EF4-FFF2-40B4-BE49-F238E27FC236}">
                <a16:creationId xmlns:a16="http://schemas.microsoft.com/office/drawing/2014/main" id="{9B49785D-361D-4F7B-8314-969F4D1E9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075" y="6187273"/>
            <a:ext cx="17129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4. 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 브랜딩 선택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(</a:t>
            </a:r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사용자 입력</a:t>
            </a:r>
            <a:r>
              <a:rPr lang="en-US" altLang="ko-KR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)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19073959-3C6C-475C-922E-FA8E15BE32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1846" y="6234932"/>
            <a:ext cx="343383" cy="327186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C40DF9B7-9810-4B9A-9EDD-60F89D1C2F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6551" y="6224451"/>
            <a:ext cx="348147" cy="348147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7F055734-1C24-4A95-BAED-631E246B2E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91261" y="6236056"/>
            <a:ext cx="348142" cy="33253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102FAD85-E0A1-4235-A6B3-B775427BB9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1053" y="5989955"/>
            <a:ext cx="264427" cy="264427"/>
          </a:xfrm>
          <a:prstGeom prst="rect">
            <a:avLst/>
          </a:prstGeom>
        </p:spPr>
      </p:pic>
      <p:sp>
        <p:nvSpPr>
          <p:cNvPr id="54" name="직사각형 53">
            <a:extLst>
              <a:ext uri="{FF2B5EF4-FFF2-40B4-BE49-F238E27FC236}">
                <a16:creationId xmlns:a16="http://schemas.microsoft.com/office/drawing/2014/main" id="{6CB1AAEC-F474-4909-B9EA-63EBC75ABA01}"/>
              </a:ext>
            </a:extLst>
          </p:cNvPr>
          <p:cNvSpPr/>
          <p:nvPr/>
        </p:nvSpPr>
        <p:spPr>
          <a:xfrm>
            <a:off x="6718737" y="5983476"/>
            <a:ext cx="393844" cy="594066"/>
          </a:xfrm>
          <a:prstGeom prst="rect">
            <a:avLst/>
          </a:prstGeom>
          <a:noFill/>
          <a:ln w="19050">
            <a:solidFill>
              <a:srgbClr val="F58B9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1C27A24-438B-46FD-BB36-2261F0E6D5DE}"/>
              </a:ext>
            </a:extLst>
          </p:cNvPr>
          <p:cNvSpPr/>
          <p:nvPr/>
        </p:nvSpPr>
        <p:spPr>
          <a:xfrm>
            <a:off x="9828953" y="4014788"/>
            <a:ext cx="2033587" cy="449262"/>
          </a:xfrm>
          <a:prstGeom prst="roundRect">
            <a:avLst/>
          </a:prstGeom>
          <a:noFill/>
          <a:ln>
            <a:solidFill>
              <a:srgbClr val="F474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n>
                <a:solidFill>
                  <a:srgbClr val="71A850"/>
                </a:solidFill>
              </a:ln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6" name="그림 42">
            <a:extLst>
              <a:ext uri="{FF2B5EF4-FFF2-40B4-BE49-F238E27FC236}">
                <a16:creationId xmlns:a16="http://schemas.microsoft.com/office/drawing/2014/main" id="{C0DDF384-60D4-4229-9AE3-329545CEE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1503" y="4048125"/>
            <a:ext cx="3333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49">
            <a:extLst>
              <a:ext uri="{FF2B5EF4-FFF2-40B4-BE49-F238E27FC236}">
                <a16:creationId xmlns:a16="http://schemas.microsoft.com/office/drawing/2014/main" id="{2BF66702-8BC4-4688-A0DF-DB4DB1E0E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3603" y="4110038"/>
            <a:ext cx="17129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r>
              <a:rPr lang="ko-KR" altLang="en-US" sz="1100" dirty="0">
                <a:latin typeface="Pretendard" panose="02000503000000020004" pitchFamily="50" charset="-127"/>
                <a:ea typeface="Pretendard" panose="02000503000000020004" pitchFamily="50" charset="-127"/>
              </a:rPr>
              <a:t>최종 분석 에이전트</a:t>
            </a:r>
            <a:endParaRPr lang="en-US" altLang="ko-KR" sz="11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B24423A6-C8E2-4898-9496-83896C7CA7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9198" y="4688916"/>
            <a:ext cx="411929" cy="392499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3E8CB11C-2629-4FD3-AA41-316AF6D3A5C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5542" y="4651961"/>
            <a:ext cx="336535" cy="443764"/>
          </a:xfrm>
          <a:prstGeom prst="rect">
            <a:avLst/>
          </a:prstGeom>
        </p:spPr>
      </p:pic>
      <p:pic>
        <p:nvPicPr>
          <p:cNvPr id="60" name="그림 3">
            <a:extLst>
              <a:ext uri="{FF2B5EF4-FFF2-40B4-BE49-F238E27FC236}">
                <a16:creationId xmlns:a16="http://schemas.microsoft.com/office/drawing/2014/main" id="{01AD431E-0542-4F15-BC06-BEEB4034F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6320" y="5167313"/>
            <a:ext cx="298154" cy="297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068FF89C-304F-4557-B43F-2CEA088D9A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3590" y="5498007"/>
            <a:ext cx="536141" cy="5361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2">
            <a:extLst>
              <a:ext uri="{FF2B5EF4-FFF2-40B4-BE49-F238E27FC236}">
                <a16:creationId xmlns:a16="http://schemas.microsoft.com/office/drawing/2014/main" id="{F055483A-5290-470D-8F89-E36D6961D5F1}"/>
              </a:ext>
            </a:extLst>
          </p:cNvPr>
          <p:cNvSpPr/>
          <p:nvPr/>
        </p:nvSpPr>
        <p:spPr>
          <a:xfrm>
            <a:off x="6387092" y="1365842"/>
            <a:ext cx="1234440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75" name="Text 3">
            <a:extLst>
              <a:ext uri="{FF2B5EF4-FFF2-40B4-BE49-F238E27FC236}">
                <a16:creationId xmlns:a16="http://schemas.microsoft.com/office/drawing/2014/main" id="{E26284EB-DAF8-4610-A764-4BBB5F354650}"/>
              </a:ext>
            </a:extLst>
          </p:cNvPr>
          <p:cNvSpPr/>
          <p:nvPr/>
        </p:nvSpPr>
        <p:spPr>
          <a:xfrm>
            <a:off x="6387092" y="136584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소요 시간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32.09 sec</a:t>
            </a:r>
          </a:p>
        </p:txBody>
      </p:sp>
      <p:sp>
        <p:nvSpPr>
          <p:cNvPr id="376" name="Shape 4">
            <a:extLst>
              <a:ext uri="{FF2B5EF4-FFF2-40B4-BE49-F238E27FC236}">
                <a16:creationId xmlns:a16="http://schemas.microsoft.com/office/drawing/2014/main" id="{7A96393B-95C0-4620-87D0-D23FA2575D6D}"/>
              </a:ext>
            </a:extLst>
          </p:cNvPr>
          <p:cNvSpPr/>
          <p:nvPr/>
        </p:nvSpPr>
        <p:spPr>
          <a:xfrm>
            <a:off x="7712972" y="1365842"/>
            <a:ext cx="1234440" cy="347472"/>
          </a:xfrm>
          <a:prstGeom prst="rect">
            <a:avLst/>
          </a:prstGeom>
          <a:solidFill>
            <a:srgbClr val="1A2B3C"/>
          </a:solidFill>
          <a:ln w="12700">
            <a:solidFill>
              <a:srgbClr val="1E3347"/>
            </a:solidFill>
            <a:prstDash val="solid"/>
          </a:ln>
        </p:spPr>
      </p:sp>
      <p:sp>
        <p:nvSpPr>
          <p:cNvPr id="377" name="Text 5">
            <a:extLst>
              <a:ext uri="{FF2B5EF4-FFF2-40B4-BE49-F238E27FC236}">
                <a16:creationId xmlns:a16="http://schemas.microsoft.com/office/drawing/2014/main" id="{69CA36A7-442C-4945-B19E-C5E8293C72E9}"/>
              </a:ext>
            </a:extLst>
          </p:cNvPr>
          <p:cNvSpPr/>
          <p:nvPr/>
        </p:nvSpPr>
        <p:spPr>
          <a:xfrm>
            <a:off x="7712972" y="1365842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gpt-4o-mini</a:t>
            </a:r>
          </a:p>
        </p:txBody>
      </p:sp>
      <p:sp>
        <p:nvSpPr>
          <p:cNvPr id="485" name="TextBox 5">
            <a:extLst>
              <a:ext uri="{FF2B5EF4-FFF2-40B4-BE49-F238E27FC236}">
                <a16:creationId xmlns:a16="http://schemas.microsoft.com/office/drawing/2014/main" id="{86AD5D68-236D-44F8-8160-DC3FE8309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4" y="612943"/>
            <a:ext cx="2689225" cy="385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ct val="140000"/>
              </a:lnSpc>
            </a:pPr>
            <a:r>
              <a:rPr lang="ko-KR" altLang="en-US" sz="2000" dirty="0"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</a:rPr>
              <a:t>실현가능성 측면 검증</a:t>
            </a:r>
          </a:p>
        </p:txBody>
      </p:sp>
      <p:sp>
        <p:nvSpPr>
          <p:cNvPr id="486" name="TextBox 5">
            <a:extLst>
              <a:ext uri="{FF2B5EF4-FFF2-40B4-BE49-F238E27FC236}">
                <a16:creationId xmlns:a16="http://schemas.microsoft.com/office/drawing/2014/main" id="{C5EF61F3-E7BA-455D-80ED-D0236B8DA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30" y="1058065"/>
            <a:ext cx="52129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indent="0">
              <a:buNone/>
            </a:pP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실제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실행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결과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):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공차</a:t>
            </a:r>
            <a:r>
              <a:rPr lang="en-US" altLang="ko-KR" sz="2000" b="1" dirty="0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2000" b="1" dirty="0" err="1">
                <a:solidFill>
                  <a:schemeClr val="bg1">
                    <a:lumMod val="10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홍대서교점</a:t>
            </a:r>
            <a:endParaRPr lang="en-US" altLang="ko-KR" sz="2000" dirty="0">
              <a:solidFill>
                <a:schemeClr val="bg1">
                  <a:lumMod val="10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FDE4981-4213-4C68-B8CE-B6515D7EFA9B}"/>
              </a:ext>
            </a:extLst>
          </p:cNvPr>
          <p:cNvCxnSpPr/>
          <p:nvPr/>
        </p:nvCxnSpPr>
        <p:spPr>
          <a:xfrm flipH="1" flipV="1">
            <a:off x="8330192" y="1893114"/>
            <a:ext cx="451594" cy="11430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54EEC99-8511-42D1-B6A0-E58C14E5AC06}"/>
              </a:ext>
            </a:extLst>
          </p:cNvPr>
          <p:cNvCxnSpPr>
            <a:cxnSpLocks/>
          </p:cNvCxnSpPr>
          <p:nvPr/>
        </p:nvCxnSpPr>
        <p:spPr>
          <a:xfrm flipH="1">
            <a:off x="8406651" y="3567229"/>
            <a:ext cx="375135" cy="247667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AC9C126-4E8D-44A8-AE07-B4A12A3DE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2" y="1893114"/>
            <a:ext cx="8178800" cy="41507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137D8D2-2B52-4A4B-AD4E-01679EDEB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651" y="3176236"/>
            <a:ext cx="4711464" cy="39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718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6" name="그림 7">
            <a:extLst>
              <a:ext uri="{FF2B5EF4-FFF2-40B4-BE49-F238E27FC236}">
                <a16:creationId xmlns:a16="http://schemas.microsoft.com/office/drawing/2014/main" id="{5311E4D6-B196-4188-B980-2F26E87E1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0"/>
          <a:stretch>
            <a:fillRect/>
          </a:stretch>
        </p:blipFill>
        <p:spPr bwMode="auto">
          <a:xfrm>
            <a:off x="2815941" y="1926964"/>
            <a:ext cx="1821411" cy="3620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그림 10">
            <a:extLst>
              <a:ext uri="{FF2B5EF4-FFF2-40B4-BE49-F238E27FC236}">
                <a16:creationId xmlns:a16="http://schemas.microsoft.com/office/drawing/2014/main" id="{CD58CA02-2B89-40CB-840B-0BA89D924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2660386" y="1866639"/>
            <a:ext cx="2145772" cy="3809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그림 8">
            <a:extLst>
              <a:ext uri="{FF2B5EF4-FFF2-40B4-BE49-F238E27FC236}">
                <a16:creationId xmlns:a16="http://schemas.microsoft.com/office/drawing/2014/main" id="{19758574-90E0-436F-B554-D93EC8F0C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2"/>
          <a:stretch>
            <a:fillRect/>
          </a:stretch>
        </p:blipFill>
        <p:spPr bwMode="auto">
          <a:xfrm>
            <a:off x="5091114" y="1934732"/>
            <a:ext cx="1819296" cy="361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그림 9">
            <a:extLst>
              <a:ext uri="{FF2B5EF4-FFF2-40B4-BE49-F238E27FC236}">
                <a16:creationId xmlns:a16="http://schemas.microsoft.com/office/drawing/2014/main" id="{FC3DF6F3-3F22-4094-BE41-484FDCE18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4937125" y="1845833"/>
            <a:ext cx="2145772" cy="380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3CEE416D-2E21-4712-AECC-E0A1E07AC2AF}"/>
              </a:ext>
            </a:extLst>
          </p:cNvPr>
          <p:cNvSpPr/>
          <p:nvPr/>
        </p:nvSpPr>
        <p:spPr>
          <a:xfrm>
            <a:off x="1557338" y="1201738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서비스 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UI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및 기능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소개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2531" name="Shape 1">
            <a:extLst>
              <a:ext uri="{FF2B5EF4-FFF2-40B4-BE49-F238E27FC236}">
                <a16:creationId xmlns:a16="http://schemas.microsoft.com/office/drawing/2014/main" id="{8259D027-D9B6-4976-A8A0-7BE8CDC0F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704975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A07B685-7F27-4EC8-878D-5F4537AF29EC}"/>
              </a:ext>
            </a:extLst>
          </p:cNvPr>
          <p:cNvSpPr/>
          <p:nvPr/>
        </p:nvSpPr>
        <p:spPr>
          <a:xfrm>
            <a:off x="8286750" y="3327930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1.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사용자 정보 입력 화면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C788C5F-3962-48A4-8B96-2C3D3EF3DF5A}"/>
              </a:ext>
            </a:extLst>
          </p:cNvPr>
          <p:cNvSpPr/>
          <p:nvPr/>
        </p:nvSpPr>
        <p:spPr>
          <a:xfrm>
            <a:off x="8286750" y="3620030"/>
            <a:ext cx="2560638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가게 기본 정보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가게 분위기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점주의 고민 사항 등 입력</a:t>
            </a:r>
            <a:endParaRPr lang="en-US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6BA219F-A6B7-4668-B7CF-23263855623F}"/>
              </a:ext>
            </a:extLst>
          </p:cNvPr>
          <p:cNvSpPr/>
          <p:nvPr/>
        </p:nvSpPr>
        <p:spPr>
          <a:xfrm>
            <a:off x="160337" y="5636230"/>
            <a:ext cx="5935663" cy="11402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기능 소개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b="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로그인 화면이 없어도 될까요</a:t>
            </a:r>
            <a:r>
              <a:rPr lang="en-US" altLang="ko-KR" sz="1200" b="0" dirty="0">
                <a:solidFill>
                  <a:srgbClr val="FF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?</a:t>
            </a:r>
          </a:p>
        </p:txBody>
      </p:sp>
      <p:sp>
        <p:nvSpPr>
          <p:cNvPr id="11" name="사각형: 잘린 한쪽 모서리 10">
            <a:extLst>
              <a:ext uri="{FF2B5EF4-FFF2-40B4-BE49-F238E27FC236}">
                <a16:creationId xmlns:a16="http://schemas.microsoft.com/office/drawing/2014/main" id="{9EC91061-4715-454E-8707-6F4CC7230B25}"/>
              </a:ext>
            </a:extLst>
          </p:cNvPr>
          <p:cNvSpPr/>
          <p:nvPr/>
        </p:nvSpPr>
        <p:spPr>
          <a:xfrm>
            <a:off x="9225023" y="239175"/>
            <a:ext cx="2858946" cy="2050344"/>
          </a:xfrm>
          <a:prstGeom prst="snip1Rect">
            <a:avLst/>
          </a:prstGeom>
          <a:solidFill>
            <a:srgbClr val="FFFF00"/>
          </a:solidFill>
          <a:ln w="3175">
            <a:noFill/>
            <a:miter/>
          </a:ln>
          <a:effectLst/>
        </p:spPr>
        <p:txBody>
          <a:bodyPr lIns="0" tIns="0" rIns="0" bIns="0" rtlCol="0" anchor="ctr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소정이가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UI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바꾸는중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3">
            <a:extLst>
              <a:ext uri="{FF2B5EF4-FFF2-40B4-BE49-F238E27FC236}">
                <a16:creationId xmlns:a16="http://schemas.microsoft.com/office/drawing/2014/main" id="{43ABF7D0-9789-4CFA-BD65-DEB8AE427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022" y="1906326"/>
            <a:ext cx="1666715" cy="3620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D113E34-1D21-4BD9-AEFF-15340BC8D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6010010" y="1841238"/>
            <a:ext cx="2145771" cy="3809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그림 11">
            <a:extLst>
              <a:ext uri="{FF2B5EF4-FFF2-40B4-BE49-F238E27FC236}">
                <a16:creationId xmlns:a16="http://schemas.microsoft.com/office/drawing/2014/main" id="{CC371BE1-D17E-4AE3-AD8E-8B730B392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385" y="1915415"/>
            <a:ext cx="1666716" cy="3620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그림 9">
            <a:extLst>
              <a:ext uri="{FF2B5EF4-FFF2-40B4-BE49-F238E27FC236}">
                <a16:creationId xmlns:a16="http://schemas.microsoft.com/office/drawing/2014/main" id="{FD5085C4-E782-4422-857C-FBF3FE719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26" b="66"/>
          <a:stretch>
            <a:fillRect/>
          </a:stretch>
        </p:blipFill>
        <p:spPr bwMode="auto">
          <a:xfrm>
            <a:off x="1684730" y="1940815"/>
            <a:ext cx="1656736" cy="3620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그림 10">
            <a:extLst>
              <a:ext uri="{FF2B5EF4-FFF2-40B4-BE49-F238E27FC236}">
                <a16:creationId xmlns:a16="http://schemas.microsoft.com/office/drawing/2014/main" id="{CD58CA02-2B89-40CB-840B-0BA89D924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1458118" y="1866639"/>
            <a:ext cx="2145772" cy="3809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그림 9">
            <a:extLst>
              <a:ext uri="{FF2B5EF4-FFF2-40B4-BE49-F238E27FC236}">
                <a16:creationId xmlns:a16="http://schemas.microsoft.com/office/drawing/2014/main" id="{FC3DF6F3-3F22-4094-BE41-484FDCE18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3734857" y="1845833"/>
            <a:ext cx="2145772" cy="380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3CEE416D-2E21-4712-AECC-E0A1E07AC2AF}"/>
              </a:ext>
            </a:extLst>
          </p:cNvPr>
          <p:cNvSpPr/>
          <p:nvPr/>
        </p:nvSpPr>
        <p:spPr>
          <a:xfrm>
            <a:off x="1557338" y="1201738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서비스 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UI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및 기능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소개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2531" name="Shape 1">
            <a:extLst>
              <a:ext uri="{FF2B5EF4-FFF2-40B4-BE49-F238E27FC236}">
                <a16:creationId xmlns:a16="http://schemas.microsoft.com/office/drawing/2014/main" id="{8259D027-D9B6-4976-A8A0-7BE8CDC0F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704975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A07B685-7F27-4EC8-878D-5F4537AF29EC}"/>
              </a:ext>
            </a:extLst>
          </p:cNvPr>
          <p:cNvSpPr/>
          <p:nvPr/>
        </p:nvSpPr>
        <p:spPr>
          <a:xfrm>
            <a:off x="8286750" y="3327930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2.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사용자 상점 분석 결과 화면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C788C5F-3962-48A4-8B96-2C3D3EF3DF5A}"/>
              </a:ext>
            </a:extLst>
          </p:cNvPr>
          <p:cNvSpPr/>
          <p:nvPr/>
        </p:nvSpPr>
        <p:spPr>
          <a:xfrm>
            <a:off x="8286750" y="3620030"/>
            <a:ext cx="2560638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사용자 입력 상점의 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MBTI,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인사이트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가게 상태 등 종합 </a:t>
            </a:r>
            <a:endParaRPr lang="en-US" altLang="ko-KR" sz="800" dirty="0">
              <a:solidFill>
                <a:srgbClr val="6B728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보고서 출력 화면</a:t>
            </a:r>
            <a:endParaRPr lang="en-US" altLang="ko-KR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0E56C4A-BD2F-4B64-ACC4-748468F103FD}"/>
              </a:ext>
            </a:extLst>
          </p:cNvPr>
          <p:cNvSpPr/>
          <p:nvPr/>
        </p:nvSpPr>
        <p:spPr>
          <a:xfrm>
            <a:off x="160337" y="5636230"/>
            <a:ext cx="5935663" cy="11402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기능 소개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사각형: 잘린 한쪽 모서리 16">
            <a:extLst>
              <a:ext uri="{FF2B5EF4-FFF2-40B4-BE49-F238E27FC236}">
                <a16:creationId xmlns:a16="http://schemas.microsoft.com/office/drawing/2014/main" id="{8410517C-A8AB-4F4A-8EB1-D787DF52B329}"/>
              </a:ext>
            </a:extLst>
          </p:cNvPr>
          <p:cNvSpPr/>
          <p:nvPr/>
        </p:nvSpPr>
        <p:spPr>
          <a:xfrm>
            <a:off x="9225023" y="239175"/>
            <a:ext cx="2858946" cy="2050344"/>
          </a:xfrm>
          <a:prstGeom prst="snip1Rect">
            <a:avLst/>
          </a:prstGeom>
          <a:solidFill>
            <a:srgbClr val="FFFF00"/>
          </a:solidFill>
          <a:ln w="3175">
            <a:noFill/>
            <a:miter/>
          </a:ln>
          <a:effectLst/>
        </p:spPr>
        <p:txBody>
          <a:bodyPr lIns="0" tIns="0" rIns="0" bIns="0" rtlCol="0" anchor="ctr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소정이가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UI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바꾸는중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225427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1">
            <a:extLst>
              <a:ext uri="{FF2B5EF4-FFF2-40B4-BE49-F238E27FC236}">
                <a16:creationId xmlns:a16="http://schemas.microsoft.com/office/drawing/2014/main" id="{8F8B062C-9877-438F-99B9-D6F995514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3"/>
          <a:stretch>
            <a:fillRect/>
          </a:stretch>
        </p:blipFill>
        <p:spPr bwMode="auto">
          <a:xfrm>
            <a:off x="3708536" y="1819753"/>
            <a:ext cx="1727085" cy="36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그림 12">
            <a:extLst>
              <a:ext uri="{FF2B5EF4-FFF2-40B4-BE49-F238E27FC236}">
                <a16:creationId xmlns:a16="http://schemas.microsoft.com/office/drawing/2014/main" id="{39C25877-05A3-42EF-877E-A4D329D85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3500910" y="1746047"/>
            <a:ext cx="2145772" cy="3803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3CEE416D-2E21-4712-AECC-E0A1E07AC2AF}"/>
              </a:ext>
            </a:extLst>
          </p:cNvPr>
          <p:cNvSpPr/>
          <p:nvPr/>
        </p:nvSpPr>
        <p:spPr>
          <a:xfrm>
            <a:off x="1557338" y="1201738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서비스 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UI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및 기능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소개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2531" name="Shape 1">
            <a:extLst>
              <a:ext uri="{FF2B5EF4-FFF2-40B4-BE49-F238E27FC236}">
                <a16:creationId xmlns:a16="http://schemas.microsoft.com/office/drawing/2014/main" id="{8259D027-D9B6-4976-A8A0-7BE8CDC0F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704975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A07B685-7F27-4EC8-878D-5F4537AF29EC}"/>
              </a:ext>
            </a:extLst>
          </p:cNvPr>
          <p:cNvSpPr/>
          <p:nvPr/>
        </p:nvSpPr>
        <p:spPr>
          <a:xfrm>
            <a:off x="8286750" y="3327930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4.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부가서비스</a:t>
            </a:r>
            <a:r>
              <a:rPr lang="en-US" altLang="ko-KR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: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솔루션 마켓 화면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C788C5F-3962-48A4-8B96-2C3D3EF3DF5A}"/>
              </a:ext>
            </a:extLst>
          </p:cNvPr>
          <p:cNvSpPr/>
          <p:nvPr/>
        </p:nvSpPr>
        <p:spPr>
          <a:xfrm>
            <a:off x="8286750" y="3620030"/>
            <a:ext cx="2560638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고민 유형별 맞춤 솔루션 추천하여 컨설팅 지원 및 업체 연결</a:t>
            </a:r>
            <a:endParaRPr lang="en-US" altLang="ko-KR" sz="800" dirty="0">
              <a:solidFill>
                <a:srgbClr val="6B7280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0E56C4A-BD2F-4B64-ACC4-748468F103FD}"/>
              </a:ext>
            </a:extLst>
          </p:cNvPr>
          <p:cNvSpPr/>
          <p:nvPr/>
        </p:nvSpPr>
        <p:spPr>
          <a:xfrm>
            <a:off x="84137" y="5717720"/>
            <a:ext cx="5935663" cy="11402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기능 소개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사각형: 잘린 한쪽 모서리 8">
            <a:extLst>
              <a:ext uri="{FF2B5EF4-FFF2-40B4-BE49-F238E27FC236}">
                <a16:creationId xmlns:a16="http://schemas.microsoft.com/office/drawing/2014/main" id="{99C92B92-9DD6-4153-B206-4B7F4FA73943}"/>
              </a:ext>
            </a:extLst>
          </p:cNvPr>
          <p:cNvSpPr/>
          <p:nvPr/>
        </p:nvSpPr>
        <p:spPr>
          <a:xfrm>
            <a:off x="9225023" y="239175"/>
            <a:ext cx="2858946" cy="2050344"/>
          </a:xfrm>
          <a:prstGeom prst="snip1Rect">
            <a:avLst/>
          </a:prstGeom>
          <a:solidFill>
            <a:srgbClr val="FFFF00"/>
          </a:solidFill>
          <a:ln w="3175">
            <a:noFill/>
            <a:miter/>
          </a:ln>
          <a:effectLst/>
        </p:spPr>
        <p:txBody>
          <a:bodyPr lIns="0" tIns="0" rIns="0" bIns="0" rtlCol="0" anchor="ctr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소정이가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UI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바꾸는중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840816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13">
            <a:extLst>
              <a:ext uri="{FF2B5EF4-FFF2-40B4-BE49-F238E27FC236}">
                <a16:creationId xmlns:a16="http://schemas.microsoft.com/office/drawing/2014/main" id="{B58CCB67-5206-4FBB-A700-3AE7025CA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707" y="1851325"/>
            <a:ext cx="1687210" cy="3673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그림 14">
            <a:extLst>
              <a:ext uri="{FF2B5EF4-FFF2-40B4-BE49-F238E27FC236}">
                <a16:creationId xmlns:a16="http://schemas.microsoft.com/office/drawing/2014/main" id="{EC19A73F-2B29-4D2C-8A0D-658E0F967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3422426" y="1792085"/>
            <a:ext cx="2145772" cy="3803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그림 9">
            <a:extLst>
              <a:ext uri="{FF2B5EF4-FFF2-40B4-BE49-F238E27FC236}">
                <a16:creationId xmlns:a16="http://schemas.microsoft.com/office/drawing/2014/main" id="{4D77B887-E711-4C6B-94ED-88950D67B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388" y="1860415"/>
            <a:ext cx="1684717" cy="3666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그림 10">
            <a:extLst>
              <a:ext uri="{FF2B5EF4-FFF2-40B4-BE49-F238E27FC236}">
                <a16:creationId xmlns:a16="http://schemas.microsoft.com/office/drawing/2014/main" id="{6EA26073-6246-4CF7-918D-70CA41F5E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91" t="11617" r="28622" b="11462"/>
          <a:stretch>
            <a:fillRect/>
          </a:stretch>
        </p:blipFill>
        <p:spPr bwMode="auto">
          <a:xfrm>
            <a:off x="1368200" y="1792085"/>
            <a:ext cx="2143279" cy="3803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3CEE416D-2E21-4712-AECC-E0A1E07AC2AF}"/>
              </a:ext>
            </a:extLst>
          </p:cNvPr>
          <p:cNvSpPr/>
          <p:nvPr/>
        </p:nvSpPr>
        <p:spPr>
          <a:xfrm>
            <a:off x="1557338" y="1201738"/>
            <a:ext cx="8229600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>
              <a:defRPr/>
            </a:pP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서비스 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UI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및 기능</a:t>
            </a:r>
            <a:r>
              <a:rPr lang="en-US" altLang="ko-KR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rgbClr val="111827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소개</a:t>
            </a:r>
            <a:endParaRPr lang="en-US" sz="1600" dirty="0">
              <a:solidFill>
                <a:srgbClr val="111827"/>
              </a:solidFill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22531" name="Shape 1">
            <a:extLst>
              <a:ext uri="{FF2B5EF4-FFF2-40B4-BE49-F238E27FC236}">
                <a16:creationId xmlns:a16="http://schemas.microsoft.com/office/drawing/2014/main" id="{8259D027-D9B6-4976-A8A0-7BE8CDC0F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57338" y="1704975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CA07B685-7F27-4EC8-878D-5F4537AF29EC}"/>
              </a:ext>
            </a:extLst>
          </p:cNvPr>
          <p:cNvSpPr/>
          <p:nvPr/>
        </p:nvSpPr>
        <p:spPr>
          <a:xfrm>
            <a:off x="8286750" y="3327930"/>
            <a:ext cx="2560638" cy="274637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defRPr/>
            </a:pPr>
            <a:r>
              <a:rPr lang="en-US" altLang="ko-KR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3. </a:t>
            </a:r>
            <a:r>
              <a:rPr lang="ko-KR" altLang="en-US" sz="1200" dirty="0">
                <a:solidFill>
                  <a:srgbClr val="111827"/>
                </a:solidFill>
                <a:latin typeface="Pretendard" panose="02000503000000020004" pitchFamily="50" charset="-127"/>
                <a:ea typeface="+mn-ea"/>
              </a:rPr>
              <a:t>지역 상권 분석 화면 </a:t>
            </a:r>
            <a:endParaRPr lang="en-US" sz="1200" dirty="0">
              <a:latin typeface="Pretendard" panose="02000503000000020004" pitchFamily="50" charset="-127"/>
              <a:ea typeface="+mn-ea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BC788C5F-3962-48A4-8B96-2C3D3EF3DF5A}"/>
              </a:ext>
            </a:extLst>
          </p:cNvPr>
          <p:cNvSpPr/>
          <p:nvPr/>
        </p:nvSpPr>
        <p:spPr>
          <a:xfrm>
            <a:off x="7775046" y="3704247"/>
            <a:ext cx="4023783" cy="320675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내 유사 유형 매장 군집화 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·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지도</a:t>
            </a:r>
          </a:p>
          <a:p>
            <a:pPr algn="ctr">
              <a:lnSpc>
                <a:spcPct val="130000"/>
              </a:lnSpc>
              <a:defRPr/>
            </a:pP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상권 내 공통 문제 도출</a:t>
            </a:r>
            <a:r>
              <a:rPr lang="en-US" altLang="ko-KR" sz="800" dirty="0">
                <a:solidFill>
                  <a:srgbClr val="6B7280"/>
                </a:solidFill>
                <a:latin typeface="Pretendard" panose="02000503000000020004" pitchFamily="50" charset="-127"/>
                <a:ea typeface="+mn-ea"/>
              </a:rPr>
              <a:t> · </a:t>
            </a:r>
            <a:r>
              <a:rPr lang="ko-KR" altLang="en-US" sz="800" dirty="0">
                <a:solidFill>
                  <a:srgbClr val="6B7280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함께 실행하는 협업 솔루션을 통해 참여를 통해 상권 브랜딩 방법 논의 및 강화</a:t>
            </a:r>
            <a:endParaRPr lang="en-US" altLang="ko-KR" sz="800" dirty="0">
              <a:solidFill>
                <a:srgbClr val="6B7280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0E56C4A-BD2F-4B64-ACC4-748468F103FD}"/>
              </a:ext>
            </a:extLst>
          </p:cNvPr>
          <p:cNvSpPr/>
          <p:nvPr/>
        </p:nvSpPr>
        <p:spPr>
          <a:xfrm>
            <a:off x="160337" y="5636230"/>
            <a:ext cx="5935663" cy="114028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175">
            <a:solidFill>
              <a:schemeClr val="bg1">
                <a:lumMod val="85000"/>
              </a:schemeClr>
            </a:solidFill>
            <a:miter/>
          </a:ln>
          <a:effectLst/>
        </p:spPr>
        <p:txBody>
          <a:bodyPr lIns="0" tIns="0" rIns="0" bIns="0" anchor="ctr"/>
          <a:lstStyle/>
          <a:p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프로토타입 </a:t>
            </a:r>
            <a:r>
              <a:rPr lang="en-US" altLang="ko-KR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ko-KR" altLang="en-US" sz="1200" b="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기능 소개</a:t>
            </a:r>
            <a:endParaRPr lang="en-US" altLang="ko-KR" sz="1200" b="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688B9A2B-2B6F-4F38-AD3E-979708DD9D9A}"/>
              </a:ext>
            </a:extLst>
          </p:cNvPr>
          <p:cNvSpPr/>
          <p:nvPr/>
        </p:nvSpPr>
        <p:spPr>
          <a:xfrm>
            <a:off x="9225023" y="239175"/>
            <a:ext cx="2858946" cy="2050344"/>
          </a:xfrm>
          <a:prstGeom prst="snip1Rect">
            <a:avLst/>
          </a:prstGeom>
          <a:solidFill>
            <a:srgbClr val="FFFF00"/>
          </a:solidFill>
          <a:ln w="3175">
            <a:noFill/>
            <a:miter/>
          </a:ln>
          <a:effectLst/>
        </p:spPr>
        <p:txBody>
          <a:bodyPr lIns="0" tIns="0" rIns="0" bIns="0" rtlCol="0" anchor="ctr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소정이가 </a:t>
            </a:r>
            <a:r>
              <a:rPr kumimoji="0" lang="en-US" altLang="ko-KR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UI </a:t>
            </a:r>
            <a:r>
              <a:rPr kumimoji="0" lang="ko-KR" altLang="en-US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바꾸는중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392446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F59263-2D63-18A8-3C1E-C0D88F0853B4}"/>
              </a:ext>
            </a:extLst>
          </p:cNvPr>
          <p:cNvSpPr txBox="1"/>
          <p:nvPr/>
        </p:nvSpPr>
        <p:spPr>
          <a:xfrm>
            <a:off x="3046326" y="882054"/>
            <a:ext cx="6526898" cy="126496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기존 무료 상권 분석 서비스의 대표격인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나는 사장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’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은 점포 주변의 매출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유동인구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점포수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생존율 등 풍부한 데이터를 시각화 리포트 형태로 제공한다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그러나 분석 단위가 개별 점포에 머물러 있고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 해석과 실행은 점주의 몫으로 남는다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b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b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endParaRPr kumimoji="1"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AD9D9A1-5D98-E62E-70C0-68D8588C4BF7}"/>
              </a:ext>
            </a:extLst>
          </p:cNvPr>
          <p:cNvSpPr/>
          <p:nvPr/>
        </p:nvSpPr>
        <p:spPr>
          <a:xfrm>
            <a:off x="10134600" y="495974"/>
            <a:ext cx="1930400" cy="772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accent6"/>
            </a:solidFill>
            <a:miter/>
          </a:ln>
          <a:effectLst/>
        </p:spPr>
        <p:txBody>
          <a:bodyPr lIns="0" tIns="0" rIns="0" bIns="0" rtlCol="0" anchor="ctr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400" dirty="0">
                <a:latin typeface="+mn-ea"/>
                <a:ea typeface="+mn-ea"/>
                <a:sym typeface="Gill Sans"/>
              </a:rPr>
              <a:t>2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latin typeface="+mn-ea"/>
                <a:ea typeface="+mn-ea"/>
                <a:sym typeface="Gill Sans"/>
              </a:rPr>
              <a:t>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C9A2E4-DB89-AAF9-AA12-DCED27A31CEF}"/>
              </a:ext>
            </a:extLst>
          </p:cNvPr>
          <p:cNvSpPr txBox="1"/>
          <p:nvPr/>
        </p:nvSpPr>
        <p:spPr>
          <a:xfrm>
            <a:off x="3260101" y="5708339"/>
            <a:ext cx="6099348" cy="830997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나는 사장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'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은 데이터를 보여주는 데 그친다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점주는 리포트를 받아도 자신의 매장 맥락에 맞춰 해석하고 실행 방안을 도출해야 한다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 무엇보다 분석이 개별 점포 단위에서 끝나기 때문에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같은 상권에 속한 매장들이 함께 움직일 수 있는 구조는 부재한다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b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상권 더하기는 이 빈 공간을 상권 단위 분석과 공동 브랜딩 솔루션으로 메운다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12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B8E0FE-2183-7783-83D9-44AE51FBA74D}"/>
              </a:ext>
            </a:extLst>
          </p:cNvPr>
          <p:cNvSpPr txBox="1"/>
          <p:nvPr/>
        </p:nvSpPr>
        <p:spPr>
          <a:xfrm>
            <a:off x="8719456" y="6262337"/>
            <a:ext cx="3472544" cy="553998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*출처</a:t>
            </a:r>
            <a:b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나는 사장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  <a:hlinkClick r:id="rId2"/>
              </a:rPr>
              <a:t>https://golmok.seoul.go.kr/owner/owner.do</a:t>
            </a:r>
            <a:endParaRPr lang="en-US" altLang="ko-KR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r>
              <a:rPr lang="ko-KR" altLang="en-US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나이스비즈맵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dirty="0">
                <a:latin typeface="NanumGothic" panose="020D0604000000000000" pitchFamily="34" charset="-127"/>
                <a:ea typeface="NanumGothic" panose="020D0604000000000000" pitchFamily="34" charset="-127"/>
              </a:rPr>
              <a:t>https://m.nicebizmap.co.kr/</a:t>
            </a:r>
            <a:endParaRPr lang="ko-KR" altLang="en-US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27609B1-3732-4E1A-A14E-C626BFC14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12232"/>
              </p:ext>
            </p:extLst>
          </p:nvPr>
        </p:nvGraphicFramePr>
        <p:xfrm>
          <a:off x="2425515" y="1441115"/>
          <a:ext cx="7340970" cy="4217530"/>
        </p:xfrm>
        <a:graphic>
          <a:graphicData uri="http://schemas.openxmlformats.org/drawingml/2006/table">
            <a:tbl>
              <a:tblPr/>
              <a:tblGrid>
                <a:gridCol w="1302288">
                  <a:extLst>
                    <a:ext uri="{9D8B030D-6E8A-4147-A177-3AD203B41FA5}">
                      <a16:colId xmlns:a16="http://schemas.microsoft.com/office/drawing/2014/main" val="2941622072"/>
                    </a:ext>
                  </a:extLst>
                </a:gridCol>
                <a:gridCol w="2012894">
                  <a:extLst>
                    <a:ext uri="{9D8B030D-6E8A-4147-A177-3AD203B41FA5}">
                      <a16:colId xmlns:a16="http://schemas.microsoft.com/office/drawing/2014/main" val="1319618768"/>
                    </a:ext>
                  </a:extLst>
                </a:gridCol>
                <a:gridCol w="2012894">
                  <a:extLst>
                    <a:ext uri="{9D8B030D-6E8A-4147-A177-3AD203B41FA5}">
                      <a16:colId xmlns:a16="http://schemas.microsoft.com/office/drawing/2014/main" val="910404523"/>
                    </a:ext>
                  </a:extLst>
                </a:gridCol>
                <a:gridCol w="2012894">
                  <a:extLst>
                    <a:ext uri="{9D8B030D-6E8A-4147-A177-3AD203B41FA5}">
                      <a16:colId xmlns:a16="http://schemas.microsoft.com/office/drawing/2014/main" val="52687397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구분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나는 사장 </a:t>
                      </a:r>
                      <a:r>
                        <a:rPr lang="en-US" altLang="ko-KR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무료</a:t>
                      </a:r>
                      <a:r>
                        <a:rPr lang="en-US" altLang="ko-KR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 err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나이스비즈맵</a:t>
                      </a:r>
                      <a:r>
                        <a:rPr lang="ko-KR" altLang="en-US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유료</a:t>
                      </a:r>
                      <a:r>
                        <a:rPr lang="en-US" altLang="ko-KR" sz="16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9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상권 더하기 </a:t>
                      </a:r>
                      <a:r>
                        <a:rPr lang="en-US" altLang="ko-KR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제안</a:t>
                      </a:r>
                      <a:r>
                        <a:rPr lang="en-US" altLang="ko-KR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A9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649419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운영 주체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서울특별시</a:t>
                      </a:r>
                      <a:endParaRPr lang="en-US" altLang="ko-KR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NICE</a:t>
                      </a:r>
                      <a:r>
                        <a:rPr lang="ko-KR" altLang="en-US" sz="1400" dirty="0" err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지니데이터</a:t>
                      </a:r>
                      <a:endParaRPr lang="en-US" altLang="ko-KR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—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64577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분석 단위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개별 점포 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반경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다각형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개별 점포 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행정동 기준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개별 점포 → 상권 전체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125990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데이터 강점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공공 데이터 기반 인구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·</a:t>
                      </a: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점포</a:t>
                      </a:r>
                      <a:r>
                        <a:rPr lang="en-US" altLang="ko-KR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·</a:t>
                      </a: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매출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/>
                        <a:t>카드 매출 </a:t>
                      </a:r>
                      <a:endParaRPr lang="en-US" altLang="ko-KR" sz="1400" dirty="0"/>
                    </a:p>
                    <a:p>
                      <a:pPr algn="ctr">
                        <a:buNone/>
                      </a:pPr>
                      <a:r>
                        <a:rPr lang="ko-KR" altLang="en-US" sz="1400" dirty="0"/>
                        <a:t>데이터 신뢰도 ↑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점주 입력 </a:t>
                      </a:r>
                      <a:r>
                        <a:rPr lang="en-US" altLang="ko-KR" sz="1400" b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</a:t>
                      </a:r>
                      <a:r>
                        <a:rPr lang="ko-KR" altLang="en-US" sz="1400" b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공공데이터 결합</a:t>
                      </a:r>
                      <a:endParaRPr lang="ko-KR" altLang="en-US" sz="140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116356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결과 형태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데이터 시각화 리포트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/>
                        <a:t>상세 분석 보고서 </a:t>
                      </a:r>
                      <a:endParaRPr lang="en-US" altLang="ko-KR" sz="1400" dirty="0"/>
                    </a:p>
                    <a:p>
                      <a:pPr algn="ctr">
                        <a:buNone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기본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종합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MBTI </a:t>
                      </a:r>
                      <a:r>
                        <a:rPr lang="ko-KR" alt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진단 </a:t>
                      </a:r>
                      <a:r>
                        <a:rPr lang="en-US" altLang="ko-KR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</a:t>
                      </a:r>
                      <a:r>
                        <a:rPr lang="ko-KR" alt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공동 브랜딩 솔루션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283324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활용 방식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점주가 직접 해석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/>
                        <a:t>점주가 직접 해석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AI</a:t>
                      </a:r>
                      <a:r>
                        <a:rPr lang="ko-KR" alt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가 해석 </a:t>
                      </a:r>
                      <a:r>
                        <a:rPr lang="en-US" altLang="ko-KR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</a:t>
                      </a:r>
                      <a:r>
                        <a:rPr lang="ko-KR" altLang="en-US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실행 솔루션 제안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92460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상권 단위 분석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/>
                        <a:t>✗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/>
                        <a:t>✗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○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5464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점주 간 연결</a:t>
                      </a:r>
                      <a:r>
                        <a:rPr lang="en-US" altLang="ko-KR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·</a:t>
                      </a:r>
                      <a:r>
                        <a:rPr lang="ko-KR" altLang="en-US" sz="16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협력</a:t>
                      </a:r>
                      <a:endParaRPr lang="ko-KR" altLang="en-US" sz="16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/>
                        <a:t>✗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/>
                        <a:t>✗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 dirty="0"/>
                        <a:t>○</a:t>
                      </a:r>
                      <a:endParaRPr lang="ko-KR" altLang="en-US" sz="1400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060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7485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3103-CFA8-3520-D4E9-34E16B3A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8F5E2BB-C281-690E-3A67-4DBEB5C2D1E5}"/>
              </a:ext>
            </a:extLst>
          </p:cNvPr>
          <p:cNvSpPr txBox="1"/>
          <p:nvPr/>
        </p:nvSpPr>
        <p:spPr>
          <a:xfrm>
            <a:off x="2283486" y="1638016"/>
            <a:ext cx="7625023" cy="378565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차별점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1.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매장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MBTI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메커니즘</a:t>
            </a: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buNone/>
            </a:pP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기존 서비스는 매출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·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유동인구 같은 원천 데이터를 점주가 직접 해석해야 했다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 더하기는 매장의 운영 정보를 </a:t>
            </a:r>
            <a:r>
              <a:rPr lang="ko-KR" altLang="en-US" sz="1200"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입력받아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DUTM 4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 축 기반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16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 유형의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MBTI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로 매장 정체성을 진단한다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점주는 복잡한 데이터를 읽지 않아도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내 매장이 어떤 매장인지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직관적으로 파악할 수 있다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buNone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데이터를 정체성으로 번역하는 진단 메커니즘</a:t>
            </a:r>
          </a:p>
          <a:p>
            <a:pPr>
              <a:buNone/>
            </a:pPr>
            <a:b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buNone/>
            </a:pPr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차별점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 단위 클러스터링</a:t>
            </a: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buNone/>
            </a:pP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같은 상권에 속한 매장들의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MBTI</a:t>
            </a:r>
            <a:r>
              <a:rPr lang="ko-KR" altLang="en-US" sz="1200"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를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200"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클러스터링하여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 전체의 정체성을 데이터 기반으로 도출한다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기존 서비스가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 점포의 매출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을 보여주는 데 그쳤다면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 더하기는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 상권이 어떤 상권인지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"</a:t>
            </a:r>
            <a:r>
              <a:rPr lang="ko-KR" altLang="en-US" sz="1200" b="0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를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 정의한다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buNone/>
            </a:pP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이 클러스터링 결과가 곧 공동 브랜딩의 기반이 된다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같은 상권 내 점주들이 흩어진 개인이 아니라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하나의 정체성을 공유하는 공동체로 묶이는 것이다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buNone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점포 단위 분석을 상권 단위 브랜딩으로 확장하는 기반 기술</a:t>
            </a:r>
          </a:p>
          <a:p>
            <a:pPr>
              <a:buNone/>
            </a:pPr>
            <a:b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</a:b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buNone/>
            </a:pPr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차별점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3. </a:t>
            </a:r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멀티에이전트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시스템</a:t>
            </a: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buNone/>
            </a:pP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단일 모델이 모든 답을 내놓는 방식이 아니다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역할이 분화된 다수의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AI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에이전트가 매장 진단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 해석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공동 고민 도출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솔루션 제안을 분업하여 처리한다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각 에이전트가 자신의 영역을 깊이 있게 다루기 때문에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단일 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LLM </a:t>
            </a:r>
            <a:r>
              <a:rPr lang="ko-KR" altLang="en-US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호출보다 정밀하고 맥락에 맞는 결과를 생성할 수 있다</a:t>
            </a:r>
            <a:r>
              <a:rPr lang="en-US" altLang="ko-KR" sz="1200" b="0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>
              <a:buNone/>
            </a:pP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→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분업 구조로 분석 깊이와 정밀도를 동시에 확보하는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AI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아키텍처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15D77-6B0C-BAED-F224-2CD7D80AE7A1}"/>
              </a:ext>
            </a:extLst>
          </p:cNvPr>
          <p:cNvSpPr txBox="1"/>
          <p:nvPr/>
        </p:nvSpPr>
        <p:spPr>
          <a:xfrm>
            <a:off x="3046324" y="957886"/>
            <a:ext cx="6099348" cy="338554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상권 더하기는 시장의 공백을 세 가지 기술적 차별점으로 메운다</a:t>
            </a:r>
            <a:r>
              <a:rPr lang="en-US" altLang="ko-KR" sz="1600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1600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E0A4CB-CF5E-7B1F-8803-2247AC7C13E3}"/>
              </a:ext>
            </a:extLst>
          </p:cNvPr>
          <p:cNvSpPr txBox="1"/>
          <p:nvPr/>
        </p:nvSpPr>
        <p:spPr>
          <a:xfrm>
            <a:off x="2664906" y="5765245"/>
            <a:ext cx="6862185" cy="46166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한줄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요약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1200" dirty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매장을 진단하고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(MBTI),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상권을 묶고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클러스터링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),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정밀하게 해석하는 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12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멀티에이전트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) </a:t>
            </a:r>
          </a:p>
          <a:p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— </a:t>
            </a:r>
            <a:r>
              <a:rPr lang="ko-KR" altLang="en-US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세 기술의 결합으로 시장에 부재했던 공동 브랜딩이라는 가치를 만든다</a:t>
            </a:r>
            <a:r>
              <a:rPr lang="en-US" altLang="ko-KR" sz="12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ko-KR" altLang="en-US" sz="12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6317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A1CB3E2-8B6B-43F6-BEB0-C2D6CD2D5BC4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 flipH="1">
            <a:off x="10445750" y="2321985"/>
            <a:ext cx="0" cy="1730375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2BFCA53-3070-40B4-9E49-602A46E112E2}"/>
              </a:ext>
            </a:extLst>
          </p:cNvPr>
          <p:cNvCxnSpPr>
            <a:cxnSpLocks/>
            <a:stCxn id="10" idx="2"/>
            <a:endCxn id="18" idx="2"/>
          </p:cNvCxnSpPr>
          <p:nvPr/>
        </p:nvCxnSpPr>
        <p:spPr>
          <a:xfrm flipH="1">
            <a:off x="7537451" y="2321985"/>
            <a:ext cx="793" cy="2840038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27F5D09-E0D8-4A61-90B2-2160B54F6638}"/>
              </a:ext>
            </a:extLst>
          </p:cNvPr>
          <p:cNvCxnSpPr>
            <a:cxnSpLocks/>
            <a:stCxn id="9" idx="2"/>
            <a:endCxn id="20" idx="2"/>
          </p:cNvCxnSpPr>
          <p:nvPr/>
        </p:nvCxnSpPr>
        <p:spPr>
          <a:xfrm flipH="1">
            <a:off x="4624908" y="2321985"/>
            <a:ext cx="4242" cy="3544888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E9BF304-807A-4E9B-9E0E-3CC503F97C4F}"/>
              </a:ext>
            </a:extLst>
          </p:cNvPr>
          <p:cNvCxnSpPr>
            <a:cxnSpLocks/>
            <a:stCxn id="8" idx="2"/>
            <a:endCxn id="25" idx="2"/>
          </p:cNvCxnSpPr>
          <p:nvPr/>
        </p:nvCxnSpPr>
        <p:spPr>
          <a:xfrm flipH="1">
            <a:off x="1720850" y="2321985"/>
            <a:ext cx="0" cy="2135188"/>
          </a:xfrm>
          <a:prstGeom prst="line">
            <a:avLst/>
          </a:prstGeom>
          <a:ln w="28575">
            <a:solidFill>
              <a:srgbClr val="7438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EC751FF-C8FA-4460-B547-0BF617900AC0}"/>
              </a:ext>
            </a:extLst>
          </p:cNvPr>
          <p:cNvSpPr/>
          <p:nvPr/>
        </p:nvSpPr>
        <p:spPr>
          <a:xfrm>
            <a:off x="706438" y="1915585"/>
            <a:ext cx="2027237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홈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2F5491A-68E3-45E7-AD7F-DA0529569DE8}"/>
              </a:ext>
            </a:extLst>
          </p:cNvPr>
          <p:cNvSpPr/>
          <p:nvPr/>
        </p:nvSpPr>
        <p:spPr>
          <a:xfrm>
            <a:off x="3616325" y="1915585"/>
            <a:ext cx="2025650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+</a:t>
            </a:r>
            <a:endParaRPr lang="ko-KR" altLang="en-US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5E16AA7-D93D-4D8C-9E32-E019D4494A75}"/>
              </a:ext>
            </a:extLst>
          </p:cNvPr>
          <p:cNvSpPr/>
          <p:nvPr/>
        </p:nvSpPr>
        <p:spPr>
          <a:xfrm>
            <a:off x="6524625" y="1915585"/>
            <a:ext cx="2027238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</a:t>
            </a:r>
            <a:r>
              <a:rPr lang="en-US" altLang="ko-KR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+</a:t>
            </a:r>
            <a:endParaRPr lang="ko-KR" altLang="en-US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767D155-C38E-4476-AFCE-03D8AE617BED}"/>
              </a:ext>
            </a:extLst>
          </p:cNvPr>
          <p:cNvSpPr/>
          <p:nvPr/>
        </p:nvSpPr>
        <p:spPr>
          <a:xfrm>
            <a:off x="9432925" y="1915585"/>
            <a:ext cx="2027238" cy="406400"/>
          </a:xfrm>
          <a:prstGeom prst="roundRect">
            <a:avLst/>
          </a:prstGeom>
          <a:solidFill>
            <a:srgbClr val="7438FB"/>
          </a:solidFill>
          <a:ln w="19050">
            <a:solidFill>
              <a:srgbClr val="0031B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활동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B3EFB44-A441-4F51-B6DA-5D0A1DC2FCE4}"/>
              </a:ext>
            </a:extLst>
          </p:cNvPr>
          <p:cNvSpPr/>
          <p:nvPr/>
        </p:nvSpPr>
        <p:spPr>
          <a:xfrm>
            <a:off x="9858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현황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6EED377-A429-40B5-87C9-C6C299B75C6F}"/>
              </a:ext>
            </a:extLst>
          </p:cNvPr>
          <p:cNvSpPr/>
          <p:nvPr/>
        </p:nvSpPr>
        <p:spPr>
          <a:xfrm>
            <a:off x="38941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분석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C4BB707-9D32-4AA8-ACC5-A90B902FCDCA}"/>
              </a:ext>
            </a:extLst>
          </p:cNvPr>
          <p:cNvSpPr/>
          <p:nvPr/>
        </p:nvSpPr>
        <p:spPr>
          <a:xfrm>
            <a:off x="6802438" y="264266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결과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54FDC50-12C5-44B1-A490-5EF27CC8576E}"/>
              </a:ext>
            </a:extLst>
          </p:cNvPr>
          <p:cNvSpPr/>
          <p:nvPr/>
        </p:nvSpPr>
        <p:spPr>
          <a:xfrm>
            <a:off x="9710738" y="2642660"/>
            <a:ext cx="1471612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정보 관리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7CF1A55-6466-43C3-963E-C832F51D7FA5}"/>
              </a:ext>
            </a:extLst>
          </p:cNvPr>
          <p:cNvSpPr/>
          <p:nvPr/>
        </p:nvSpPr>
        <p:spPr>
          <a:xfrm>
            <a:off x="9858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내 가게 상태 요약</a:t>
            </a:r>
            <a:endParaRPr lang="en-US" altLang="ko-KR" sz="14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96986AE-BFEE-417F-ACBC-F11849A96A64}"/>
              </a:ext>
            </a:extLst>
          </p:cNvPr>
          <p:cNvSpPr/>
          <p:nvPr/>
        </p:nvSpPr>
        <p:spPr>
          <a:xfrm>
            <a:off x="38941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</a:t>
            </a: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결과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08C40E6-ACCE-4AF4-BA72-251570BD36AD}"/>
              </a:ext>
            </a:extLst>
          </p:cNvPr>
          <p:cNvSpPr/>
          <p:nvPr/>
        </p:nvSpPr>
        <p:spPr>
          <a:xfrm>
            <a:off x="6802438" y="475721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함께 더하기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2C03A4A-0F61-421E-BB7B-8C355F1D841C}"/>
              </a:ext>
            </a:extLst>
          </p:cNvPr>
          <p:cNvSpPr/>
          <p:nvPr/>
        </p:nvSpPr>
        <p:spPr>
          <a:xfrm>
            <a:off x="38941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</a:p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솔루션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70968DC-BD57-48BB-AF8F-33F9D92CBC1B}"/>
              </a:ext>
            </a:extLst>
          </p:cNvPr>
          <p:cNvSpPr/>
          <p:nvPr/>
        </p:nvSpPr>
        <p:spPr>
          <a:xfrm>
            <a:off x="3889895" y="5462060"/>
            <a:ext cx="1470025" cy="404813"/>
          </a:xfrm>
          <a:prstGeom prst="roundRect">
            <a:avLst/>
          </a:prstGeom>
          <a:solidFill>
            <a:srgbClr val="FEB45D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솔루션  마켓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412F8A0-0FB1-4008-B36B-609E247C0028}"/>
              </a:ext>
            </a:extLst>
          </p:cNvPr>
          <p:cNvSpPr/>
          <p:nvPr/>
        </p:nvSpPr>
        <p:spPr>
          <a:xfrm>
            <a:off x="9710738" y="3347510"/>
            <a:ext cx="1471612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진단 보관함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9518B24-694F-4683-B650-63C5FC684769}"/>
              </a:ext>
            </a:extLst>
          </p:cNvPr>
          <p:cNvSpPr/>
          <p:nvPr/>
        </p:nvSpPr>
        <p:spPr>
          <a:xfrm>
            <a:off x="3878263" y="475721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매장 </a:t>
            </a:r>
            <a:r>
              <a:rPr lang="en-US" altLang="ko-KR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MBTI </a:t>
            </a:r>
          </a:p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재분석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2FF6B86-A5FA-497D-A967-C0DD7C822E92}"/>
              </a:ext>
            </a:extLst>
          </p:cNvPr>
          <p:cNvSpPr/>
          <p:nvPr/>
        </p:nvSpPr>
        <p:spPr>
          <a:xfrm>
            <a:off x="9710738" y="4052360"/>
            <a:ext cx="1471612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활동 배지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8FF3BE5-D6DD-494E-BF06-5F8B5A5DB306}"/>
              </a:ext>
            </a:extLst>
          </p:cNvPr>
          <p:cNvSpPr/>
          <p:nvPr/>
        </p:nvSpPr>
        <p:spPr>
          <a:xfrm>
            <a:off x="6802438" y="3347510"/>
            <a:ext cx="1470025" cy="406400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상권 클러스터 맵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BDC9621-5B62-4EDF-B5B5-E6DE9C1A3C50}"/>
              </a:ext>
            </a:extLst>
          </p:cNvPr>
          <p:cNvSpPr/>
          <p:nvPr/>
        </p:nvSpPr>
        <p:spPr>
          <a:xfrm>
            <a:off x="9858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성공 상권  사례</a:t>
            </a:r>
            <a:endParaRPr lang="en-US" altLang="ko-KR" sz="14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29721" name="TextBox 25">
            <a:extLst>
              <a:ext uri="{FF2B5EF4-FFF2-40B4-BE49-F238E27FC236}">
                <a16:creationId xmlns:a16="http://schemas.microsoft.com/office/drawing/2014/main" id="{D2FA1197-FC2F-4367-8A5D-684BFF6A1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863" y="2642660"/>
            <a:ext cx="12271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우리 상권 이름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참여율</a:t>
            </a:r>
          </a:p>
        </p:txBody>
      </p:sp>
      <p:sp>
        <p:nvSpPr>
          <p:cNvPr id="29722" name="TextBox 26">
            <a:extLst>
              <a:ext uri="{FF2B5EF4-FFF2-40B4-BE49-F238E27FC236}">
                <a16:creationId xmlns:a16="http://schemas.microsoft.com/office/drawing/2014/main" id="{FBA3BDB0-866D-4E20-AF7E-7184BF338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325" y="3320523"/>
            <a:ext cx="10334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MBTI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요약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문제 한 줄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55FF0E1-75AB-4014-8F11-F09EDB5B5043}"/>
              </a:ext>
            </a:extLst>
          </p:cNvPr>
          <p:cNvSpPr/>
          <p:nvPr/>
        </p:nvSpPr>
        <p:spPr>
          <a:xfrm>
            <a:off x="6802438" y="4052360"/>
            <a:ext cx="1470025" cy="404813"/>
          </a:xfrm>
          <a:prstGeom prst="roundRect">
            <a:avLst/>
          </a:prstGeom>
          <a:solidFill>
            <a:srgbClr val="B89DF5"/>
          </a:solidFill>
          <a:ln w="19050">
            <a:solidFill>
              <a:srgbClr val="A65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400" dirty="0"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우리 상권 고민</a:t>
            </a:r>
          </a:p>
        </p:txBody>
      </p:sp>
      <p:sp>
        <p:nvSpPr>
          <p:cNvPr id="29724" name="TextBox 28">
            <a:extLst>
              <a:ext uri="{FF2B5EF4-FFF2-40B4-BE49-F238E27FC236}">
                <a16:creationId xmlns:a16="http://schemas.microsoft.com/office/drawing/2014/main" id="{E58E4165-EA5E-4F18-86C5-77191ABCD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8" y="5432429"/>
            <a:ext cx="24558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솔루션 도와줄 수 있는 마켓 제안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B2B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중개 수수료</a:t>
            </a:r>
          </a:p>
        </p:txBody>
      </p:sp>
      <p:sp>
        <p:nvSpPr>
          <p:cNvPr id="29725" name="TextBox 29">
            <a:extLst>
              <a:ext uri="{FF2B5EF4-FFF2-40B4-BE49-F238E27FC236}">
                <a16:creationId xmlns:a16="http://schemas.microsoft.com/office/drawing/2014/main" id="{4C69DD6F-FB47-4B09-B04C-C69C9995B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8200" y="4547660"/>
            <a:ext cx="1863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상권 내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다른 가게 사장님 </a:t>
            </a:r>
            <a:b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</a:rPr>
            </a:b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</a:rPr>
              <a:t>유입 시킬 경우 배지 증정</a:t>
            </a:r>
          </a:p>
        </p:txBody>
      </p:sp>
      <p:sp>
        <p:nvSpPr>
          <p:cNvPr id="29727" name="TextBox 31">
            <a:extLst>
              <a:ext uri="{FF2B5EF4-FFF2-40B4-BE49-F238E27FC236}">
                <a16:creationId xmlns:a16="http://schemas.microsoft.com/office/drawing/2014/main" id="{403E748D-4F8B-45AE-B1EC-CEA90BD0C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864660"/>
            <a:ext cx="722312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1450" indent="-1714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나의 매장이 모여 우리 상권의 이름이 되는 곳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더하기</a:t>
            </a:r>
            <a:endParaRPr lang="en-US" altLang="ko-KR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[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상권 더하기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]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는 파편화된 매장의 데이터를 모아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숨겨진 상권의 가치를 더하고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, </a:t>
            </a:r>
            <a:r>
              <a:rPr lang="ko-KR" altLang="en-US" sz="1200">
                <a:latin typeface="Pretendard" panose="02000503000000020004" pitchFamily="50" charset="-127"/>
                <a:ea typeface="Pretendard" panose="02000503000000020004" pitchFamily="50" charset="-127"/>
              </a:rPr>
              <a:t>지속 가능한 상생의 내일을 만듭니다</a:t>
            </a:r>
            <a:r>
              <a:rPr lang="en-US" altLang="ko-KR" sz="1200">
                <a:latin typeface="Pretendard" panose="02000503000000020004" pitchFamily="50" charset="-127"/>
                <a:ea typeface="Pretendard" panose="02000503000000020004" pitchFamily="50" charset="-127"/>
              </a:rPr>
              <a:t>.</a:t>
            </a:r>
            <a:endParaRPr lang="ko-KR" altLang="en-US" sz="1200"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71BB4BBC-558A-4FCE-9087-F8BB0F945F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4079" y="-369179"/>
            <a:ext cx="4420656" cy="2947104"/>
          </a:xfrm>
          <a:prstGeom prst="rect">
            <a:avLst/>
          </a:prstGeom>
        </p:spPr>
      </p:pic>
      <p:sp>
        <p:nvSpPr>
          <p:cNvPr id="35" name="사각형: 잘린 한쪽 모서리 34">
            <a:extLst>
              <a:ext uri="{FF2B5EF4-FFF2-40B4-BE49-F238E27FC236}">
                <a16:creationId xmlns:a16="http://schemas.microsoft.com/office/drawing/2014/main" id="{6C4C86F4-7DB6-42E4-A6B2-B1DC1CDDA1C1}"/>
              </a:ext>
            </a:extLst>
          </p:cNvPr>
          <p:cNvSpPr/>
          <p:nvPr/>
        </p:nvSpPr>
        <p:spPr>
          <a:xfrm>
            <a:off x="9225023" y="239175"/>
            <a:ext cx="2858946" cy="2050344"/>
          </a:xfrm>
          <a:prstGeom prst="snip1Rect">
            <a:avLst/>
          </a:prstGeom>
          <a:solidFill>
            <a:srgbClr val="FFFF00"/>
          </a:solidFill>
          <a:ln w="3175">
            <a:noFill/>
            <a:miter/>
          </a:ln>
          <a:effectLst/>
        </p:spPr>
        <p:txBody>
          <a:bodyPr lIns="0" tIns="0" rIns="0" bIns="0" rtlCol="0" anchor="ctr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소정이가 </a:t>
            </a:r>
            <a:r>
              <a:rPr lang="en-US" altLang="ko-KR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UI </a:t>
            </a:r>
            <a:r>
              <a:rPr lang="ko-KR" altLang="en-US" sz="1200" dirty="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바꾸면서 </a:t>
            </a:r>
            <a:r>
              <a:rPr lang="ko-KR" altLang="en-US" sz="1200" dirty="0" err="1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바꾸는중</a:t>
            </a:r>
            <a:endParaRPr lang="en-US" altLang="ko-KR" sz="1200" dirty="0"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22AD9C-BAFC-6F43-9AE5-A6EB5267654F}"/>
              </a:ext>
            </a:extLst>
          </p:cNvPr>
          <p:cNvSpPr txBox="1"/>
          <p:nvPr/>
        </p:nvSpPr>
        <p:spPr>
          <a:xfrm>
            <a:off x="452120" y="843280"/>
            <a:ext cx="11287760" cy="5699702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시장성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포지셔닝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상권 분석 시장은 크게 두가지 유형으로 나뉨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첫째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무료 서비스로 데이터 시각화에 치중되어 실제 운영 판단을 사용자가 직접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수행해야함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둘째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민간 유료 서비스의 경우 개별 점포 분석에 한정되어 있음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전체를 하나의 브랜드로 상생하는 서비스는 현재 시장에서 존재하지 않음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타겟 고객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타겟 고객은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서울시 내 골목상권 소상공인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솔루션 마켓 통해 소상공인에게 서비스 제공하려는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B2B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파트너사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차 데이터 축적 이후 상권 활성화 정책 수립을 필요로 하는 서울시 및 자치구 지자체로 확장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브랜딩 실증 효과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로컬브랜드 상권 브랜딩 실증 결과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비지원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대비 매출 증가율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+2.9%,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일부 상권 최대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29%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증가로 시장 수요 검증 완료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정책 연계 가능성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로컬브랜드 상권 육성사업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상권별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년간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억 원 투입으로 공공 예산이 이미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집행중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골목상권 활성화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자치구별 상권 맞춤형 사업 등 상권 브랜딩 관련 정책 수요 지속 확대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상권 분석 서비스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고도화 사업과 방향성 정합으로 공공 협력 가능성 보유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더하기가 축적한 데이터 지자체 정책 수립의 근거 자료로 활용 가능한 공공 자산으로 발전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검증된 수요와 명백한 공백 속에서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더하기는 소상공인부터 지자체까지 연결되는 상권 브랜딩 플랫폼으로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서울시 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1,090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개 골목상권을 실질적으로 공략할 수 있는 시장성을 보유하고 있음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C8A45C7-0C04-2157-9C25-F43A0A84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8880" y="746271"/>
            <a:ext cx="2580640" cy="205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38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23287-8DBC-AF01-016D-16844FF7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80ED46-48DE-1195-F96A-F6FC26F409CA}"/>
              </a:ext>
            </a:extLst>
          </p:cNvPr>
          <p:cNvSpPr txBox="1"/>
          <p:nvPr/>
        </p:nvSpPr>
        <p:spPr>
          <a:xfrm>
            <a:off x="452120" y="700062"/>
            <a:ext cx="11287760" cy="3889976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사업화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비즈니스 모델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더하기의 핵심 운영 구조는 가게가 하나씩 합류할수록 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업데이트되고 브랜딩이 진화하는 살아있는 플랫폼에 있음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진단 무료 제공으로 점주 유입 → 플랫폼 내 광고 수익 발생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솔루션 마켓 내 파트너사 노출 및 정보 제공으로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리스팅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피 수취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축적 이후 지자체 대상 상권 분석 리포트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B2G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납품으로 수익 확장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진입 구조와 확산 구조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무료 진단으로 진입 장벽을 최소화하여 초기 점주 유입을 자연스럽게 유도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한 명의 점주가 합류하면 같은 상권 점주들이 자연스럽게 합류하는 네트워크 효과 작동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정교해질수록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점주들의 이탈 동기가 낮아지는 자연스러운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락인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효과 형성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진입 장벽이 낮고 확산 구조가 내재된 비즈니스 모델로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초기 투자 대비 빠르게 시장을 확보할 수 있으며 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플랫폼 가치가 높아지는 구조로 지속 가능한 사업화 기반을 갖춤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18637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9A113-443E-8EC5-7131-11FE4608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0DEDB8-D03C-EDD8-6B0D-2DA9AE11DA54}"/>
              </a:ext>
            </a:extLst>
          </p:cNvPr>
          <p:cNvSpPr txBox="1"/>
          <p:nvPr/>
        </p:nvSpPr>
        <p:spPr>
          <a:xfrm>
            <a:off x="452120" y="700062"/>
            <a:ext cx="11287760" cy="4407040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 lIns="0" tIns="0" rIns="0" bIns="0" rtlCol="0">
            <a:spAutoFit/>
          </a:bodyPr>
          <a:lstStyle/>
          <a:p>
            <a:pPr marL="285750" indent="-285750" algn="l" latinLnBrk="0">
              <a:lnSpc>
                <a:spcPct val="14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매출 발생 및 투자 가능성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매출 발생 구조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</a:t>
            </a:r>
            <a:r>
              <a:rPr lang="ko-KR" altLang="en-US" sz="1200" b="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수익원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광고 및 파트너사 노출 수수료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장기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B2G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납품 본격화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628650" lvl="1" indent="-1714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경쟁 우위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특정 상권 브랜딩은 해당 상권 점주들의 참여로만 만들어지기 때문에 타 서비스가 복제할 수 없는 고유 데이터 자산 지속 축적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참여 점주 증가는 데이터 축적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브랜딩 고도화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신규 점주 유입의 구조로 후발 진입자가 따라오기 어려운 선점 효과 지님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</a:t>
            </a:r>
            <a:r>
              <a:rPr lang="en-US" altLang="ko-KR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MBTI </a:t>
            </a: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기반 공동 브랜딩이 점주 간 협력 문화를 형성하고 지역 상생으로 이어지는 사회적 가치 실현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상권 더하기 발전 가능성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데이터가 쌓일수록 플랫폼 가치가 높아지는 구조로 선점한 플랫폼이 절대적으로 유리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서울시 공공 정책과 방향성이 일치하여 지자체 납품으로의 자연스러운 수익 확장 경로 확보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742950" lvl="1" indent="-285750">
              <a:lnSpc>
                <a:spcPct val="140000"/>
              </a:lnSpc>
              <a:buFont typeface="맑은 고딕" panose="020B0503020000020004" pitchFamily="50" charset="-127"/>
              <a:buChar char="-"/>
            </a:pPr>
            <a:r>
              <a:rPr lang="ko-KR" altLang="en-US" sz="1200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장기적으로 상권 침체를 사전에 예측하고 선제 대응하는 서울시 상권 조기경보 시스템으로 발전 가능</a:t>
            </a: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40000"/>
              </a:lnSpc>
            </a:pPr>
            <a:endParaRPr lang="en-US" altLang="ko-KR" sz="1200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즉</a:t>
            </a:r>
            <a:r>
              <a:rPr lang="en-US" altLang="ko-KR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초기 광고 수익부터 장기 지자체 납품 까지 명확한 수익 경로를 보유하고 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 algn="ctr">
              <a:lnSpc>
                <a:spcPct val="140000"/>
              </a:lnSpc>
            </a:pPr>
            <a:r>
              <a:rPr lang="ko-KR" altLang="en-US" sz="1200" b="0" dirty="0"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</a:rPr>
              <a:t>소상공인 생존율 향상과 지역 상생이라는 사회적 가치를 동시에 실현하는 서비스</a:t>
            </a:r>
            <a:endParaRPr lang="en-US" altLang="ko-KR" sz="1200" b="0" dirty="0">
              <a:highlight>
                <a:srgbClr val="FFFF00"/>
              </a:highligh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103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9A113-443E-8EC5-7131-11FE4608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잘린 한쪽 모서리 2">
            <a:extLst>
              <a:ext uri="{FF2B5EF4-FFF2-40B4-BE49-F238E27FC236}">
                <a16:creationId xmlns:a16="http://schemas.microsoft.com/office/drawing/2014/main" id="{2288BFFF-2754-4B9B-B88C-5FBC47F93855}"/>
              </a:ext>
            </a:extLst>
          </p:cNvPr>
          <p:cNvSpPr/>
          <p:nvPr/>
        </p:nvSpPr>
        <p:spPr>
          <a:xfrm>
            <a:off x="9225023" y="239175"/>
            <a:ext cx="2858946" cy="2050344"/>
          </a:xfrm>
          <a:prstGeom prst="snip1Rect">
            <a:avLst/>
          </a:prstGeom>
          <a:solidFill>
            <a:srgbClr val="FFFF00"/>
          </a:solidFill>
          <a:ln w="3175">
            <a:noFill/>
            <a:miter/>
          </a:ln>
          <a:effectLst/>
        </p:spPr>
        <p:txBody>
          <a:bodyPr lIns="0" tIns="0" rIns="0" bIns="0" rtlCol="0" anchor="ctr"/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ko-KR" altLang="en-US"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  <a:sym typeface="Gill Sans"/>
              </a:rPr>
              <a:t>참가신청서 내용 넣기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  <a:sym typeface="Gill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0F237-A527-4DA0-AFDB-742D8ED85797}"/>
              </a:ext>
            </a:extLst>
          </p:cNvPr>
          <p:cNvSpPr txBox="1"/>
          <p:nvPr/>
        </p:nvSpPr>
        <p:spPr>
          <a:xfrm>
            <a:off x="194732" y="417688"/>
            <a:ext cx="9618133" cy="6722225"/>
          </a:xfrm>
          <a:prstGeom prst="rect">
            <a:avLst/>
          </a:prstGeom>
          <a:noFill/>
          <a:ln w="9525" algn="ctr">
            <a:noFill/>
            <a:miter/>
          </a:ln>
          <a:effectLst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dirty="0">
                <a:solidFill>
                  <a:srgbClr val="000000"/>
                </a:solidFill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활용방안 </a:t>
            </a:r>
            <a:r>
              <a:rPr lang="en-US" altLang="ko-KR" sz="1200" kern="0" dirty="0">
                <a:solidFill>
                  <a:srgbClr val="000000"/>
                </a:solidFill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200" kern="0" dirty="0">
                <a:solidFill>
                  <a:srgbClr val="000000"/>
                </a:solidFill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</a:t>
            </a:r>
            <a:endParaRPr lang="en-US" altLang="ko-KR" sz="1200" kern="0" spc="0" dirty="0">
              <a:solidFill>
                <a:srgbClr val="000000"/>
              </a:solidFill>
              <a:effectLst/>
              <a:highlight>
                <a:srgbClr val="FFFF00"/>
              </a:highlight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○ 소상공인 대상 데이터 기반 매장 운영 의사결정 지원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소상공인이 입력한 매장 정보와 서울시 공공데이터를 분석해 매장의 성향을 자동으로 진단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시간대별 운영 전략</a:t>
            </a: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 유입 방식 등 구체적인 의사결정 위한 정보를 점주에게 제시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기반 행동 계획으로 전환하는 실질적 도구로 활용 가능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○ 상권 내 점주들의 공동 브랜딩 및 집단 마케팅 기반 마련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내 데이터 누적을 통해 도출된 상권 </a:t>
            </a: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DNA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공동 마케팅과 브랜딩의 기반으로 활용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전체가 하나의 정체성을 가지고 유동인구를 유입시키는 집단적 마케팅 도구로 기능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 간 협력 문화 형성을 통해 상권이 자생적으로 살아나는 구조 구축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○ 지자체의 데이터 기반 상권 정책 수립 근거 자료로 활용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축적된 상권 분석 데이터를 지자체 예산 분배 및 상권 활성화 정책 수립의 실질적인 근거로 제공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지원 대상 선정</a:t>
            </a: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kern="0" spc="0" dirty="0" err="1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상권별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맞춤 정책 설계 등에 활용 가능한 정밀 데이터 공급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공공데이터가 서비스를 통해 정책으로 다시 순환되는 선순환 구조 실현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기대효과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시장성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사회성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공공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이익성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장기성의 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관점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○ 시장성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 기반 운영 솔루션으로 생존 경쟁력 향상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고객 유형 분석과 맞춤 솔루션 제공으로 운영 효율 향상</a:t>
            </a: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점주의 의사결정 부담 감소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공동 브랜딩으로 형성된 상권 정체성이 고객의 재방문율을 높이고 충성 고객층 확보로 이어짐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60%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달하는 소상공인 </a:t>
            </a: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5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내 </a:t>
            </a:r>
            <a:r>
              <a:rPr lang="ko-KR" altLang="en-US" sz="1200" b="0" kern="0" spc="0" dirty="0" err="1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폐업률을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낮추는 실질적 대안으로 소상공인의 높은 수요와 직접 연결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○ 사회성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공동 브랜딩을 매개로 협력 문화 형성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골목상권 공동체 회복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</a:t>
            </a: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DNA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라는 공동의 정체성이 생기면서 점주들이 개별 경쟁에서 벗어나 협력하는 문화로 전환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점주 간 결속이 지역 소비 선순환으로 이어지며 스스로 살아나는 자생적 상권 생태계 구축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침체된 골목상권이 브랜드 경쟁력을 회복하며</a:t>
            </a: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지역 공동체 활성화의 거점으로 재탄생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○ 공공 </a:t>
            </a:r>
            <a:r>
              <a:rPr lang="ko-KR" altLang="en-US" sz="1200" kern="0" spc="0" dirty="0" err="1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이익성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서울시 상권 경제 규모 확대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소상공인 폐업 감소로 서울시 골목상권의 활력을 유지하고 도시 상업 생태계의 지속성 확보</a:t>
            </a:r>
          </a:p>
          <a:p>
            <a:pPr marL="342900" marR="0" lvl="0" indent="-34290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-"/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축적된 상권 데이터가 서울시 정책 수립의 정밀도를 높이는 공공 자산으로 기능하며 도시 경쟁력 강화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상권 브랜딩으로 서울 내 다양한 골목상권이 관광</a:t>
            </a: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소비 자원으로 발전하며 서울시 전체 경제 규모 확대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○ 장기성</a:t>
            </a:r>
            <a:r>
              <a:rPr lang="en-US" altLang="ko-KR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</a:t>
            </a:r>
            <a:r>
              <a:rPr lang="ko-KR" altLang="en-US" sz="120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축적된 데이터 서울시 상권 침체 사전 예측 및 선제 대응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장기간 축적된 상권 데이터 통해 계절</a:t>
            </a:r>
            <a:r>
              <a:rPr lang="en-US" altLang="ko-KR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경기 변화에 따른 상권 트렌드 변화를 패턴으로 읽어내는 것이 가능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단순 현황 파악을 넘어 상권 침체 징후를 조기에 감지하고 선제적으로 대응할 수 있는 서울시 상권 조기경보 시스템으로 발전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0" kern="0" spc="0" dirty="0">
                <a:solidFill>
                  <a:srgbClr val="00000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사후 대응 중심이었던 상권 지원 정책이 데이터 기반 사전 예방 체계로 전환되며 서울시 상권 관리의 새로운 패러다임으로 정착</a:t>
            </a:r>
          </a:p>
        </p:txBody>
      </p:sp>
    </p:spTree>
    <p:extLst>
      <p:ext uri="{BB962C8B-B14F-4D97-AF65-F5344CB8AC3E}">
        <p14:creationId xmlns:p14="http://schemas.microsoft.com/office/powerpoint/2010/main" val="2169461424"/>
      </p:ext>
    </p:extLst>
  </p:cSld>
  <p:clrMapOvr>
    <a:masterClrMapping/>
  </p:clrMapOvr>
</p:sld>
</file>

<file path=ppt/theme/theme1.xml><?xml version="1.0" encoding="utf-8"?>
<a:theme xmlns:a="http://schemas.openxmlformats.org/drawingml/2006/main" name="1_표지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 algn="ctr">
          <a:solidFill>
            <a:schemeClr val="bg1">
              <a:lumMod val="65000"/>
            </a:schemeClr>
          </a:solidFill>
          <a:miter/>
        </a:ln>
        <a:effectLst>
          <a:outerShdw dist="25400" dir="2700000" algn="ctr" rotWithShape="0">
            <a:schemeClr val="bg1">
              <a:lumMod val="65000"/>
            </a:schemeClr>
          </a:outerShdw>
        </a:effectLst>
      </a:spPr>
      <a:bodyPr lIns="36000" tIns="46800" rIns="36000" bIns="46800" anchor="ctr"/>
      <a:lstStyle>
        <a:defPPr fontAlgn="auto" latinLnBrk="0">
          <a:spcBef>
            <a:spcPts val="0"/>
          </a:spcBef>
          <a:spcAft>
            <a:spcPts val="0"/>
          </a:spcAft>
          <a:defRPr sz="1200" kern="0">
            <a:solidFill>
              <a:sysClr val="windowText" lastClr="000000"/>
            </a:solidFill>
            <a:latin typeface="맑은 고딕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>
        <a:spAutoFit/>
      </a:bodyPr>
      <a:lstStyle>
        <a:defPPr latinLnBrk="0">
          <a:lnSpc>
            <a:spcPct val="140000"/>
          </a:lnSpc>
          <a:spcBef>
            <a:spcPct val="0"/>
          </a:spcBef>
          <a:buFont typeface="Verdana"/>
          <a:buNone/>
          <a:defRPr sz="1100" dirty="0">
            <a:solidFill>
              <a:schemeClr val="tx1"/>
            </a:solidFill>
            <a:ea typeface="돋움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내지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85000"/>
            </a:schemeClr>
          </a:solidFill>
          <a:miter/>
        </a:ln>
        <a:effectLst/>
      </a:spPr>
      <a:bodyPr lIns="0" tIns="0" rIns="0" bIns="0" rtlCol="0" anchor="ctr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0" sz="8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latin typeface="+mn-ea"/>
            <a:ea typeface="+mn-ea"/>
            <a:sym typeface="Gill Sans"/>
          </a:defRPr>
        </a:defPPr>
      </a:lstStyle>
    </a:spDef>
    <a:lnDef>
      <a:spPr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</a:ln>
        <a:effectLst/>
      </a:spPr>
      <a:bodyPr/>
      <a:lstStyle/>
    </a:lnDef>
    <a:txDef>
      <a:spPr>
        <a:noFill/>
        <a:ln w="9525" algn="ctr">
          <a:noFill/>
          <a:miter/>
        </a:ln>
        <a:effectLst/>
      </a:spPr>
      <a:bodyPr wrap="none" lIns="0" tIns="0" rIns="0" bIns="0" rtlCol="0">
        <a:spAutoFit/>
      </a:bodyPr>
      <a:lstStyle>
        <a:defPPr algn="l" latinLnBrk="0">
          <a:lnSpc>
            <a:spcPct val="140000"/>
          </a:lnSpc>
          <a:defRPr b="0" dirty="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36234</TotalTime>
  <Words>4580</Words>
  <Application>Microsoft Office PowerPoint</Application>
  <PresentationFormat>와이드스크린</PresentationFormat>
  <Paragraphs>576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41" baseType="lpstr">
      <vt:lpstr>Times New Roman</vt:lpstr>
      <vt:lpstr>맑은 고딕</vt:lpstr>
      <vt:lpstr>Pretendard</vt:lpstr>
      <vt:lpstr>Optima</vt:lpstr>
      <vt:lpstr>나눔고딕</vt:lpstr>
      <vt:lpstr>Wingdings</vt:lpstr>
      <vt:lpstr>맑은 고딕</vt:lpstr>
      <vt:lpstr>Arial</vt:lpstr>
      <vt:lpstr>1_표지</vt:lpstr>
      <vt:lpstr>2_내지1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>YTJ</Manager>
  <Company>SAC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제목 없음</dc:title>
  <dc:subject>작성 표준 양식</dc:subject>
  <dc:creator>mano</dc:creator>
  <cp:lastModifiedBy>이승건(대학원생-비즈니스IT전공)</cp:lastModifiedBy>
  <cp:revision>23350</cp:revision>
  <cp:lastPrinted>2021-04-20T06:28:29Z</cp:lastPrinted>
  <dcterms:created xsi:type="dcterms:W3CDTF">2000-07-20T05:38:02Z</dcterms:created>
  <dcterms:modified xsi:type="dcterms:W3CDTF">2026-05-11T11:48:44Z</dcterms:modified>
</cp:coreProperties>
</file>