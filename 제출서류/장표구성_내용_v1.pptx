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834" r:id="rId1"/>
  </p:sldMasterIdLst>
  <p:notesMasterIdLst>
    <p:notesMasterId r:id="rId11"/>
  </p:notesMasterIdLst>
  <p:handoutMasterIdLst>
    <p:handoutMasterId r:id="rId12"/>
  </p:handoutMasterIdLst>
  <p:sldIdLst>
    <p:sldId id="256" r:id="rId2"/>
    <p:sldId id="267" r:id="rId3"/>
    <p:sldId id="260" r:id="rId4"/>
    <p:sldId id="259" r:id="rId5"/>
    <p:sldId id="261" r:id="rId6"/>
    <p:sldId id="258" r:id="rId7"/>
    <p:sldId id="265" r:id="rId8"/>
    <p:sldId id="264" r:id="rId9"/>
    <p:sldId id="266" r:id="rId10"/>
  </p:sldIdLst>
  <p:sldSz cx="12192000" cy="6858000"/>
  <p:notesSz cx="6797675" cy="9928225"/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sz="1000" b="1" kern="1200">
        <a:solidFill>
          <a:schemeClr val="tx1"/>
        </a:solidFill>
        <a:latin typeface="Arial" panose="020B0604020202020204" pitchFamily="34" charset="0"/>
        <a:ea typeface="굴림" panose="020B0600000101010101" pitchFamily="50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1000" b="1" kern="1200">
        <a:solidFill>
          <a:schemeClr val="tx1"/>
        </a:solidFill>
        <a:latin typeface="Arial" panose="020B0604020202020204" pitchFamily="34" charset="0"/>
        <a:ea typeface="굴림" panose="020B0600000101010101" pitchFamily="50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1000" b="1" kern="1200">
        <a:solidFill>
          <a:schemeClr val="tx1"/>
        </a:solidFill>
        <a:latin typeface="Arial" panose="020B0604020202020204" pitchFamily="34" charset="0"/>
        <a:ea typeface="굴림" panose="020B0600000101010101" pitchFamily="50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1000" b="1" kern="1200">
        <a:solidFill>
          <a:schemeClr val="tx1"/>
        </a:solidFill>
        <a:latin typeface="Arial" panose="020B0604020202020204" pitchFamily="34" charset="0"/>
        <a:ea typeface="굴림" panose="020B0600000101010101" pitchFamily="50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1000" b="1" kern="1200">
        <a:solidFill>
          <a:schemeClr val="tx1"/>
        </a:solidFill>
        <a:latin typeface="Arial" panose="020B0604020202020204" pitchFamily="34" charset="0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sz="1000" b="1" kern="1200">
        <a:solidFill>
          <a:schemeClr val="tx1"/>
        </a:solidFill>
        <a:latin typeface="Arial" panose="020B0604020202020204" pitchFamily="34" charset="0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sz="1000" b="1" kern="1200">
        <a:solidFill>
          <a:schemeClr val="tx1"/>
        </a:solidFill>
        <a:latin typeface="Arial" panose="020B0604020202020204" pitchFamily="34" charset="0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sz="1000" b="1" kern="1200">
        <a:solidFill>
          <a:schemeClr val="tx1"/>
        </a:solidFill>
        <a:latin typeface="Arial" panose="020B0604020202020204" pitchFamily="34" charset="0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sz="1000" b="1" kern="1200">
        <a:solidFill>
          <a:schemeClr val="tx1"/>
        </a:solidFill>
        <a:latin typeface="Arial" panose="020B0604020202020204" pitchFamily="34" charset="0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8">
          <p15:clr>
            <a:srgbClr val="A4A3A4"/>
          </p15:clr>
        </p15:guide>
        <p15:guide id="2" pos="3836">
          <p15:clr>
            <a:srgbClr val="A4A3A4"/>
          </p15:clr>
        </p15:guide>
        <p15:guide id="3" orient="horz" pos="672">
          <p15:clr>
            <a:srgbClr val="A4A3A4"/>
          </p15:clr>
        </p15:guide>
        <p15:guide id="4" orient="horz" pos="1483">
          <p15:clr>
            <a:srgbClr val="A4A3A4"/>
          </p15:clr>
        </p15:guide>
        <p15:guide id="5" orient="horz" pos="1603">
          <p15:clr>
            <a:srgbClr val="A4A3A4"/>
          </p15:clr>
        </p15:guide>
        <p15:guide id="6" orient="horz" pos="612">
          <p15:clr>
            <a:srgbClr val="A4A3A4"/>
          </p15:clr>
        </p15:guide>
        <p15:guide id="7" orient="horz" pos="3873">
          <p15:clr>
            <a:srgbClr val="A4A3A4"/>
          </p15:clr>
        </p15:guide>
        <p15:guide id="8" orient="horz" pos="369">
          <p15:clr>
            <a:srgbClr val="A4A3A4"/>
          </p15:clr>
        </p15:guide>
        <p15:guide id="9" orient="horz" pos="3893">
          <p15:clr>
            <a:srgbClr val="A4A3A4"/>
          </p15:clr>
        </p15:guide>
        <p15:guide id="10" pos="303">
          <p15:clr>
            <a:srgbClr val="A4A3A4"/>
          </p15:clr>
        </p15:guide>
        <p15:guide id="11" pos="2076">
          <p15:clr>
            <a:srgbClr val="A4A3A4"/>
          </p15:clr>
        </p15:guide>
        <p15:guide id="12" pos="4597">
          <p15:clr>
            <a:srgbClr val="A4A3A4"/>
          </p15:clr>
        </p15:guide>
        <p15:guide id="13" pos="1906">
          <p15:clr>
            <a:srgbClr val="A4A3A4"/>
          </p15:clr>
        </p15:guide>
        <p15:guide id="14" pos="3724">
          <p15:clr>
            <a:srgbClr val="A4A3A4"/>
          </p15:clr>
        </p15:guide>
        <p15:guide id="15" pos="6073">
          <p15:clr>
            <a:srgbClr val="A4A3A4"/>
          </p15:clr>
        </p15:guide>
        <p15:guide id="16" pos="2436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DDDDD"/>
    <a:srgbClr val="FF7F82"/>
    <a:srgbClr val="A9A9A9"/>
    <a:srgbClr val="BFBFBF"/>
    <a:srgbClr val="839BD1"/>
    <a:srgbClr val="F2F5FB"/>
    <a:srgbClr val="B7BDCB"/>
    <a:srgbClr val="7F86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75DCB02-9BB8-47FD-8907-85C794F793BA}" styleName="테마 스타일 1 - 강조 4">
    <a:tblBg>
      <a:fillRef idx="2">
        <a:schemeClr val="accent4"/>
      </a:fillRef>
      <a:effectRef idx="1">
        <a:schemeClr val="accent4"/>
      </a:effectRef>
    </a:tblBg>
    <a:wholeTbl>
      <a:tcTxStyle>
        <a:fontRef idx="none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TxStyle/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TxStyle/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none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93296810-A885-4BE3-A3E7-6D5BEEA58F35}" styleName="보통 스타일 2 - 강조 6">
    <a:wholeTbl>
      <a:tcTxStyle>
        <a:fontRef idx="none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none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none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none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none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D5ABB26-0587-4C30-8999-92F81FD0307C}" styleName="스타일 없음, 눈금 없음">
    <a:wholeTbl>
      <a:tcTxStyle>
        <a:fontRef idx="none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보통 스타일 2 - 강조 1">
    <a:wholeTbl>
      <a:tcTxStyle>
        <a:fontRef idx="none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none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none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none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none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보통 스타일 2 - 강조 4">
    <a:wholeTbl>
      <a:tcTxStyle>
        <a:fontRef idx="none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none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none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none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none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3C2FFA5D-87B4-456A-9821-1D502468CF0F}" styleName="테마 스타일 1 - 강조 1">
    <a:tblBg>
      <a:fillRef idx="2">
        <a:schemeClr val="accent1"/>
      </a:fillRef>
      <a:effectRef idx="1">
        <a:schemeClr val="accent1"/>
      </a:effectRef>
    </a:tblBg>
    <a:wholeTbl>
      <a:tcTxStyle>
        <a:fontRef idx="none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TxStyle/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TxStyle/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none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F5AB1C69-6EDB-4FF4-983F-18BD219EF322}" styleName="보통 스타일 2 - 강조 3">
    <a:wholeTbl>
      <a:tcTxStyle>
        <a:fontRef idx="none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none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none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none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none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84E427A-3D55-4303-BF80-6455036E1DE7}" styleName="테마 스타일 1 - 강조 2">
    <a:tblBg>
      <a:fillRef idx="2">
        <a:schemeClr val="accent2"/>
      </a:fillRef>
      <a:effectRef idx="1">
        <a:schemeClr val="accent2"/>
      </a:effectRef>
    </a:tblBg>
    <a:wholeTbl>
      <a:tcTxStyle>
        <a:fontRef idx="none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TxStyle/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TxStyle/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none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21E4AEA4-8DFA-4A89-87EB-49C32662AFE0}" styleName="보통 스타일 2 - 강조 2">
    <a:wholeTbl>
      <a:tcTxStyle>
        <a:fontRef idx="none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none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none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none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none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3B4B98B0-60AC-42C2-AFA5-B58CD77FA1E5}" styleName="밝은 스타일 1 - 강조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955" autoAdjust="0"/>
    <p:restoredTop sz="96074" autoAdjust="0"/>
  </p:normalViewPr>
  <p:slideViewPr>
    <p:cSldViewPr snapToGrid="0" snapToObjects="1">
      <p:cViewPr varScale="1">
        <p:scale>
          <a:sx n="113" d="100"/>
          <a:sy n="113" d="100"/>
        </p:scale>
        <p:origin x="798" y="96"/>
      </p:cViewPr>
      <p:guideLst>
        <p:guide orient="horz" pos="2158"/>
        <p:guide pos="3836"/>
        <p:guide orient="horz" pos="672"/>
        <p:guide orient="horz" pos="1483"/>
        <p:guide orient="horz" pos="1603"/>
        <p:guide orient="horz" pos="612"/>
        <p:guide orient="horz" pos="3873"/>
        <p:guide orient="horz" pos="369"/>
        <p:guide orient="horz" pos="3893"/>
        <p:guide pos="303"/>
        <p:guide pos="2076"/>
        <p:guide pos="4597"/>
        <p:guide pos="1906"/>
        <p:guide pos="3724"/>
        <p:guide pos="6073"/>
        <p:guide pos="243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notesViewPr>
    <p:cSldViewPr snapToGrid="0" snapToObjects="1">
      <p:cViewPr varScale="1">
        <p:scale>
          <a:sx n="93" d="100"/>
          <a:sy n="93" d="100"/>
        </p:scale>
        <p:origin x="3726" y="6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>
            <a:extLst>
              <a:ext uri="{FF2B5EF4-FFF2-40B4-BE49-F238E27FC236}">
                <a16:creationId xmlns:a16="http://schemas.microsoft.com/office/drawing/2014/main" id="{F65DF070-341E-4367-A2CB-77A37ADB569A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xfrm>
            <a:off x="0" y="0"/>
            <a:ext cx="2944813" cy="495300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square" lIns="95594" tIns="47796" rIns="95594" bIns="47796" anchor="t" anchorCtr="0"/>
          <a:lstStyle>
            <a:lvl1pPr defTabSz="955273" eaLnBrk="1" latinLnBrk="1" hangingPunct="1">
              <a:spcBef>
                <a:spcPct val="0"/>
              </a:spcBef>
              <a:defRPr kumimoji="1" sz="1300" b="0" dirty="0"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1683" name="Rectangle 3">
            <a:extLst>
              <a:ext uri="{FF2B5EF4-FFF2-40B4-BE49-F238E27FC236}">
                <a16:creationId xmlns:a16="http://schemas.microsoft.com/office/drawing/2014/main" id="{45A0CD1C-1E26-4A32-893B-313EF1BF9FF9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xfrm>
            <a:off x="3852863" y="0"/>
            <a:ext cx="2944812" cy="495300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square" lIns="95594" tIns="47796" rIns="95594" bIns="47796" anchor="t" anchorCtr="0"/>
          <a:lstStyle>
            <a:lvl1pPr algn="r" defTabSz="955273" eaLnBrk="1" latinLnBrk="1" hangingPunct="1">
              <a:spcBef>
                <a:spcPct val="0"/>
              </a:spcBef>
              <a:defRPr kumimoji="1" sz="1300" b="0" dirty="0"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1684" name="Rectangle 4">
            <a:extLst>
              <a:ext uri="{FF2B5EF4-FFF2-40B4-BE49-F238E27FC236}">
                <a16:creationId xmlns:a16="http://schemas.microsoft.com/office/drawing/2014/main" id="{B32DA378-2BCC-450C-80B5-238E7E16A073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>
          <a:xfrm>
            <a:off x="0" y="9432925"/>
            <a:ext cx="2944813" cy="495300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square" lIns="95594" tIns="47796" rIns="95594" bIns="47796" anchor="b" anchorCtr="0"/>
          <a:lstStyle>
            <a:lvl1pPr defTabSz="955273" eaLnBrk="1" latinLnBrk="1" hangingPunct="1">
              <a:spcBef>
                <a:spcPct val="0"/>
              </a:spcBef>
              <a:defRPr kumimoji="1" sz="1300" b="0" dirty="0"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1685" name="Rectangle 5">
            <a:extLst>
              <a:ext uri="{FF2B5EF4-FFF2-40B4-BE49-F238E27FC236}">
                <a16:creationId xmlns:a16="http://schemas.microsoft.com/office/drawing/2014/main" id="{6304072D-E980-498C-B1E7-5F2E45D691B1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>
          <a:xfrm>
            <a:off x="3852863" y="9432925"/>
            <a:ext cx="2944812" cy="495300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square" lIns="95594" tIns="47796" rIns="95594" bIns="47796" numCol="1" anchor="b" anchorCtr="0" compatLnSpc="1">
            <a:prstTxWarp prst="textNoShape">
              <a:avLst/>
            </a:prstTxWarp>
          </a:bodyPr>
          <a:lstStyle>
            <a:lvl1pPr algn="r" defTabSz="954088" eaLnBrk="1" latinLnBrk="1" hangingPunct="1">
              <a:defRPr kumimoji="1" sz="1300" b="0"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pPr>
              <a:defRPr/>
            </a:pPr>
            <a:fld id="{63DA45C6-56ED-4983-8AA0-8C79D72E1D6F}" type="slidenum">
              <a:rPr lang="en-US" altLang="ko-KR"/>
              <a:pPr>
                <a:defRPr/>
              </a:pPr>
              <a:t>‹#›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54" name="Rectangle 2">
            <a:extLst>
              <a:ext uri="{FF2B5EF4-FFF2-40B4-BE49-F238E27FC236}">
                <a16:creationId xmlns:a16="http://schemas.microsoft.com/office/drawing/2014/main" id="{43C9DE0B-6525-44B8-A9DF-67C769C02CA6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xfrm>
            <a:off x="0" y="0"/>
            <a:ext cx="2944813" cy="495300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square" lIns="95594" tIns="47796" rIns="95594" bIns="47796" anchor="t" anchorCtr="0"/>
          <a:lstStyle>
            <a:lvl1pPr defTabSz="955273" eaLnBrk="1" latinLnBrk="1" hangingPunct="1">
              <a:spcBef>
                <a:spcPct val="50000"/>
              </a:spcBef>
              <a:defRPr kumimoji="1" sz="1300" b="0" dirty="0"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77155" name="Rectangle 3">
            <a:extLst>
              <a:ext uri="{FF2B5EF4-FFF2-40B4-BE49-F238E27FC236}">
                <a16:creationId xmlns:a16="http://schemas.microsoft.com/office/drawing/2014/main" id="{9277EB6C-9E9C-448D-8063-943A89981AD7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>
          <a:xfrm>
            <a:off x="3852863" y="0"/>
            <a:ext cx="2944812" cy="495300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square" lIns="95594" tIns="47796" rIns="95594" bIns="47796" anchor="t" anchorCtr="0"/>
          <a:lstStyle>
            <a:lvl1pPr algn="r" defTabSz="955273" eaLnBrk="1" latinLnBrk="1" hangingPunct="1">
              <a:spcBef>
                <a:spcPct val="50000"/>
              </a:spcBef>
              <a:defRPr kumimoji="1" sz="1300" b="0" dirty="0"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1268" name="Rectangle 4">
            <a:extLst>
              <a:ext uri="{FF2B5EF4-FFF2-40B4-BE49-F238E27FC236}">
                <a16:creationId xmlns:a16="http://schemas.microsoft.com/office/drawing/2014/main" id="{71D477B8-35C4-43EE-820D-031614F956A3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2075" y="742950"/>
            <a:ext cx="6613525" cy="37211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7157" name="Rectangle 5">
            <a:extLst>
              <a:ext uri="{FF2B5EF4-FFF2-40B4-BE49-F238E27FC236}">
                <a16:creationId xmlns:a16="http://schemas.microsoft.com/office/drawing/2014/main" id="{2356BDE1-0093-4319-8273-54E6A743BC88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>
          <a:xfrm>
            <a:off x="906463" y="4714875"/>
            <a:ext cx="4984750" cy="4468813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square" lIns="95594" tIns="47796" rIns="95594" bIns="47796" anchor="t" anchorCtr="0"/>
          <a:lstStyle/>
          <a:p>
            <a:pPr lvl="0"/>
            <a:r>
              <a:rPr lang="ko-KR" altLang="en-US" noProof="0" dirty="0"/>
              <a:t>마스터 텍스트 스타일을 편집합니다</a:t>
            </a:r>
          </a:p>
          <a:p>
            <a:pPr lvl="1"/>
            <a:r>
              <a:rPr lang="ko-KR" altLang="en-US" noProof="0" dirty="0"/>
              <a:t>둘째 수준</a:t>
            </a:r>
          </a:p>
          <a:p>
            <a:pPr lvl="2"/>
            <a:r>
              <a:rPr lang="ko-KR" altLang="en-US" noProof="0" dirty="0"/>
              <a:t>셋째 수준</a:t>
            </a:r>
          </a:p>
          <a:p>
            <a:pPr lvl="3"/>
            <a:r>
              <a:rPr lang="ko-KR" altLang="en-US" noProof="0" dirty="0"/>
              <a:t>넷째 수준</a:t>
            </a:r>
          </a:p>
          <a:p>
            <a:pPr lvl="4"/>
            <a:r>
              <a:rPr lang="ko-KR" altLang="en-US" noProof="0" dirty="0"/>
              <a:t>다섯째 수준</a:t>
            </a:r>
          </a:p>
        </p:txBody>
      </p:sp>
      <p:sp>
        <p:nvSpPr>
          <p:cNvPr id="177158" name="Rectangle 6">
            <a:extLst>
              <a:ext uri="{FF2B5EF4-FFF2-40B4-BE49-F238E27FC236}">
                <a16:creationId xmlns:a16="http://schemas.microsoft.com/office/drawing/2014/main" id="{22AB6045-41C5-4B5A-945A-727B652E05DD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xfrm>
            <a:off x="0" y="9432925"/>
            <a:ext cx="2944813" cy="495300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square" lIns="95594" tIns="47796" rIns="95594" bIns="47796" anchor="b" anchorCtr="0"/>
          <a:lstStyle>
            <a:lvl1pPr defTabSz="955273" eaLnBrk="1" latinLnBrk="1" hangingPunct="1">
              <a:spcBef>
                <a:spcPct val="50000"/>
              </a:spcBef>
              <a:defRPr kumimoji="1" sz="1300" b="0" dirty="0"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77159" name="Rectangle 7">
            <a:extLst>
              <a:ext uri="{FF2B5EF4-FFF2-40B4-BE49-F238E27FC236}">
                <a16:creationId xmlns:a16="http://schemas.microsoft.com/office/drawing/2014/main" id="{155AA4E9-8C62-4ED3-ADE4-F2D6115F9D7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xfrm>
            <a:off x="3852863" y="9432925"/>
            <a:ext cx="2944812" cy="495300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square" lIns="95594" tIns="47796" rIns="95594" bIns="47796" numCol="1" anchor="b" anchorCtr="0" compatLnSpc="1">
            <a:prstTxWarp prst="textNoShape">
              <a:avLst/>
            </a:prstTxWarp>
          </a:bodyPr>
          <a:lstStyle>
            <a:lvl1pPr algn="r" defTabSz="954088" eaLnBrk="1" latinLnBrk="1" hangingPunct="1">
              <a:spcBef>
                <a:spcPct val="50000"/>
              </a:spcBef>
              <a:defRPr kumimoji="1" sz="1300" b="0" smtClean="0"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pPr>
              <a:defRPr/>
            </a:pPr>
            <a:fld id="{6A9F95F4-9487-48DC-AA0F-B00014BA906E}" type="slidenum">
              <a:rPr lang="en-US" altLang="ko-KR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Pretendard" panose="02000503000000020004" pitchFamily="50" charset="-127"/>
        <a:ea typeface="Pretendard" panose="02000503000000020004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Pretendard" panose="02000503000000020004" pitchFamily="50" charset="-127"/>
        <a:ea typeface="Pretendard" panose="02000503000000020004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Pretendard" panose="02000503000000020004" pitchFamily="50" charset="-127"/>
        <a:ea typeface="Pretendard" panose="02000503000000020004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Pretendard" panose="02000503000000020004" pitchFamily="50" charset="-127"/>
        <a:ea typeface="Pretendard" panose="02000503000000020004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Pretendard" panose="02000503000000020004" pitchFamily="50" charset="-127"/>
        <a:ea typeface="Pretendard" panose="02000503000000020004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 화면" preserve="1" userDrawn="1">
  <p:cSld name="1. 서비스 제작배경 및 필요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7">
            <a:extLst>
              <a:ext uri="{FF2B5EF4-FFF2-40B4-BE49-F238E27FC236}">
                <a16:creationId xmlns:a16="http://schemas.microsoft.com/office/drawing/2014/main" id="{20E9692F-6DC8-49CC-A0AA-DBD9C15D98A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27000" y="84138"/>
            <a:ext cx="2889250" cy="3079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>
            <a:spAutoFit/>
          </a:bodyPr>
          <a:lstStyle>
            <a:lvl1pPr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eaLnBrk="1" latinLnBrk="0" hangingPunct="1">
              <a:lnSpc>
                <a:spcPct val="140000"/>
              </a:lnSpc>
              <a:defRPr/>
            </a:pP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</a:rPr>
              <a:t>1. </a:t>
            </a:r>
            <a:r>
              <a:rPr lang="ko-KR" altLang="en-US" sz="1600" dirty="0">
                <a:latin typeface="Pretendard" panose="02000503000000020004" pitchFamily="50" charset="-127"/>
                <a:ea typeface="Pretendard" panose="02000503000000020004" pitchFamily="50" charset="-127"/>
              </a:rPr>
              <a:t>제안배경 및 출품작 소개</a:t>
            </a: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</a:rPr>
              <a:t>(</a:t>
            </a:r>
            <a:r>
              <a:rPr lang="ko-KR" altLang="en-US" sz="1600" dirty="0">
                <a:latin typeface="Pretendard" panose="02000503000000020004" pitchFamily="50" charset="-127"/>
                <a:ea typeface="Pretendard" panose="02000503000000020004" pitchFamily="50" charset="-127"/>
              </a:rPr>
              <a:t>구체성</a:t>
            </a: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</a:rPr>
              <a:t>)</a:t>
            </a:r>
            <a:endParaRPr lang="ko-KR" altLang="en-US" sz="1600" dirty="0">
              <a:latin typeface="Pretendard" panose="02000503000000020004" pitchFamily="50" charset="-127"/>
              <a:ea typeface="Pretendard" panose="020005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443512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 화면" preserve="1" userDrawn="1">
  <p:cSld name="활용 공공데이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7">
            <a:extLst>
              <a:ext uri="{FF2B5EF4-FFF2-40B4-BE49-F238E27FC236}">
                <a16:creationId xmlns:a16="http://schemas.microsoft.com/office/drawing/2014/main" id="{1004A927-1385-4635-8B65-4D7425730237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27000" y="84138"/>
            <a:ext cx="6211888" cy="3079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>
            <a:spAutoFit/>
          </a:bodyPr>
          <a:lstStyle>
            <a:lvl1pPr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eaLnBrk="1" latinLnBrk="0" hangingPunct="1">
              <a:lnSpc>
                <a:spcPct val="140000"/>
              </a:lnSpc>
              <a:defRPr/>
            </a:pP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</a:rPr>
              <a:t>2. </a:t>
            </a:r>
            <a:r>
              <a:rPr lang="ko-KR" altLang="en-US" sz="1600" dirty="0">
                <a:latin typeface="Pretendard" panose="02000503000000020004" pitchFamily="50" charset="-127"/>
                <a:ea typeface="Pretendard" panose="02000503000000020004" pitchFamily="50" charset="-127"/>
              </a:rPr>
              <a:t>출품작 핵심내용</a:t>
            </a: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</a:rPr>
              <a:t>(</a:t>
            </a:r>
            <a:r>
              <a:rPr lang="ko-KR" altLang="en-US" sz="1600" dirty="0">
                <a:latin typeface="Pretendard" panose="02000503000000020004" pitchFamily="50" charset="-127"/>
                <a:ea typeface="Pretendard" panose="02000503000000020004" pitchFamily="50" charset="-127"/>
              </a:rPr>
              <a:t>공공데이터 활용 적정성</a:t>
            </a: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</a:rPr>
              <a:t>, </a:t>
            </a:r>
            <a:r>
              <a:rPr lang="ko-KR" altLang="en-US" sz="1600" dirty="0">
                <a:latin typeface="Pretendard" panose="02000503000000020004" pitchFamily="50" charset="-127"/>
                <a:ea typeface="Pretendard" panose="02000503000000020004" pitchFamily="50" charset="-127"/>
              </a:rPr>
              <a:t>구체성</a:t>
            </a: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</a:rPr>
              <a:t>, </a:t>
            </a:r>
            <a:r>
              <a:rPr lang="ko-KR" altLang="en-US" sz="1600" dirty="0">
                <a:latin typeface="Pretendard" panose="02000503000000020004" pitchFamily="50" charset="-127"/>
                <a:ea typeface="Pretendard" panose="02000503000000020004" pitchFamily="50" charset="-127"/>
              </a:rPr>
              <a:t>실현가능성</a:t>
            </a: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</a:rPr>
              <a:t>, </a:t>
            </a:r>
            <a:r>
              <a:rPr lang="ko-KR" altLang="en-US" sz="1600" dirty="0" err="1">
                <a:latin typeface="Pretendard" panose="02000503000000020004" pitchFamily="50" charset="-127"/>
                <a:ea typeface="Pretendard" panose="02000503000000020004" pitchFamily="50" charset="-127"/>
              </a:rPr>
              <a:t>기술성</a:t>
            </a:r>
            <a:r>
              <a:rPr lang="ko-KR" altLang="en-US" sz="1600" dirty="0">
                <a:latin typeface="Pretendard" panose="02000503000000020004" pitchFamily="50" charset="-127"/>
                <a:ea typeface="Pretendard" panose="02000503000000020004" pitchFamily="50" charset="-127"/>
              </a:rPr>
              <a:t> 등</a:t>
            </a: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</a:rPr>
              <a:t>)</a:t>
            </a:r>
            <a:endParaRPr lang="ko-KR" altLang="en-US" sz="1600" dirty="0">
              <a:latin typeface="Pretendard" panose="02000503000000020004" pitchFamily="50" charset="-127"/>
              <a:ea typeface="Pretendard" panose="020005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79227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 화면" preserve="1" userDrawn="1">
  <p:cSld name="1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7">
            <a:extLst>
              <a:ext uri="{FF2B5EF4-FFF2-40B4-BE49-F238E27FC236}">
                <a16:creationId xmlns:a16="http://schemas.microsoft.com/office/drawing/2014/main" id="{2AFE44E2-9031-4875-9356-E7705A7DF043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27000" y="84138"/>
            <a:ext cx="2876550" cy="3079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>
            <a:spAutoFit/>
          </a:bodyPr>
          <a:lstStyle>
            <a:lvl1pPr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eaLnBrk="1" latinLnBrk="0" hangingPunct="1">
              <a:lnSpc>
                <a:spcPct val="140000"/>
              </a:lnSpc>
              <a:defRPr/>
            </a:pP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</a:rPr>
              <a:t>3. </a:t>
            </a:r>
            <a:r>
              <a:rPr lang="ko-KR" altLang="en-US" sz="1600" dirty="0">
                <a:latin typeface="Pretendard" panose="02000503000000020004" pitchFamily="50" charset="-127"/>
                <a:ea typeface="Pretendard" panose="02000503000000020004" pitchFamily="50" charset="-127"/>
              </a:rPr>
              <a:t>기존 서비스와의 차별성</a:t>
            </a: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</a:rPr>
              <a:t>(</a:t>
            </a:r>
            <a:r>
              <a:rPr lang="ko-KR" altLang="en-US" sz="1600" dirty="0">
                <a:latin typeface="Pretendard" panose="02000503000000020004" pitchFamily="50" charset="-127"/>
                <a:ea typeface="Pretendard" panose="02000503000000020004" pitchFamily="50" charset="-127"/>
              </a:rPr>
              <a:t>독창성</a:t>
            </a: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8193304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 화면" preserve="1" userDrawn="1">
  <p:cSld name="3. 개발과정 및 방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7">
            <a:extLst>
              <a:ext uri="{FF2B5EF4-FFF2-40B4-BE49-F238E27FC236}">
                <a16:creationId xmlns:a16="http://schemas.microsoft.com/office/drawing/2014/main" id="{DD1512B2-4258-46FD-8475-388176C9164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27000" y="84138"/>
            <a:ext cx="3836988" cy="3079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>
            <a:spAutoFit/>
          </a:bodyPr>
          <a:lstStyle>
            <a:lvl1pPr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eaLnBrk="1" latinLnBrk="0" hangingPunct="1">
              <a:lnSpc>
                <a:spcPct val="140000"/>
              </a:lnSpc>
              <a:defRPr/>
            </a:pP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</a:rPr>
              <a:t>4. </a:t>
            </a:r>
            <a:r>
              <a:rPr lang="ko-KR" altLang="en-US" sz="1600" dirty="0">
                <a:latin typeface="Pretendard" panose="02000503000000020004" pitchFamily="50" charset="-127"/>
                <a:ea typeface="Pretendard" panose="02000503000000020004" pitchFamily="50" charset="-127"/>
              </a:rPr>
              <a:t>개발과정 및 방법</a:t>
            </a: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</a:rPr>
              <a:t>(</a:t>
            </a:r>
            <a:r>
              <a:rPr lang="ko-KR" altLang="en-US" sz="1600" dirty="0">
                <a:latin typeface="Pretendard" panose="02000503000000020004" pitchFamily="50" charset="-127"/>
                <a:ea typeface="Pretendard" panose="02000503000000020004" pitchFamily="50" charset="-127"/>
              </a:rPr>
              <a:t>제품 및 서비스개발만 해당</a:t>
            </a: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</a:rPr>
              <a:t>)</a:t>
            </a:r>
            <a:endParaRPr lang="ko-KR" altLang="en-US" sz="1600" dirty="0">
              <a:latin typeface="Pretendard" panose="02000503000000020004" pitchFamily="50" charset="-127"/>
              <a:ea typeface="Pretendard" panose="020005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005708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 화면" preserve="1" userDrawn="1">
  <p:cSld name="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7">
            <a:extLst>
              <a:ext uri="{FF2B5EF4-FFF2-40B4-BE49-F238E27FC236}">
                <a16:creationId xmlns:a16="http://schemas.microsoft.com/office/drawing/2014/main" id="{DFDD3E95-1CF8-4380-8F75-76BD4384908A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27000" y="84138"/>
            <a:ext cx="2992438" cy="3079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>
            <a:spAutoFit/>
          </a:bodyPr>
          <a:lstStyle>
            <a:lvl1pPr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eaLnBrk="1" latinLnBrk="0" hangingPunct="1">
              <a:lnSpc>
                <a:spcPct val="140000"/>
              </a:lnSpc>
              <a:defRPr/>
            </a:pP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</a:rPr>
              <a:t>5. IA(Information Architecture)</a:t>
            </a:r>
            <a:endParaRPr lang="ko-KR" altLang="en-US" sz="1600" dirty="0">
              <a:latin typeface="Pretendard" panose="02000503000000020004" pitchFamily="50" charset="-127"/>
              <a:ea typeface="Pretendard" panose="020005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069212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 화면" preserve="1" userDrawn="1">
  <p:cSld name="6. 서비스 활용방안 및 기대효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7">
            <a:extLst>
              <a:ext uri="{FF2B5EF4-FFF2-40B4-BE49-F238E27FC236}">
                <a16:creationId xmlns:a16="http://schemas.microsoft.com/office/drawing/2014/main" id="{BB82DBD5-00A0-416A-9298-5BFAD56B4D2F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27000" y="84138"/>
            <a:ext cx="5964238" cy="3079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>
            <a:spAutoFit/>
          </a:bodyPr>
          <a:lstStyle>
            <a:lvl1pPr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eaLnBrk="1" latinLnBrk="0" hangingPunct="1">
              <a:lnSpc>
                <a:spcPct val="140000"/>
              </a:lnSpc>
              <a:defRPr/>
            </a:pP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</a:rPr>
              <a:t>6. </a:t>
            </a:r>
            <a:r>
              <a:rPr lang="ko-KR" altLang="en-US" sz="1600" dirty="0">
                <a:latin typeface="Pretendard" panose="02000503000000020004" pitchFamily="50" charset="-127"/>
                <a:ea typeface="Pretendard" panose="02000503000000020004" pitchFamily="50" charset="-127"/>
              </a:rPr>
              <a:t>출품작의 창업</a:t>
            </a: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</a:rPr>
              <a:t>(</a:t>
            </a:r>
            <a:r>
              <a:rPr lang="ko-KR" altLang="en-US" sz="1600" dirty="0">
                <a:latin typeface="Pretendard" panose="02000503000000020004" pitchFamily="50" charset="-127"/>
                <a:ea typeface="Pretendard" panose="02000503000000020004" pitchFamily="50" charset="-127"/>
              </a:rPr>
              <a:t>사업화</a:t>
            </a: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</a:rPr>
              <a:t>, </a:t>
            </a:r>
            <a:r>
              <a:rPr lang="ko-KR" altLang="en-US" sz="1600" dirty="0">
                <a:latin typeface="Pretendard" panose="02000503000000020004" pitchFamily="50" charset="-127"/>
                <a:ea typeface="Pretendard" panose="02000503000000020004" pitchFamily="50" charset="-127"/>
              </a:rPr>
              <a:t>시장성</a:t>
            </a: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</a:rPr>
              <a:t>), </a:t>
            </a:r>
            <a:r>
              <a:rPr lang="ko-KR" altLang="en-US" sz="1600" dirty="0">
                <a:latin typeface="Pretendard" panose="02000503000000020004" pitchFamily="50" charset="-127"/>
                <a:ea typeface="Pretendard" panose="02000503000000020004" pitchFamily="50" charset="-127"/>
              </a:rPr>
              <a:t>매출 발생 및 투자가능성</a:t>
            </a: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</a:rPr>
              <a:t>(</a:t>
            </a:r>
            <a:r>
              <a:rPr lang="ko-KR" altLang="en-US" sz="1600" dirty="0">
                <a:latin typeface="Pretendard" panose="02000503000000020004" pitchFamily="50" charset="-127"/>
                <a:ea typeface="Pretendard" panose="02000503000000020004" pitchFamily="50" charset="-127"/>
              </a:rPr>
              <a:t>발전 가능성</a:t>
            </a: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</a:rPr>
              <a:t>)</a:t>
            </a:r>
            <a:endParaRPr lang="ko-KR" altLang="en-US" sz="1600" dirty="0">
              <a:latin typeface="Pretendard" panose="02000503000000020004" pitchFamily="50" charset="-127"/>
              <a:ea typeface="Pretendard" panose="020005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917076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 화면" preserve="1" userDrawn="1">
  <p:cSld name="1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7">
            <a:extLst>
              <a:ext uri="{FF2B5EF4-FFF2-40B4-BE49-F238E27FC236}">
                <a16:creationId xmlns:a16="http://schemas.microsoft.com/office/drawing/2014/main" id="{B3F3DD5A-1C8A-4606-92B4-A2ADAC7FA83D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27000" y="84138"/>
            <a:ext cx="4818063" cy="3079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>
            <a:spAutoFit/>
          </a:bodyPr>
          <a:lstStyle>
            <a:lvl1pPr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eaLnBrk="1" latinLnBrk="0" hangingPunct="1">
              <a:lnSpc>
                <a:spcPct val="140000"/>
              </a:lnSpc>
              <a:defRPr/>
            </a:pP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</a:rPr>
              <a:t>7. </a:t>
            </a:r>
            <a:r>
              <a:rPr lang="ko-KR" altLang="en-US" sz="1600" dirty="0">
                <a:latin typeface="Pretendard" panose="02000503000000020004" pitchFamily="50" charset="-127"/>
                <a:ea typeface="Pretendard" panose="02000503000000020004" pitchFamily="50" charset="-127"/>
              </a:rPr>
              <a:t>출품작 상용에 따른 파급효과</a:t>
            </a: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</a:rPr>
              <a:t>(</a:t>
            </a:r>
            <a:r>
              <a:rPr lang="ko-KR" altLang="en-US" sz="1600" dirty="0">
                <a:latin typeface="Pretendard" panose="02000503000000020004" pitchFamily="50" charset="-127"/>
                <a:ea typeface="Pretendard" panose="02000503000000020004" pitchFamily="50" charset="-127"/>
              </a:rPr>
              <a:t>기대효과</a:t>
            </a: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</a:rPr>
              <a:t>, </a:t>
            </a:r>
            <a:r>
              <a:rPr lang="ko-KR" altLang="en-US" sz="1600" dirty="0">
                <a:latin typeface="Pretendard" panose="02000503000000020004" pitchFamily="50" charset="-127"/>
                <a:ea typeface="Pretendard" panose="02000503000000020004" pitchFamily="50" charset="-127"/>
              </a:rPr>
              <a:t>사회적 가치 창출</a:t>
            </a: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</a:rPr>
              <a:t>)</a:t>
            </a:r>
            <a:endParaRPr lang="ko-KR" altLang="en-US" sz="1600" dirty="0">
              <a:latin typeface="Pretendard" panose="02000503000000020004" pitchFamily="50" charset="-127"/>
              <a:ea typeface="Pretendard" panose="020005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392661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 화면" preserve="1" userDrawn="1">
  <p:cSld name="7. 개발 툴 및 참고문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7">
            <a:extLst>
              <a:ext uri="{FF2B5EF4-FFF2-40B4-BE49-F238E27FC236}">
                <a16:creationId xmlns:a16="http://schemas.microsoft.com/office/drawing/2014/main" id="{53526137-8D1B-4D81-A9F8-67CA227F36D0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27000" y="84138"/>
            <a:ext cx="4048125" cy="3079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>
            <a:spAutoFit/>
          </a:bodyPr>
          <a:lstStyle>
            <a:lvl1pPr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eaLnBrk="1" latinLnBrk="0" hangingPunct="1">
              <a:lnSpc>
                <a:spcPct val="140000"/>
              </a:lnSpc>
              <a:defRPr/>
            </a:pP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</a:rPr>
              <a:t>7. </a:t>
            </a:r>
            <a:r>
              <a:rPr lang="ko-KR" altLang="en-US" sz="1600" dirty="0">
                <a:latin typeface="Pretendard" panose="02000503000000020004" pitchFamily="50" charset="-127"/>
                <a:ea typeface="Pretendard" panose="02000503000000020004" pitchFamily="50" charset="-127"/>
              </a:rPr>
              <a:t>개발 툴 및 참고문헌</a:t>
            </a: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</a:rPr>
              <a:t>(</a:t>
            </a:r>
            <a:r>
              <a:rPr lang="ko-KR" altLang="en-US" sz="1600" dirty="0">
                <a:latin typeface="Pretendard" panose="02000503000000020004" pitchFamily="50" charset="-127"/>
                <a:ea typeface="Pretendard" panose="02000503000000020004" pitchFamily="50" charset="-127"/>
              </a:rPr>
              <a:t>제품 및 서비스개발만 해당</a:t>
            </a: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</a:rPr>
              <a:t>)</a:t>
            </a:r>
            <a:endParaRPr lang="ko-KR" altLang="en-US" sz="1600" dirty="0">
              <a:latin typeface="Pretendard" panose="02000503000000020004" pitchFamily="50" charset="-127"/>
              <a:ea typeface="Pretendard" panose="020005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895384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9_기본 디자인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직사각형 15">
            <a:extLst>
              <a:ext uri="{FF2B5EF4-FFF2-40B4-BE49-F238E27FC236}">
                <a16:creationId xmlns:a16="http://schemas.microsoft.com/office/drawing/2014/main" id="{E289CBA3-FDDF-4113-9432-3D7B17F87A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8350" y="106363"/>
            <a:ext cx="3276600" cy="24606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eaLnBrk="1" hangingPunct="1">
              <a:defRPr/>
            </a:pPr>
            <a:r>
              <a:rPr lang="en-US" altLang="ko-KR" b="0" dirty="0">
                <a:latin typeface="Pretendard" panose="02000503000000020004" pitchFamily="50" charset="-127"/>
                <a:ea typeface="Pretendard" panose="02000503000000020004" pitchFamily="50" charset="-127"/>
              </a:rPr>
              <a:t>2026</a:t>
            </a:r>
            <a:r>
              <a:rPr lang="ko-KR" altLang="en-US" b="0" dirty="0">
                <a:latin typeface="Pretendard" panose="02000503000000020004" pitchFamily="50" charset="-127"/>
                <a:ea typeface="Pretendard" panose="02000503000000020004" pitchFamily="50" charset="-127"/>
              </a:rPr>
              <a:t>년 서울시 빅데이터 활용 경진대회</a:t>
            </a:r>
            <a:r>
              <a:rPr lang="en-US" altLang="ko-KR" b="0" dirty="0">
                <a:latin typeface="Pretendard" panose="02000503000000020004" pitchFamily="50" charset="-127"/>
                <a:ea typeface="Pretendard" panose="02000503000000020004" pitchFamily="50" charset="-127"/>
              </a:rPr>
              <a:t>(</a:t>
            </a:r>
            <a:r>
              <a:rPr lang="ko-KR" altLang="en-US" b="0" dirty="0">
                <a:latin typeface="Pretendard" panose="02000503000000020004" pitchFamily="50" charset="-127"/>
                <a:ea typeface="Pretendard" panose="02000503000000020004" pitchFamily="50" charset="-127"/>
              </a:rPr>
              <a:t>서울 열린데이터광장</a:t>
            </a:r>
            <a:r>
              <a:rPr lang="en-US" altLang="ko-KR" b="0" dirty="0">
                <a:latin typeface="Pretendard" panose="02000503000000020004" pitchFamily="50" charset="-127"/>
                <a:ea typeface="Pretendard" panose="02000503000000020004" pitchFamily="50" charset="-127"/>
              </a:rPr>
              <a:t>)</a:t>
            </a:r>
            <a:endParaRPr lang="ko-KR" altLang="en-US" b="0" dirty="0">
              <a:latin typeface="Pretendard" panose="02000503000000020004" pitchFamily="50" charset="-127"/>
              <a:ea typeface="Pretendard" panose="02000503000000020004" pitchFamily="50" charset="-127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2B1AC150-33DE-4BB4-A40F-D7220710849A}"/>
              </a:ext>
            </a:extLst>
          </p:cNvPr>
          <p:cNvSpPr/>
          <p:nvPr/>
        </p:nvSpPr>
        <p:spPr>
          <a:xfrm>
            <a:off x="8337550" y="107950"/>
            <a:ext cx="50800" cy="244475"/>
          </a:xfrm>
          <a:prstGeom prst="rect">
            <a:avLst/>
          </a:prstGeom>
          <a:solidFill>
            <a:srgbClr val="E8E8E8"/>
          </a:solidFill>
          <a:ln w="25400">
            <a:solidFill>
              <a:srgbClr val="FEFFFE"/>
            </a:solidFill>
            <a:miter/>
          </a:ln>
          <a:effectLst/>
        </p:spPr>
        <p:txBody>
          <a:bodyPr lIns="0" tIns="0" rIns="0" bIns="0" anchor="ctr"/>
          <a:lstStyle/>
          <a:p>
            <a:pPr algn="ctr" defTabSz="1080135" eaLnBrk="1" hangingPunct="1">
              <a:defRPr/>
            </a:pPr>
            <a:endParaRPr lang="ko-KR" altLang="en-US" sz="2000" b="0" spc="5" dirty="0">
              <a:solidFill>
                <a:srgbClr val="000000"/>
              </a:solidFill>
              <a:latin typeface="Pretendard" panose="02000503000000020004" pitchFamily="50" charset="-127"/>
              <a:ea typeface="Pretendard" panose="02000503000000020004" pitchFamily="50" charset="-127"/>
            </a:endParaRPr>
          </a:p>
        </p:txBody>
      </p:sp>
      <p:sp>
        <p:nvSpPr>
          <p:cNvPr id="5" name="Text Box 3">
            <a:extLst>
              <a:ext uri="{FF2B5EF4-FFF2-40B4-BE49-F238E27FC236}">
                <a16:creationId xmlns:a16="http://schemas.microsoft.com/office/drawing/2014/main" id="{B2B798FB-19AC-429B-A127-D10754097EE5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6616700"/>
            <a:ext cx="12192000" cy="223838"/>
          </a:xfrm>
          <a:prstGeom prst="rect">
            <a:avLst/>
          </a:prstGeom>
          <a:noFill/>
          <a:ln>
            <a:noFill/>
          </a:ln>
        </p:spPr>
        <p:txBody>
          <a:bodyPr anchor="ctr"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ctr">
              <a:lnSpc>
                <a:spcPct val="101000"/>
              </a:lnSpc>
              <a:spcBef>
                <a:spcPct val="50000"/>
              </a:spcBef>
              <a:defRPr/>
            </a:pPr>
            <a:r>
              <a:rPr kumimoji="1" lang="en-US" altLang="ko-KR" sz="900" b="0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- </a:t>
            </a:r>
            <a:fld id="{9FA08651-405C-44B8-B710-91BD47940B55}" type="slidenum">
              <a:rPr kumimoji="1" lang="en-US" altLang="ko-KR" sz="900" b="0" smtClean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pPr algn="ctr">
                <a:lnSpc>
                  <a:spcPct val="101000"/>
                </a:lnSpc>
                <a:spcBef>
                  <a:spcPct val="50000"/>
                </a:spcBef>
                <a:defRPr/>
              </a:pPr>
              <a:t>‹#›</a:t>
            </a:fld>
            <a:r>
              <a:rPr kumimoji="1" lang="en-US" altLang="ko-KR" sz="900" b="0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 -</a:t>
            </a: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380520E7-DD5B-455E-ACB3-9F2C14819AEE}"/>
              </a:ext>
            </a:extLst>
          </p:cNvPr>
          <p:cNvCxnSpPr/>
          <p:nvPr userDrawn="1"/>
        </p:nvCxnSpPr>
        <p:spPr>
          <a:xfrm>
            <a:off x="119063" y="476250"/>
            <a:ext cx="11953875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bg1">
                <a:lumMod val="65000"/>
              </a:schemeClr>
            </a:solidFill>
            <a:prstDash val="solid"/>
            <a:round/>
          </a:ln>
          <a:effectLst/>
        </p:spPr>
      </p:cxnSp>
      <p:pic>
        <p:nvPicPr>
          <p:cNvPr id="2054" name="그림 6">
            <a:extLst>
              <a:ext uri="{FF2B5EF4-FFF2-40B4-BE49-F238E27FC236}">
                <a16:creationId xmlns:a16="http://schemas.microsoft.com/office/drawing/2014/main" id="{115E4D90-EBEE-4AE2-9826-D090C143135C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43775" y="120650"/>
            <a:ext cx="947738" cy="21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183" r:id="rId1"/>
    <p:sldLayoutId id="2147484184" r:id="rId2"/>
    <p:sldLayoutId id="2147484185" r:id="rId3"/>
    <p:sldLayoutId id="2147484186" r:id="rId4"/>
    <p:sldLayoutId id="2147484187" r:id="rId5"/>
    <p:sldLayoutId id="2147484188" r:id="rId6"/>
    <p:sldLayoutId id="2147484189" r:id="rId7"/>
    <p:sldLayoutId id="2147484190" r:id="rId8"/>
  </p:sldLayoutIdLst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chemeClr val="tx1"/>
          </a:solidFill>
          <a:latin typeface="맑은 고딕"/>
          <a:ea typeface="맑은 고딕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chemeClr val="tx1"/>
          </a:solidFill>
          <a:latin typeface="맑은 고딕"/>
          <a:ea typeface="맑은 고딕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chemeClr val="tx1"/>
          </a:solidFill>
          <a:latin typeface="맑은 고딕"/>
          <a:ea typeface="맑은 고딕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chemeClr val="tx1"/>
          </a:solidFill>
          <a:latin typeface="맑은 고딕"/>
          <a:ea typeface="맑은 고딕"/>
        </a:defRPr>
      </a:lvl5pPr>
      <a:lvl6pPr marL="457200" algn="r" rtl="0" fontAlgn="base" latinLnBrk="1">
        <a:spcBef>
          <a:spcPct val="0"/>
        </a:spcBef>
        <a:spcAft>
          <a:spcPct val="0"/>
        </a:spcAft>
        <a:defRPr kumimoji="1" sz="2000" b="1">
          <a:solidFill>
            <a:schemeClr val="bg1"/>
          </a:solidFill>
          <a:latin typeface="Optima"/>
          <a:ea typeface="굴림"/>
        </a:defRPr>
      </a:lvl6pPr>
      <a:lvl7pPr marL="914400" algn="r" rtl="0" fontAlgn="base" latinLnBrk="1">
        <a:spcBef>
          <a:spcPct val="0"/>
        </a:spcBef>
        <a:spcAft>
          <a:spcPct val="0"/>
        </a:spcAft>
        <a:defRPr kumimoji="1" sz="2000" b="1">
          <a:solidFill>
            <a:schemeClr val="bg1"/>
          </a:solidFill>
          <a:latin typeface="Optima"/>
          <a:ea typeface="굴림"/>
        </a:defRPr>
      </a:lvl7pPr>
      <a:lvl8pPr marL="1371600" algn="r" rtl="0" fontAlgn="base" latinLnBrk="1">
        <a:spcBef>
          <a:spcPct val="0"/>
        </a:spcBef>
        <a:spcAft>
          <a:spcPct val="0"/>
        </a:spcAft>
        <a:defRPr kumimoji="1" sz="2000" b="1">
          <a:solidFill>
            <a:schemeClr val="bg1"/>
          </a:solidFill>
          <a:latin typeface="Optima"/>
          <a:ea typeface="굴림"/>
        </a:defRPr>
      </a:lvl8pPr>
      <a:lvl9pPr marL="1828800" algn="r" rtl="0" fontAlgn="base" latinLnBrk="1">
        <a:spcBef>
          <a:spcPct val="0"/>
        </a:spcBef>
        <a:spcAft>
          <a:spcPct val="0"/>
        </a:spcAft>
        <a:defRPr kumimoji="1" sz="2000" b="1">
          <a:solidFill>
            <a:schemeClr val="bg1"/>
          </a:solidFill>
          <a:latin typeface="Optima"/>
          <a:ea typeface="굴림"/>
        </a:defRPr>
      </a:lvl9pPr>
    </p:titleStyle>
    <p:bodyStyle>
      <a:lvl1pPr marL="342900" indent="-342900" algn="l" rtl="0" eaLnBrk="0" fontAlgn="base" latinLnBrk="1" hangingPunct="0">
        <a:lnSpc>
          <a:spcPct val="110000"/>
        </a:lnSpc>
        <a:spcBef>
          <a:spcPct val="20000"/>
        </a:spcBef>
        <a:spcAft>
          <a:spcPct val="0"/>
        </a:spcAft>
        <a:defRPr kumimoji="1" sz="1600" b="1">
          <a:solidFill>
            <a:schemeClr val="tx1"/>
          </a:solidFill>
          <a:latin typeface="+mn-lt"/>
          <a:ea typeface="+mn-ea"/>
          <a:cs typeface="+mn-cs"/>
        </a:defRPr>
      </a:lvl1pPr>
      <a:lvl2pPr marL="542925" indent="-1588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Times New Roman"/>
          <a:ea typeface="+mn-ea"/>
        </a:defRPr>
      </a:lvl2pPr>
      <a:lvl3pPr marL="990600" indent="-762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1600">
          <a:solidFill>
            <a:schemeClr val="tx1"/>
          </a:solidFill>
          <a:latin typeface="Times New Roman"/>
          <a:ea typeface="+mn-ea"/>
        </a:defRPr>
      </a:lvl3pPr>
      <a:lvl4pPr marL="1438275" indent="-23813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1400">
          <a:solidFill>
            <a:schemeClr val="tx1"/>
          </a:solidFill>
          <a:latin typeface="Times New Roman"/>
          <a:ea typeface="+mn-ea"/>
        </a:defRPr>
      </a:lvl4pPr>
      <a:lvl5pPr marL="1790700" indent="381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1400">
          <a:solidFill>
            <a:schemeClr val="tx1"/>
          </a:solidFill>
          <a:latin typeface="Times New Roman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Times New Roman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Times New Roman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Times New Roman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Times New Roman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D7024AD-57AD-141E-ED86-D5C39CDE780F}"/>
              </a:ext>
            </a:extLst>
          </p:cNvPr>
          <p:cNvSpPr txBox="1"/>
          <p:nvPr/>
        </p:nvSpPr>
        <p:spPr>
          <a:xfrm>
            <a:off x="452120" y="843280"/>
            <a:ext cx="11536680" cy="4950266"/>
          </a:xfrm>
          <a:prstGeom prst="rect">
            <a:avLst/>
          </a:prstGeom>
          <a:noFill/>
          <a:ln w="9525" algn="ctr">
            <a:noFill/>
            <a:miter/>
          </a:ln>
          <a:effectLst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문제 인식</a:t>
            </a:r>
            <a:endParaRPr lang="en-US" altLang="ko-KR" sz="12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>
              <a:lnSpc>
                <a:spcPct val="150000"/>
              </a:lnSpc>
              <a:buFont typeface="맑은 고딕" panose="020B0503020000020004" pitchFamily="50" charset="-127"/>
              <a:buChar char="-"/>
            </a:pPr>
            <a:r>
              <a:rPr lang="ko-KR" altLang="en-US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서울시 소상공인 창업 후 </a:t>
            </a:r>
            <a:r>
              <a:rPr lang="en-US" altLang="ko-KR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5</a:t>
            </a:r>
            <a:r>
              <a:rPr lang="ko-KR" altLang="en-US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년 내 </a:t>
            </a:r>
            <a:r>
              <a:rPr lang="ko-KR" altLang="en-US" sz="1200" b="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폐업률</a:t>
            </a:r>
            <a:r>
              <a:rPr lang="ko-KR" altLang="en-US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약 </a:t>
            </a:r>
            <a:r>
              <a:rPr lang="en-US" altLang="ko-KR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60%</a:t>
            </a:r>
            <a:r>
              <a:rPr lang="ko-KR" altLang="en-US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에 달하며 골목상권 쇠퇴가 가속화되고 있음 </a:t>
            </a:r>
            <a:r>
              <a:rPr lang="en-US" altLang="ko-KR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실제 기사자료</a:t>
            </a:r>
            <a:r>
              <a:rPr lang="en-US" altLang="ko-KR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1</a:t>
            </a:r>
            <a:r>
              <a:rPr lang="ko-KR" altLang="en-US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개</a:t>
            </a:r>
            <a:r>
              <a:rPr lang="en-US" altLang="ko-KR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200" b="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폐업률</a:t>
            </a:r>
            <a:r>
              <a:rPr lang="en-US" altLang="ko-KR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〮</a:t>
            </a:r>
            <a:r>
              <a:rPr lang="ko-KR" altLang="en-US" sz="1200" b="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쇠퇴율</a:t>
            </a:r>
            <a:r>
              <a:rPr lang="ko-KR" altLang="en-US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수치가 담긴 도표 넣기</a:t>
            </a:r>
            <a:r>
              <a:rPr lang="en-US" altLang="ko-KR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endParaRPr lang="en-US" altLang="ko-KR" sz="1200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>
              <a:lnSpc>
                <a:spcPct val="150000"/>
              </a:lnSpc>
              <a:buFont typeface="맑은 고딕" panose="020B0503020000020004" pitchFamily="50" charset="-127"/>
              <a:buChar char="-"/>
            </a:pPr>
            <a:r>
              <a:rPr lang="ko-KR" altLang="en-US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그러나 계속 활성화 되는 상권이 존재함</a:t>
            </a:r>
            <a:r>
              <a:rPr lang="en-US" altLang="ko-KR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유동인구 많은 상권의 특징은 개별 가게가 잘된 것이 아닌 상권 전체가 하나의 정체성과 브랜드로 움직임</a:t>
            </a:r>
            <a:br>
              <a:rPr lang="en-US" altLang="ko-KR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lang="en-US" altLang="ko-KR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유동인구 많은 상권</a:t>
            </a:r>
            <a:r>
              <a:rPr lang="en-US" altLang="ko-KR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특징</a:t>
            </a:r>
            <a:r>
              <a:rPr lang="en-US" altLang="ko-KR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ex) </a:t>
            </a:r>
            <a:r>
              <a:rPr lang="ko-KR" altLang="en-US" sz="1200" b="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힙지로</a:t>
            </a:r>
            <a:r>
              <a:rPr lang="en-US" altLang="ko-KR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을지로 인쇄골목 상인들이 함께 문화 정체성 </a:t>
            </a:r>
            <a:r>
              <a:rPr lang="ko-KR" altLang="en-US" sz="1200" b="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만들어냄</a:t>
            </a:r>
            <a:r>
              <a:rPr lang="en-US" altLang="ko-KR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성수동</a:t>
            </a:r>
            <a:r>
              <a:rPr lang="en-US" altLang="ko-KR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개별 가게가 아닌 성수동이라는 브랜드 자체가 소비 이유</a:t>
            </a:r>
            <a:r>
              <a:rPr lang="en-US" altLang="ko-KR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  <a:p>
            <a:pPr marL="171450" indent="-171450">
              <a:lnSpc>
                <a:spcPct val="150000"/>
              </a:lnSpc>
              <a:buFont typeface="맑은 고딕" panose="020B0503020000020004" pitchFamily="50" charset="-127"/>
              <a:buChar char="-"/>
            </a:pPr>
            <a:r>
              <a:rPr lang="ko-KR" altLang="en-US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실제로 연남동 방문자의 방문 이유는 </a:t>
            </a:r>
            <a:r>
              <a:rPr lang="en-US" altLang="ko-KR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‘</a:t>
            </a:r>
            <a:r>
              <a:rPr lang="ko-KR" altLang="en-US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상권 분위기</a:t>
            </a:r>
            <a:r>
              <a:rPr lang="en-US" altLang="ko-KR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’</a:t>
            </a:r>
            <a:r>
              <a:rPr lang="ko-KR" altLang="en-US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를 꼽았음</a:t>
            </a:r>
            <a:r>
              <a:rPr lang="en-US" altLang="ko-KR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(</a:t>
            </a:r>
            <a:r>
              <a:rPr lang="ko-KR" altLang="en-US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이거도 언급을 뒷받침해줄 수 있는 시각자료가 있으면 좋을 듯함</a:t>
            </a:r>
            <a:r>
              <a:rPr lang="en-US" altLang="ko-KR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  <a:p>
            <a:pPr marL="171450" indent="-171450">
              <a:lnSpc>
                <a:spcPct val="150000"/>
              </a:lnSpc>
              <a:buFont typeface="맑은 고딕" panose="020B0503020000020004" pitchFamily="50" charset="-127"/>
              <a:buChar char="-"/>
            </a:pPr>
            <a:r>
              <a:rPr lang="ko-KR" altLang="en-US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서울시 로컬브랜드 육성사업 결과 브랜딩을 받은 상권은 </a:t>
            </a:r>
            <a:r>
              <a:rPr lang="ko-KR" altLang="en-US" sz="1200" b="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비지원</a:t>
            </a:r>
            <a:r>
              <a:rPr lang="ko-KR" altLang="en-US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상권보다 매출증가율이 </a:t>
            </a:r>
            <a:r>
              <a:rPr lang="en-US" altLang="ko-KR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2.9% </a:t>
            </a:r>
            <a:r>
              <a:rPr lang="ko-KR" altLang="en-US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높았고 일부는 </a:t>
            </a:r>
            <a:r>
              <a:rPr lang="en-US" altLang="ko-KR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r>
              <a:rPr lang="ko-KR" altLang="en-US" sz="1200" b="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년차</a:t>
            </a:r>
            <a:r>
              <a:rPr lang="ko-KR" altLang="en-US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매출이 최대 </a:t>
            </a:r>
            <a:r>
              <a:rPr lang="en-US" altLang="ko-KR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29% </a:t>
            </a:r>
            <a:r>
              <a:rPr lang="ko-KR" altLang="en-US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증가함 </a:t>
            </a:r>
            <a:r>
              <a:rPr lang="en-US" altLang="ko-KR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자료 필요</a:t>
            </a:r>
            <a:r>
              <a:rPr lang="en-US" altLang="ko-KR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  <a:p>
            <a:pPr>
              <a:lnSpc>
                <a:spcPct val="150000"/>
              </a:lnSpc>
            </a:pPr>
            <a:endParaRPr lang="en-US" altLang="ko-KR" sz="1200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문제 발생 원인</a:t>
            </a:r>
            <a:endParaRPr lang="en-US" altLang="ko-KR" sz="12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>
              <a:lnSpc>
                <a:spcPct val="150000"/>
              </a:lnSpc>
              <a:buFont typeface="맑은 고딕" panose="020B0503020000020004" pitchFamily="50" charset="-127"/>
              <a:buChar char="-"/>
            </a:pPr>
            <a:r>
              <a:rPr lang="ko-KR" altLang="en-US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살아난 상권과 쇠퇴하는 상권의 차이는 개별 점포의 역량도 있지만</a:t>
            </a:r>
            <a:r>
              <a:rPr lang="en-US" altLang="ko-KR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소상공인이 각자 고립되어 경쟁하는 구조 속에서 상권 전체를 하나의 브랜드로 묶어 함께 성장하는 실행 체계가 없음</a:t>
            </a:r>
            <a:endParaRPr lang="en-US" altLang="ko-KR" sz="1200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>
              <a:lnSpc>
                <a:spcPct val="150000"/>
              </a:lnSpc>
              <a:buFont typeface="맑은 고딕" panose="020B0503020000020004" pitchFamily="50" charset="-127"/>
              <a:buChar char="-"/>
            </a:pPr>
            <a:r>
              <a:rPr lang="ko-KR" altLang="en-US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기존 상권 분석 서비스는 개별 점포 단위 분석에만 집중하여 상권 단위의 연결성이 부재하며</a:t>
            </a:r>
            <a:r>
              <a:rPr lang="en-US" altLang="ko-KR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소상공인이 스스로 이를 만들어낼 데이터와 수단이 없음 </a:t>
            </a:r>
            <a:r>
              <a:rPr lang="en-US" altLang="ko-KR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현기가 찾은 서비스</a:t>
            </a:r>
            <a:r>
              <a:rPr lang="en-US" altLang="ko-KR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br>
              <a:rPr lang="en-US" altLang="ko-KR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endParaRPr lang="en-US" altLang="ko-KR" sz="1200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서울시 정책</a:t>
            </a:r>
            <a:endParaRPr lang="en-US" altLang="ko-KR" sz="12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>
              <a:lnSpc>
                <a:spcPct val="150000"/>
              </a:lnSpc>
              <a:buFont typeface="맑은 고딕" panose="020B0503020000020004" pitchFamily="50" charset="-127"/>
              <a:buChar char="-"/>
            </a:pPr>
            <a:r>
              <a:rPr lang="ko-KR" altLang="en-US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서울시는 로컬브랜드 상권 육성사업</a:t>
            </a:r>
            <a:r>
              <a:rPr lang="en-US" altLang="ko-KR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골목상권 활성화 정책</a:t>
            </a:r>
            <a:r>
              <a:rPr lang="en-US" altLang="ko-KR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상권분석서비스 </a:t>
            </a:r>
            <a:r>
              <a:rPr lang="en-US" altLang="ko-KR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AI</a:t>
            </a:r>
            <a:r>
              <a:rPr lang="ko-KR" altLang="en-US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고도화 등 상권 브랜딩 관련 정책과 예산을 본격적으로 집행하고 있음</a:t>
            </a:r>
            <a:endParaRPr lang="en-US" altLang="ko-KR" sz="1200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>
              <a:lnSpc>
                <a:spcPct val="150000"/>
              </a:lnSpc>
              <a:buFont typeface="맑은 고딕" panose="020B0503020000020004" pitchFamily="50" charset="-127"/>
              <a:buChar char="-"/>
            </a:pPr>
            <a:r>
              <a:rPr lang="ko-KR" altLang="en-US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그러나</a:t>
            </a:r>
            <a:r>
              <a:rPr lang="en-US" altLang="ko-KR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0000</a:t>
            </a:r>
            <a:r>
              <a:rPr lang="ko-KR" altLang="en-US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는 부족함 </a:t>
            </a:r>
            <a:r>
              <a:rPr lang="en-US" altLang="ko-KR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지원 대상의 한계</a:t>
            </a:r>
            <a:r>
              <a:rPr lang="en-US" altLang="ko-KR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접근성 낮음 등</a:t>
            </a:r>
            <a:r>
              <a:rPr lang="en-US" altLang="ko-KR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br>
              <a:rPr lang="en-US" altLang="ko-KR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endParaRPr lang="en-US" altLang="ko-KR" sz="1200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제안 배경</a:t>
            </a:r>
            <a:r>
              <a:rPr lang="en-US" altLang="ko-KR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서울시 공공데이터와 </a:t>
            </a:r>
            <a:r>
              <a:rPr lang="en-US" altLang="ko-KR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AI </a:t>
            </a:r>
            <a:r>
              <a:rPr lang="ko-KR" altLang="en-US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기술을 활용하여 개별 매장 분석에서 출발해 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상권 전체의 브랜딩</a:t>
            </a:r>
            <a:r>
              <a:rPr lang="ko-KR" altLang="en-US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으로 연결되는 플랫폼의 필요성을 느낌</a:t>
            </a:r>
            <a:endParaRPr lang="en-US" altLang="ko-KR" sz="1200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841E5D5-AB17-E9B3-8F8E-675690FEBBF0}"/>
              </a:ext>
            </a:extLst>
          </p:cNvPr>
          <p:cNvSpPr/>
          <p:nvPr/>
        </p:nvSpPr>
        <p:spPr>
          <a:xfrm>
            <a:off x="10058400" y="182880"/>
            <a:ext cx="1930400" cy="77216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accent6"/>
            </a:solidFill>
            <a:miter/>
          </a:ln>
          <a:effectLst/>
        </p:spPr>
        <p:txBody>
          <a:bodyPr lIns="0" tIns="0" rIns="0" bIns="0" rtlCol="0" anchor="ctr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ko-KR" sz="1400" dirty="0">
                <a:latin typeface="+mn-ea"/>
                <a:ea typeface="+mn-ea"/>
                <a:sym typeface="Gill Sans"/>
              </a:rPr>
              <a:t>5</a:t>
            </a:r>
            <a:r>
              <a:rPr kumimoji="0" lang="ko-KR" altLang="en-US" sz="1400" i="0" u="none" strike="noStrike" kern="1200" cap="none" spc="0" normalizeH="0" baseline="0" noProof="0" dirty="0">
                <a:ln>
                  <a:noFill/>
                </a:ln>
                <a:latin typeface="+mn-ea"/>
                <a:ea typeface="+mn-ea"/>
                <a:sym typeface="Gill Sans"/>
              </a:rPr>
              <a:t>장</a:t>
            </a:r>
          </a:p>
        </p:txBody>
      </p:sp>
    </p:spTree>
    <p:extLst>
      <p:ext uri="{BB962C8B-B14F-4D97-AF65-F5344CB8AC3E}">
        <p14:creationId xmlns:p14="http://schemas.microsoft.com/office/powerpoint/2010/main" val="30687061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338909-E3A6-7998-2CD0-B13BF83146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25D4C58-E623-B1A3-4C1C-A27B9577856A}"/>
              </a:ext>
            </a:extLst>
          </p:cNvPr>
          <p:cNvSpPr txBox="1"/>
          <p:nvPr/>
        </p:nvSpPr>
        <p:spPr>
          <a:xfrm>
            <a:off x="452120" y="843280"/>
            <a:ext cx="11536680" cy="1072281"/>
          </a:xfrm>
          <a:prstGeom prst="rect">
            <a:avLst/>
          </a:prstGeom>
          <a:noFill/>
          <a:ln w="9525" algn="ctr">
            <a:noFill/>
            <a:miter/>
          </a:ln>
          <a:effectLst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출품작 소개</a:t>
            </a:r>
            <a:endParaRPr lang="en-US" altLang="ko-KR" sz="12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>
              <a:lnSpc>
                <a:spcPct val="150000"/>
              </a:lnSpc>
              <a:buFont typeface="맑은 고딕" panose="020B0503020000020004" pitchFamily="50" charset="-127"/>
              <a:buChar char="-"/>
            </a:pPr>
            <a:r>
              <a:rPr lang="ko-KR" altLang="en-US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어떤 사용자에게 어떤 가치를 제공하는지</a:t>
            </a:r>
            <a:r>
              <a:rPr lang="en-US" altLang="ko-KR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(3</a:t>
            </a:r>
            <a:r>
              <a:rPr lang="ko-KR" altLang="en-US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가지 기능→ 통합 가치 </a:t>
            </a:r>
            <a:r>
              <a:rPr lang="en-US" altLang="ko-KR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줄</a:t>
            </a:r>
            <a:r>
              <a:rPr lang="en-US" altLang="ko-KR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 + </a:t>
            </a:r>
            <a:r>
              <a:rPr lang="ko-KR" altLang="en-US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페르소나 넣으면 좋을 것 같음</a:t>
            </a:r>
            <a:endParaRPr lang="en-US" altLang="ko-KR" sz="1200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>
              <a:lnSpc>
                <a:spcPct val="150000"/>
              </a:lnSpc>
              <a:buFont typeface="맑은 고딕" panose="020B0503020000020004" pitchFamily="50" charset="-127"/>
              <a:buChar char="-"/>
            </a:pPr>
            <a:r>
              <a:rPr lang="ko-KR" altLang="en-US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서울시 공공데이터와 </a:t>
            </a:r>
            <a:r>
              <a:rPr lang="en-US" altLang="ko-KR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AI </a:t>
            </a:r>
            <a:r>
              <a:rPr lang="ko-KR" altLang="en-US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기술을 활용해 개별 매장 마켓 성향 진단에서 출발해 상권 전체의</a:t>
            </a:r>
            <a:r>
              <a:rPr lang="en-US" altLang="ko-KR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마켓 성향을 도출하고 공동 브랜딩 솔루션을 제안하는 상권 활성화 플랫폼</a:t>
            </a:r>
            <a:endParaRPr lang="en-US" altLang="ko-KR" sz="1200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>
              <a:lnSpc>
                <a:spcPct val="150000"/>
              </a:lnSpc>
              <a:buFont typeface="맑은 고딕" panose="020B0503020000020004" pitchFamily="50" charset="-127"/>
              <a:buChar char="-"/>
            </a:pPr>
            <a:r>
              <a:rPr lang="ko-KR" altLang="en-US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나의 매장이 모여 상권의 이름이 되는 곳</a:t>
            </a:r>
            <a:r>
              <a:rPr lang="en-US" altLang="ko-KR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파편화된 매장 데이터를 모아 숨겨진 상권의 가치를 더하고 지속 가능한 상생을 만듦</a:t>
            </a:r>
            <a:endParaRPr lang="en-US" altLang="ko-KR" sz="1200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07590655-3777-FBB4-EBB3-CA0A079769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7322067"/>
              </p:ext>
            </p:extLst>
          </p:nvPr>
        </p:nvGraphicFramePr>
        <p:xfrm>
          <a:off x="1102360" y="2570480"/>
          <a:ext cx="9987279" cy="1930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28567">
                  <a:extLst>
                    <a:ext uri="{9D8B030D-6E8A-4147-A177-3AD203B41FA5}">
                      <a16:colId xmlns:a16="http://schemas.microsoft.com/office/drawing/2014/main" val="2868996428"/>
                    </a:ext>
                  </a:extLst>
                </a:gridCol>
                <a:gridCol w="4129356">
                  <a:extLst>
                    <a:ext uri="{9D8B030D-6E8A-4147-A177-3AD203B41FA5}">
                      <a16:colId xmlns:a16="http://schemas.microsoft.com/office/drawing/2014/main" val="1767183450"/>
                    </a:ext>
                  </a:extLst>
                </a:gridCol>
                <a:gridCol w="4129356">
                  <a:extLst>
                    <a:ext uri="{9D8B030D-6E8A-4147-A177-3AD203B41FA5}">
                      <a16:colId xmlns:a16="http://schemas.microsoft.com/office/drawing/2014/main" val="31740808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/>
                        <a:t>구분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/>
                        <a:t>AS-IS</a:t>
                      </a:r>
                      <a:endParaRPr lang="ko-KR" altLang="en-US" sz="1000" b="1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/>
                        <a:t>TO-BE</a:t>
                      </a:r>
                      <a:endParaRPr lang="ko-KR" altLang="en-US" sz="1000" b="1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6742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데이터 활용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개별 점포 분석 가능하지만</a:t>
                      </a:r>
                      <a:r>
                        <a:rPr lang="en-US" altLang="ko-KR" sz="1000" dirty="0"/>
                        <a:t>, </a:t>
                      </a:r>
                      <a:r>
                        <a:rPr lang="ko-KR" altLang="en-US" sz="1000" dirty="0"/>
                        <a:t>상권 전체 아우르는 </a:t>
                      </a:r>
                      <a:endParaRPr lang="en-US" altLang="ko-KR" sz="1000" dirty="0"/>
                    </a:p>
                    <a:p>
                      <a:pPr algn="ctr" latinLnBrk="1"/>
                      <a:r>
                        <a:rPr lang="ko-KR" altLang="en-US" sz="1000" dirty="0"/>
                        <a:t>통합 솔루션으로 연결성 부족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개별 매장 </a:t>
                      </a:r>
                      <a:r>
                        <a:rPr lang="en-US" altLang="ko-KR" sz="1000" dirty="0"/>
                        <a:t>MBTI </a:t>
                      </a:r>
                      <a:r>
                        <a:rPr lang="ko-KR" altLang="en-US" sz="1000" dirty="0"/>
                        <a:t>분석에서 상권 브랜딩까지 </a:t>
                      </a:r>
                      <a:endParaRPr lang="en-US" altLang="ko-KR" sz="1000" dirty="0"/>
                    </a:p>
                    <a:p>
                      <a:pPr algn="ctr" latinLnBrk="1"/>
                      <a:r>
                        <a:rPr lang="ko-KR" altLang="en-US" sz="1000" dirty="0"/>
                        <a:t>연결되는 통합 솔루션 제공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630460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상권 구조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개별 점포 고립 경쟁</a:t>
                      </a:r>
                      <a:r>
                        <a:rPr lang="en-US" altLang="ko-KR" sz="1000" dirty="0"/>
                        <a:t>, </a:t>
                      </a:r>
                      <a:r>
                        <a:rPr lang="ko-KR" altLang="en-US" sz="1000" dirty="0"/>
                        <a:t>점주 간 연결 구조 없음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상권 </a:t>
                      </a:r>
                      <a:r>
                        <a:rPr lang="en-US" altLang="ko-KR" sz="1000" dirty="0"/>
                        <a:t>MBTI </a:t>
                      </a:r>
                      <a:r>
                        <a:rPr lang="ko-KR" altLang="en-US" sz="1000" dirty="0"/>
                        <a:t>기반 공동 브랜딩 및 협력 구조로 전환</a:t>
                      </a:r>
                      <a:endParaRPr lang="en-US" altLang="ko-KR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17273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상권 정체성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자생적 이미지는 있으나 체계적으로 </a:t>
                      </a:r>
                      <a:endParaRPr lang="en-US" altLang="ko-KR" sz="1000" dirty="0"/>
                    </a:p>
                    <a:p>
                      <a:pPr algn="ctr" latinLnBrk="1"/>
                      <a:r>
                        <a:rPr lang="ko-KR" altLang="en-US" sz="1000" dirty="0" err="1"/>
                        <a:t>관리〮활용되지</a:t>
                      </a:r>
                      <a:r>
                        <a:rPr lang="ko-KR" altLang="en-US" sz="1000" dirty="0"/>
                        <a:t> 못함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데이터 기반 상권 브랜딩으로 정체성을 구조화 </a:t>
                      </a:r>
                      <a:endParaRPr lang="en-US" altLang="ko-KR" sz="1000" dirty="0"/>
                    </a:p>
                    <a:p>
                      <a:pPr algn="ctr" latinLnBrk="1"/>
                      <a:r>
                        <a:rPr lang="ko-KR" altLang="en-US" sz="1000" dirty="0"/>
                        <a:t>및 지속적으로 고도화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713090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상권 문제 대응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매출 </a:t>
                      </a:r>
                      <a:r>
                        <a:rPr lang="ko-KR" altLang="en-US" sz="1000" dirty="0" err="1"/>
                        <a:t>하락〮유동인구</a:t>
                      </a:r>
                      <a:r>
                        <a:rPr lang="ko-KR" altLang="en-US" sz="1000" dirty="0"/>
                        <a:t> 감소 등 </a:t>
                      </a:r>
                      <a:endParaRPr lang="en-US" altLang="ko-KR" sz="1000" dirty="0"/>
                    </a:p>
                    <a:p>
                      <a:pPr algn="ctr" latinLnBrk="1"/>
                      <a:r>
                        <a:rPr lang="ko-KR" altLang="en-US" sz="1000" dirty="0"/>
                        <a:t>문제 발생 시 개별 대응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err="1"/>
                        <a:t>개별〮상권</a:t>
                      </a:r>
                      <a:r>
                        <a:rPr lang="ko-KR" altLang="en-US" sz="1000" dirty="0"/>
                        <a:t> 단위로 문제를 동시에 파악하고 </a:t>
                      </a:r>
                      <a:endParaRPr lang="en-US" altLang="ko-KR" sz="1000" dirty="0"/>
                    </a:p>
                    <a:p>
                      <a:pPr algn="ctr" latinLnBrk="1"/>
                      <a:r>
                        <a:rPr lang="ko-KR" altLang="en-US" sz="1000" dirty="0"/>
                        <a:t>공동 솔루션으로 함께 대응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354023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459382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44E24D4-ABF3-2BD5-30CA-06652D8AA69E}"/>
              </a:ext>
            </a:extLst>
          </p:cNvPr>
          <p:cNvSpPr txBox="1"/>
          <p:nvPr/>
        </p:nvSpPr>
        <p:spPr>
          <a:xfrm>
            <a:off x="452120" y="843280"/>
            <a:ext cx="11287760" cy="4119269"/>
          </a:xfrm>
          <a:prstGeom prst="rect">
            <a:avLst/>
          </a:prstGeom>
          <a:noFill/>
          <a:ln w="9525" algn="ctr">
            <a:noFill/>
            <a:miter/>
          </a:ln>
          <a:effectLst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ko-KR" altLang="en-US" sz="1200" dirty="0">
                <a:latin typeface="+mn-ea"/>
                <a:ea typeface="+mn-ea"/>
              </a:rPr>
              <a:t>앞에서 소개한 </a:t>
            </a:r>
            <a:r>
              <a:rPr kumimoji="1" lang="en-US" altLang="ko-KR" sz="1200" dirty="0">
                <a:latin typeface="+mn-ea"/>
                <a:ea typeface="+mn-ea"/>
              </a:rPr>
              <a:t>3</a:t>
            </a:r>
            <a:r>
              <a:rPr kumimoji="1" lang="ko-KR" altLang="en-US" sz="1200" dirty="0">
                <a:latin typeface="+mn-ea"/>
                <a:ea typeface="+mn-ea"/>
              </a:rPr>
              <a:t>가지 기능 구현을 위해 필요한 데이터 </a:t>
            </a:r>
            <a:r>
              <a:rPr kumimoji="1" lang="en-US" altLang="ko-KR" sz="1200" dirty="0">
                <a:latin typeface="+mn-ea"/>
                <a:ea typeface="+mn-ea"/>
              </a:rPr>
              <a:t>(1</a:t>
            </a:r>
            <a:r>
              <a:rPr kumimoji="1" lang="ko-KR" altLang="en-US" sz="1200" dirty="0">
                <a:latin typeface="+mn-ea"/>
                <a:ea typeface="+mn-ea"/>
              </a:rPr>
              <a:t>장</a:t>
            </a:r>
            <a:r>
              <a:rPr kumimoji="1" lang="en-US" altLang="ko-KR" sz="1200" dirty="0">
                <a:latin typeface="+mn-ea"/>
                <a:ea typeface="+mn-ea"/>
              </a:rPr>
              <a:t>)</a:t>
            </a:r>
          </a:p>
          <a:p>
            <a:pPr>
              <a:lnSpc>
                <a:spcPct val="150000"/>
              </a:lnSpc>
            </a:pPr>
            <a:endParaRPr kumimoji="1" lang="en-US" altLang="ko-KR" sz="1200" b="0" dirty="0">
              <a:latin typeface="+mn-ea"/>
              <a:ea typeface="+mn-ea"/>
            </a:endParaRPr>
          </a:p>
          <a:p>
            <a:pPr>
              <a:lnSpc>
                <a:spcPct val="150000"/>
              </a:lnSpc>
            </a:pPr>
            <a:r>
              <a:rPr kumimoji="1" lang="ko-KR" altLang="en-US" sz="1200" dirty="0">
                <a:latin typeface="+mn-ea"/>
                <a:ea typeface="+mn-ea"/>
              </a:rPr>
              <a:t>데이터를 어떻게 활용해서 </a:t>
            </a:r>
            <a:r>
              <a:rPr kumimoji="1" lang="en-US" altLang="ko-KR" sz="1200" dirty="0">
                <a:latin typeface="+mn-ea"/>
                <a:ea typeface="+mn-ea"/>
              </a:rPr>
              <a:t>AI </a:t>
            </a:r>
            <a:r>
              <a:rPr kumimoji="1" lang="ko-KR" altLang="en-US" sz="1200" dirty="0">
                <a:latin typeface="+mn-ea"/>
                <a:ea typeface="+mn-ea"/>
              </a:rPr>
              <a:t>모델을 구축했는지 </a:t>
            </a:r>
            <a:r>
              <a:rPr kumimoji="1" lang="en-US" altLang="ko-KR" sz="1200" dirty="0">
                <a:latin typeface="+mn-ea"/>
                <a:ea typeface="+mn-ea"/>
              </a:rPr>
              <a:t>(4~5</a:t>
            </a:r>
            <a:r>
              <a:rPr kumimoji="1" lang="ko-KR" altLang="en-US" sz="1200" dirty="0">
                <a:latin typeface="+mn-ea"/>
                <a:ea typeface="+mn-ea"/>
              </a:rPr>
              <a:t>장</a:t>
            </a:r>
            <a:r>
              <a:rPr kumimoji="1" lang="en-US" altLang="ko-KR" sz="1200" dirty="0">
                <a:latin typeface="+mn-ea"/>
                <a:ea typeface="+mn-ea"/>
              </a:rPr>
              <a:t>)</a:t>
            </a:r>
          </a:p>
          <a:p>
            <a:pPr marL="171450" indent="-171450">
              <a:lnSpc>
                <a:spcPct val="150000"/>
              </a:lnSpc>
              <a:buFont typeface="맑은 고딕" panose="020B0503020000020004" pitchFamily="50" charset="-127"/>
              <a:buChar char="-"/>
            </a:pPr>
            <a:r>
              <a:rPr kumimoji="1" lang="ko-KR" altLang="en-US" sz="1200" b="0" dirty="0">
                <a:latin typeface="+mn-ea"/>
                <a:ea typeface="+mn-ea"/>
              </a:rPr>
              <a:t>에이전트 </a:t>
            </a:r>
            <a:r>
              <a:rPr kumimoji="1" lang="en-US" altLang="ko-KR" sz="1200" b="0" dirty="0">
                <a:latin typeface="+mn-ea"/>
                <a:ea typeface="+mn-ea"/>
              </a:rPr>
              <a:t>4</a:t>
            </a:r>
            <a:r>
              <a:rPr kumimoji="1" lang="ko-KR" altLang="en-US" sz="1200" b="0" dirty="0">
                <a:latin typeface="+mn-ea"/>
                <a:ea typeface="+mn-ea"/>
              </a:rPr>
              <a:t>개에 대한 내용 </a:t>
            </a:r>
            <a:r>
              <a:rPr kumimoji="1" lang="en-US" altLang="ko-KR" sz="1200" b="0" dirty="0">
                <a:latin typeface="+mn-ea"/>
                <a:ea typeface="+mn-ea"/>
              </a:rPr>
              <a:t>(</a:t>
            </a:r>
            <a:r>
              <a:rPr kumimoji="1" lang="ko-KR" altLang="en-US" sz="1200" b="0" dirty="0">
                <a:latin typeface="+mn-ea"/>
                <a:ea typeface="+mn-ea"/>
              </a:rPr>
              <a:t>차별성에 있는 거 앞으로 가져와도 좋을 것 같음</a:t>
            </a:r>
            <a:r>
              <a:rPr kumimoji="1" lang="en-US" altLang="ko-KR" sz="1200" b="0" dirty="0">
                <a:latin typeface="+mn-ea"/>
                <a:ea typeface="+mn-ea"/>
              </a:rPr>
              <a:t>)</a:t>
            </a:r>
          </a:p>
          <a:p>
            <a:pPr marL="171450" indent="-171450">
              <a:lnSpc>
                <a:spcPct val="150000"/>
              </a:lnSpc>
              <a:buFont typeface="맑은 고딕" panose="020B0503020000020004" pitchFamily="50" charset="-127"/>
              <a:buChar char="-"/>
            </a:pPr>
            <a:r>
              <a:rPr kumimoji="1" lang="ko-KR" altLang="en-US" sz="1200" b="0" dirty="0">
                <a:latin typeface="+mn-ea"/>
                <a:ea typeface="+mn-ea"/>
              </a:rPr>
              <a:t>공공데이터가 모델에 어떻게 입력되고 활용되는지도 함께 나타나기</a:t>
            </a:r>
            <a:endParaRPr kumimoji="1" lang="en-US" altLang="ko-KR" sz="1200" b="0" dirty="0">
              <a:latin typeface="+mn-ea"/>
              <a:ea typeface="+mn-ea"/>
            </a:endParaRPr>
          </a:p>
          <a:p>
            <a:pPr>
              <a:lnSpc>
                <a:spcPct val="150000"/>
              </a:lnSpc>
            </a:pPr>
            <a:endParaRPr kumimoji="1" lang="en-US" altLang="ko-KR" sz="1200" b="0" dirty="0">
              <a:latin typeface="+mn-ea"/>
              <a:ea typeface="+mn-ea"/>
            </a:endParaRPr>
          </a:p>
          <a:p>
            <a:pPr>
              <a:lnSpc>
                <a:spcPct val="150000"/>
              </a:lnSpc>
            </a:pPr>
            <a:r>
              <a:rPr kumimoji="1" lang="ko-KR" altLang="en-US" sz="1200" dirty="0">
                <a:latin typeface="+mn-ea"/>
                <a:ea typeface="+mn-ea"/>
              </a:rPr>
              <a:t>위와 같은 모델로 최종적으로 사용자에게 어떻게 제시되는지 </a:t>
            </a:r>
            <a:r>
              <a:rPr kumimoji="1" lang="en-US" altLang="ko-KR" sz="1200" dirty="0">
                <a:latin typeface="+mn-ea"/>
                <a:ea typeface="+mn-ea"/>
              </a:rPr>
              <a:t>– </a:t>
            </a:r>
            <a:r>
              <a:rPr kumimoji="1" lang="ko-KR" altLang="en-US" sz="1200" dirty="0">
                <a:latin typeface="+mn-ea"/>
                <a:ea typeface="+mn-ea"/>
              </a:rPr>
              <a:t>전체 시나리오 </a:t>
            </a:r>
            <a:r>
              <a:rPr kumimoji="1" lang="en-US" altLang="ko-KR" sz="1200" dirty="0">
                <a:latin typeface="+mn-ea"/>
                <a:ea typeface="+mn-ea"/>
              </a:rPr>
              <a:t>(1</a:t>
            </a:r>
            <a:r>
              <a:rPr kumimoji="1" lang="ko-KR" altLang="en-US" sz="1200" dirty="0">
                <a:latin typeface="+mn-ea"/>
                <a:ea typeface="+mn-ea"/>
              </a:rPr>
              <a:t>장</a:t>
            </a:r>
            <a:r>
              <a:rPr kumimoji="1" lang="en-US" altLang="ko-KR" sz="1200" dirty="0">
                <a:latin typeface="+mn-ea"/>
                <a:ea typeface="+mn-ea"/>
              </a:rPr>
              <a:t>)</a:t>
            </a:r>
          </a:p>
          <a:p>
            <a:pPr>
              <a:lnSpc>
                <a:spcPct val="150000"/>
              </a:lnSpc>
            </a:pPr>
            <a:endParaRPr kumimoji="1" lang="en-US" altLang="ko-KR" sz="1200" dirty="0">
              <a:latin typeface="+mn-ea"/>
              <a:ea typeface="+mn-ea"/>
            </a:endParaRPr>
          </a:p>
          <a:p>
            <a:pPr>
              <a:lnSpc>
                <a:spcPct val="150000"/>
              </a:lnSpc>
            </a:pPr>
            <a:r>
              <a:rPr kumimoji="1" lang="ko-KR" altLang="en-US" sz="1200" dirty="0">
                <a:latin typeface="+mn-ea"/>
                <a:ea typeface="+mn-ea"/>
              </a:rPr>
              <a:t>서비스 상세 설명</a:t>
            </a:r>
            <a:r>
              <a:rPr kumimoji="1" lang="en-US" altLang="ko-KR" sz="1200" dirty="0">
                <a:latin typeface="+mn-ea"/>
                <a:ea typeface="+mn-ea"/>
              </a:rPr>
              <a:t>(UI</a:t>
            </a:r>
            <a:r>
              <a:rPr kumimoji="1" lang="ko-KR" altLang="en-US" sz="1200" dirty="0">
                <a:latin typeface="+mn-ea"/>
                <a:ea typeface="+mn-ea"/>
              </a:rPr>
              <a:t>와 함께 서비스 상세 설명</a:t>
            </a:r>
            <a:r>
              <a:rPr kumimoji="1" lang="en-US" altLang="ko-KR" sz="1200" dirty="0">
                <a:latin typeface="+mn-ea"/>
                <a:ea typeface="+mn-ea"/>
              </a:rPr>
              <a:t>) (5~7</a:t>
            </a:r>
            <a:r>
              <a:rPr kumimoji="1" lang="ko-KR" altLang="en-US" sz="1200" dirty="0">
                <a:latin typeface="+mn-ea"/>
                <a:ea typeface="+mn-ea"/>
              </a:rPr>
              <a:t>장</a:t>
            </a:r>
            <a:r>
              <a:rPr kumimoji="1" lang="en-US" altLang="ko-KR" sz="1200" dirty="0">
                <a:latin typeface="+mn-ea"/>
                <a:ea typeface="+mn-ea"/>
              </a:rPr>
              <a:t>)</a:t>
            </a:r>
          </a:p>
          <a:p>
            <a:pPr marL="171450" indent="-171450">
              <a:lnSpc>
                <a:spcPct val="150000"/>
              </a:lnSpc>
              <a:buFont typeface="맑은 고딕" panose="020B0503020000020004" pitchFamily="50" charset="-127"/>
              <a:buChar char="-"/>
            </a:pPr>
            <a:r>
              <a:rPr kumimoji="1" lang="en-US" altLang="ko-KR" sz="1200" b="0" dirty="0">
                <a:latin typeface="+mn-ea"/>
                <a:ea typeface="+mn-ea"/>
              </a:rPr>
              <a:t>MBTI UI</a:t>
            </a:r>
            <a:r>
              <a:rPr kumimoji="1" lang="ko-KR" altLang="en-US" sz="1200" b="0" dirty="0">
                <a:latin typeface="+mn-ea"/>
                <a:ea typeface="+mn-ea"/>
              </a:rPr>
              <a:t> 나올 때 유형별 상세 내용도 설명하기</a:t>
            </a:r>
            <a:endParaRPr kumimoji="1" lang="en-US" altLang="ko-KR" sz="1200" b="0" dirty="0">
              <a:latin typeface="+mn-ea"/>
              <a:ea typeface="+mn-ea"/>
            </a:endParaRPr>
          </a:p>
          <a:p>
            <a:pPr marL="171450" indent="-171450">
              <a:lnSpc>
                <a:spcPct val="150000"/>
              </a:lnSpc>
              <a:buFont typeface="맑은 고딕" panose="020B0503020000020004" pitchFamily="50" charset="-127"/>
              <a:buChar char="-"/>
            </a:pPr>
            <a:r>
              <a:rPr kumimoji="1" lang="ko-KR" altLang="en-US" sz="1200" b="0" dirty="0">
                <a:latin typeface="+mn-ea"/>
                <a:ea typeface="+mn-ea"/>
              </a:rPr>
              <a:t>상권 이름 브랜딩 강조</a:t>
            </a:r>
            <a:r>
              <a:rPr kumimoji="1" lang="en-US" altLang="ko-KR" sz="1200" b="0" dirty="0">
                <a:latin typeface="+mn-ea"/>
                <a:ea typeface="+mn-ea"/>
              </a:rPr>
              <a:t>, </a:t>
            </a:r>
            <a:r>
              <a:rPr kumimoji="1" lang="ko-KR" altLang="en-US" sz="1200" b="0" dirty="0">
                <a:latin typeface="+mn-ea"/>
                <a:ea typeface="+mn-ea"/>
              </a:rPr>
              <a:t>브랜딩 결과와 공동 고민 종합해서 브랜딩 강화 위한 솔루션 제시를 언급</a:t>
            </a:r>
            <a:endParaRPr kumimoji="1" lang="en-US" altLang="ko-KR" sz="1200" b="0" dirty="0">
              <a:latin typeface="+mn-ea"/>
              <a:ea typeface="+mn-ea"/>
            </a:endParaRPr>
          </a:p>
          <a:p>
            <a:pPr marL="171450" indent="-171450">
              <a:lnSpc>
                <a:spcPct val="150000"/>
              </a:lnSpc>
              <a:buFont typeface="맑은 고딕" panose="020B0503020000020004" pitchFamily="50" charset="-127"/>
              <a:buChar char="-"/>
            </a:pPr>
            <a:r>
              <a:rPr kumimoji="1" lang="ko-KR" altLang="en-US" sz="1200" b="0" dirty="0">
                <a:latin typeface="+mn-ea"/>
                <a:ea typeface="+mn-ea"/>
              </a:rPr>
              <a:t>위에 어떤 식으로 브랜딩이 나오는지</a:t>
            </a:r>
            <a:r>
              <a:rPr kumimoji="1" lang="en-US" altLang="ko-KR" sz="1200" b="0" dirty="0">
                <a:latin typeface="+mn-ea"/>
                <a:ea typeface="+mn-ea"/>
              </a:rPr>
              <a:t>, </a:t>
            </a:r>
            <a:r>
              <a:rPr kumimoji="1" lang="ko-KR" altLang="en-US" sz="1200" b="0" dirty="0">
                <a:latin typeface="+mn-ea"/>
                <a:ea typeface="+mn-ea"/>
              </a:rPr>
              <a:t>결과는 계속 업데이트 됨을 언급하기</a:t>
            </a:r>
            <a:r>
              <a:rPr kumimoji="1" lang="en-US" altLang="ko-KR" sz="1200" b="0" dirty="0">
                <a:latin typeface="+mn-ea"/>
                <a:ea typeface="+mn-ea"/>
              </a:rPr>
              <a:t>, </a:t>
            </a:r>
            <a:r>
              <a:rPr kumimoji="1" lang="ko-KR" altLang="en-US" sz="1200" b="0" dirty="0">
                <a:latin typeface="+mn-ea"/>
                <a:ea typeface="+mn-ea"/>
              </a:rPr>
              <a:t>브랜딩 강화 위한 솔루션도 </a:t>
            </a:r>
            <a:r>
              <a:rPr kumimoji="1" lang="en-US" altLang="ko-KR" sz="1200" b="0" dirty="0">
                <a:latin typeface="+mn-ea"/>
                <a:ea typeface="+mn-ea"/>
              </a:rPr>
              <a:t>3</a:t>
            </a:r>
            <a:r>
              <a:rPr kumimoji="1" lang="ko-KR" altLang="en-US" sz="1200" b="0" dirty="0">
                <a:latin typeface="+mn-ea"/>
                <a:ea typeface="+mn-ea"/>
              </a:rPr>
              <a:t>가지 넣기 </a:t>
            </a:r>
            <a:r>
              <a:rPr kumimoji="1" lang="en-US" altLang="ko-KR" sz="1200" b="0" dirty="0">
                <a:latin typeface="+mn-ea"/>
                <a:ea typeface="+mn-ea"/>
              </a:rPr>
              <a:t>(</a:t>
            </a:r>
            <a:r>
              <a:rPr kumimoji="1" lang="ko-KR" altLang="en-US" sz="1200" b="0" dirty="0">
                <a:latin typeface="+mn-ea"/>
                <a:ea typeface="+mn-ea"/>
              </a:rPr>
              <a:t>좀 더 브랜딩에 맞게 </a:t>
            </a:r>
            <a:r>
              <a:rPr kumimoji="1" lang="en-US" altLang="ko-KR" sz="1200" b="0" dirty="0">
                <a:latin typeface="+mn-ea"/>
                <a:ea typeface="+mn-ea"/>
              </a:rPr>
              <a:t>UI</a:t>
            </a:r>
            <a:r>
              <a:rPr kumimoji="1" lang="ko-KR" altLang="en-US" sz="1200" b="0" dirty="0">
                <a:latin typeface="+mn-ea"/>
                <a:ea typeface="+mn-ea"/>
              </a:rPr>
              <a:t>도 변경할 예정</a:t>
            </a:r>
            <a:r>
              <a:rPr kumimoji="1" lang="en-US" altLang="ko-KR" sz="1200" b="0" dirty="0">
                <a:latin typeface="+mn-ea"/>
                <a:ea typeface="+mn-ea"/>
              </a:rPr>
              <a:t>)</a:t>
            </a:r>
          </a:p>
          <a:p>
            <a:pPr marL="171450" indent="-171450">
              <a:lnSpc>
                <a:spcPct val="150000"/>
              </a:lnSpc>
              <a:buFont typeface="맑은 고딕" panose="020B0503020000020004" pitchFamily="50" charset="-127"/>
              <a:buChar char="-"/>
            </a:pPr>
            <a:r>
              <a:rPr kumimoji="1" lang="ko-KR" altLang="en-US" sz="1200" b="0" dirty="0">
                <a:latin typeface="+mn-ea"/>
                <a:ea typeface="+mn-ea"/>
              </a:rPr>
              <a:t>솔루션마켓은 맞춤 솔루션 추천 </a:t>
            </a:r>
            <a:r>
              <a:rPr kumimoji="1" lang="en-US" altLang="ko-KR" sz="1200" b="0" dirty="0">
                <a:latin typeface="+mn-ea"/>
                <a:ea typeface="+mn-ea"/>
              </a:rPr>
              <a:t>X.</a:t>
            </a:r>
            <a:r>
              <a:rPr kumimoji="1" lang="ko-KR" altLang="en-US" sz="1200" b="0" dirty="0">
                <a:latin typeface="+mn-ea"/>
                <a:ea typeface="+mn-ea"/>
              </a:rPr>
              <a:t> 이런 솔루션들이 있음이라고 보여주기 용도 </a:t>
            </a:r>
            <a:r>
              <a:rPr kumimoji="1" lang="en-US" altLang="ko-KR" sz="1200" b="0" dirty="0">
                <a:latin typeface="+mn-ea"/>
                <a:ea typeface="+mn-ea"/>
              </a:rPr>
              <a:t>(</a:t>
            </a:r>
            <a:r>
              <a:rPr kumimoji="1" lang="ko-KR" altLang="en-US" sz="1200" b="0" dirty="0">
                <a:latin typeface="+mn-ea"/>
                <a:ea typeface="+mn-ea"/>
              </a:rPr>
              <a:t>점주가 직접 의사결정 위해 탐색해야 함</a:t>
            </a:r>
            <a:r>
              <a:rPr kumimoji="1" lang="en-US" altLang="ko-KR" sz="1200" b="0" dirty="0">
                <a:latin typeface="+mn-ea"/>
                <a:ea typeface="+mn-ea"/>
              </a:rPr>
              <a:t>)</a:t>
            </a:r>
          </a:p>
          <a:p>
            <a:pPr marL="171450" indent="-171450">
              <a:lnSpc>
                <a:spcPct val="150000"/>
              </a:lnSpc>
              <a:buFont typeface="맑은 고딕" panose="020B0503020000020004" pitchFamily="50" charset="-127"/>
              <a:buChar char="-"/>
            </a:pPr>
            <a:endParaRPr kumimoji="1" lang="en-US" altLang="ko-KR" sz="1200" b="0" dirty="0">
              <a:latin typeface="+mn-ea"/>
              <a:ea typeface="+mn-ea"/>
            </a:endParaRPr>
          </a:p>
          <a:p>
            <a:pPr>
              <a:lnSpc>
                <a:spcPct val="150000"/>
              </a:lnSpc>
            </a:pPr>
            <a:r>
              <a:rPr kumimoji="1" lang="ko-KR" altLang="en-US" sz="1200" dirty="0">
                <a:latin typeface="+mn-ea"/>
                <a:ea typeface="+mn-ea"/>
              </a:rPr>
              <a:t>실제 서비스 실행 결과 </a:t>
            </a:r>
            <a:r>
              <a:rPr kumimoji="1" lang="en-US" altLang="ko-KR" sz="1200" dirty="0">
                <a:latin typeface="+mn-ea"/>
                <a:ea typeface="+mn-ea"/>
              </a:rPr>
              <a:t>(1</a:t>
            </a:r>
            <a:r>
              <a:rPr kumimoji="1" lang="ko-KR" altLang="en-US" sz="1200" dirty="0">
                <a:latin typeface="+mn-ea"/>
                <a:ea typeface="+mn-ea"/>
              </a:rPr>
              <a:t>장</a:t>
            </a:r>
            <a:r>
              <a:rPr kumimoji="1" lang="en-US" altLang="ko-KR" sz="1200" dirty="0">
                <a:latin typeface="+mn-ea"/>
                <a:ea typeface="+mn-ea"/>
              </a:rPr>
              <a:t>)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673D3A83-7E4C-5791-15EE-2D9521BF871F}"/>
              </a:ext>
            </a:extLst>
          </p:cNvPr>
          <p:cNvSpPr/>
          <p:nvPr/>
        </p:nvSpPr>
        <p:spPr>
          <a:xfrm>
            <a:off x="10058400" y="182880"/>
            <a:ext cx="1930400" cy="77216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accent6"/>
            </a:solidFill>
            <a:miter/>
          </a:ln>
          <a:effectLst/>
        </p:spPr>
        <p:txBody>
          <a:bodyPr lIns="0" tIns="0" rIns="0" bIns="0" rtlCol="0" anchor="ctr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ko-KR" sz="1400" dirty="0">
                <a:latin typeface="+mn-ea"/>
                <a:ea typeface="+mn-ea"/>
                <a:sym typeface="Gill Sans"/>
              </a:rPr>
              <a:t>12~15</a:t>
            </a:r>
            <a:r>
              <a:rPr kumimoji="0" lang="ko-KR" altLang="en-US" sz="1400" i="0" u="none" strike="noStrike" kern="1200" cap="none" spc="0" normalizeH="0" baseline="0" noProof="0" dirty="0">
                <a:ln>
                  <a:noFill/>
                </a:ln>
                <a:latin typeface="+mn-ea"/>
                <a:ea typeface="+mn-ea"/>
                <a:sym typeface="Gill Sans"/>
              </a:rPr>
              <a:t>장</a:t>
            </a:r>
          </a:p>
        </p:txBody>
      </p:sp>
    </p:spTree>
    <p:extLst>
      <p:ext uri="{BB962C8B-B14F-4D97-AF65-F5344CB8AC3E}">
        <p14:creationId xmlns:p14="http://schemas.microsoft.com/office/powerpoint/2010/main" val="3554857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0F59263-2D63-18A8-3C1E-C0D88F0853B4}"/>
              </a:ext>
            </a:extLst>
          </p:cNvPr>
          <p:cNvSpPr txBox="1"/>
          <p:nvPr/>
        </p:nvSpPr>
        <p:spPr>
          <a:xfrm>
            <a:off x="452120" y="843280"/>
            <a:ext cx="11287760" cy="744499"/>
          </a:xfrm>
          <a:prstGeom prst="rect">
            <a:avLst/>
          </a:prstGeom>
          <a:noFill/>
          <a:ln w="9525" algn="ctr">
            <a:noFill/>
            <a:miter/>
          </a:ln>
          <a:effectLst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40000"/>
              </a:lnSpc>
            </a:pPr>
            <a:r>
              <a:rPr kumimoji="1" lang="ko-KR" altLang="en-US" sz="1200" dirty="0">
                <a:latin typeface="+mn-ea"/>
                <a:ea typeface="+mn-ea"/>
              </a:rPr>
              <a:t>기존 서비스와 비교</a:t>
            </a:r>
            <a:r>
              <a:rPr kumimoji="1" lang="en-US" altLang="ko-KR" sz="1200" dirty="0">
                <a:latin typeface="+mn-ea"/>
                <a:ea typeface="+mn-ea"/>
              </a:rPr>
              <a:t>: </a:t>
            </a:r>
            <a:r>
              <a:rPr kumimoji="1" lang="ko-KR" altLang="en-US" sz="1200" b="0" dirty="0">
                <a:latin typeface="+mn-ea"/>
                <a:ea typeface="+mn-ea"/>
              </a:rPr>
              <a:t>기존 서비스</a:t>
            </a:r>
            <a:r>
              <a:rPr kumimoji="1" lang="en-US" altLang="ko-KR" sz="1200" b="0" dirty="0">
                <a:latin typeface="+mn-ea"/>
                <a:ea typeface="+mn-ea"/>
              </a:rPr>
              <a:t>(</a:t>
            </a:r>
            <a:r>
              <a:rPr kumimoji="1" lang="ko-KR" altLang="en-US" sz="1200" b="0" dirty="0">
                <a:latin typeface="+mn-ea"/>
                <a:ea typeface="+mn-ea"/>
              </a:rPr>
              <a:t>무료</a:t>
            </a:r>
            <a:r>
              <a:rPr kumimoji="1" lang="en-US" altLang="ko-KR" sz="1200" b="0" dirty="0">
                <a:latin typeface="+mn-ea"/>
                <a:ea typeface="+mn-ea"/>
              </a:rPr>
              <a:t>, </a:t>
            </a:r>
            <a:r>
              <a:rPr kumimoji="1" lang="ko-KR" altLang="en-US" sz="1200" b="0" dirty="0">
                <a:latin typeface="+mn-ea"/>
                <a:ea typeface="+mn-ea"/>
              </a:rPr>
              <a:t>유료</a:t>
            </a:r>
            <a:r>
              <a:rPr kumimoji="1" lang="en-US" altLang="ko-KR" sz="1200" b="0" dirty="0">
                <a:latin typeface="+mn-ea"/>
                <a:ea typeface="+mn-ea"/>
              </a:rPr>
              <a:t>) 2</a:t>
            </a:r>
            <a:r>
              <a:rPr kumimoji="1" lang="ko-KR" altLang="en-US" sz="1200" b="0" dirty="0">
                <a:latin typeface="+mn-ea"/>
                <a:ea typeface="+mn-ea"/>
              </a:rPr>
              <a:t>개로 넣으면 좋을 것 같음</a:t>
            </a:r>
            <a:endParaRPr kumimoji="1" lang="en-US" altLang="ko-KR" sz="1200" b="0" dirty="0">
              <a:latin typeface="+mn-ea"/>
              <a:ea typeface="+mn-ea"/>
            </a:endParaRPr>
          </a:p>
          <a:p>
            <a:pPr>
              <a:lnSpc>
                <a:spcPct val="140000"/>
              </a:lnSpc>
            </a:pPr>
            <a:endParaRPr kumimoji="1" lang="en-US" altLang="ko-KR" sz="1200" b="0" dirty="0">
              <a:latin typeface="+mn-ea"/>
              <a:ea typeface="+mn-ea"/>
            </a:endParaRPr>
          </a:p>
          <a:p>
            <a:pPr>
              <a:lnSpc>
                <a:spcPct val="140000"/>
              </a:lnSpc>
            </a:pPr>
            <a:r>
              <a:rPr kumimoji="1" lang="ko-KR" altLang="en-US" sz="1200" dirty="0">
                <a:latin typeface="+mn-ea"/>
                <a:ea typeface="+mn-ea"/>
              </a:rPr>
              <a:t>상권 더하기만의 차별성 </a:t>
            </a:r>
            <a:r>
              <a:rPr kumimoji="1" lang="en-US" altLang="ko-KR" sz="1200" b="0" dirty="0">
                <a:latin typeface="+mn-ea"/>
                <a:ea typeface="+mn-ea"/>
              </a:rPr>
              <a:t>(</a:t>
            </a:r>
            <a:r>
              <a:rPr kumimoji="1" lang="ko-KR" altLang="en-US" sz="1200" b="0" dirty="0">
                <a:latin typeface="+mn-ea"/>
                <a:ea typeface="+mn-ea"/>
              </a:rPr>
              <a:t>한 페이지에 나타나면 좋을 것 같음</a:t>
            </a:r>
            <a:r>
              <a:rPr kumimoji="1" lang="en-US" altLang="ko-KR" sz="1200" b="0" dirty="0">
                <a:latin typeface="+mn-ea"/>
                <a:ea typeface="+mn-ea"/>
              </a:rPr>
              <a:t>, </a:t>
            </a:r>
            <a:r>
              <a:rPr kumimoji="1" lang="ko-KR" altLang="en-US" sz="1200" b="0" dirty="0">
                <a:latin typeface="+mn-ea"/>
                <a:ea typeface="+mn-ea"/>
              </a:rPr>
              <a:t>제일 차별성은 </a:t>
            </a:r>
            <a:r>
              <a:rPr kumimoji="1" lang="ko-KR" altLang="en-US" sz="1200" dirty="0">
                <a:latin typeface="+mn-ea"/>
                <a:ea typeface="+mn-ea"/>
              </a:rPr>
              <a:t>공동 브랜딩</a:t>
            </a:r>
            <a:r>
              <a:rPr kumimoji="1" lang="ko-KR" altLang="en-US" sz="1200" b="0" dirty="0">
                <a:latin typeface="+mn-ea"/>
                <a:ea typeface="+mn-ea"/>
              </a:rPr>
              <a:t>임을 어필해야 함</a:t>
            </a:r>
            <a:r>
              <a:rPr kumimoji="1" lang="en-US" altLang="ko-KR" sz="1200" b="0" dirty="0">
                <a:latin typeface="+mn-ea"/>
                <a:ea typeface="+mn-ea"/>
              </a:rPr>
              <a:t>)</a:t>
            </a:r>
            <a:endParaRPr kumimoji="1" lang="ko-KR" altLang="en-US" sz="1200" b="0" dirty="0">
              <a:latin typeface="+mn-ea"/>
              <a:ea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7AD9D9A1-5D98-E62E-70C0-68D8588C4BF7}"/>
              </a:ext>
            </a:extLst>
          </p:cNvPr>
          <p:cNvSpPr/>
          <p:nvPr/>
        </p:nvSpPr>
        <p:spPr>
          <a:xfrm>
            <a:off x="10058400" y="182880"/>
            <a:ext cx="1930400" cy="77216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accent6"/>
            </a:solidFill>
            <a:miter/>
          </a:ln>
          <a:effectLst/>
        </p:spPr>
        <p:txBody>
          <a:bodyPr lIns="0" tIns="0" rIns="0" bIns="0" rtlCol="0" anchor="ctr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ko-KR" sz="1400" dirty="0">
                <a:latin typeface="+mn-ea"/>
                <a:ea typeface="+mn-ea"/>
                <a:sym typeface="Gill Sans"/>
              </a:rPr>
              <a:t>2</a:t>
            </a:r>
            <a:r>
              <a:rPr kumimoji="0" lang="ko-KR" altLang="en-US" sz="1400" i="0" u="none" strike="noStrike" kern="1200" cap="none" spc="0" normalizeH="0" baseline="0" noProof="0" dirty="0">
                <a:ln>
                  <a:noFill/>
                </a:ln>
                <a:latin typeface="+mn-ea"/>
                <a:ea typeface="+mn-ea"/>
                <a:sym typeface="Gill Sans"/>
              </a:rPr>
              <a:t>장</a:t>
            </a:r>
          </a:p>
        </p:txBody>
      </p:sp>
    </p:spTree>
    <p:extLst>
      <p:ext uri="{BB962C8B-B14F-4D97-AF65-F5344CB8AC3E}">
        <p14:creationId xmlns:p14="http://schemas.microsoft.com/office/powerpoint/2010/main" val="32787485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6B1BD783-C94A-1EBC-562E-410EE9597F1F}"/>
              </a:ext>
            </a:extLst>
          </p:cNvPr>
          <p:cNvSpPr/>
          <p:nvPr/>
        </p:nvSpPr>
        <p:spPr>
          <a:xfrm>
            <a:off x="10058400" y="182880"/>
            <a:ext cx="1930400" cy="77216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accent6"/>
            </a:solidFill>
            <a:miter/>
          </a:ln>
          <a:effectLst/>
        </p:spPr>
        <p:txBody>
          <a:bodyPr lIns="0" tIns="0" rIns="0" bIns="0" rtlCol="0" anchor="ctr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ko-KR" sz="1400" i="0" u="none" strike="noStrike" kern="1200" cap="none" spc="0" normalizeH="0" baseline="0" noProof="0" dirty="0">
                <a:ln>
                  <a:noFill/>
                </a:ln>
                <a:latin typeface="+mn-ea"/>
                <a:ea typeface="+mn-ea"/>
                <a:sym typeface="Gill Sans"/>
              </a:rPr>
              <a:t>1</a:t>
            </a:r>
            <a:r>
              <a:rPr kumimoji="0" lang="ko-KR" altLang="en-US" sz="1400" i="0" u="none" strike="noStrike" kern="1200" cap="none" spc="0" normalizeH="0" baseline="0" noProof="0" dirty="0">
                <a:ln>
                  <a:noFill/>
                </a:ln>
                <a:latin typeface="+mn-ea"/>
                <a:ea typeface="+mn-ea"/>
                <a:sym typeface="Gill Sans"/>
              </a:rPr>
              <a:t>장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6D124D0-ACBD-FA85-3E41-44C8184B6A42}"/>
              </a:ext>
            </a:extLst>
          </p:cNvPr>
          <p:cNvSpPr txBox="1"/>
          <p:nvPr/>
        </p:nvSpPr>
        <p:spPr>
          <a:xfrm>
            <a:off x="452120" y="843280"/>
            <a:ext cx="11287760" cy="227435"/>
          </a:xfrm>
          <a:prstGeom prst="rect">
            <a:avLst/>
          </a:prstGeom>
          <a:noFill/>
          <a:ln w="9525" algn="ctr">
            <a:noFill/>
            <a:miter/>
          </a:ln>
          <a:effectLst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40000"/>
              </a:lnSpc>
            </a:pPr>
            <a:r>
              <a:rPr kumimoji="1" lang="ko-KR" altLang="en-US" sz="1200" b="0" dirty="0">
                <a:latin typeface="+mn-ea"/>
                <a:ea typeface="+mn-ea"/>
              </a:rPr>
              <a:t>전체적으로 어떤 서비스가 있는지 마무리 정리하는 느낌 </a:t>
            </a:r>
            <a:r>
              <a:rPr kumimoji="1" lang="ko-KR" altLang="en-US" sz="1200" b="0" dirty="0" err="1">
                <a:latin typeface="+mn-ea"/>
                <a:ea typeface="+mn-ea"/>
              </a:rPr>
              <a:t>담아내기</a:t>
            </a:r>
            <a:r>
              <a:rPr kumimoji="1" lang="ko-KR" altLang="en-US" sz="1200" b="0" dirty="0">
                <a:latin typeface="+mn-ea"/>
                <a:ea typeface="+mn-ea"/>
              </a:rPr>
              <a:t> </a:t>
            </a:r>
            <a:r>
              <a:rPr kumimoji="1" lang="en-US" altLang="ko-KR" sz="1200" b="0" dirty="0">
                <a:latin typeface="+mn-ea"/>
                <a:ea typeface="+mn-ea"/>
              </a:rPr>
              <a:t>(</a:t>
            </a:r>
            <a:r>
              <a:rPr kumimoji="1" lang="ko-KR" altLang="en-US" sz="1200" b="0" dirty="0">
                <a:latin typeface="+mn-ea"/>
                <a:ea typeface="+mn-ea"/>
              </a:rPr>
              <a:t>현행 유지 괜찮을지</a:t>
            </a:r>
            <a:r>
              <a:rPr kumimoji="1" lang="en-US" altLang="ko-KR" sz="1200" b="0" dirty="0">
                <a:latin typeface="+mn-ea"/>
                <a:ea typeface="+mn-ea"/>
              </a:rPr>
              <a:t>?)</a:t>
            </a:r>
            <a:endParaRPr kumimoji="1" lang="ko-KR" altLang="en-US" sz="1200" b="0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875347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222AD9C-BAFC-6F43-9AE5-A6EB5267654F}"/>
              </a:ext>
            </a:extLst>
          </p:cNvPr>
          <p:cNvSpPr txBox="1"/>
          <p:nvPr/>
        </p:nvSpPr>
        <p:spPr>
          <a:xfrm>
            <a:off x="452120" y="843280"/>
            <a:ext cx="11287760" cy="5699702"/>
          </a:xfrm>
          <a:prstGeom prst="rect">
            <a:avLst/>
          </a:prstGeom>
          <a:noFill/>
          <a:ln w="9525" algn="ctr">
            <a:noFill/>
            <a:miter/>
          </a:ln>
          <a:effectLst/>
        </p:spPr>
        <p:txBody>
          <a:bodyPr wrap="square" lIns="0" tIns="0" rIns="0" bIns="0" rtlCol="0">
            <a:spAutoFit/>
          </a:bodyPr>
          <a:lstStyle/>
          <a:p>
            <a:pPr marL="285750" indent="-285750" algn="l" latinLnBrk="0">
              <a:lnSpc>
                <a:spcPct val="140000"/>
              </a:lnSpc>
              <a:buFont typeface="Wingdings" panose="05000000000000000000" pitchFamily="2" charset="2"/>
              <a:buChar char="§"/>
            </a:pP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상권 더하기 시장성</a:t>
            </a:r>
            <a:endParaRPr lang="en-US" altLang="ko-KR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vl="1">
              <a:lnSpc>
                <a:spcPct val="140000"/>
              </a:lnSpc>
            </a:pP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상권 더하기 포지셔닝</a:t>
            </a:r>
            <a:endParaRPr lang="en-US" altLang="ko-KR" sz="12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628650" lvl="1" indent="-171450">
              <a:lnSpc>
                <a:spcPct val="140000"/>
              </a:lnSpc>
              <a:buFont typeface="맑은 고딕" panose="020B0503020000020004" pitchFamily="50" charset="-127"/>
              <a:buChar char="-"/>
            </a:pPr>
            <a:r>
              <a:rPr lang="ko-KR" altLang="en-US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현재 상권 분석 시장은 크게 두가지 유형으로 나뉨</a:t>
            </a:r>
            <a:endParaRPr lang="en-US" altLang="ko-KR" sz="1200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742950" lvl="1" indent="-285750">
              <a:lnSpc>
                <a:spcPct val="140000"/>
              </a:lnSpc>
              <a:buFont typeface="맑은 고딕" panose="020B0503020000020004" pitchFamily="50" charset="-127"/>
              <a:buChar char="-"/>
            </a:pPr>
            <a:r>
              <a:rPr lang="ko-KR" altLang="en-US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첫째</a:t>
            </a:r>
            <a:r>
              <a:rPr lang="en-US" altLang="ko-KR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무료 서비스로 데이터 시각화에 치중되어 실제 운영 판단을 사용자가 직접 </a:t>
            </a:r>
            <a:r>
              <a:rPr lang="ko-KR" altLang="en-US" sz="1200" b="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수행해야함</a:t>
            </a:r>
            <a:endParaRPr lang="en-US" altLang="ko-KR" sz="1200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742950" lvl="1" indent="-285750">
              <a:lnSpc>
                <a:spcPct val="140000"/>
              </a:lnSpc>
              <a:buFont typeface="맑은 고딕" panose="020B0503020000020004" pitchFamily="50" charset="-127"/>
              <a:buChar char="-"/>
            </a:pPr>
            <a:r>
              <a:rPr lang="ko-KR" altLang="en-US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둘째</a:t>
            </a:r>
            <a:r>
              <a:rPr lang="en-US" altLang="ko-KR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민간 서비스의 경우 고비용 또는 개별 점포 분석에 한정되어 있음</a:t>
            </a:r>
            <a:endParaRPr lang="en-US" altLang="ko-KR" sz="1200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742950" lvl="1" indent="-285750">
              <a:lnSpc>
                <a:spcPct val="140000"/>
              </a:lnSpc>
              <a:buFont typeface="맑은 고딕" panose="020B0503020000020004" pitchFamily="50" charset="-127"/>
              <a:buChar char="-"/>
            </a:pPr>
            <a:r>
              <a:rPr lang="ko-KR" altLang="en-US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상권 전체를 하나의 브랜드로 상생하는 서비스는 현재 시장에서 존재하지 않음</a:t>
            </a:r>
            <a:endParaRPr lang="en-US" altLang="ko-KR" sz="1200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742950" lvl="1" indent="-285750">
              <a:lnSpc>
                <a:spcPct val="140000"/>
              </a:lnSpc>
              <a:buFont typeface="맑은 고딕" panose="020B0503020000020004" pitchFamily="50" charset="-127"/>
              <a:buChar char="-"/>
            </a:pPr>
            <a:endParaRPr lang="en-US" altLang="ko-KR" sz="1200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vl="1">
              <a:lnSpc>
                <a:spcPct val="140000"/>
              </a:lnSpc>
            </a:pP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상권 더하기 타겟 고객</a:t>
            </a:r>
            <a:endParaRPr lang="en-US" altLang="ko-KR" sz="1200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vl="1">
              <a:lnSpc>
                <a:spcPct val="140000"/>
              </a:lnSpc>
            </a:pPr>
            <a:r>
              <a:rPr lang="ko-KR" altLang="en-US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타겟 고객은 </a:t>
            </a:r>
            <a:r>
              <a:rPr lang="en-US" altLang="ko-KR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차 서울시 내 골목상권 소상공인 </a:t>
            </a:r>
            <a:r>
              <a:rPr lang="en-US" altLang="ko-KR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차 솔루션 마켓 통해 소상공인에게 서비스 제공하려는 </a:t>
            </a:r>
            <a:r>
              <a:rPr lang="en-US" altLang="ko-KR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B2B </a:t>
            </a:r>
            <a:r>
              <a:rPr lang="ko-KR" altLang="en-US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파트너사</a:t>
            </a:r>
            <a:r>
              <a:rPr lang="en-US" altLang="ko-KR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3</a:t>
            </a:r>
            <a:r>
              <a:rPr lang="ko-KR" altLang="en-US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차 데이터 축적 이후 상권 활성화 정책 수립을 필요로 하는 서울시 및 자치구 지자체로 확장 가능</a:t>
            </a:r>
            <a:endParaRPr lang="en-US" altLang="ko-KR" sz="1200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vl="1">
              <a:lnSpc>
                <a:spcPct val="140000"/>
              </a:lnSpc>
            </a:pPr>
            <a:endParaRPr lang="en-US" altLang="ko-KR" sz="1200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vl="1">
              <a:lnSpc>
                <a:spcPct val="140000"/>
              </a:lnSpc>
            </a:pP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상권 브랜딩 실증 효과</a:t>
            </a:r>
            <a:endParaRPr lang="en-US" altLang="ko-KR" sz="12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742950" lvl="1" indent="-285750">
              <a:lnSpc>
                <a:spcPct val="140000"/>
              </a:lnSpc>
              <a:buFont typeface="맑은 고딕" panose="020B0503020000020004" pitchFamily="50" charset="-127"/>
              <a:buChar char="-"/>
            </a:pPr>
            <a:r>
              <a:rPr lang="ko-KR" altLang="en-US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서울시 로컬브랜드 상권 브랜딩 실증 결과</a:t>
            </a:r>
            <a:r>
              <a:rPr lang="en-US" altLang="ko-KR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200" b="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비지원</a:t>
            </a:r>
            <a:r>
              <a:rPr lang="ko-KR" altLang="en-US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대비 매출 증가율 </a:t>
            </a:r>
            <a:r>
              <a:rPr lang="en-US" altLang="ko-KR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+2.9%, </a:t>
            </a:r>
            <a:r>
              <a:rPr lang="ko-KR" altLang="en-US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일부 상권 최대 </a:t>
            </a:r>
            <a:r>
              <a:rPr lang="en-US" altLang="ko-KR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29% </a:t>
            </a:r>
            <a:r>
              <a:rPr lang="ko-KR" altLang="en-US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증가로 시장 수요 검증 완료</a:t>
            </a:r>
            <a:endParaRPr lang="en-US" altLang="ko-KR" sz="1200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vl="1">
              <a:lnSpc>
                <a:spcPct val="140000"/>
              </a:lnSpc>
            </a:pPr>
            <a:endParaRPr lang="en-US" altLang="ko-KR" sz="12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vl="1">
              <a:lnSpc>
                <a:spcPct val="140000"/>
              </a:lnSpc>
            </a:pP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정책 연계 가능성</a:t>
            </a:r>
            <a:endParaRPr lang="en-US" altLang="ko-KR" sz="12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742950" lvl="1" indent="-285750">
              <a:lnSpc>
                <a:spcPct val="140000"/>
              </a:lnSpc>
              <a:buFont typeface="맑은 고딕" panose="020B0503020000020004" pitchFamily="50" charset="-127"/>
              <a:buChar char="-"/>
            </a:pPr>
            <a:r>
              <a:rPr lang="ko-KR" altLang="en-US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서울시 </a:t>
            </a:r>
            <a:r>
              <a:rPr lang="en-US" altLang="ko-KR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2026 </a:t>
            </a:r>
            <a:r>
              <a:rPr lang="ko-KR" altLang="en-US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로컬브랜드 상권 육성사업</a:t>
            </a:r>
            <a:r>
              <a:rPr lang="en-US" altLang="ko-KR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3</a:t>
            </a:r>
            <a:r>
              <a:rPr lang="ko-KR" altLang="en-US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개소</a:t>
            </a:r>
            <a:r>
              <a:rPr lang="en-US" altLang="ko-KR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상권별 </a:t>
            </a:r>
            <a:r>
              <a:rPr lang="en-US" altLang="ko-KR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년간 </a:t>
            </a:r>
            <a:r>
              <a:rPr lang="en-US" altLang="ko-KR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10</a:t>
            </a:r>
            <a:r>
              <a:rPr lang="ko-KR" altLang="en-US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억 원 투입으로 공공 예산이 이미 </a:t>
            </a:r>
            <a:r>
              <a:rPr lang="ko-KR" altLang="en-US" sz="1200" b="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집행중</a:t>
            </a:r>
            <a:endParaRPr lang="en-US" altLang="ko-KR" sz="1200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742950" lvl="1" indent="-285750">
              <a:lnSpc>
                <a:spcPct val="140000"/>
              </a:lnSpc>
              <a:buFont typeface="맑은 고딕" panose="020B0503020000020004" pitchFamily="50" charset="-127"/>
              <a:buChar char="-"/>
            </a:pPr>
            <a:r>
              <a:rPr lang="ko-KR" altLang="en-US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서울시 골목상권 활성화</a:t>
            </a:r>
            <a:r>
              <a:rPr lang="en-US" altLang="ko-KR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자치구별 상권 맞춤형 사업 등 상권 브랜딩 관련 정책 수요 지속 확대</a:t>
            </a:r>
            <a:endParaRPr lang="en-US" altLang="ko-KR" sz="1200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742950" lvl="1" indent="-285750">
              <a:lnSpc>
                <a:spcPct val="140000"/>
              </a:lnSpc>
              <a:buFont typeface="맑은 고딕" panose="020B0503020000020004" pitchFamily="50" charset="-127"/>
              <a:buChar char="-"/>
            </a:pPr>
            <a:r>
              <a:rPr lang="ko-KR" altLang="en-US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서울시 상권 분석 서비스 </a:t>
            </a:r>
            <a:r>
              <a:rPr lang="en-US" altLang="ko-KR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AI </a:t>
            </a:r>
            <a:r>
              <a:rPr lang="ko-KR" altLang="en-US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고도화 사업과 방향성 정합으로 공공 협력 가능성 보유</a:t>
            </a:r>
            <a:endParaRPr lang="en-US" altLang="ko-KR" sz="1200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742950" lvl="1" indent="-285750">
              <a:lnSpc>
                <a:spcPct val="140000"/>
              </a:lnSpc>
              <a:buFont typeface="맑은 고딕" panose="020B0503020000020004" pitchFamily="50" charset="-127"/>
              <a:buChar char="-"/>
            </a:pPr>
            <a:r>
              <a:rPr lang="ko-KR" altLang="en-US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상권 더하기가 축적한 데이터 지자체 정책 수립의 근거 자료로 활용 가능한 공공 자산으로 발전 가능</a:t>
            </a:r>
            <a:endParaRPr lang="en-US" altLang="ko-KR" sz="1200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vl="1">
              <a:lnSpc>
                <a:spcPct val="140000"/>
              </a:lnSpc>
            </a:pPr>
            <a:endParaRPr lang="en-US" altLang="ko-KR" sz="1200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vl="1" algn="ctr">
              <a:lnSpc>
                <a:spcPct val="140000"/>
              </a:lnSpc>
            </a:pPr>
            <a:r>
              <a:rPr lang="ko-KR" altLang="en-US" sz="1200" b="0" dirty="0"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</a:rPr>
              <a:t>즉</a:t>
            </a:r>
            <a:r>
              <a:rPr lang="en-US" altLang="ko-KR" sz="1200" b="0" dirty="0"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200" b="0" dirty="0"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</a:rPr>
              <a:t>검증된 수요와 명백한 공백 속에서</a:t>
            </a:r>
            <a:r>
              <a:rPr lang="en-US" altLang="ko-KR" sz="1200" b="0" dirty="0"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200" b="0" dirty="0"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</a:rPr>
              <a:t>상권 더하기는 소상공인부터 지자체까지 연결되는 상권 브랜딩 플랫폼으로</a:t>
            </a:r>
            <a:endParaRPr lang="en-US" altLang="ko-KR" sz="1200" b="0" dirty="0">
              <a:highlight>
                <a:srgbClr val="FFFF00"/>
              </a:highlight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vl="1" algn="ctr">
              <a:lnSpc>
                <a:spcPct val="140000"/>
              </a:lnSpc>
            </a:pPr>
            <a:r>
              <a:rPr lang="ko-KR" altLang="en-US" sz="1200" b="0" dirty="0"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</a:rPr>
              <a:t>서울시 </a:t>
            </a:r>
            <a:r>
              <a:rPr lang="en-US" altLang="ko-KR" sz="1200" b="0" dirty="0"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</a:rPr>
              <a:t>1,090</a:t>
            </a:r>
            <a:r>
              <a:rPr lang="ko-KR" altLang="en-US" sz="1200" b="0" dirty="0"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</a:rPr>
              <a:t>개 골목상권을 실질적으로 공략할 수 있는 시장성을 보유하고 있음</a:t>
            </a:r>
            <a:endParaRPr lang="en-US" altLang="ko-KR" sz="1200" b="0" dirty="0">
              <a:highlight>
                <a:srgbClr val="FFFF00"/>
              </a:highlight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1C8A45C7-0C04-2157-9C25-F43A0A847D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18880" y="746271"/>
            <a:ext cx="2580640" cy="2057808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A0CB3C68-2DB9-58EF-FFE7-1B3859FD6A06}"/>
              </a:ext>
            </a:extLst>
          </p:cNvPr>
          <p:cNvSpPr/>
          <p:nvPr/>
        </p:nvSpPr>
        <p:spPr>
          <a:xfrm>
            <a:off x="10058400" y="182880"/>
            <a:ext cx="1930400" cy="77216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accent6"/>
            </a:solidFill>
            <a:miter/>
          </a:ln>
          <a:effectLst/>
        </p:spPr>
        <p:txBody>
          <a:bodyPr lIns="0" tIns="0" rIns="0" bIns="0" rtlCol="0" anchor="ctr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ko-KR" sz="1400" dirty="0">
                <a:latin typeface="+mn-ea"/>
                <a:ea typeface="+mn-ea"/>
                <a:sym typeface="Gill Sans"/>
              </a:rPr>
              <a:t>3</a:t>
            </a:r>
            <a:r>
              <a:rPr lang="ko-KR" altLang="en-US" sz="1400" dirty="0">
                <a:latin typeface="+mn-ea"/>
                <a:ea typeface="+mn-ea"/>
                <a:sym typeface="Gill Sans"/>
              </a:rPr>
              <a:t>장</a:t>
            </a:r>
            <a:endParaRPr kumimoji="0" lang="ko-KR" altLang="en-US" sz="1400" i="0" u="none" strike="noStrike" kern="1200" cap="none" spc="0" normalizeH="0" baseline="0" noProof="0" dirty="0">
              <a:ln>
                <a:noFill/>
              </a:ln>
              <a:latin typeface="+mn-ea"/>
              <a:ea typeface="+mn-ea"/>
              <a:sym typeface="Gill Sans"/>
            </a:endParaRPr>
          </a:p>
        </p:txBody>
      </p:sp>
    </p:spTree>
    <p:extLst>
      <p:ext uri="{BB962C8B-B14F-4D97-AF65-F5344CB8AC3E}">
        <p14:creationId xmlns:p14="http://schemas.microsoft.com/office/powerpoint/2010/main" val="37602187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E23287-8DBC-AF01-016D-16844FF77C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580ED46-48DE-1195-F96A-F6FC26F409CA}"/>
              </a:ext>
            </a:extLst>
          </p:cNvPr>
          <p:cNvSpPr txBox="1"/>
          <p:nvPr/>
        </p:nvSpPr>
        <p:spPr>
          <a:xfrm>
            <a:off x="452120" y="700062"/>
            <a:ext cx="11287760" cy="4114653"/>
          </a:xfrm>
          <a:prstGeom prst="rect">
            <a:avLst/>
          </a:prstGeom>
          <a:noFill/>
          <a:ln w="9525" algn="ctr">
            <a:noFill/>
            <a:miter/>
          </a:ln>
          <a:effectLst/>
        </p:spPr>
        <p:txBody>
          <a:bodyPr wrap="square" lIns="0" tIns="0" rIns="0" bIns="0" rtlCol="0">
            <a:spAutoFit/>
          </a:bodyPr>
          <a:lstStyle/>
          <a:p>
            <a:pPr marL="285750" indent="-285750" algn="l" latinLnBrk="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상권 더하기 사업화</a:t>
            </a:r>
            <a:endParaRPr lang="en-US" altLang="ko-KR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vl="1">
              <a:lnSpc>
                <a:spcPct val="150000"/>
              </a:lnSpc>
            </a:pP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상권 더하기 비즈니스 모델</a:t>
            </a:r>
            <a:endParaRPr lang="en-US" altLang="ko-KR" sz="12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628650" lvl="1" indent="-171450">
              <a:lnSpc>
                <a:spcPct val="150000"/>
              </a:lnSpc>
              <a:buFont typeface="맑은 고딕" panose="020B0503020000020004" pitchFamily="50" charset="-127"/>
              <a:buChar char="-"/>
            </a:pPr>
            <a:r>
              <a:rPr lang="ko-KR" altLang="en-US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상권 더하기의 핵심 운영 구조는 가게가 하나씩 합류할수록 상권 </a:t>
            </a:r>
            <a:r>
              <a:rPr lang="en-US" altLang="ko-KR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MBTI</a:t>
            </a:r>
            <a:r>
              <a:rPr lang="ko-KR" altLang="en-US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가 업데이트되고 브랜딩이 진화하는 살아있는 플랫폼에 있음</a:t>
            </a:r>
            <a:endParaRPr lang="en-US" altLang="ko-KR" sz="1200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628650" lvl="1" indent="-171450">
              <a:lnSpc>
                <a:spcPct val="150000"/>
              </a:lnSpc>
              <a:buFont typeface="맑은 고딕" panose="020B0503020000020004" pitchFamily="50" charset="-127"/>
              <a:buChar char="-"/>
            </a:pPr>
            <a:r>
              <a:rPr lang="ko-KR" altLang="en-US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기본 진단 무료 제공으로 점주 유입 → 플랫폼 내 광고 수익 발생</a:t>
            </a:r>
            <a:endParaRPr lang="en-US" altLang="ko-KR" sz="1200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628650" lvl="1" indent="-171450">
              <a:lnSpc>
                <a:spcPct val="150000"/>
              </a:lnSpc>
              <a:buFont typeface="맑은 고딕" panose="020B0503020000020004" pitchFamily="50" charset="-127"/>
              <a:buChar char="-"/>
            </a:pPr>
            <a:r>
              <a:rPr lang="ko-KR" altLang="en-US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솔루션 마켓 내 파트너사 노출 및 정보 제공 수수료 수익 발생</a:t>
            </a:r>
            <a:endParaRPr lang="en-US" altLang="ko-KR" sz="1200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628650" lvl="1" indent="-171450">
              <a:lnSpc>
                <a:spcPct val="150000"/>
              </a:lnSpc>
              <a:buFont typeface="맑은 고딕" panose="020B0503020000020004" pitchFamily="50" charset="-127"/>
              <a:buChar char="-"/>
            </a:pPr>
            <a:r>
              <a:rPr lang="ko-KR" altLang="en-US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데이터 축적 이후 지자체 대상 상권 분석 리포트 </a:t>
            </a:r>
            <a:r>
              <a:rPr lang="en-US" altLang="ko-KR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B2G </a:t>
            </a:r>
            <a:r>
              <a:rPr lang="ko-KR" altLang="en-US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납품으로 수익 확장</a:t>
            </a:r>
            <a:endParaRPr lang="en-US" altLang="ko-KR" sz="1200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628650" lvl="1" indent="-171450">
              <a:lnSpc>
                <a:spcPct val="150000"/>
              </a:lnSpc>
              <a:buFont typeface="맑은 고딕" panose="020B0503020000020004" pitchFamily="50" charset="-127"/>
              <a:buChar char="-"/>
            </a:pPr>
            <a:endParaRPr lang="en-US" altLang="ko-KR" sz="1200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vl="1">
              <a:lnSpc>
                <a:spcPct val="150000"/>
              </a:lnSpc>
            </a:pPr>
            <a:endParaRPr lang="en-US" altLang="ko-KR" sz="1200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vl="1">
              <a:lnSpc>
                <a:spcPct val="150000"/>
              </a:lnSpc>
            </a:pP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상권 더하기 진입 구조와 확산 구조</a:t>
            </a:r>
            <a:endParaRPr lang="en-US" altLang="ko-KR" sz="1200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742950" lvl="1" indent="-285750">
              <a:lnSpc>
                <a:spcPct val="150000"/>
              </a:lnSpc>
              <a:buFont typeface="맑은 고딕" panose="020B0503020000020004" pitchFamily="50" charset="-127"/>
              <a:buChar char="-"/>
            </a:pPr>
            <a:r>
              <a:rPr lang="ko-KR" altLang="en-US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무료 진단으로 진입 장벽을 최소화하여 초기 점주 유입을 자연스럽게 유도</a:t>
            </a:r>
            <a:endParaRPr lang="en-US" altLang="ko-KR" sz="1200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742950" lvl="1" indent="-285750">
              <a:lnSpc>
                <a:spcPct val="150000"/>
              </a:lnSpc>
              <a:buFont typeface="맑은 고딕" panose="020B0503020000020004" pitchFamily="50" charset="-127"/>
              <a:buChar char="-"/>
            </a:pPr>
            <a:r>
              <a:rPr lang="ko-KR" altLang="en-US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한 명의 점주가 합류하면 같은 상권 점주들이 자연스럽게 합류하는 네트워크 효과 작동</a:t>
            </a:r>
            <a:endParaRPr lang="en-US" altLang="ko-KR" sz="1200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742950" lvl="1" indent="-285750">
              <a:lnSpc>
                <a:spcPct val="150000"/>
              </a:lnSpc>
              <a:buFont typeface="맑은 고딕" panose="020B0503020000020004" pitchFamily="50" charset="-127"/>
              <a:buChar char="-"/>
            </a:pPr>
            <a:r>
              <a:rPr lang="ko-KR" altLang="en-US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상권 </a:t>
            </a:r>
            <a:r>
              <a:rPr lang="en-US" altLang="ko-KR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MBTI</a:t>
            </a:r>
            <a:r>
              <a:rPr lang="ko-KR" altLang="en-US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가 </a:t>
            </a:r>
            <a:r>
              <a:rPr lang="ko-KR" altLang="en-US" sz="1200" b="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정교해질수록</a:t>
            </a:r>
            <a:r>
              <a:rPr lang="ko-KR" altLang="en-US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점주들의 이탈 동기가 낮아지는 자연스러운 </a:t>
            </a:r>
            <a:r>
              <a:rPr lang="ko-KR" altLang="en-US" sz="1200" b="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락인</a:t>
            </a:r>
            <a:r>
              <a:rPr lang="ko-KR" altLang="en-US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효과 형성</a:t>
            </a:r>
            <a:endParaRPr lang="en-US" altLang="ko-KR" sz="1200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vl="1">
              <a:lnSpc>
                <a:spcPct val="140000"/>
              </a:lnSpc>
            </a:pPr>
            <a:endParaRPr lang="en-US" altLang="ko-KR" sz="1200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vl="1" algn="ctr">
              <a:lnSpc>
                <a:spcPct val="140000"/>
              </a:lnSpc>
            </a:pPr>
            <a:r>
              <a:rPr lang="ko-KR" altLang="en-US" sz="1200" b="0" dirty="0"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</a:rPr>
              <a:t>즉</a:t>
            </a:r>
            <a:r>
              <a:rPr lang="en-US" altLang="ko-KR" sz="1200" b="0" dirty="0"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200" b="0" dirty="0"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</a:rPr>
              <a:t>진입 장벽이 낮고 확산 구조가 내재된 비즈니스 모델로</a:t>
            </a:r>
            <a:r>
              <a:rPr lang="en-US" altLang="ko-KR" sz="1200" b="0" dirty="0"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200" b="0" dirty="0"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</a:rPr>
              <a:t>초기 투자 대비 빠르게 시장을 확보할 수 있으며 </a:t>
            </a:r>
            <a:endParaRPr lang="en-US" altLang="ko-KR" sz="1200" b="0" dirty="0">
              <a:highlight>
                <a:srgbClr val="FFFF00"/>
              </a:highlight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vl="1" algn="ctr">
              <a:lnSpc>
                <a:spcPct val="140000"/>
              </a:lnSpc>
            </a:pPr>
            <a:r>
              <a:rPr lang="ko-KR" altLang="en-US" sz="1200" b="0" dirty="0"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</a:rPr>
              <a:t>플랫폼 가치가 높아지는 구조로 지속 가능한 사업화 기반을 갖춤</a:t>
            </a:r>
            <a:endParaRPr lang="en-US" altLang="ko-KR" sz="1200" b="0" dirty="0">
              <a:highlight>
                <a:srgbClr val="FFFF00"/>
              </a:highlight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51825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A9A113-443E-8EC5-7131-11FE4608B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D0DEDB8-D03C-EDD8-6B0D-2DA9AE11DA54}"/>
              </a:ext>
            </a:extLst>
          </p:cNvPr>
          <p:cNvSpPr txBox="1"/>
          <p:nvPr/>
        </p:nvSpPr>
        <p:spPr>
          <a:xfrm>
            <a:off x="452120" y="700062"/>
            <a:ext cx="11287760" cy="4668650"/>
          </a:xfrm>
          <a:prstGeom prst="rect">
            <a:avLst/>
          </a:prstGeom>
          <a:noFill/>
          <a:ln w="9525" algn="ctr">
            <a:noFill/>
            <a:miter/>
          </a:ln>
          <a:effectLst/>
        </p:spPr>
        <p:txBody>
          <a:bodyPr wrap="square" lIns="0" tIns="0" rIns="0" bIns="0" rtlCol="0">
            <a:spAutoFit/>
          </a:bodyPr>
          <a:lstStyle/>
          <a:p>
            <a:pPr marL="285750" indent="-285750" algn="l" latinLnBrk="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상권 더하기 매출 발생 및 투자 가능성</a:t>
            </a:r>
            <a:endParaRPr lang="en-US" altLang="ko-KR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vl="1">
              <a:lnSpc>
                <a:spcPct val="150000"/>
              </a:lnSpc>
            </a:pP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상권 더하기 매출 발생 구조</a:t>
            </a:r>
            <a:endParaRPr lang="en-US" altLang="ko-KR" sz="12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628650" lvl="1" indent="-171450">
              <a:lnSpc>
                <a:spcPct val="150000"/>
              </a:lnSpc>
              <a:buFont typeface="맑은 고딕" panose="020B0503020000020004" pitchFamily="50" charset="-127"/>
              <a:buChar char="-"/>
            </a:pPr>
            <a:r>
              <a:rPr lang="ko-KR" altLang="en-US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주요 </a:t>
            </a:r>
            <a:r>
              <a:rPr lang="ko-KR" altLang="en-US" sz="1200" b="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수익원</a:t>
            </a:r>
            <a:r>
              <a:rPr lang="en-US" altLang="ko-KR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(</a:t>
            </a:r>
            <a:r>
              <a:rPr lang="ko-KR" altLang="en-US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초기</a:t>
            </a:r>
            <a:r>
              <a:rPr lang="en-US" altLang="ko-KR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광고 및 파트너사 노출 수수료</a:t>
            </a:r>
            <a:r>
              <a:rPr lang="en-US" altLang="ko-KR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(</a:t>
            </a:r>
            <a:r>
              <a:rPr lang="ko-KR" altLang="en-US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장기</a:t>
            </a:r>
            <a:r>
              <a:rPr lang="en-US" altLang="ko-KR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 B2G </a:t>
            </a:r>
            <a:r>
              <a:rPr lang="ko-KR" altLang="en-US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납품 본격화</a:t>
            </a:r>
            <a:endParaRPr lang="en-US" altLang="ko-KR" sz="1200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628650" lvl="1" indent="-171450">
              <a:lnSpc>
                <a:spcPct val="150000"/>
              </a:lnSpc>
              <a:buFont typeface="맑은 고딕" panose="020B0503020000020004" pitchFamily="50" charset="-127"/>
              <a:buChar char="-"/>
            </a:pPr>
            <a:endParaRPr lang="en-US" altLang="ko-KR" sz="1200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vl="1">
              <a:lnSpc>
                <a:spcPct val="150000"/>
              </a:lnSpc>
            </a:pPr>
            <a:endParaRPr lang="en-US" altLang="ko-KR" sz="1200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vl="1">
              <a:lnSpc>
                <a:spcPct val="150000"/>
              </a:lnSpc>
            </a:pP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상권 더하기 경쟁 우위</a:t>
            </a:r>
            <a:endParaRPr lang="en-US" altLang="ko-KR" sz="1200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742950" lvl="1" indent="-285750">
              <a:lnSpc>
                <a:spcPct val="150000"/>
              </a:lnSpc>
              <a:buFont typeface="맑은 고딕" panose="020B0503020000020004" pitchFamily="50" charset="-127"/>
              <a:buChar char="-"/>
            </a:pPr>
            <a:r>
              <a:rPr lang="ko-KR" altLang="en-US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특정 상권 브랜딩은 해당 상권 점주들의 참여로만 만들어지기 때문에 타 서비스가 복제할 수 없는 고유 데이터 자산 지속 축적</a:t>
            </a:r>
            <a:endParaRPr lang="en-US" altLang="ko-KR" sz="1200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742950" lvl="1" indent="-285750">
              <a:lnSpc>
                <a:spcPct val="150000"/>
              </a:lnSpc>
              <a:buFont typeface="맑은 고딕" panose="020B0503020000020004" pitchFamily="50" charset="-127"/>
              <a:buChar char="-"/>
            </a:pPr>
            <a:r>
              <a:rPr lang="ko-KR" altLang="en-US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참여 점주 증가는 데이터 축적</a:t>
            </a:r>
            <a:r>
              <a:rPr lang="en-US" altLang="ko-KR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브랜딩 고도화</a:t>
            </a:r>
            <a:r>
              <a:rPr lang="en-US" altLang="ko-KR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신규 점주 유입의 구조로 후발 진입자가 따라오기 어려운 선점 효과 지님</a:t>
            </a:r>
            <a:endParaRPr lang="en-US" altLang="ko-KR" sz="1200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742950" lvl="1" indent="-285750">
              <a:lnSpc>
                <a:spcPct val="150000"/>
              </a:lnSpc>
              <a:buFont typeface="맑은 고딕" panose="020B0503020000020004" pitchFamily="50" charset="-127"/>
              <a:buChar char="-"/>
            </a:pPr>
            <a:r>
              <a:rPr lang="ko-KR" altLang="en-US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상권 </a:t>
            </a:r>
            <a:r>
              <a:rPr lang="en-US" altLang="ko-KR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MBTI </a:t>
            </a:r>
            <a:r>
              <a:rPr lang="ko-KR" altLang="en-US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기반 공동 브랜딩이 점주 간 협력 문화를 형성하고 지역 상생으로 이어지는 사회적 가치 실현</a:t>
            </a:r>
            <a:endParaRPr lang="en-US" altLang="ko-KR" sz="1200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742950" lvl="1" indent="-285750">
              <a:lnSpc>
                <a:spcPct val="150000"/>
              </a:lnSpc>
              <a:buFont typeface="맑은 고딕" panose="020B0503020000020004" pitchFamily="50" charset="-127"/>
              <a:buChar char="-"/>
            </a:pPr>
            <a:endParaRPr lang="en-US" altLang="ko-KR" sz="1200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vl="1">
              <a:lnSpc>
                <a:spcPct val="150000"/>
              </a:lnSpc>
            </a:pP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상권 더하기 발전 가능성</a:t>
            </a:r>
            <a:endParaRPr lang="en-US" altLang="ko-KR" sz="1200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742950" lvl="1" indent="-285750">
              <a:lnSpc>
                <a:spcPct val="150000"/>
              </a:lnSpc>
              <a:buFont typeface="맑은 고딕" panose="020B0503020000020004" pitchFamily="50" charset="-127"/>
              <a:buChar char="-"/>
            </a:pPr>
            <a:r>
              <a:rPr lang="ko-KR" altLang="en-US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데이터가 쌓일수록 플랫폼 가치가 높아지는 구조로 선점한 플랫폼이 절대적으로 유리</a:t>
            </a:r>
            <a:endParaRPr lang="en-US" altLang="ko-KR" sz="1200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742950" lvl="1" indent="-285750">
              <a:lnSpc>
                <a:spcPct val="150000"/>
              </a:lnSpc>
              <a:buFont typeface="맑은 고딕" panose="020B0503020000020004" pitchFamily="50" charset="-127"/>
              <a:buChar char="-"/>
            </a:pPr>
            <a:r>
              <a:rPr lang="ko-KR" altLang="en-US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서울시 공공 정책과 방향성이 일치하여 지자체 납품으로의 자연스러운 수익 확장 경로 확보</a:t>
            </a:r>
            <a:endParaRPr lang="en-US" altLang="ko-KR" sz="1200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742950" lvl="1" indent="-285750">
              <a:lnSpc>
                <a:spcPct val="150000"/>
              </a:lnSpc>
              <a:buFont typeface="맑은 고딕" panose="020B0503020000020004" pitchFamily="50" charset="-127"/>
              <a:buChar char="-"/>
            </a:pPr>
            <a:r>
              <a:rPr lang="ko-KR" altLang="en-US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장기적으로 상권 침체를 사전에 예측하고 선제 대응하는 서울시 상권 조기경보 시스템으로 발전 가능</a:t>
            </a:r>
            <a:endParaRPr lang="en-US" altLang="ko-KR" sz="1200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vl="1">
              <a:lnSpc>
                <a:spcPct val="140000"/>
              </a:lnSpc>
            </a:pPr>
            <a:endParaRPr lang="en-US" altLang="ko-KR" sz="1200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vl="1" algn="ctr">
              <a:lnSpc>
                <a:spcPct val="140000"/>
              </a:lnSpc>
            </a:pPr>
            <a:r>
              <a:rPr lang="ko-KR" altLang="en-US" sz="1200" b="0" dirty="0"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</a:rPr>
              <a:t>즉</a:t>
            </a:r>
            <a:r>
              <a:rPr lang="en-US" altLang="ko-KR" sz="1200" b="0" dirty="0"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200" b="0" dirty="0"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</a:rPr>
              <a:t>초기 광고 수익부터 장기 지자체 납품 까지 명확한 수익 경로를 보유하고 </a:t>
            </a:r>
            <a:endParaRPr lang="en-US" altLang="ko-KR" sz="1200" b="0" dirty="0">
              <a:highlight>
                <a:srgbClr val="FFFF00"/>
              </a:highlight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vl="1" algn="ctr">
              <a:lnSpc>
                <a:spcPct val="140000"/>
              </a:lnSpc>
            </a:pPr>
            <a:r>
              <a:rPr lang="ko-KR" altLang="en-US" sz="1200" b="0" dirty="0"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</a:rPr>
              <a:t>소상공인 생존율 향상과 지역 상생이라는 사회적 가치를 동시에 실현하는 서비스</a:t>
            </a:r>
            <a:endParaRPr lang="en-US" altLang="ko-KR" sz="1200" b="0" dirty="0">
              <a:highlight>
                <a:srgbClr val="FFFF00"/>
              </a:highlight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241789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8B7122F3-8016-238D-F043-04B7604BC3B4}"/>
              </a:ext>
            </a:extLst>
          </p:cNvPr>
          <p:cNvSpPr/>
          <p:nvPr/>
        </p:nvSpPr>
        <p:spPr>
          <a:xfrm>
            <a:off x="10058400" y="182880"/>
            <a:ext cx="1930400" cy="77216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accent6"/>
            </a:solidFill>
            <a:miter/>
          </a:ln>
          <a:effectLst/>
        </p:spPr>
        <p:txBody>
          <a:bodyPr lIns="0" tIns="0" rIns="0" bIns="0" rtlCol="0" anchor="ctr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ko-KR" sz="1400" dirty="0">
                <a:latin typeface="+mn-ea"/>
                <a:ea typeface="+mn-ea"/>
                <a:sym typeface="Gill Sans"/>
              </a:rPr>
              <a:t>1</a:t>
            </a:r>
            <a:r>
              <a:rPr lang="ko-KR" altLang="en-US" sz="1400" dirty="0">
                <a:latin typeface="+mn-ea"/>
                <a:ea typeface="+mn-ea"/>
                <a:sym typeface="Gill Sans"/>
              </a:rPr>
              <a:t>장</a:t>
            </a:r>
            <a:endParaRPr kumimoji="0" lang="ko-KR" altLang="en-US" sz="1400" i="0" u="none" strike="noStrike" kern="1200" cap="none" spc="0" normalizeH="0" baseline="0" noProof="0" dirty="0">
              <a:ln>
                <a:noFill/>
              </a:ln>
              <a:latin typeface="+mn-ea"/>
              <a:ea typeface="+mn-ea"/>
              <a:sym typeface="Gill San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B962934-C95C-C28B-FD96-7EFE7E7CC7F0}"/>
              </a:ext>
            </a:extLst>
          </p:cNvPr>
          <p:cNvSpPr txBox="1"/>
          <p:nvPr/>
        </p:nvSpPr>
        <p:spPr>
          <a:xfrm>
            <a:off x="452120" y="843280"/>
            <a:ext cx="11287760" cy="227435"/>
          </a:xfrm>
          <a:prstGeom prst="rect">
            <a:avLst/>
          </a:prstGeom>
          <a:noFill/>
          <a:ln w="9525" algn="ctr">
            <a:noFill/>
            <a:miter/>
          </a:ln>
          <a:effectLst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40000"/>
              </a:lnSpc>
            </a:pPr>
            <a:r>
              <a:rPr kumimoji="1" lang="ko-KR" altLang="en-US" sz="1200" dirty="0">
                <a:latin typeface="+mn-ea"/>
                <a:ea typeface="+mn-ea"/>
              </a:rPr>
              <a:t>보고서에 있는 내용 작성</a:t>
            </a:r>
            <a:endParaRPr kumimoji="1" lang="ko-KR" altLang="en-US" sz="1200" b="0" dirty="0">
              <a:latin typeface="+mn-ea"/>
              <a:ea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62EAC42-403D-4EE6-BD16-1619D1A63423}"/>
              </a:ext>
            </a:extLst>
          </p:cNvPr>
          <p:cNvSpPr txBox="1"/>
          <p:nvPr/>
        </p:nvSpPr>
        <p:spPr>
          <a:xfrm>
            <a:off x="1066799" y="1228900"/>
            <a:ext cx="9389533" cy="4217180"/>
          </a:xfrm>
          <a:prstGeom prst="rect">
            <a:avLst/>
          </a:prstGeom>
          <a:noFill/>
          <a:ln w="9525" algn="ctr">
            <a:noFill/>
            <a:miter/>
          </a:ln>
          <a:effectLst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lang="ko-KR" altLang="en-US" sz="1200" b="0" kern="0" spc="0" dirty="0">
              <a:solidFill>
                <a:srgbClr val="000000"/>
              </a:solidFill>
              <a:effectLst/>
              <a:latin typeface="한양신명조"/>
            </a:endParaRPr>
          </a:p>
          <a:p>
            <a:pPr marL="0" marR="0" indent="0" algn="just" fontAlgn="base" latinLnBrk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200" b="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○소상공인 대상 의사결정 지원 서비스로 활용</a:t>
            </a:r>
            <a:endParaRPr lang="ko-KR" altLang="en-US" sz="1200" b="0" kern="0" spc="0" dirty="0">
              <a:solidFill>
                <a:srgbClr val="000000"/>
              </a:solidFill>
              <a:effectLst/>
              <a:latin typeface="한양신명조"/>
            </a:endParaRPr>
          </a:p>
          <a:p>
            <a:pPr marL="0" marR="0" indent="0" algn="just" fontAlgn="base" latinLnBrk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200" b="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- </a:t>
            </a:r>
            <a:r>
              <a:rPr lang="ko-KR" altLang="en-US" sz="1200" b="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점주가 직관에 의존하던 운영 판단을 데이터 기반 의사결정으로 전환</a:t>
            </a:r>
            <a:endParaRPr lang="ko-KR" altLang="en-US" sz="1200" b="0" kern="0" spc="0" dirty="0">
              <a:solidFill>
                <a:srgbClr val="000000"/>
              </a:solidFill>
              <a:effectLst/>
              <a:latin typeface="한양신명조"/>
            </a:endParaRPr>
          </a:p>
          <a:p>
            <a:pPr marL="0" marR="0" indent="0" algn="just" fontAlgn="base" latinLnBrk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200" b="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○상권분석 공공데이터 활용도 제고</a:t>
            </a:r>
            <a:endParaRPr lang="ko-KR" altLang="en-US" sz="1200" b="0" kern="0" spc="0" dirty="0">
              <a:solidFill>
                <a:srgbClr val="000000"/>
              </a:solidFill>
              <a:effectLst/>
              <a:latin typeface="한양신명조"/>
            </a:endParaRPr>
          </a:p>
          <a:p>
            <a:pPr marL="0" marR="0" indent="0" algn="just" fontAlgn="base" latinLnBrk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200" b="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- </a:t>
            </a:r>
            <a:r>
              <a:rPr lang="ko-KR" altLang="en-US" sz="1200" b="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기존의 단순 리포트 활용에서 벗어나 실제 매장 운영 개선에 직접 연결되는 활용 사례 창출</a:t>
            </a:r>
            <a:endParaRPr lang="ko-KR" altLang="en-US" sz="1200" b="0" kern="0" spc="0" dirty="0">
              <a:solidFill>
                <a:srgbClr val="000000"/>
              </a:solidFill>
              <a:effectLst/>
              <a:latin typeface="한양신명조"/>
            </a:endParaRPr>
          </a:p>
          <a:p>
            <a:pPr marL="0" marR="0" indent="0" algn="just" fontAlgn="base" latinLnBrk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200" b="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○창업 및 운영 초기 점주 지원</a:t>
            </a:r>
            <a:endParaRPr lang="ko-KR" altLang="en-US" sz="1200" b="0" kern="0" spc="0" dirty="0">
              <a:solidFill>
                <a:srgbClr val="000000"/>
              </a:solidFill>
              <a:effectLst/>
              <a:latin typeface="한양신명조"/>
            </a:endParaRPr>
          </a:p>
          <a:p>
            <a:pPr marL="0" marR="0" indent="0" algn="just" fontAlgn="base" latinLnBrk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200" b="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- </a:t>
            </a:r>
            <a:r>
              <a:rPr lang="ko-KR" altLang="en-US" sz="1200" b="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상권 진입 초기 단계에서 매장 운영 전략 설계에 활용 가능</a:t>
            </a:r>
            <a:endParaRPr lang="ko-KR" altLang="en-US" sz="1200" b="0" kern="0" spc="0" dirty="0">
              <a:solidFill>
                <a:srgbClr val="000000"/>
              </a:solidFill>
              <a:effectLst/>
              <a:latin typeface="한양신명조"/>
            </a:endParaRPr>
          </a:p>
          <a:p>
            <a:pPr marL="0" marR="0" indent="0" algn="just" fontAlgn="base" latinLnBrk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200" b="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○기대효과</a:t>
            </a:r>
            <a:endParaRPr lang="ko-KR" altLang="en-US" sz="1200" b="0" kern="0" spc="0" dirty="0">
              <a:solidFill>
                <a:srgbClr val="000000"/>
              </a:solidFill>
              <a:effectLst/>
              <a:latin typeface="한양신명조"/>
            </a:endParaRPr>
          </a:p>
          <a:p>
            <a:pPr marL="0" marR="0" indent="0" algn="just" fontAlgn="base" latinLnBrk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200" b="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- </a:t>
            </a:r>
            <a:r>
              <a:rPr lang="ko-KR" altLang="en-US" sz="1200" b="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매출 구조 개선</a:t>
            </a:r>
            <a:endParaRPr lang="ko-KR" altLang="en-US" sz="1200" b="0" kern="0" spc="0" dirty="0">
              <a:solidFill>
                <a:srgbClr val="000000"/>
              </a:solidFill>
              <a:effectLst/>
              <a:latin typeface="한양신명조"/>
            </a:endParaRPr>
          </a:p>
          <a:p>
            <a:pPr marL="0" marR="0" indent="0" algn="just" fontAlgn="base" latinLnBrk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200" b="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- </a:t>
            </a:r>
            <a:r>
              <a:rPr lang="ko-KR" altLang="en-US" sz="1200" b="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운영 효율 향상</a:t>
            </a:r>
            <a:endParaRPr lang="ko-KR" altLang="en-US" sz="1200" b="0" kern="0" spc="0" dirty="0">
              <a:solidFill>
                <a:srgbClr val="000000"/>
              </a:solidFill>
              <a:effectLst/>
              <a:latin typeface="한양신명조"/>
            </a:endParaRPr>
          </a:p>
          <a:p>
            <a:pPr marL="0" marR="0" indent="0" algn="just" fontAlgn="base" latinLnBrk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200" b="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- </a:t>
            </a:r>
            <a:r>
              <a:rPr lang="ko-KR" altLang="en-US" sz="1200" b="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고객 재방문 증가</a:t>
            </a:r>
            <a:endParaRPr lang="ko-KR" altLang="en-US" sz="1200" b="0" kern="0" spc="0" dirty="0">
              <a:solidFill>
                <a:srgbClr val="000000"/>
              </a:solidFill>
              <a:effectLst/>
              <a:latin typeface="한양신명조"/>
            </a:endParaRPr>
          </a:p>
          <a:p>
            <a:pPr marL="0" marR="0" indent="0" algn="just" fontAlgn="base" latinLnBrk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200" b="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- </a:t>
            </a:r>
            <a:r>
              <a:rPr lang="ko-KR" altLang="en-US" sz="1200" b="0" kern="0" spc="0" dirty="0" err="1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객단가</a:t>
            </a:r>
            <a:r>
              <a:rPr lang="ko-KR" altLang="en-US" sz="1200" b="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상승</a:t>
            </a:r>
            <a:endParaRPr lang="ko-KR" altLang="en-US" sz="1200" b="0" kern="0" spc="0" dirty="0">
              <a:solidFill>
                <a:srgbClr val="000000"/>
              </a:solidFill>
              <a:effectLst/>
              <a:latin typeface="한양신명조"/>
            </a:endParaRPr>
          </a:p>
          <a:p>
            <a:pPr marL="0" marR="0" indent="0" algn="just" fontAlgn="base" latinLnBrk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200" b="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○장기적 </a:t>
            </a:r>
            <a:r>
              <a:rPr lang="ko-KR" altLang="en-US" sz="1200" b="0" kern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관점</a:t>
            </a:r>
            <a:endParaRPr lang="ko-KR" altLang="en-US" sz="1200" b="0" kern="0" spc="0" dirty="0">
              <a:solidFill>
                <a:srgbClr val="000000"/>
              </a:solidFill>
              <a:effectLst/>
              <a:latin typeface="한양신명조"/>
            </a:endParaRPr>
          </a:p>
          <a:p>
            <a:pPr marL="0" marR="0" indent="0" algn="just" fontAlgn="base" latinLnBrk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200" b="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- </a:t>
            </a:r>
            <a:r>
              <a:rPr lang="ko-KR" altLang="en-US" sz="1200" b="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데이터 기반 소상공인 운영 생태계 구축</a:t>
            </a:r>
            <a:endParaRPr lang="ko-KR" altLang="en-US" sz="1200" b="0" kern="0" spc="0" dirty="0">
              <a:solidFill>
                <a:srgbClr val="000000"/>
              </a:solidFill>
              <a:effectLst/>
              <a:latin typeface="한양신명조"/>
            </a:endParaRPr>
          </a:p>
          <a:p>
            <a:pPr marL="0" marR="0" indent="0" algn="just" fontAlgn="base" latinLnBrk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200" b="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- </a:t>
            </a:r>
            <a:r>
              <a:rPr lang="ko-KR" altLang="en-US" sz="1200" b="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공공데이터 기반 창업 지원 서비스 확장 가능</a:t>
            </a:r>
            <a:endParaRPr lang="ko-KR" altLang="en-US" sz="1200" b="0" kern="0" spc="0" dirty="0">
              <a:solidFill>
                <a:srgbClr val="000000"/>
              </a:solidFill>
              <a:effectLst/>
              <a:latin typeface="한양신명조"/>
            </a:endParaRPr>
          </a:p>
        </p:txBody>
      </p:sp>
    </p:spTree>
    <p:extLst>
      <p:ext uri="{BB962C8B-B14F-4D97-AF65-F5344CB8AC3E}">
        <p14:creationId xmlns:p14="http://schemas.microsoft.com/office/powerpoint/2010/main" val="3321768347"/>
      </p:ext>
    </p:extLst>
  </p:cSld>
  <p:clrMapOvr>
    <a:masterClrMapping/>
  </p:clrMapOvr>
</p:sld>
</file>

<file path=ppt/theme/theme1.xml><?xml version="1.0" encoding="utf-8"?>
<a:theme xmlns:a="http://schemas.openxmlformats.org/drawingml/2006/main" name="2_내지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 w="3175">
          <a:solidFill>
            <a:schemeClr val="bg1">
              <a:lumMod val="85000"/>
            </a:schemeClr>
          </a:solidFill>
          <a:miter/>
        </a:ln>
        <a:effectLst/>
      </a:spPr>
      <a:bodyPr lIns="0" tIns="0" rIns="0" bIns="0" rtlCol="0" anchor="ctr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None/>
          <a:defRPr kumimoji="0" sz="800" b="0" i="0" u="none" strike="noStrike" kern="1200" cap="none" spc="0" normalizeH="0" baseline="0" noProof="0" dirty="0" smtClean="0">
            <a:ln>
              <a:noFill/>
            </a:ln>
            <a:solidFill>
              <a:srgbClr val="000000"/>
            </a:solidFill>
            <a:latin typeface="+mn-ea"/>
            <a:ea typeface="+mn-ea"/>
            <a:sym typeface="Gill Sans"/>
          </a:defRPr>
        </a:defPPr>
      </a:lstStyle>
    </a:spDef>
    <a:lnDef>
      <a:spPr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</a:ln>
        <a:effectLst/>
      </a:spPr>
      <a:bodyPr/>
      <a:lstStyle/>
    </a:lnDef>
    <a:txDef>
      <a:spPr>
        <a:noFill/>
        <a:ln w="9525" algn="ctr">
          <a:noFill/>
          <a:miter/>
        </a:ln>
        <a:effectLst/>
      </a:spPr>
      <a:bodyPr wrap="none" lIns="0" tIns="0" rIns="0" bIns="0" rtlCol="0">
        <a:spAutoFit/>
      </a:bodyPr>
      <a:lstStyle>
        <a:defPPr algn="l" latinLnBrk="0">
          <a:lnSpc>
            <a:spcPct val="140000"/>
          </a:lnSpc>
          <a:defRPr b="0" dirty="0" smtClean="0">
            <a:latin typeface="맑은 고딕" panose="020B0503020000020004" pitchFamily="50" charset="-127"/>
            <a:ea typeface="맑은 고딕" panose="020B0503020000020004" pitchFamily="50" charset="-127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32799</TotalTime>
  <Words>1198</Words>
  <Application>Microsoft Office PowerPoint</Application>
  <PresentationFormat>와이드스크린</PresentationFormat>
  <Paragraphs>132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7" baseType="lpstr">
      <vt:lpstr>Optima</vt:lpstr>
      <vt:lpstr>Pretendard</vt:lpstr>
      <vt:lpstr>맑은 고딕</vt:lpstr>
      <vt:lpstr>한양신명조</vt:lpstr>
      <vt:lpstr>Arial</vt:lpstr>
      <vt:lpstr>Times New Roman</vt:lpstr>
      <vt:lpstr>Wingdings</vt:lpstr>
      <vt:lpstr>2_내지1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>YTJ</Manager>
  <Company>SAC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제목 없음</dc:title>
  <dc:subject>작성 표준 양식</dc:subject>
  <dc:creator>mano</dc:creator>
  <cp:lastModifiedBy>이승건(대학원생-비즈니스IT전공)</cp:lastModifiedBy>
  <cp:revision>23401</cp:revision>
  <cp:lastPrinted>2021-04-20T06:28:29Z</cp:lastPrinted>
  <dcterms:created xsi:type="dcterms:W3CDTF">2000-07-20T05:38:02Z</dcterms:created>
  <dcterms:modified xsi:type="dcterms:W3CDTF">2026-04-30T04:50:04Z</dcterms:modified>
</cp:coreProperties>
</file>