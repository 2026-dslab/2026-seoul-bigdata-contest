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9" r:id="rId4"/>
    <p:sldId id="272" r:id="rId5"/>
    <p:sldId id="268" r:id="rId6"/>
    <p:sldId id="269" r:id="rId7"/>
    <p:sldId id="270" r:id="rId8"/>
    <p:sldId id="271" r:id="rId9"/>
    <p:sldId id="258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/>
  <p:notesSz cx="6858000" cy="9144000"/>
  <p:embeddedFontLst>
    <p:embeddedFont>
      <p:font typeface="Pretendard" panose="02000503000000020004" pitchFamily="50" charset="-127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4CF"/>
    <a:srgbClr val="FE7604"/>
    <a:srgbClr val="003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6318" autoAdjust="0"/>
  </p:normalViewPr>
  <p:slideViewPr>
    <p:cSldViewPr>
      <p:cViewPr varScale="1">
        <p:scale>
          <a:sx n="76" d="100"/>
          <a:sy n="76" d="100"/>
        </p:scale>
        <p:origin x="4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70E436C-D545-4879-9710-84B3A2591B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E9102D-8BD0-458A-B5A6-0680B40FF9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31FA8-FCD9-4575-8EB6-BE930E31164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EB8BDF-E57B-455C-BBB4-82C483A3AC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E5205C-80BD-4822-B664-2F0F6E63F7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461F8-EB21-4F25-8B9E-012B8324E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6573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6661B-6440-4506-A362-9BB026E59D13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99934-B030-443D-8D25-26434E290A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3073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2C157011-C135-4557-BDD6-B414F9956284}" type="slidenum">
              <a:rPr lang="ko-KR" altLang="en-US" smtClean="0"/>
              <a:t>8</a:t>
            </a:fld>
            <a:fld id="{92174E6E-CE26-4AB2-BA5C-AA11826EC12F}" type="slidenum">
              <a:rPr lang="ko-KR" altLang="en-US" smtClean="0"/>
              <a:t>8</a:t>
            </a:fld>
            <a:fld id="{551733B2-7738-462D-AC39-1B7F246FE3B5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99934-B030-443D-8D25-26434E290AB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549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256825-FE67-4AA7-9754-F06D952C7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5A0A87-59DE-4BBC-B39F-34565498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1EAB26-13B5-41ED-A767-E2ED3727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41B893-2AC7-4B03-91CB-40AEDCE1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6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50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50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 panose="02000503000000020004" pitchFamily="50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 panose="02000503000000020004" pitchFamily="50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 panose="02000503000000020004" pitchFamily="50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 panose="02000503000000020004" pitchFamily="50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 panose="02000503000000020004" pitchFamily="50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igisam.com/yeonnamdong-retail-trend-report/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shareit.kr/story/54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agazine.hankyung.com/business/article/202102226669b" TargetMode="External"/><Relationship Id="rId5" Type="http://schemas.openxmlformats.org/officeDocument/2006/relationships/hyperlink" Target="https://www.sajangin.com/news/articleView.html?idxno=14287" TargetMode="External"/><Relationship Id="rId4" Type="http://schemas.openxmlformats.org/officeDocument/2006/relationships/hyperlink" Target="https://www.si.re.kr/sites/default/files/small%2022-0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mp.seoul.co.kr/news/society/2025/12/24/20251224500212?cp=en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oodnews.news/mobile/article.html?no=1531937" TargetMode="External"/><Relationship Id="rId4" Type="http://schemas.openxmlformats.org/officeDocument/2006/relationships/hyperlink" Target="https://www.yna.co.kr/view/AKR2025122314480000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.daum.net/v/20251224161804302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hyperlink" Target="https://news.seoul.go.kr/economy/archives/562241" TargetMode="External"/><Relationship Id="rId4" Type="http://schemas.openxmlformats.org/officeDocument/2006/relationships/hyperlink" Target="https://www.seoul.co.kr/news/society/2026/02/02/20260202500135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66692" y="8656957"/>
            <a:ext cx="374203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altLang="ko-KR" sz="24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TEAM</a:t>
            </a:r>
            <a:r>
              <a:rPr lang="en-US" altLang="ko-KR" sz="28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ko-KR" altLang="en-US" sz="28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골목연구소</a:t>
            </a:r>
            <a:endParaRPr lang="en-US" sz="2800" b="1" spc="-42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C2250432-6994-4D40-8680-A11955570330}"/>
              </a:ext>
            </a:extLst>
          </p:cNvPr>
          <p:cNvSpPr/>
          <p:nvPr/>
        </p:nvSpPr>
        <p:spPr>
          <a:xfrm flipV="1">
            <a:off x="773095" y="742950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5037585-8681-4588-82FE-8CD7CA1E6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495300"/>
            <a:ext cx="11281706" cy="7521138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9F0C0072-A510-4883-B15C-9A36DA712A52}"/>
              </a:ext>
            </a:extLst>
          </p:cNvPr>
          <p:cNvGrpSpPr/>
          <p:nvPr/>
        </p:nvGrpSpPr>
        <p:grpSpPr>
          <a:xfrm>
            <a:off x="10287000" y="2615248"/>
            <a:ext cx="5686303" cy="10096497"/>
            <a:chOff x="9030098" y="1560374"/>
            <a:chExt cx="5686303" cy="10096497"/>
          </a:xfrm>
        </p:grpSpPr>
        <p:pic>
          <p:nvPicPr>
            <p:cNvPr id="16" name="그림 7">
              <a:extLst>
                <a:ext uri="{FF2B5EF4-FFF2-40B4-BE49-F238E27FC236}">
                  <a16:creationId xmlns:a16="http://schemas.microsoft.com/office/drawing/2014/main" id="{23CCC05D-9539-40EE-B497-551CF2D737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80"/>
            <a:stretch>
              <a:fillRect/>
            </a:stretch>
          </p:blipFill>
          <p:spPr bwMode="auto">
            <a:xfrm>
              <a:off x="9459876" y="1811630"/>
              <a:ext cx="4826745" cy="9593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그림 10">
              <a:extLst>
                <a:ext uri="{FF2B5EF4-FFF2-40B4-BE49-F238E27FC236}">
                  <a16:creationId xmlns:a16="http://schemas.microsoft.com/office/drawing/2014/main" id="{2A675E5F-B169-497A-9F54-4257C695AA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91" t="11617" r="28622" b="11462"/>
            <a:stretch>
              <a:fillRect/>
            </a:stretch>
          </p:blipFill>
          <p:spPr bwMode="auto">
            <a:xfrm>
              <a:off x="9030098" y="1560374"/>
              <a:ext cx="5686303" cy="10096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extBox 11"/>
          <p:cNvSpPr txBox="1"/>
          <p:nvPr/>
        </p:nvSpPr>
        <p:spPr>
          <a:xfrm>
            <a:off x="1691774" y="4839084"/>
            <a:ext cx="8328525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ko-KR" altLang="en-US" sz="2300" b="1" spc="-46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나의 매장이 모여 함께 하는 상권 브랜딩</a:t>
            </a:r>
            <a:endParaRPr lang="en-US" sz="2300" b="1" spc="-46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pic>
        <p:nvPicPr>
          <p:cNvPr id="21" name="그림 12">
            <a:extLst>
              <a:ext uri="{FF2B5EF4-FFF2-40B4-BE49-F238E27FC236}">
                <a16:creationId xmlns:a16="http://schemas.microsoft.com/office/drawing/2014/main" id="{BE795C54-0EB2-4276-9C77-01845D47DD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44485"/>
            <a:ext cx="17605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그림 1">
            <a:extLst>
              <a:ext uri="{FF2B5EF4-FFF2-40B4-BE49-F238E27FC236}">
                <a16:creationId xmlns:a16="http://schemas.microsoft.com/office/drawing/2014/main" id="{3D3AE545-89A9-4567-811E-675B07DC64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242" y="840039"/>
            <a:ext cx="2140903" cy="38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4D7DED9A-C614-43AF-9C8D-EC150B181419}"/>
              </a:ext>
            </a:extLst>
          </p:cNvPr>
          <p:cNvSpPr txBox="1"/>
          <p:nvPr/>
        </p:nvSpPr>
        <p:spPr>
          <a:xfrm>
            <a:off x="1365414" y="8146007"/>
            <a:ext cx="8388185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altLang="ko-KR" sz="28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2026 </a:t>
            </a:r>
            <a:r>
              <a:rPr lang="ko-KR" altLang="en-US" sz="28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서울시 빅데이터 활용 경진대회 </a:t>
            </a:r>
            <a:r>
              <a:rPr lang="en-US" altLang="ko-KR" sz="28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(</a:t>
            </a:r>
            <a:r>
              <a:rPr lang="ko-KR" altLang="en-US" sz="28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창업부분</a:t>
            </a:r>
            <a:r>
              <a:rPr lang="en-US" altLang="ko-KR" sz="2800" b="1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)</a:t>
            </a:r>
            <a:endParaRPr lang="en-US" sz="2800" b="1" spc="-42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592195" y="956019"/>
            <a:ext cx="9103611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b="1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목차</a:t>
            </a:r>
            <a:r>
              <a:rPr lang="en-US" sz="6300" b="1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(</a:t>
            </a:r>
            <a:r>
              <a:rPr lang="ko-KR" altLang="en-US" sz="6300" b="1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필요한가</a:t>
            </a:r>
            <a:r>
              <a:rPr lang="en-US" altLang="ko-KR" sz="6300" b="1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?)</a:t>
            </a:r>
            <a:endParaRPr lang="en-US" sz="6300" b="1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280629" y="3730913"/>
            <a:ext cx="809625" cy="80962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48072" y="3730913"/>
            <a:ext cx="809625" cy="80962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80629" y="4872038"/>
            <a:ext cx="809625" cy="80962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48072" y="4872038"/>
            <a:ext cx="809625" cy="80962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459776" y="3840450"/>
            <a:ext cx="414369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ko-KR" alt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제안 배경 및 출품작 소개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227219" y="3840450"/>
            <a:ext cx="4283516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59776" y="4981575"/>
            <a:ext cx="414369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27219" y="4981575"/>
            <a:ext cx="4283516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95906" y="3868091"/>
            <a:ext cx="57907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3349" y="3883543"/>
            <a:ext cx="57907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95906" y="5009216"/>
            <a:ext cx="57907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63349" y="5016354"/>
            <a:ext cx="57907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06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59776" y="6122700"/>
            <a:ext cx="414369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altLang="ko-KR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27219" y="6122700"/>
            <a:ext cx="4283516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altLang="ko-KR" sz="3000" b="1" spc="-6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7</a:t>
            </a:r>
            <a:endParaRPr lang="en-US" altLang="ko-KR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459776" y="7265700"/>
            <a:ext cx="414369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4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280629" y="6013162"/>
            <a:ext cx="809625" cy="80962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48072" y="6013162"/>
            <a:ext cx="809625" cy="80962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280629" y="7156162"/>
            <a:ext cx="809625" cy="80962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395906" y="6150340"/>
            <a:ext cx="57907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03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63349" y="6150340"/>
            <a:ext cx="57907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07</a:t>
            </a:r>
          </a:p>
        </p:txBody>
      </p:sp>
      <p:sp>
        <p:nvSpPr>
          <p:cNvPr id="47" name="TextBox 43">
            <a:extLst>
              <a:ext uri="{FF2B5EF4-FFF2-40B4-BE49-F238E27FC236}">
                <a16:creationId xmlns:a16="http://schemas.microsoft.com/office/drawing/2014/main" id="{BFE60A61-A2D1-4367-9A94-AA769D464FA2}"/>
              </a:ext>
            </a:extLst>
          </p:cNvPr>
          <p:cNvSpPr txBox="1"/>
          <p:nvPr/>
        </p:nvSpPr>
        <p:spPr>
          <a:xfrm>
            <a:off x="3395906" y="7293340"/>
            <a:ext cx="579072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163830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1866900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86598" y="2184080"/>
            <a:ext cx="14914802" cy="497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ko-KR" alt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서울시 소상공인은 창업 후 </a:t>
            </a:r>
            <a:r>
              <a:rPr lang="en-US" altLang="ko-KR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5</a:t>
            </a:r>
            <a:r>
              <a:rPr lang="ko-KR" alt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년 내 폐업률은 약 </a:t>
            </a:r>
            <a:r>
              <a:rPr lang="en-US" altLang="ko-KR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60%</a:t>
            </a:r>
            <a:r>
              <a:rPr lang="ko-KR" alt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에 달하며</a:t>
            </a:r>
            <a:r>
              <a:rPr lang="en-US" altLang="ko-KR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, </a:t>
            </a:r>
            <a:r>
              <a:rPr lang="ko-KR" alt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골목상권 쇠퇴가 가속화되고 있음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72ED598-6F52-4016-8559-07DDF2B14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985723"/>
            <a:ext cx="7415856" cy="436865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4F140D9-2ABB-4D0E-8833-72F47CE1F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058" y="3351159"/>
            <a:ext cx="8067392" cy="34368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73C1530-3048-4F13-98D2-6E4D3B2F5AD7}"/>
              </a:ext>
            </a:extLst>
          </p:cNvPr>
          <p:cNvSpPr txBox="1"/>
          <p:nvPr/>
        </p:nvSpPr>
        <p:spPr>
          <a:xfrm>
            <a:off x="1673719" y="7205730"/>
            <a:ext cx="2743104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폐업한 소상공인의 평균 영업 기간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A78D4C-F0E2-48D1-9116-E91EFD7C8DE8}"/>
              </a:ext>
            </a:extLst>
          </p:cNvPr>
          <p:cNvSpPr txBox="1"/>
          <p:nvPr/>
        </p:nvSpPr>
        <p:spPr>
          <a:xfrm>
            <a:off x="990600" y="854970"/>
            <a:ext cx="8991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제안배경 및 출품작 소개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07E5D0-C173-4C8C-89B8-AA47F1DBEE0A}"/>
              </a:ext>
            </a:extLst>
          </p:cNvPr>
          <p:cNvSpPr txBox="1"/>
          <p:nvPr/>
        </p:nvSpPr>
        <p:spPr>
          <a:xfrm>
            <a:off x="9296400" y="6768796"/>
            <a:ext cx="2398107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사업체 운영에 따른 애로사항</a:t>
            </a:r>
          </a:p>
        </p:txBody>
      </p:sp>
      <p:grpSp>
        <p:nvGrpSpPr>
          <p:cNvPr id="37" name="Group 9">
            <a:extLst>
              <a:ext uri="{FF2B5EF4-FFF2-40B4-BE49-F238E27FC236}">
                <a16:creationId xmlns:a16="http://schemas.microsoft.com/office/drawing/2014/main" id="{18AD2430-B979-4DE7-8F90-4835D703E10A}"/>
              </a:ext>
            </a:extLst>
          </p:cNvPr>
          <p:cNvGrpSpPr/>
          <p:nvPr/>
        </p:nvGrpSpPr>
        <p:grpSpPr>
          <a:xfrm>
            <a:off x="3429001" y="7962900"/>
            <a:ext cx="11429999" cy="780450"/>
            <a:chOff x="0" y="0"/>
            <a:chExt cx="774039" cy="160586"/>
          </a:xfrm>
        </p:grpSpPr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D15C2C9-58DA-4BA7-AF60-02B66F7EBE20}"/>
                </a:ext>
              </a:extLst>
            </p:cNvPr>
            <p:cNvSpPr/>
            <p:nvPr/>
          </p:nvSpPr>
          <p:spPr>
            <a:xfrm>
              <a:off x="0" y="0"/>
              <a:ext cx="774039" cy="160586"/>
            </a:xfrm>
            <a:custGeom>
              <a:avLst/>
              <a:gdLst/>
              <a:ahLst/>
              <a:cxnLst/>
              <a:rect l="l" t="t" r="r" b="b"/>
              <a:pathLst>
                <a:path w="774039" h="160586">
                  <a:moveTo>
                    <a:pt x="0" y="0"/>
                  </a:moveTo>
                  <a:lnTo>
                    <a:pt x="774039" y="0"/>
                  </a:lnTo>
                  <a:lnTo>
                    <a:pt x="774039" y="160586"/>
                  </a:lnTo>
                  <a:lnTo>
                    <a:pt x="0" y="160586"/>
                  </a:lnTo>
                  <a:close/>
                </a:path>
              </a:pathLst>
            </a:custGeom>
            <a:solidFill>
              <a:srgbClr val="5183E4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A9A03CE7-B834-4C12-840C-F54A3E501968}"/>
                </a:ext>
              </a:extLst>
            </p:cNvPr>
            <p:cNvSpPr txBox="1"/>
            <p:nvPr/>
          </p:nvSpPr>
          <p:spPr>
            <a:xfrm>
              <a:off x="0" y="-38100"/>
              <a:ext cx="774039" cy="198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40" name="TextBox 25">
            <a:extLst>
              <a:ext uri="{FF2B5EF4-FFF2-40B4-BE49-F238E27FC236}">
                <a16:creationId xmlns:a16="http://schemas.microsoft.com/office/drawing/2014/main" id="{D5A102FF-1164-49D4-86E2-F3D43B200C17}"/>
              </a:ext>
            </a:extLst>
          </p:cNvPr>
          <p:cNvSpPr txBox="1"/>
          <p:nvPr/>
        </p:nvSpPr>
        <p:spPr>
          <a:xfrm>
            <a:off x="3700462" y="8094439"/>
            <a:ext cx="10887075" cy="503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ko-KR" altLang="en-US" sz="32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폐업의 주된 원인은 여러가지가 있으나</a:t>
            </a:r>
            <a:r>
              <a:rPr lang="en-US" altLang="ko-KR" sz="32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, </a:t>
            </a:r>
            <a:r>
              <a:rPr lang="ko-KR" altLang="en-US" sz="3200" b="1" spc="-60" dirty="0">
                <a:solidFill>
                  <a:srgbClr val="FFFF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상권 쇠퇴</a:t>
            </a:r>
            <a:r>
              <a:rPr lang="ko-KR" altLang="en-US" sz="32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가 가장 큰 원인</a:t>
            </a:r>
            <a:endParaRPr lang="en-US" sz="3200" b="1" spc="-6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8F0F043-DF0F-48E4-A250-1F73456D5A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298333"/>
            <a:ext cx="2717944" cy="1811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163830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1866900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86598" y="2184080"/>
            <a:ext cx="14914802" cy="497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ko-KR" alt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상권이 쇠퇴하는 상황에도</a:t>
            </a:r>
            <a:r>
              <a:rPr lang="en-US" altLang="ko-KR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, </a:t>
            </a:r>
            <a:r>
              <a:rPr lang="ko-KR" alt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활성화되는 상권 존재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grpSp>
        <p:nvGrpSpPr>
          <p:cNvPr id="37" name="Group 9">
            <a:extLst>
              <a:ext uri="{FF2B5EF4-FFF2-40B4-BE49-F238E27FC236}">
                <a16:creationId xmlns:a16="http://schemas.microsoft.com/office/drawing/2014/main" id="{18AD2430-B979-4DE7-8F90-4835D703E10A}"/>
              </a:ext>
            </a:extLst>
          </p:cNvPr>
          <p:cNvGrpSpPr/>
          <p:nvPr/>
        </p:nvGrpSpPr>
        <p:grpSpPr>
          <a:xfrm>
            <a:off x="1130338" y="8029875"/>
            <a:ext cx="16027324" cy="780450"/>
            <a:chOff x="0" y="0"/>
            <a:chExt cx="774039" cy="160586"/>
          </a:xfrm>
        </p:grpSpPr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D15C2C9-58DA-4BA7-AF60-02B66F7EBE20}"/>
                </a:ext>
              </a:extLst>
            </p:cNvPr>
            <p:cNvSpPr/>
            <p:nvPr/>
          </p:nvSpPr>
          <p:spPr>
            <a:xfrm>
              <a:off x="0" y="0"/>
              <a:ext cx="774039" cy="160586"/>
            </a:xfrm>
            <a:custGeom>
              <a:avLst/>
              <a:gdLst/>
              <a:ahLst/>
              <a:cxnLst/>
              <a:rect l="l" t="t" r="r" b="b"/>
              <a:pathLst>
                <a:path w="774039" h="160586">
                  <a:moveTo>
                    <a:pt x="0" y="0"/>
                  </a:moveTo>
                  <a:lnTo>
                    <a:pt x="774039" y="0"/>
                  </a:lnTo>
                  <a:lnTo>
                    <a:pt x="774039" y="160586"/>
                  </a:lnTo>
                  <a:lnTo>
                    <a:pt x="0" y="160586"/>
                  </a:lnTo>
                  <a:close/>
                </a:path>
              </a:pathLst>
            </a:custGeom>
            <a:solidFill>
              <a:srgbClr val="5183E4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A9A03CE7-B834-4C12-840C-F54A3E501968}"/>
                </a:ext>
              </a:extLst>
            </p:cNvPr>
            <p:cNvSpPr txBox="1"/>
            <p:nvPr/>
          </p:nvSpPr>
          <p:spPr>
            <a:xfrm>
              <a:off x="0" y="-38100"/>
              <a:ext cx="774039" cy="198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40" name="TextBox 25">
            <a:extLst>
              <a:ext uri="{FF2B5EF4-FFF2-40B4-BE49-F238E27FC236}">
                <a16:creationId xmlns:a16="http://schemas.microsoft.com/office/drawing/2014/main" id="{D5A102FF-1164-49D4-86E2-F3D43B200C17}"/>
              </a:ext>
            </a:extLst>
          </p:cNvPr>
          <p:cNvSpPr txBox="1"/>
          <p:nvPr/>
        </p:nvSpPr>
        <p:spPr>
          <a:xfrm>
            <a:off x="1039415" y="8168332"/>
            <a:ext cx="16209170" cy="503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ko-KR" altLang="en-US" sz="32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활성화되는 상권은 단순히 유동인구가 많은 지역이 아닌</a:t>
            </a:r>
            <a:r>
              <a:rPr lang="en-US" altLang="ko-KR" sz="32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, </a:t>
            </a:r>
            <a:r>
              <a:rPr lang="ko-KR" altLang="en-US" sz="3200" b="1" spc="-60" dirty="0">
                <a:solidFill>
                  <a:srgbClr val="FFFF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상권 전체가 하나의 정체성과 브랜드</a:t>
            </a:r>
            <a:r>
              <a:rPr lang="ko-KR" altLang="en-US" sz="32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로 움직임 </a:t>
            </a:r>
            <a:endParaRPr lang="en-US" sz="3200" b="1" spc="-6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955D347-3B2B-4256-BA9A-2B8FAFAFA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484" y="4143785"/>
            <a:ext cx="5356420" cy="2359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C3F9833-06F9-4585-B2EB-5CF9AA004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224" y="4138522"/>
            <a:ext cx="3226176" cy="37154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3334858-EFFA-4A13-B498-88D4E6CB4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048" y="5410460"/>
            <a:ext cx="5353851" cy="4461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1758213-CA75-490C-8F6D-2FE3CD8B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0479" y="4117896"/>
            <a:ext cx="5353850" cy="1020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32240BAA-A33B-476F-95CA-94751ACBB268}"/>
              </a:ext>
            </a:extLst>
          </p:cNvPr>
          <p:cNvSpPr txBox="1"/>
          <p:nvPr/>
        </p:nvSpPr>
        <p:spPr>
          <a:xfrm>
            <a:off x="3221933" y="3355479"/>
            <a:ext cx="4162396" cy="46621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ts val="4200"/>
              </a:lnSpc>
            </a:pPr>
            <a:r>
              <a:rPr lang="ko-KR" altLang="en-US" sz="16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을지로 인쇄골목 상인들이 함께 상권문화 정체성을 </a:t>
            </a:r>
            <a:r>
              <a:rPr lang="ko-KR" altLang="en-US" sz="16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만듬</a:t>
            </a:r>
            <a:endParaRPr lang="en-US" sz="16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09B6D42E-1FF7-4F2F-BFC7-3B546FFF1DDB}"/>
              </a:ext>
            </a:extLst>
          </p:cNvPr>
          <p:cNvGrpSpPr/>
          <p:nvPr/>
        </p:nvGrpSpPr>
        <p:grpSpPr>
          <a:xfrm>
            <a:off x="1802259" y="3420826"/>
            <a:ext cx="1341899" cy="529710"/>
            <a:chOff x="0" y="0"/>
            <a:chExt cx="812800" cy="406400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44D56742-B85F-4858-BFC7-A21094DD255D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183E4"/>
            </a:solidFill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8" name="TextBox 15">
              <a:extLst>
                <a:ext uri="{FF2B5EF4-FFF2-40B4-BE49-F238E27FC236}">
                  <a16:creationId xmlns:a16="http://schemas.microsoft.com/office/drawing/2014/main" id="{6713A685-8B5C-4F53-9B16-1A7DB451A76E}"/>
                </a:ext>
              </a:extLst>
            </p:cNvPr>
            <p:cNvSpPr txBox="1"/>
            <p:nvPr/>
          </p:nvSpPr>
          <p:spPr>
            <a:xfrm>
              <a:off x="0" y="-57150"/>
              <a:ext cx="8128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29" name="TextBox 16">
            <a:extLst>
              <a:ext uri="{FF2B5EF4-FFF2-40B4-BE49-F238E27FC236}">
                <a16:creationId xmlns:a16="http://schemas.microsoft.com/office/drawing/2014/main" id="{67771AB9-396E-497E-B7AB-17A795BB89BA}"/>
              </a:ext>
            </a:extLst>
          </p:cNvPr>
          <p:cNvSpPr txBox="1"/>
          <p:nvPr/>
        </p:nvSpPr>
        <p:spPr>
          <a:xfrm>
            <a:off x="1880034" y="3531502"/>
            <a:ext cx="1186347" cy="2901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380"/>
              </a:lnSpc>
            </a:pPr>
            <a:r>
              <a:rPr lang="ko-KR" altLang="en-US" sz="1700" b="1" spc="-34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힙지로</a:t>
            </a:r>
            <a:endParaRPr lang="en-US" sz="1700" b="1" spc="-34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5026125C-6BD0-46A6-9607-38A64D3977D5}"/>
              </a:ext>
            </a:extLst>
          </p:cNvPr>
          <p:cNvSpPr txBox="1"/>
          <p:nvPr/>
        </p:nvSpPr>
        <p:spPr>
          <a:xfrm>
            <a:off x="9187382" y="3363562"/>
            <a:ext cx="6509817" cy="46621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ts val="4200"/>
              </a:lnSpc>
            </a:pPr>
            <a:r>
              <a:rPr lang="ko-KR" altLang="en-US" sz="16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도시 브랜딩의 결과로  </a:t>
            </a:r>
            <a:r>
              <a:rPr lang="en-US" altLang="ko-KR" sz="16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“</a:t>
            </a:r>
            <a:r>
              <a:rPr lang="ko-KR" altLang="en-US" sz="16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성수동</a:t>
            </a:r>
            <a:r>
              <a:rPr lang="en-US" altLang="ko-KR" sz="16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“ </a:t>
            </a:r>
            <a:r>
              <a:rPr lang="ko-KR" altLang="en-US" sz="16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브랜드 자체가 소비 이유가 됨</a:t>
            </a:r>
            <a:endParaRPr lang="en-US" sz="16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grpSp>
        <p:nvGrpSpPr>
          <p:cNvPr id="33" name="Group 13">
            <a:extLst>
              <a:ext uri="{FF2B5EF4-FFF2-40B4-BE49-F238E27FC236}">
                <a16:creationId xmlns:a16="http://schemas.microsoft.com/office/drawing/2014/main" id="{4E0D25F5-B04D-439D-9BBF-B84FF18CDBA8}"/>
              </a:ext>
            </a:extLst>
          </p:cNvPr>
          <p:cNvGrpSpPr/>
          <p:nvPr/>
        </p:nvGrpSpPr>
        <p:grpSpPr>
          <a:xfrm>
            <a:off x="7767709" y="3428909"/>
            <a:ext cx="1341899" cy="529710"/>
            <a:chOff x="0" y="0"/>
            <a:chExt cx="812800" cy="406400"/>
          </a:xfrm>
        </p:grpSpPr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96D9AF75-B3B9-4D09-ABC1-AEB9D99E4B27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183E4"/>
            </a:solidFill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D2F61E0C-6CED-4E3A-AFAD-140156FD2DA7}"/>
                </a:ext>
              </a:extLst>
            </p:cNvPr>
            <p:cNvSpPr txBox="1"/>
            <p:nvPr/>
          </p:nvSpPr>
          <p:spPr>
            <a:xfrm>
              <a:off x="0" y="-57150"/>
              <a:ext cx="8128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42" name="TextBox 16">
            <a:extLst>
              <a:ext uri="{FF2B5EF4-FFF2-40B4-BE49-F238E27FC236}">
                <a16:creationId xmlns:a16="http://schemas.microsoft.com/office/drawing/2014/main" id="{28C1BD77-9AA8-48D8-8504-0E04EF18918D}"/>
              </a:ext>
            </a:extLst>
          </p:cNvPr>
          <p:cNvSpPr txBox="1"/>
          <p:nvPr/>
        </p:nvSpPr>
        <p:spPr>
          <a:xfrm>
            <a:off x="7845484" y="3539585"/>
            <a:ext cx="1186347" cy="2901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380"/>
              </a:lnSpc>
            </a:pPr>
            <a:r>
              <a:rPr lang="ko-KR" altLang="en-US" sz="1700" b="1" spc="-34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성수동</a:t>
            </a:r>
            <a:endParaRPr lang="en-US" sz="1700" b="1" spc="-34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7877BBEC-5941-49F7-A48B-EACE73146D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298333"/>
            <a:ext cx="2717944" cy="181196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B6721AD-B2AD-4EB7-9AE4-222863C41B14}"/>
              </a:ext>
            </a:extLst>
          </p:cNvPr>
          <p:cNvSpPr txBox="1"/>
          <p:nvPr/>
        </p:nvSpPr>
        <p:spPr>
          <a:xfrm>
            <a:off x="990600" y="854970"/>
            <a:ext cx="8991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제안배경 및 출품작 소개</a:t>
            </a:r>
          </a:p>
        </p:txBody>
      </p:sp>
    </p:spTree>
    <p:extLst>
      <p:ext uri="{BB962C8B-B14F-4D97-AF65-F5344CB8AC3E}">
        <p14:creationId xmlns:p14="http://schemas.microsoft.com/office/powerpoint/2010/main" val="154909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163830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5E13E8-641A-4B8D-AE7E-BEB8A2C6BA05}"/>
              </a:ext>
            </a:extLst>
          </p:cNvPr>
          <p:cNvSpPr txBox="1"/>
          <p:nvPr/>
        </p:nvSpPr>
        <p:spPr>
          <a:xfrm>
            <a:off x="1461236" y="2106059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연남동 방문자의 방문 이유는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분위기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꼽았음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이거도 언급을 뒷받침해줄 수 있는 시각자료가 있으면 좋을 듯함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03A1D-E711-485C-9B8F-EABF43E58C37}"/>
              </a:ext>
            </a:extLst>
          </p:cNvPr>
          <p:cNvSpPr txBox="1"/>
          <p:nvPr/>
        </p:nvSpPr>
        <p:spPr>
          <a:xfrm>
            <a:off x="2057400" y="5524305"/>
            <a:ext cx="3781484" cy="212853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https://shareit.kr/story/543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https://blog.igisam.com/yeonnamdong-retail-trend-report/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https://www.si.re.kr/sites/default/files/small%2022-01.pdf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https://www.sajangin.com/news/articleView.html?idxno=14287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https://magazine.hankyung.com/business/article/202102226669b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CEEE4-3110-41F6-B21B-B493016742E2}"/>
              </a:ext>
            </a:extLst>
          </p:cNvPr>
          <p:cNvSpPr txBox="1"/>
          <p:nvPr/>
        </p:nvSpPr>
        <p:spPr>
          <a:xfrm>
            <a:off x="1600200" y="3029420"/>
            <a:ext cx="12573000" cy="266797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마지막 링크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페이지에 연남동 상권을 이용하는 소비자들을 대상으로 설문조사를 실시한 결과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상권을 다른 상권에 비해 더 자주 방문하는 이유 중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상권의 분위기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46%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가장 많은 비중을 차지하였다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연남동 상권 특유의 분위기를 조성하는 데 적지 않은 기여를 하는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경의선숲길공원이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해당 상권을 이용하는 소비자들로 하여금 상권을 자주 방문하는 이유로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상권의 분위기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＇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응답을 가장 많이 고르게 한 것으로 생각된다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뉴스나 정확한 지표가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있는게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아니라 단순히 보고서에서 직접 설문조사로 찾은 내용이라 애매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6DC45BA-3632-4E4C-A675-DA0E9539297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298333"/>
            <a:ext cx="2717944" cy="18119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E9D441-9ABE-4E91-9A78-36A6FDF83606}"/>
              </a:ext>
            </a:extLst>
          </p:cNvPr>
          <p:cNvSpPr txBox="1"/>
          <p:nvPr/>
        </p:nvSpPr>
        <p:spPr>
          <a:xfrm>
            <a:off x="990600" y="854970"/>
            <a:ext cx="8991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제안배경 및 출품작 소개</a:t>
            </a:r>
          </a:p>
        </p:txBody>
      </p:sp>
    </p:spTree>
    <p:extLst>
      <p:ext uri="{BB962C8B-B14F-4D97-AF65-F5344CB8AC3E}">
        <p14:creationId xmlns:p14="http://schemas.microsoft.com/office/powerpoint/2010/main" val="295213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163830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78C40-4195-4944-807A-7E43090B8CF5}"/>
              </a:ext>
            </a:extLst>
          </p:cNvPr>
          <p:cNvSpPr txBox="1"/>
          <p:nvPr/>
        </p:nvSpPr>
        <p:spPr>
          <a:xfrm>
            <a:off x="2496723" y="1868509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육성사업 결과 브랜딩을 받은 상권은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상권보다 매출증가율이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높았고 일부는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매출이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 필요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12CBF5E-2705-4A1F-B06C-4AB7C878F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597879"/>
            <a:ext cx="5241340" cy="20846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E72D2B-F333-4A15-A020-D9EBCDE7C1AA}"/>
              </a:ext>
            </a:extLst>
          </p:cNvPr>
          <p:cNvSpPr txBox="1"/>
          <p:nvPr/>
        </p:nvSpPr>
        <p:spPr>
          <a:xfrm>
            <a:off x="8941187" y="6039003"/>
            <a:ext cx="4310475" cy="148220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https://amp.seoul.co.kr/news/society/2025/12/24/20251224500212?cp=en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https://www.yna.co.kr/view/AKR20251223144800004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https://www.foodnews.news/mobile/article.html?no=1531937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0E220A-D92C-4476-8B32-E94B414F3784}"/>
              </a:ext>
            </a:extLst>
          </p:cNvPr>
          <p:cNvSpPr txBox="1"/>
          <p:nvPr/>
        </p:nvSpPr>
        <p:spPr>
          <a:xfrm>
            <a:off x="2438399" y="5733167"/>
            <a:ext cx="6005638" cy="148220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로컬 브랜드 상권 매출 분석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육성사업이 진행된 상권은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매출이 최대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증가한 것으로 나타남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정체성 확립과 이미지 개선이 매출 증대로 이어진 것으로 풀이됨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서울신용보증재단은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22~24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추진한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 로컬브랜드 상권인 양재천길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하늘길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선유로운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장춘단길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오류버들시장의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성과를 분석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 육성은 특색과 매력을 지닌 골목상권을 발굴해 지역 기반 로컬 콘텐츠와 연계해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머물고 싶은 상권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만드는 사업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A67E46-0E19-417F-9648-D3F1B14A71DE}"/>
              </a:ext>
            </a:extLst>
          </p:cNvPr>
          <p:cNvSpPr txBox="1"/>
          <p:nvPr/>
        </p:nvSpPr>
        <p:spPr>
          <a:xfrm>
            <a:off x="990600" y="854970"/>
            <a:ext cx="8991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제안배경 및 출품작 소개</a:t>
            </a:r>
          </a:p>
        </p:txBody>
      </p:sp>
    </p:spTree>
    <p:extLst>
      <p:ext uri="{BB962C8B-B14F-4D97-AF65-F5344CB8AC3E}">
        <p14:creationId xmlns:p14="http://schemas.microsoft.com/office/powerpoint/2010/main" val="405506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163830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C84EFB-A721-40A8-903F-6435AA730354}"/>
              </a:ext>
            </a:extLst>
          </p:cNvPr>
          <p:cNvSpPr txBox="1"/>
          <p:nvPr/>
        </p:nvSpPr>
        <p:spPr>
          <a:xfrm>
            <a:off x="809538" y="854970"/>
            <a:ext cx="8991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제안배경 및 출품작 소개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20F19A2F-F6AA-47F8-8377-9890AFC6DB80}"/>
              </a:ext>
            </a:extLst>
          </p:cNvPr>
          <p:cNvSpPr txBox="1"/>
          <p:nvPr/>
        </p:nvSpPr>
        <p:spPr>
          <a:xfrm>
            <a:off x="3438333" y="2686548"/>
            <a:ext cx="8753820" cy="31162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상권 단위 실행 체계 부재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살아난 상권과 쇠퇴하는 상권의 차이는 개별 점포 역량만이 아님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소상공인이 고립된 채 각자 경쟁하는 구조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전체를 함께 성장시키는 구조 없음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서울시 상권분석서비스의 한계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조회와 리포트 제공에 그침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점주가 무엇을 해야 할지 알 수 없음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내 점포 간 연결 구조 없음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개별 점포 분석에만 집중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단위 연결성 부재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997BCD0-2B52-4E33-83C1-F7515B55DE55}"/>
              </a:ext>
            </a:extLst>
          </p:cNvPr>
          <p:cNvSpPr/>
          <p:nvPr/>
        </p:nvSpPr>
        <p:spPr>
          <a:xfrm>
            <a:off x="8921415" y="5456084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900" dirty="0">
                <a:latin typeface="+mn-ea"/>
                <a:ea typeface="+mn-ea"/>
              </a:rPr>
              <a:t>이 슬라이드에서 전달하고 싶은 것 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쇠퇴하는 상권의 근본 원인이 구조적 문제임을 보여주기 </a:t>
            </a:r>
            <a:endParaRPr lang="en-US" altLang="ko-KR" sz="900" b="0" dirty="0">
              <a:latin typeface="+mn-ea"/>
              <a:ea typeface="+mn-ea"/>
            </a:endParaRP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① </a:t>
            </a:r>
            <a:r>
              <a:rPr lang="ko-KR" altLang="en-US" sz="900" dirty="0">
                <a:latin typeface="+mn-ea"/>
                <a:ea typeface="+mn-ea"/>
              </a:rPr>
              <a:t>상권 단위 실행 체계 부재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살아난 상권과 쇠퇴하는 상권의 차이는 개별 점포의 역량도 있지만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소상공인이 각자 고립되어 경쟁하는 구조 속에서 상권 전체를 하나의 브랜드로 묶어 함께 성장하는 실행 체계가 없다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② </a:t>
            </a:r>
            <a:r>
              <a:rPr lang="ko-KR" altLang="en-US" sz="900" dirty="0">
                <a:latin typeface="+mn-ea"/>
                <a:ea typeface="+mn-ea"/>
              </a:rPr>
              <a:t>서울시 상권분석서비스의 한계 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유동인구 성별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연령대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시간대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매출 패턴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폐업률</a:t>
            </a:r>
            <a:r>
              <a:rPr lang="ko-KR" altLang="en-US" sz="900" b="0" dirty="0">
                <a:latin typeface="+mn-ea"/>
                <a:ea typeface="+mn-ea"/>
              </a:rPr>
              <a:t> 등 공공데이터 기반 수치를 제공하지만 데이터 조회에서 끝난다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  <a:r>
              <a:rPr lang="ko-KR" altLang="en-US" sz="900" b="0" dirty="0">
                <a:latin typeface="+mn-ea"/>
                <a:ea typeface="+mn-ea"/>
              </a:rPr>
              <a:t>점주가 이 데이터를 보고 무엇을 해야 할지 알 수 없으며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상권 내 다른 점포들과 연결되는 구조도 없다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6B638-A193-4713-AA58-2F0796F526CA}"/>
              </a:ext>
            </a:extLst>
          </p:cNvPr>
          <p:cNvSpPr txBox="1"/>
          <p:nvPr/>
        </p:nvSpPr>
        <p:spPr>
          <a:xfrm>
            <a:off x="3323321" y="2245477"/>
            <a:ext cx="6097424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20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문제 </a:t>
            </a:r>
            <a:r>
              <a:rPr lang="ko-KR" altLang="en-US"/>
              <a:t>발생 원인</a:t>
            </a:r>
            <a:endParaRPr lang="en-US" altLang="ko-KR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46C0103-9CAD-4C15-A7AE-23B86489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5910240"/>
            <a:ext cx="4112442" cy="221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4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163830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C84EFB-A721-40A8-903F-6435AA730354}"/>
              </a:ext>
            </a:extLst>
          </p:cNvPr>
          <p:cNvSpPr txBox="1"/>
          <p:nvPr/>
        </p:nvSpPr>
        <p:spPr>
          <a:xfrm>
            <a:off x="809538" y="854970"/>
            <a:ext cx="8991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3600" b="1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제안배경 및 출품작 소개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85FD172-3953-4794-8350-83FA3EADA44D}"/>
              </a:ext>
            </a:extLst>
          </p:cNvPr>
          <p:cNvSpPr/>
          <p:nvPr/>
        </p:nvSpPr>
        <p:spPr>
          <a:xfrm>
            <a:off x="8763000" y="7174692"/>
            <a:ext cx="5935663" cy="1259741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900" dirty="0">
                <a:latin typeface="+mn-ea"/>
                <a:ea typeface="+mn-ea"/>
              </a:rPr>
              <a:t>[</a:t>
            </a:r>
            <a:r>
              <a:rPr lang="ko-KR" altLang="en-US" sz="900" dirty="0">
                <a:latin typeface="+mn-ea"/>
                <a:ea typeface="+mn-ea"/>
              </a:rPr>
              <a:t>참고 자료</a:t>
            </a:r>
            <a:r>
              <a:rPr lang="en-US" altLang="ko-KR" sz="900" dirty="0">
                <a:latin typeface="+mn-ea"/>
                <a:ea typeface="+mn-ea"/>
              </a:rPr>
              <a:t>]</a:t>
            </a:r>
            <a:endParaRPr lang="ko-KR" altLang="en-US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매출 증가 효과 그래프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서울신용보증재단 효과분석 보고서 </a:t>
            </a:r>
            <a:r>
              <a:rPr lang="en-US" altLang="ko-KR" sz="900" b="0" dirty="0">
                <a:latin typeface="+mn-ea"/>
                <a:ea typeface="+mn-ea"/>
              </a:rPr>
              <a:t>(2025.12) </a:t>
            </a:r>
            <a:r>
              <a:rPr lang="en-US" altLang="ko-KR" sz="900" b="0" dirty="0">
                <a:latin typeface="+mn-ea"/>
                <a:ea typeface="+mn-ea"/>
                <a:hlinkClick r:id="rId3"/>
              </a:rPr>
              <a:t>https://v.daum.net/v/20251224161804302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en-US" altLang="ko-KR" sz="900" b="0" dirty="0">
                <a:latin typeface="+mn-ea"/>
                <a:ea typeface="+mn-ea"/>
              </a:rPr>
              <a:t>2026</a:t>
            </a:r>
            <a:r>
              <a:rPr lang="ko-KR" altLang="en-US" sz="900" b="0" dirty="0">
                <a:latin typeface="+mn-ea"/>
                <a:ea typeface="+mn-ea"/>
              </a:rPr>
              <a:t>년 선정 현황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서울신문 </a:t>
            </a:r>
            <a:r>
              <a:rPr lang="en-US" altLang="ko-KR" sz="900" b="0" dirty="0">
                <a:latin typeface="+mn-ea"/>
                <a:ea typeface="+mn-ea"/>
              </a:rPr>
              <a:t>(2026.02) </a:t>
            </a:r>
            <a:r>
              <a:rPr lang="en-US" altLang="ko-KR" sz="900" b="0" dirty="0">
                <a:latin typeface="+mn-ea"/>
                <a:ea typeface="+mn-ea"/>
                <a:hlinkClick r:id="rId4"/>
              </a:rPr>
              <a:t>https://www.seoul.co.kr/news/society/2026/02/02/20260202500135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로컬브랜드 육성상권 현황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서울시 공식 </a:t>
            </a:r>
            <a:r>
              <a:rPr lang="en-US" altLang="ko-KR" sz="900" b="0" dirty="0">
                <a:latin typeface="+mn-ea"/>
                <a:ea typeface="+mn-ea"/>
                <a:hlinkClick r:id="rId5"/>
              </a:rPr>
              <a:t>https://news.seoul.go.kr/economy/archives/562241</a:t>
            </a:r>
            <a:endParaRPr lang="ko-KR" altLang="en-US" sz="900" b="0" dirty="0">
              <a:latin typeface="+mn-ea"/>
              <a:ea typeface="+mn-ea"/>
            </a:endParaRP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9915E8F0-56EF-4E8B-B1CC-660F1D1B3885}"/>
              </a:ext>
            </a:extLst>
          </p:cNvPr>
          <p:cNvSpPr txBox="1"/>
          <p:nvPr/>
        </p:nvSpPr>
        <p:spPr>
          <a:xfrm>
            <a:off x="2796928" y="2491674"/>
            <a:ext cx="10024367" cy="270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상권 브랜딩 정책 본격 추진 중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로컬브랜드 상권 육성사업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(2022~) </a:t>
            </a:r>
          </a:p>
          <a:p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공모 선정 상권에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최대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억원 투입 브랜딩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홍보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환경개선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상인 역량강화 종합 지원 → 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 지원 상권 외식업 매출 최대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서울시 상권분석서비스 운영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매출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 데이터 제공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2" name="Picture 2" descr="서울 로컬브랜드 상권 매출 분석 - 서울 로컬브랜드 상권 매출 분석  서울신용보증재단 제공">
            <a:extLst>
              <a:ext uri="{FF2B5EF4-FFF2-40B4-BE49-F238E27FC236}">
                <a16:creationId xmlns:a16="http://schemas.microsoft.com/office/drawing/2014/main" id="{2D70D653-BDC8-45FA-B753-B8E797845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49" y="3247775"/>
            <a:ext cx="3447639" cy="137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831A7AA-1EA1-407C-980C-38999B305087}"/>
              </a:ext>
            </a:extLst>
          </p:cNvPr>
          <p:cNvSpPr txBox="1"/>
          <p:nvPr/>
        </p:nvSpPr>
        <p:spPr>
          <a:xfrm>
            <a:off x="2607076" y="5413748"/>
            <a:ext cx="6436039" cy="83099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그러나 정책의 한계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기준 총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자치구 신청 → 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상권만 선정 선정된 소수 상권만 혜택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- &gt; </a:t>
            </a:r>
            <a:r>
              <a:rPr lang="ko-KR" altLang="en-US" sz="12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나머지 대다수 소상공인은 사각지대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FEA9EF7-41A4-41F1-AAEB-DA4A580D10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6771" y="6274446"/>
            <a:ext cx="4235059" cy="1841619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90CBFE3-80A8-4978-B5C2-5919DC40768D}"/>
              </a:ext>
            </a:extLst>
          </p:cNvPr>
          <p:cNvSpPr/>
          <p:nvPr/>
        </p:nvSpPr>
        <p:spPr>
          <a:xfrm>
            <a:off x="8763000" y="4309255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서울시가 상권 정책을 적극 추진하고 효과도 있지만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혜택이 선정된 소수 상권에 집중되어 대다수 소상공인이 사각지대에 있음을 보여줌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① </a:t>
            </a:r>
            <a:r>
              <a:rPr lang="ko-KR" altLang="en-US" sz="900" dirty="0">
                <a:latin typeface="+mn-ea"/>
                <a:ea typeface="+mn-ea"/>
              </a:rPr>
              <a:t>상권 브랜딩 정책 본격 추진 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서울시는 </a:t>
            </a:r>
            <a:r>
              <a:rPr lang="en-US" altLang="ko-KR" sz="900" b="0" dirty="0">
                <a:latin typeface="+mn-ea"/>
                <a:ea typeface="+mn-ea"/>
              </a:rPr>
              <a:t>2022</a:t>
            </a:r>
            <a:r>
              <a:rPr lang="ko-KR" altLang="en-US" sz="900" b="0" dirty="0">
                <a:latin typeface="+mn-ea"/>
                <a:ea typeface="+mn-ea"/>
              </a:rPr>
              <a:t>년부터 로컬브랜드 상권 육성사업을 추진하며 </a:t>
            </a:r>
            <a:r>
              <a:rPr lang="en-US" altLang="ko-KR" sz="900" b="0" dirty="0">
                <a:latin typeface="+mn-ea"/>
                <a:ea typeface="+mn-ea"/>
              </a:rPr>
              <a:t>1</a:t>
            </a:r>
            <a:r>
              <a:rPr lang="ko-KR" altLang="en-US" sz="900" b="0" dirty="0">
                <a:latin typeface="+mn-ea"/>
                <a:ea typeface="+mn-ea"/>
              </a:rPr>
              <a:t>기 </a:t>
            </a:r>
            <a:r>
              <a:rPr lang="en-US" altLang="ko-KR" sz="900" b="0" dirty="0">
                <a:latin typeface="+mn-ea"/>
                <a:ea typeface="+mn-ea"/>
              </a:rPr>
              <a:t>5</a:t>
            </a:r>
            <a:r>
              <a:rPr lang="ko-KR" altLang="en-US" sz="900" b="0" dirty="0">
                <a:latin typeface="+mn-ea"/>
                <a:ea typeface="+mn-ea"/>
              </a:rPr>
              <a:t>개</a:t>
            </a:r>
            <a:r>
              <a:rPr lang="en-US" altLang="ko-KR" sz="900" b="0" dirty="0">
                <a:latin typeface="+mn-ea"/>
                <a:ea typeface="+mn-ea"/>
              </a:rPr>
              <a:t>, 2</a:t>
            </a:r>
            <a:r>
              <a:rPr lang="ko-KR" altLang="en-US" sz="900" b="0" dirty="0">
                <a:latin typeface="+mn-ea"/>
                <a:ea typeface="+mn-ea"/>
              </a:rPr>
              <a:t>기 </a:t>
            </a:r>
            <a:r>
              <a:rPr lang="en-US" altLang="ko-KR" sz="900" b="0" dirty="0">
                <a:latin typeface="+mn-ea"/>
                <a:ea typeface="+mn-ea"/>
              </a:rPr>
              <a:t>2</a:t>
            </a:r>
            <a:r>
              <a:rPr lang="ko-KR" altLang="en-US" sz="900" b="0" dirty="0">
                <a:latin typeface="+mn-ea"/>
                <a:ea typeface="+mn-ea"/>
              </a:rPr>
              <a:t>개</a:t>
            </a:r>
            <a:r>
              <a:rPr lang="en-US" altLang="ko-KR" sz="900" b="0" dirty="0">
                <a:latin typeface="+mn-ea"/>
                <a:ea typeface="+mn-ea"/>
              </a:rPr>
              <a:t>, 3</a:t>
            </a:r>
            <a:r>
              <a:rPr lang="ko-KR" altLang="en-US" sz="900" b="0" dirty="0">
                <a:latin typeface="+mn-ea"/>
                <a:ea typeface="+mn-ea"/>
              </a:rPr>
              <a:t>기 </a:t>
            </a:r>
            <a:r>
              <a:rPr lang="en-US" altLang="ko-KR" sz="900" b="0" dirty="0">
                <a:latin typeface="+mn-ea"/>
                <a:ea typeface="+mn-ea"/>
              </a:rPr>
              <a:t>2</a:t>
            </a:r>
            <a:r>
              <a:rPr lang="ko-KR" altLang="en-US" sz="900" b="0" dirty="0">
                <a:latin typeface="+mn-ea"/>
                <a:ea typeface="+mn-ea"/>
              </a:rPr>
              <a:t>개 등 현재까지 총 </a:t>
            </a:r>
            <a:r>
              <a:rPr lang="en-US" altLang="ko-KR" sz="900" b="0" dirty="0">
                <a:latin typeface="+mn-ea"/>
                <a:ea typeface="+mn-ea"/>
              </a:rPr>
              <a:t>9</a:t>
            </a:r>
            <a:r>
              <a:rPr lang="ko-KR" altLang="en-US" sz="900" b="0" dirty="0">
                <a:latin typeface="+mn-ea"/>
                <a:ea typeface="+mn-ea"/>
              </a:rPr>
              <a:t>개 상권을 지원했다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en-US" altLang="ko-KR" sz="900" b="0" dirty="0">
                <a:latin typeface="+mn-ea"/>
                <a:ea typeface="+mn-ea"/>
              </a:rPr>
              <a:t>1</a:t>
            </a:r>
            <a:r>
              <a:rPr lang="ko-KR" altLang="en-US" sz="900" b="0" dirty="0">
                <a:latin typeface="+mn-ea"/>
                <a:ea typeface="+mn-ea"/>
              </a:rPr>
              <a:t>기 지원 상권의 외식업 매출이 최대 </a:t>
            </a:r>
            <a:r>
              <a:rPr lang="en-US" altLang="ko-KR" sz="900" b="0" dirty="0">
                <a:latin typeface="+mn-ea"/>
                <a:ea typeface="+mn-ea"/>
              </a:rPr>
              <a:t>29% </a:t>
            </a:r>
            <a:r>
              <a:rPr lang="ko-KR" altLang="en-US" sz="900" b="0" dirty="0">
                <a:latin typeface="+mn-ea"/>
                <a:ea typeface="+mn-ea"/>
              </a:rPr>
              <a:t>증가하는 등 효과는 입증됐다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en-US" altLang="ko-KR" sz="900" dirty="0">
                <a:latin typeface="+mn-ea"/>
                <a:ea typeface="+mn-ea"/>
              </a:rPr>
              <a:t>② </a:t>
            </a:r>
            <a:r>
              <a:rPr lang="ko-KR" altLang="en-US" sz="900" dirty="0">
                <a:latin typeface="+mn-ea"/>
                <a:ea typeface="+mn-ea"/>
              </a:rPr>
              <a:t>정책의 한계 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en-US" altLang="ko-KR" sz="900" b="0" dirty="0">
                <a:latin typeface="+mn-ea"/>
                <a:ea typeface="+mn-ea"/>
              </a:rPr>
              <a:t>2026</a:t>
            </a:r>
            <a:r>
              <a:rPr lang="ko-KR" altLang="en-US" sz="900" b="0" dirty="0">
                <a:latin typeface="+mn-ea"/>
                <a:ea typeface="+mn-ea"/>
              </a:rPr>
              <a:t>년 공모에 </a:t>
            </a:r>
            <a:r>
              <a:rPr lang="en-US" altLang="ko-KR" sz="900" b="0" dirty="0">
                <a:latin typeface="+mn-ea"/>
                <a:ea typeface="+mn-ea"/>
              </a:rPr>
              <a:t>9</a:t>
            </a:r>
            <a:r>
              <a:rPr lang="ko-KR" altLang="en-US" sz="900" b="0" dirty="0">
                <a:latin typeface="+mn-ea"/>
                <a:ea typeface="+mn-ea"/>
              </a:rPr>
              <a:t>개 자치구가 신청했지만 </a:t>
            </a:r>
            <a:r>
              <a:rPr lang="en-US" altLang="ko-KR" sz="900" b="0" dirty="0">
                <a:latin typeface="+mn-ea"/>
                <a:ea typeface="+mn-ea"/>
              </a:rPr>
              <a:t>3</a:t>
            </a:r>
            <a:r>
              <a:rPr lang="ko-KR" altLang="en-US" sz="900" b="0" dirty="0">
                <a:latin typeface="+mn-ea"/>
                <a:ea typeface="+mn-ea"/>
              </a:rPr>
              <a:t>개만 선정됐다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서울시 </a:t>
            </a:r>
            <a:r>
              <a:rPr lang="en-US" altLang="ko-KR" sz="900" b="0" dirty="0">
                <a:latin typeface="+mn-ea"/>
                <a:ea typeface="+mn-ea"/>
              </a:rPr>
              <a:t>25</a:t>
            </a:r>
            <a:r>
              <a:rPr lang="ko-KR" altLang="en-US" sz="900" b="0" dirty="0">
                <a:latin typeface="+mn-ea"/>
                <a:ea typeface="+mn-ea"/>
              </a:rPr>
              <a:t>개 자치구 기준으로 혜택을 받는 상권은 극소수다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선정되지 않은 대다수 소상공인은 서울시 상권분석서비스의 데이터 조회 외에는 활용할 수단이 없다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0031D8-F3FD-445F-B304-231C5E76D6A2}"/>
              </a:ext>
            </a:extLst>
          </p:cNvPr>
          <p:cNvSpPr txBox="1"/>
          <p:nvPr/>
        </p:nvSpPr>
        <p:spPr>
          <a:xfrm>
            <a:off x="2665576" y="2128356"/>
            <a:ext cx="6097424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서울시의 기존 정책</a:t>
            </a:r>
            <a:endParaRPr lang="en-US" altLang="ko-KR" sz="120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676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3157562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6690005" y="5133635"/>
            <a:ext cx="0" cy="2880364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>
            <a:off x="11597995" y="5133635"/>
            <a:ext cx="0" cy="2880364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4363798" y="956019"/>
            <a:ext cx="9560404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추진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배경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및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필요성</a:t>
            </a:r>
            <a:endParaRPr lang="en-US" sz="6300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63798" y="3421698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지역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내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교육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격차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해소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및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공동체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의식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함양의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필요성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대두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2163015" y="5414266"/>
            <a:ext cx="220467" cy="22046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74C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80530" y="5414266"/>
            <a:ext cx="220467" cy="22046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74C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974232" y="5414266"/>
            <a:ext cx="220467" cy="22046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74C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524965" y="5207878"/>
            <a:ext cx="3518533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현황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및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문제점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337575" y="5207878"/>
            <a:ext cx="3518533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정책적</a:t>
            </a:r>
            <a:r>
              <a:rPr lang="en-US" sz="3000" b="1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부합성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43872" y="5207878"/>
            <a:ext cx="3518533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추진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기회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443872" y="6197435"/>
            <a:ext cx="342457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관내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소재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대학교의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우수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인적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자원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(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)을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활용한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네트워크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구축이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가능합니다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37575" y="6197435"/>
            <a:ext cx="3424575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지자체의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'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시민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참여형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평생교육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청소년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지원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사업'의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일환으로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본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프로그램의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추진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타당성이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확보되었습니다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24965" y="6197435"/>
            <a:ext cx="3425967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지역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내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청소년들의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진로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탐색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기회가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수도권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부족하며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,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실질적인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진학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정보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획득에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어려움을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겪고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있습니다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3156086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2490" y="4846409"/>
            <a:ext cx="7267929" cy="1751076"/>
            <a:chOff x="0" y="0"/>
            <a:chExt cx="938510" cy="2261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8510" cy="226117"/>
            </a:xfrm>
            <a:custGeom>
              <a:avLst/>
              <a:gdLst/>
              <a:ahLst/>
              <a:cxnLst/>
              <a:rect l="l" t="t" r="r" b="b"/>
              <a:pathLst>
                <a:path w="938510" h="226117">
                  <a:moveTo>
                    <a:pt x="0" y="0"/>
                  </a:moveTo>
                  <a:lnTo>
                    <a:pt x="938510" y="0"/>
                  </a:lnTo>
                  <a:lnTo>
                    <a:pt x="938510" y="226117"/>
                  </a:lnTo>
                  <a:lnTo>
                    <a:pt x="0" y="22611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38510" cy="26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47581" y="4846409"/>
            <a:ext cx="7267929" cy="1751076"/>
            <a:chOff x="0" y="0"/>
            <a:chExt cx="938510" cy="2261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8510" cy="226117"/>
            </a:xfrm>
            <a:custGeom>
              <a:avLst/>
              <a:gdLst/>
              <a:ahLst/>
              <a:cxnLst/>
              <a:rect l="l" t="t" r="r" b="b"/>
              <a:pathLst>
                <a:path w="938510" h="226117">
                  <a:moveTo>
                    <a:pt x="0" y="0"/>
                  </a:moveTo>
                  <a:lnTo>
                    <a:pt x="938510" y="0"/>
                  </a:lnTo>
                  <a:lnTo>
                    <a:pt x="938510" y="226117"/>
                  </a:lnTo>
                  <a:lnTo>
                    <a:pt x="0" y="22611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38510" cy="26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72490" y="6787985"/>
            <a:ext cx="7267929" cy="1751076"/>
            <a:chOff x="0" y="0"/>
            <a:chExt cx="938510" cy="2261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8510" cy="226117"/>
            </a:xfrm>
            <a:custGeom>
              <a:avLst/>
              <a:gdLst/>
              <a:ahLst/>
              <a:cxnLst/>
              <a:rect l="l" t="t" r="r" b="b"/>
              <a:pathLst>
                <a:path w="938510" h="226117">
                  <a:moveTo>
                    <a:pt x="0" y="0"/>
                  </a:moveTo>
                  <a:lnTo>
                    <a:pt x="938510" y="0"/>
                  </a:lnTo>
                  <a:lnTo>
                    <a:pt x="938510" y="226117"/>
                  </a:lnTo>
                  <a:lnTo>
                    <a:pt x="0" y="22611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38510" cy="26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47581" y="6787985"/>
            <a:ext cx="7267929" cy="1751076"/>
            <a:chOff x="0" y="0"/>
            <a:chExt cx="938510" cy="2261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8510" cy="226117"/>
            </a:xfrm>
            <a:custGeom>
              <a:avLst/>
              <a:gdLst/>
              <a:ahLst/>
              <a:cxnLst/>
              <a:rect l="l" t="t" r="r" b="b"/>
              <a:pathLst>
                <a:path w="938510" h="226117">
                  <a:moveTo>
                    <a:pt x="0" y="0"/>
                  </a:moveTo>
                  <a:lnTo>
                    <a:pt x="938510" y="0"/>
                  </a:lnTo>
                  <a:lnTo>
                    <a:pt x="938510" y="226117"/>
                  </a:lnTo>
                  <a:lnTo>
                    <a:pt x="0" y="22611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38510" cy="26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363798" y="956019"/>
            <a:ext cx="9560404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프로그램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개요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및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대상</a:t>
            </a:r>
            <a:endParaRPr lang="en-US" sz="6300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363798" y="3420222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사업의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핵심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타겟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및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운영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규모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201115" y="5159972"/>
            <a:ext cx="92449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사업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기간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676206" y="5159972"/>
            <a:ext cx="92449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참여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대상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201115" y="7101548"/>
            <a:ext cx="92449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주요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장소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676206" y="7101548"/>
            <a:ext cx="92449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주관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기관</a:t>
            </a:r>
            <a:endParaRPr lang="en-US" sz="3000" b="1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631277" y="5512397"/>
            <a:ext cx="434281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4월 1일 ~ 11월 30일 (총 8개월)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31277" y="7453973"/>
            <a:ext cx="494793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시립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도서관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세미나실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관내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청소년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수련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시설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106367" y="7453973"/>
            <a:ext cx="434281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라라나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청소년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지원센터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106367" y="5321897"/>
            <a:ext cx="500294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: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관내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거주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중·고등학생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30명</a:t>
            </a: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: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관내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재학생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휴학생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30명</a:t>
            </a:r>
          </a:p>
        </p:txBody>
      </p:sp>
      <p:sp>
        <p:nvSpPr>
          <p:cNvPr id="31" name="AutoShape 31"/>
          <p:cNvSpPr/>
          <p:nvPr/>
        </p:nvSpPr>
        <p:spPr>
          <a:xfrm>
            <a:off x="3281829" y="5226647"/>
            <a:ext cx="0" cy="990600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3281829" y="7168223"/>
            <a:ext cx="0" cy="990600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10756919" y="5226647"/>
            <a:ext cx="0" cy="990600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>
            <a:off x="10756919" y="7168223"/>
            <a:ext cx="0" cy="990600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3157562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94457" y="4698167"/>
            <a:ext cx="4185379" cy="418537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51311" y="4698167"/>
            <a:ext cx="4185379" cy="418537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08164" y="4698167"/>
            <a:ext cx="4185379" cy="418537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4085040" y="5086350"/>
            <a:ext cx="1004213" cy="955182"/>
          </a:xfrm>
          <a:custGeom>
            <a:avLst/>
            <a:gdLst/>
            <a:ahLst/>
            <a:cxnLst/>
            <a:rect l="l" t="t" r="r" b="b"/>
            <a:pathLst>
              <a:path w="1004213" h="955182">
                <a:moveTo>
                  <a:pt x="0" y="0"/>
                </a:moveTo>
                <a:lnTo>
                  <a:pt x="1004213" y="0"/>
                </a:lnTo>
                <a:lnTo>
                  <a:pt x="1004213" y="955182"/>
                </a:lnTo>
                <a:lnTo>
                  <a:pt x="0" y="95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761453" y="5151889"/>
            <a:ext cx="765093" cy="889643"/>
          </a:xfrm>
          <a:custGeom>
            <a:avLst/>
            <a:gdLst/>
            <a:ahLst/>
            <a:cxnLst/>
            <a:rect l="l" t="t" r="r" b="b"/>
            <a:pathLst>
              <a:path w="765093" h="889643">
                <a:moveTo>
                  <a:pt x="0" y="0"/>
                </a:moveTo>
                <a:lnTo>
                  <a:pt x="765094" y="0"/>
                </a:lnTo>
                <a:lnTo>
                  <a:pt x="765094" y="889643"/>
                </a:lnTo>
                <a:lnTo>
                  <a:pt x="0" y="889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294044" y="5151889"/>
            <a:ext cx="813619" cy="889643"/>
          </a:xfrm>
          <a:custGeom>
            <a:avLst/>
            <a:gdLst/>
            <a:ahLst/>
            <a:cxnLst/>
            <a:rect l="l" t="t" r="r" b="b"/>
            <a:pathLst>
              <a:path w="813619" h="889643">
                <a:moveTo>
                  <a:pt x="0" y="0"/>
                </a:moveTo>
                <a:lnTo>
                  <a:pt x="813619" y="0"/>
                </a:lnTo>
                <a:lnTo>
                  <a:pt x="813619" y="889643"/>
                </a:lnTo>
                <a:lnTo>
                  <a:pt x="0" y="889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486365" y="956019"/>
            <a:ext cx="13315270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세부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실행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계획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: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진로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/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진학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멘토링</a:t>
            </a:r>
            <a:endParaRPr lang="en-US" sz="6300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363798" y="3421698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실질적인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학습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및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진로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탐색을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위한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정기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세션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505805" y="6135441"/>
            <a:ext cx="2162683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월 2회</a:t>
            </a:r>
          </a:p>
          <a:p>
            <a:pPr algn="ctr">
              <a:lnSpc>
                <a:spcPts val="39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정기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멘토링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66039" y="6135441"/>
            <a:ext cx="3355923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전문가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초청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특강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  <a:p>
            <a:pPr algn="ctr">
              <a:lnSpc>
                <a:spcPts val="39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(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반기별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1회)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69080" y="7258050"/>
            <a:ext cx="3036133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과목별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학습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노하우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전수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전공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탐색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</a:t>
            </a:r>
          </a:p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캠퍼스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라이프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경험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공유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625934" y="7258050"/>
            <a:ext cx="3036133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다양한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직업군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종사자를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초청하여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생생한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현장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경험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청취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319709" y="6135441"/>
            <a:ext cx="2762289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멘토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역량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  <a:p>
            <a:pPr algn="ctr">
              <a:lnSpc>
                <a:spcPts val="39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강화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교육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182787" y="7258050"/>
            <a:ext cx="3036133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프로그램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시작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전</a:t>
            </a:r>
          </a:p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커뮤니케이션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</a:t>
            </a:r>
          </a:p>
          <a:p>
            <a:pPr algn="ctr">
              <a:lnSpc>
                <a:spcPts val="28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상담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기법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필수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교육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이수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3157562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86365" y="956019"/>
            <a:ext cx="13315270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홍보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및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참여자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모집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전략</a:t>
            </a:r>
            <a:endParaRPr lang="en-US" sz="6300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63798" y="3421698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온·오프라인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채널을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활용한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타겟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맞춤형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홍보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72490" y="4846409"/>
            <a:ext cx="7203485" cy="3245560"/>
            <a:chOff x="0" y="0"/>
            <a:chExt cx="930188" cy="419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0188" cy="419100"/>
            </a:xfrm>
            <a:custGeom>
              <a:avLst/>
              <a:gdLst/>
              <a:ahLst/>
              <a:cxnLst/>
              <a:rect l="l" t="t" r="r" b="b"/>
              <a:pathLst>
                <a:path w="930188" h="419100">
                  <a:moveTo>
                    <a:pt x="0" y="0"/>
                  </a:moveTo>
                  <a:lnTo>
                    <a:pt x="930188" y="0"/>
                  </a:lnTo>
                  <a:lnTo>
                    <a:pt x="930188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30188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2024" y="4846409"/>
            <a:ext cx="7203485" cy="3245560"/>
            <a:chOff x="0" y="0"/>
            <a:chExt cx="930188" cy="419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0188" cy="419100"/>
            </a:xfrm>
            <a:custGeom>
              <a:avLst/>
              <a:gdLst/>
              <a:ahLst/>
              <a:cxnLst/>
              <a:rect l="l" t="t" r="r" b="b"/>
              <a:pathLst>
                <a:path w="930188" h="419100">
                  <a:moveTo>
                    <a:pt x="0" y="0"/>
                  </a:moveTo>
                  <a:lnTo>
                    <a:pt x="930188" y="0"/>
                  </a:lnTo>
                  <a:lnTo>
                    <a:pt x="930188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30188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72490" y="4846409"/>
            <a:ext cx="7203485" cy="885344"/>
            <a:chOff x="0" y="0"/>
            <a:chExt cx="930188" cy="1143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0188" cy="114325"/>
            </a:xfrm>
            <a:custGeom>
              <a:avLst/>
              <a:gdLst/>
              <a:ahLst/>
              <a:cxnLst/>
              <a:rect l="l" t="t" r="r" b="b"/>
              <a:pathLst>
                <a:path w="930188" h="114325">
                  <a:moveTo>
                    <a:pt x="0" y="0"/>
                  </a:moveTo>
                  <a:lnTo>
                    <a:pt x="930188" y="0"/>
                  </a:lnTo>
                  <a:lnTo>
                    <a:pt x="930188" y="114325"/>
                  </a:lnTo>
                  <a:lnTo>
                    <a:pt x="0" y="11432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30188" cy="15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12024" y="4846409"/>
            <a:ext cx="7203485" cy="885344"/>
            <a:chOff x="0" y="0"/>
            <a:chExt cx="930188" cy="1143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0188" cy="114325"/>
            </a:xfrm>
            <a:custGeom>
              <a:avLst/>
              <a:gdLst/>
              <a:ahLst/>
              <a:cxnLst/>
              <a:rect l="l" t="t" r="r" b="b"/>
              <a:pathLst>
                <a:path w="930188" h="114325">
                  <a:moveTo>
                    <a:pt x="0" y="0"/>
                  </a:moveTo>
                  <a:lnTo>
                    <a:pt x="930188" y="0"/>
                  </a:lnTo>
                  <a:lnTo>
                    <a:pt x="930188" y="114325"/>
                  </a:lnTo>
                  <a:lnTo>
                    <a:pt x="0" y="11432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2E4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30188" cy="15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48740" y="4993806"/>
            <a:ext cx="5317900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대학생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멘토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모집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88274" y="4993806"/>
            <a:ext cx="5317900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청소년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멘티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모집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788274" y="6102185"/>
            <a:ext cx="6013361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관내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중·고등학교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진로진학부서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안내문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발송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공공기관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도서관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SNS,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홈페이지를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통한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홍보물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(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카드뉴스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, 웹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포스터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등)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게재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48740" y="6102185"/>
            <a:ext cx="603743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관내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취업지원처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총학생회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연계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협조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공문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발송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커뮤니티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내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포스터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카드뉴스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배포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공공기관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도서관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SNS,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홈페이지에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카드뉴스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, 웹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포스터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게재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3157562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86365" y="956019"/>
            <a:ext cx="13315270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추진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일정</a:t>
            </a:r>
            <a:endParaRPr lang="en-US" sz="6300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63798" y="3421698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온·오프라인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채널을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활용한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타겟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맞춤형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홍보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72490" y="5590544"/>
            <a:ext cx="323304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3월</a:t>
            </a:r>
          </a:p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기획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및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모집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72490" y="6865372"/>
            <a:ext cx="3233046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세부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계획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수립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대학생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모집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포스터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제작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공고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선발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72490" y="4898856"/>
            <a:ext cx="1059420" cy="529710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128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28041" y="4999563"/>
            <a:ext cx="748319" cy="29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-34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1단계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59698" y="5590544"/>
            <a:ext cx="323304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4월</a:t>
            </a:r>
          </a:p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발대식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및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운영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659698" y="6865372"/>
            <a:ext cx="3233046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멘토-멘티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결연식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4월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주요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연계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행사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정기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학습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</a:t>
            </a: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캠퍼스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투어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시작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659698" y="4898856"/>
            <a:ext cx="1059420" cy="529710"/>
            <a:chOff x="0" y="0"/>
            <a:chExt cx="812800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8128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815249" y="4999563"/>
            <a:ext cx="748319" cy="29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-34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2단계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46906" y="5590544"/>
            <a:ext cx="323304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7~8월</a:t>
            </a:r>
          </a:p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중간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점검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546906" y="6865372"/>
            <a:ext cx="3233046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참여자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만족도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설문조사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네트워킹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데이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운영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전문가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강연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운영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역량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강화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교육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9546906" y="4898856"/>
            <a:ext cx="1059420" cy="529710"/>
            <a:chOff x="0" y="0"/>
            <a:chExt cx="812800" cy="406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8128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702456" y="4999563"/>
            <a:ext cx="748319" cy="29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-34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3단계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34114" y="5590544"/>
            <a:ext cx="323304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11월</a:t>
            </a:r>
          </a:p>
          <a:p>
            <a:pPr algn="l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성과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공유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및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해단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4114" y="6865372"/>
            <a:ext cx="32330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해단식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활동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우수자시상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</a:t>
            </a: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결과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보고서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발간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13434114" y="4898856"/>
            <a:ext cx="1059420" cy="529710"/>
            <a:chOff x="0" y="0"/>
            <a:chExt cx="812800" cy="40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8128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589664" y="4999563"/>
            <a:ext cx="748319" cy="29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-34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4단계</a:t>
            </a:r>
          </a:p>
        </p:txBody>
      </p:sp>
      <p:sp>
        <p:nvSpPr>
          <p:cNvPr id="35" name="Freeform 35"/>
          <p:cNvSpPr/>
          <p:nvPr/>
        </p:nvSpPr>
        <p:spPr>
          <a:xfrm>
            <a:off x="4769350" y="6352544"/>
            <a:ext cx="576443" cy="1093853"/>
          </a:xfrm>
          <a:custGeom>
            <a:avLst/>
            <a:gdLst/>
            <a:ahLst/>
            <a:cxnLst/>
            <a:rect l="l" t="t" r="r" b="b"/>
            <a:pathLst>
              <a:path w="576443" h="1093853">
                <a:moveTo>
                  <a:pt x="0" y="0"/>
                </a:moveTo>
                <a:lnTo>
                  <a:pt x="576444" y="0"/>
                </a:lnTo>
                <a:lnTo>
                  <a:pt x="576444" y="1093853"/>
                </a:lnTo>
                <a:lnTo>
                  <a:pt x="0" y="1093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665278" y="6352544"/>
            <a:ext cx="576443" cy="1093853"/>
          </a:xfrm>
          <a:custGeom>
            <a:avLst/>
            <a:gdLst/>
            <a:ahLst/>
            <a:cxnLst/>
            <a:rect l="l" t="t" r="r" b="b"/>
            <a:pathLst>
              <a:path w="576443" h="1093853">
                <a:moveTo>
                  <a:pt x="0" y="0"/>
                </a:moveTo>
                <a:lnTo>
                  <a:pt x="576444" y="0"/>
                </a:lnTo>
                <a:lnTo>
                  <a:pt x="576444" y="1093853"/>
                </a:lnTo>
                <a:lnTo>
                  <a:pt x="0" y="1093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2561206" y="6352544"/>
            <a:ext cx="576443" cy="1093853"/>
          </a:xfrm>
          <a:custGeom>
            <a:avLst/>
            <a:gdLst/>
            <a:ahLst/>
            <a:cxnLst/>
            <a:rect l="l" t="t" r="r" b="b"/>
            <a:pathLst>
              <a:path w="576443" h="1093853">
                <a:moveTo>
                  <a:pt x="0" y="0"/>
                </a:moveTo>
                <a:lnTo>
                  <a:pt x="576444" y="0"/>
                </a:lnTo>
                <a:lnTo>
                  <a:pt x="576444" y="1093853"/>
                </a:lnTo>
                <a:lnTo>
                  <a:pt x="0" y="1093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3157562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86365" y="956019"/>
            <a:ext cx="13315270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소요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예산</a:t>
            </a:r>
            <a:endParaRPr lang="en-US" sz="6300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63798" y="3421698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총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예산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30,000 천 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5259" y="4727106"/>
            <a:ext cx="53179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참여자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활동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지원비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(12,000 천 원)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5259" y="5729136"/>
            <a:ext cx="53179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행사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운영및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홍보비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(6,000 천 원)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5259" y="7055015"/>
            <a:ext cx="53179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교구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및 </a:t>
            </a: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전문가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섭외비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(7,000 천 원)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5259" y="8057045"/>
            <a:ext cx="53179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spc="-48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예비비</a:t>
            </a:r>
            <a:r>
              <a:rPr lang="en-US" sz="2400" b="1" spc="-48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(1,000 천 원)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5259" y="5212881"/>
            <a:ext cx="7370251" cy="30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청소년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진로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체험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멘토링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활동비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대학생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멘토단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소정의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지원금</a:t>
            </a:r>
            <a:endParaRPr lang="en-US" sz="1700" spc="-34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5259" y="6214911"/>
            <a:ext cx="737025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멘토-멘티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결연식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,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성과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공유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해단식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대관료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현장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행사장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조성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,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식다과비</a:t>
            </a:r>
            <a:endParaRPr lang="en-US" sz="1700" spc="-34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2550"/>
              </a:lnSpc>
            </a:pP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대학생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멘토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모집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포스터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리플렛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등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온·오프라인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홍보물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제작비</a:t>
            </a:r>
            <a:endParaRPr lang="en-US" sz="1700" spc="-34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45259" y="7540790"/>
            <a:ext cx="7370251" cy="30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진로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탐색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특강을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위한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외부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전문가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강사료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거점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교육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운영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교구재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구입비</a:t>
            </a:r>
            <a:endParaRPr lang="en-US" sz="1700" spc="-34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5259" y="8542820"/>
            <a:ext cx="7370251" cy="30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프로그램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운영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중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발생하는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기타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제반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비용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긴급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예외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상황</a:t>
            </a:r>
            <a:r>
              <a:rPr lang="en-US" sz="1700" spc="-34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1700" spc="-34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대비비</a:t>
            </a:r>
            <a:endParaRPr lang="en-US" sz="1700" spc="-34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172" y="3923868"/>
            <a:ext cx="6913134" cy="5852041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-5400000">
            <a:off x="8805206" y="4891677"/>
            <a:ext cx="239130" cy="208695"/>
            <a:chOff x="0" y="0"/>
            <a:chExt cx="698500" cy="609600"/>
          </a:xfrm>
        </p:grpSpPr>
        <p:sp>
          <p:nvSpPr>
            <p:cNvPr id="21" name="Freeform 21"/>
            <p:cNvSpPr/>
            <p:nvPr/>
          </p:nvSpPr>
          <p:spPr>
            <a:xfrm>
              <a:off x="58487" y="0"/>
              <a:ext cx="581527" cy="528974"/>
            </a:xfrm>
            <a:custGeom>
              <a:avLst/>
              <a:gdLst/>
              <a:ahLst/>
              <a:cxnLst/>
              <a:rect l="l" t="t" r="r" b="b"/>
              <a:pathLst>
                <a:path w="581527" h="528974">
                  <a:moveTo>
                    <a:pt x="221608" y="488894"/>
                  </a:moveTo>
                  <a:lnTo>
                    <a:pt x="10668" y="120706"/>
                  </a:lnTo>
                  <a:cubicBezTo>
                    <a:pt x="-3628" y="95754"/>
                    <a:pt x="-3551" y="65077"/>
                    <a:pt x="10869" y="40197"/>
                  </a:cubicBezTo>
                  <a:cubicBezTo>
                    <a:pt x="25289" y="15317"/>
                    <a:pt x="51869" y="0"/>
                    <a:pt x="80626" y="0"/>
                  </a:cubicBezTo>
                  <a:lnTo>
                    <a:pt x="500900" y="0"/>
                  </a:lnTo>
                  <a:cubicBezTo>
                    <a:pt x="529657" y="0"/>
                    <a:pt x="556237" y="15317"/>
                    <a:pt x="570657" y="40197"/>
                  </a:cubicBezTo>
                  <a:cubicBezTo>
                    <a:pt x="585077" y="65077"/>
                    <a:pt x="585154" y="95754"/>
                    <a:pt x="570858" y="120706"/>
                  </a:cubicBezTo>
                  <a:lnTo>
                    <a:pt x="359918" y="488894"/>
                  </a:lnTo>
                  <a:cubicBezTo>
                    <a:pt x="345716" y="513683"/>
                    <a:pt x="319332" y="528974"/>
                    <a:pt x="290763" y="528974"/>
                  </a:cubicBezTo>
                  <a:cubicBezTo>
                    <a:pt x="262194" y="528974"/>
                    <a:pt x="235810" y="513683"/>
                    <a:pt x="221608" y="488894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215900" y="-57150"/>
              <a:ext cx="2667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8805206" y="5876248"/>
            <a:ext cx="239130" cy="208695"/>
            <a:chOff x="0" y="0"/>
            <a:chExt cx="698500" cy="609600"/>
          </a:xfrm>
        </p:grpSpPr>
        <p:sp>
          <p:nvSpPr>
            <p:cNvPr id="24" name="Freeform 24"/>
            <p:cNvSpPr/>
            <p:nvPr/>
          </p:nvSpPr>
          <p:spPr>
            <a:xfrm>
              <a:off x="58487" y="0"/>
              <a:ext cx="581527" cy="528974"/>
            </a:xfrm>
            <a:custGeom>
              <a:avLst/>
              <a:gdLst/>
              <a:ahLst/>
              <a:cxnLst/>
              <a:rect l="l" t="t" r="r" b="b"/>
              <a:pathLst>
                <a:path w="581527" h="528974">
                  <a:moveTo>
                    <a:pt x="221608" y="488894"/>
                  </a:moveTo>
                  <a:lnTo>
                    <a:pt x="10668" y="120706"/>
                  </a:lnTo>
                  <a:cubicBezTo>
                    <a:pt x="-3628" y="95754"/>
                    <a:pt x="-3551" y="65077"/>
                    <a:pt x="10869" y="40197"/>
                  </a:cubicBezTo>
                  <a:cubicBezTo>
                    <a:pt x="25289" y="15317"/>
                    <a:pt x="51869" y="0"/>
                    <a:pt x="80626" y="0"/>
                  </a:cubicBezTo>
                  <a:lnTo>
                    <a:pt x="500900" y="0"/>
                  </a:lnTo>
                  <a:cubicBezTo>
                    <a:pt x="529657" y="0"/>
                    <a:pt x="556237" y="15317"/>
                    <a:pt x="570657" y="40197"/>
                  </a:cubicBezTo>
                  <a:cubicBezTo>
                    <a:pt x="585077" y="65077"/>
                    <a:pt x="585154" y="95754"/>
                    <a:pt x="570858" y="120706"/>
                  </a:cubicBezTo>
                  <a:lnTo>
                    <a:pt x="359918" y="488894"/>
                  </a:lnTo>
                  <a:cubicBezTo>
                    <a:pt x="345716" y="513683"/>
                    <a:pt x="319332" y="528974"/>
                    <a:pt x="290763" y="528974"/>
                  </a:cubicBezTo>
                  <a:cubicBezTo>
                    <a:pt x="262194" y="528974"/>
                    <a:pt x="235810" y="513683"/>
                    <a:pt x="221608" y="488894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215900" y="-57150"/>
              <a:ext cx="2667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8805206" y="7202127"/>
            <a:ext cx="239130" cy="208695"/>
            <a:chOff x="0" y="0"/>
            <a:chExt cx="698500" cy="609600"/>
          </a:xfrm>
        </p:grpSpPr>
        <p:sp>
          <p:nvSpPr>
            <p:cNvPr id="27" name="Freeform 27"/>
            <p:cNvSpPr/>
            <p:nvPr/>
          </p:nvSpPr>
          <p:spPr>
            <a:xfrm>
              <a:off x="58487" y="0"/>
              <a:ext cx="581527" cy="528974"/>
            </a:xfrm>
            <a:custGeom>
              <a:avLst/>
              <a:gdLst/>
              <a:ahLst/>
              <a:cxnLst/>
              <a:rect l="l" t="t" r="r" b="b"/>
              <a:pathLst>
                <a:path w="581527" h="528974">
                  <a:moveTo>
                    <a:pt x="221608" y="488894"/>
                  </a:moveTo>
                  <a:lnTo>
                    <a:pt x="10668" y="120706"/>
                  </a:lnTo>
                  <a:cubicBezTo>
                    <a:pt x="-3628" y="95754"/>
                    <a:pt x="-3551" y="65077"/>
                    <a:pt x="10869" y="40197"/>
                  </a:cubicBezTo>
                  <a:cubicBezTo>
                    <a:pt x="25289" y="15317"/>
                    <a:pt x="51869" y="0"/>
                    <a:pt x="80626" y="0"/>
                  </a:cubicBezTo>
                  <a:lnTo>
                    <a:pt x="500900" y="0"/>
                  </a:lnTo>
                  <a:cubicBezTo>
                    <a:pt x="529657" y="0"/>
                    <a:pt x="556237" y="15317"/>
                    <a:pt x="570657" y="40197"/>
                  </a:cubicBezTo>
                  <a:cubicBezTo>
                    <a:pt x="585077" y="65077"/>
                    <a:pt x="585154" y="95754"/>
                    <a:pt x="570858" y="120706"/>
                  </a:cubicBezTo>
                  <a:lnTo>
                    <a:pt x="359918" y="488894"/>
                  </a:lnTo>
                  <a:cubicBezTo>
                    <a:pt x="345716" y="513683"/>
                    <a:pt x="319332" y="528974"/>
                    <a:pt x="290763" y="528974"/>
                  </a:cubicBezTo>
                  <a:cubicBezTo>
                    <a:pt x="262194" y="528974"/>
                    <a:pt x="235810" y="513683"/>
                    <a:pt x="221608" y="488894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15900" y="-57150"/>
              <a:ext cx="2667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5400000">
            <a:off x="8805206" y="8204157"/>
            <a:ext cx="239130" cy="208695"/>
            <a:chOff x="0" y="0"/>
            <a:chExt cx="698500" cy="609600"/>
          </a:xfrm>
        </p:grpSpPr>
        <p:sp>
          <p:nvSpPr>
            <p:cNvPr id="30" name="Freeform 30"/>
            <p:cNvSpPr/>
            <p:nvPr/>
          </p:nvSpPr>
          <p:spPr>
            <a:xfrm>
              <a:off x="58487" y="0"/>
              <a:ext cx="581527" cy="528974"/>
            </a:xfrm>
            <a:custGeom>
              <a:avLst/>
              <a:gdLst/>
              <a:ahLst/>
              <a:cxnLst/>
              <a:rect l="l" t="t" r="r" b="b"/>
              <a:pathLst>
                <a:path w="581527" h="528974">
                  <a:moveTo>
                    <a:pt x="221608" y="488894"/>
                  </a:moveTo>
                  <a:lnTo>
                    <a:pt x="10668" y="120706"/>
                  </a:lnTo>
                  <a:cubicBezTo>
                    <a:pt x="-3628" y="95754"/>
                    <a:pt x="-3551" y="65077"/>
                    <a:pt x="10869" y="40197"/>
                  </a:cubicBezTo>
                  <a:cubicBezTo>
                    <a:pt x="25289" y="15317"/>
                    <a:pt x="51869" y="0"/>
                    <a:pt x="80626" y="0"/>
                  </a:cubicBezTo>
                  <a:lnTo>
                    <a:pt x="500900" y="0"/>
                  </a:lnTo>
                  <a:cubicBezTo>
                    <a:pt x="529657" y="0"/>
                    <a:pt x="556237" y="15317"/>
                    <a:pt x="570657" y="40197"/>
                  </a:cubicBezTo>
                  <a:cubicBezTo>
                    <a:pt x="585077" y="65077"/>
                    <a:pt x="585154" y="95754"/>
                    <a:pt x="570858" y="120706"/>
                  </a:cubicBezTo>
                  <a:lnTo>
                    <a:pt x="359918" y="488894"/>
                  </a:lnTo>
                  <a:cubicBezTo>
                    <a:pt x="345716" y="513683"/>
                    <a:pt x="319332" y="528974"/>
                    <a:pt x="290763" y="528974"/>
                  </a:cubicBezTo>
                  <a:cubicBezTo>
                    <a:pt x="262194" y="528974"/>
                    <a:pt x="235810" y="513683"/>
                    <a:pt x="221608" y="488894"/>
                  </a:cubicBezTo>
                  <a:close/>
                </a:path>
              </a:pathLst>
            </a:custGeom>
            <a:solidFill>
              <a:srgbClr val="5183E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215900" y="-57150"/>
              <a:ext cx="2667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73095" y="2345628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72490" y="3157562"/>
            <a:ext cx="14743019" cy="1118823"/>
            <a:chOff x="0" y="0"/>
            <a:chExt cx="3033543" cy="23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543" cy="230211"/>
            </a:xfrm>
            <a:custGeom>
              <a:avLst/>
              <a:gdLst/>
              <a:ahLst/>
              <a:cxnLst/>
              <a:rect l="l" t="t" r="r" b="b"/>
              <a:pathLst>
                <a:path w="3033543" h="230211">
                  <a:moveTo>
                    <a:pt x="0" y="0"/>
                  </a:moveTo>
                  <a:lnTo>
                    <a:pt x="3033543" y="0"/>
                  </a:lnTo>
                  <a:lnTo>
                    <a:pt x="3033543" y="230211"/>
                  </a:lnTo>
                  <a:lnTo>
                    <a:pt x="0" y="230211"/>
                  </a:lnTo>
                  <a:close/>
                </a:path>
              </a:pathLst>
            </a:custGeom>
            <a:solidFill>
              <a:srgbClr val="E6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33543" cy="26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56677" y="6600560"/>
            <a:ext cx="3761828" cy="780450"/>
            <a:chOff x="0" y="0"/>
            <a:chExt cx="774039" cy="1605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74039" cy="160586"/>
            </a:xfrm>
            <a:custGeom>
              <a:avLst/>
              <a:gdLst/>
              <a:ahLst/>
              <a:cxnLst/>
              <a:rect l="l" t="t" r="r" b="b"/>
              <a:pathLst>
                <a:path w="774039" h="160586">
                  <a:moveTo>
                    <a:pt x="0" y="0"/>
                  </a:moveTo>
                  <a:lnTo>
                    <a:pt x="774039" y="0"/>
                  </a:lnTo>
                  <a:lnTo>
                    <a:pt x="774039" y="160586"/>
                  </a:lnTo>
                  <a:lnTo>
                    <a:pt x="0" y="160586"/>
                  </a:lnTo>
                  <a:close/>
                </a:path>
              </a:pathLst>
            </a:custGeom>
            <a:solidFill>
              <a:srgbClr val="5183E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74039" cy="198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58050" y="6600560"/>
            <a:ext cx="3761828" cy="780450"/>
            <a:chOff x="0" y="0"/>
            <a:chExt cx="774039" cy="1605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4039" cy="160586"/>
            </a:xfrm>
            <a:custGeom>
              <a:avLst/>
              <a:gdLst/>
              <a:ahLst/>
              <a:cxnLst/>
              <a:rect l="l" t="t" r="r" b="b"/>
              <a:pathLst>
                <a:path w="774039" h="160586">
                  <a:moveTo>
                    <a:pt x="0" y="0"/>
                  </a:moveTo>
                  <a:lnTo>
                    <a:pt x="774039" y="0"/>
                  </a:lnTo>
                  <a:lnTo>
                    <a:pt x="774039" y="160586"/>
                  </a:lnTo>
                  <a:lnTo>
                    <a:pt x="0" y="160586"/>
                  </a:lnTo>
                  <a:close/>
                </a:path>
              </a:pathLst>
            </a:custGeom>
            <a:solidFill>
              <a:srgbClr val="5183E4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74039" cy="198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flipH="1">
            <a:off x="6690005" y="4798080"/>
            <a:ext cx="0" cy="3975100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H="1">
            <a:off x="11597995" y="4798080"/>
            <a:ext cx="0" cy="3975100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3594920" y="4961299"/>
            <a:ext cx="1285342" cy="1391611"/>
          </a:xfrm>
          <a:custGeom>
            <a:avLst/>
            <a:gdLst/>
            <a:ahLst/>
            <a:cxnLst/>
            <a:rect l="l" t="t" r="r" b="b"/>
            <a:pathLst>
              <a:path w="1285342" h="1391611">
                <a:moveTo>
                  <a:pt x="0" y="0"/>
                </a:moveTo>
                <a:lnTo>
                  <a:pt x="1285342" y="0"/>
                </a:lnTo>
                <a:lnTo>
                  <a:pt x="1285342" y="1391611"/>
                </a:lnTo>
                <a:lnTo>
                  <a:pt x="0" y="1391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2159423" y="6600560"/>
            <a:ext cx="3761828" cy="780450"/>
            <a:chOff x="0" y="0"/>
            <a:chExt cx="774039" cy="1605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74039" cy="160586"/>
            </a:xfrm>
            <a:custGeom>
              <a:avLst/>
              <a:gdLst/>
              <a:ahLst/>
              <a:cxnLst/>
              <a:rect l="l" t="t" r="r" b="b"/>
              <a:pathLst>
                <a:path w="774039" h="160586">
                  <a:moveTo>
                    <a:pt x="0" y="0"/>
                  </a:moveTo>
                  <a:lnTo>
                    <a:pt x="774039" y="0"/>
                  </a:lnTo>
                  <a:lnTo>
                    <a:pt x="774039" y="160586"/>
                  </a:lnTo>
                  <a:lnTo>
                    <a:pt x="0" y="160586"/>
                  </a:lnTo>
                  <a:close/>
                </a:path>
              </a:pathLst>
            </a:custGeom>
            <a:solidFill>
              <a:srgbClr val="5183E4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74039" cy="198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9"/>
                </a:lnSpc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8380800" y="4961299"/>
            <a:ext cx="1526400" cy="1382086"/>
          </a:xfrm>
          <a:custGeom>
            <a:avLst/>
            <a:gdLst/>
            <a:ahLst/>
            <a:cxnLst/>
            <a:rect l="l" t="t" r="r" b="b"/>
            <a:pathLst>
              <a:path w="1526400" h="1382086">
                <a:moveTo>
                  <a:pt x="0" y="0"/>
                </a:moveTo>
                <a:lnTo>
                  <a:pt x="1526400" y="0"/>
                </a:lnTo>
                <a:lnTo>
                  <a:pt x="1526400" y="1382086"/>
                </a:lnTo>
                <a:lnTo>
                  <a:pt x="0" y="1382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370654" y="4961299"/>
            <a:ext cx="1339367" cy="1382086"/>
          </a:xfrm>
          <a:custGeom>
            <a:avLst/>
            <a:gdLst/>
            <a:ahLst/>
            <a:cxnLst/>
            <a:rect l="l" t="t" r="r" b="b"/>
            <a:pathLst>
              <a:path w="1339367" h="1382086">
                <a:moveTo>
                  <a:pt x="0" y="0"/>
                </a:moveTo>
                <a:lnTo>
                  <a:pt x="1339367" y="0"/>
                </a:lnTo>
                <a:lnTo>
                  <a:pt x="1339367" y="1382086"/>
                </a:lnTo>
                <a:lnTo>
                  <a:pt x="0" y="1382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363798" y="956019"/>
            <a:ext cx="9560404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기대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효과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및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향후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계획</a:t>
            </a:r>
            <a:endParaRPr lang="en-US" sz="6300" spc="-189" dirty="0">
              <a:solidFill>
                <a:srgbClr val="4474C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옛간판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363798" y="3421698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프로그램을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통해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창출되는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공공의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가치</a:t>
            </a:r>
            <a:endParaRPr lang="en-US" sz="3000" b="1" spc="-6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899602" y="6695510"/>
            <a:ext cx="2675978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정량적</a:t>
            </a:r>
            <a:r>
              <a:rPr lang="en-US" sz="30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효과</a:t>
            </a:r>
            <a:endParaRPr lang="en-US" sz="3000" b="1" spc="-6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778678" y="6695510"/>
            <a:ext cx="2523318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향후</a:t>
            </a:r>
            <a:r>
              <a:rPr lang="en-US" sz="3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계획</a:t>
            </a:r>
            <a:endParaRPr lang="en-US" sz="3000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97688" y="6695510"/>
            <a:ext cx="2682553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정성적</a:t>
            </a:r>
            <a:r>
              <a:rPr lang="en-US" sz="3000" b="1" spc="-6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 </a:t>
            </a:r>
            <a:r>
              <a:rPr lang="en-US" sz="3000" b="1" spc="-6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Semi-Bold"/>
              </a:rPr>
              <a:t>효과</a:t>
            </a:r>
            <a:endParaRPr lang="en-US" sz="3000" b="1" spc="-6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490851" y="7582555"/>
            <a:ext cx="342457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선순환적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지역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교육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인프라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구축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청소년들의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자아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존중감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향상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및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지역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사회에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대한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소속감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증대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337575" y="7582555"/>
            <a:ext cx="3424575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당해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연도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성과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평가를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바탕으로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,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익년도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사업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규모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확대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524965" y="7582555"/>
            <a:ext cx="342596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관내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청소년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30명의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성공적인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  <a:p>
            <a:pPr algn="l">
              <a:lnSpc>
                <a:spcPts val="3000"/>
              </a:lnSpc>
            </a:pP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진로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체험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수료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, 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프로그램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참여자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만족도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90점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이상</a:t>
            </a:r>
            <a:r>
              <a:rPr lang="en-US" sz="2000" spc="-40" dirty="0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000" spc="-40" dirty="0" err="1">
                <a:solidFill>
                  <a:srgbClr val="3030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달성</a:t>
            </a:r>
            <a:endParaRPr lang="en-US" sz="2000" spc="-40" dirty="0">
              <a:solidFill>
                <a:srgbClr val="303032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095" y="678722"/>
            <a:ext cx="16741809" cy="8929557"/>
            <a:chOff x="0" y="0"/>
            <a:chExt cx="78576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760" cy="419100"/>
            </a:xfrm>
            <a:custGeom>
              <a:avLst/>
              <a:gdLst/>
              <a:ahLst/>
              <a:cxnLst/>
              <a:rect l="l" t="t" r="r" b="b"/>
              <a:pathLst>
                <a:path w="785760" h="419100">
                  <a:moveTo>
                    <a:pt x="0" y="0"/>
                  </a:moveTo>
                  <a:lnTo>
                    <a:pt x="785760" y="0"/>
                  </a:lnTo>
                  <a:lnTo>
                    <a:pt x="78576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85760" cy="447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>
                <a:latin typeface="Pretendard" panose="02000503000000020004" pitchFamily="50" charset="-127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50593" y="3444055"/>
            <a:ext cx="12386813" cy="220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"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함께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성장하는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지역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공동체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,</a:t>
            </a:r>
          </a:p>
          <a:p>
            <a:pPr algn="ctr">
              <a:lnSpc>
                <a:spcPts val="8819"/>
              </a:lnSpc>
            </a:pP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그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내일을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 </a:t>
            </a:r>
            <a:r>
              <a:rPr lang="en-US" sz="6300" spc="-189" dirty="0" err="1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준비합니다</a:t>
            </a:r>
            <a:r>
              <a:rPr lang="en-US" sz="6300" spc="-189" dirty="0">
                <a:solidFill>
                  <a:srgbClr val="4474C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옛간판 Bold"/>
              </a:rPr>
              <a:t>."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63798" y="6128810"/>
            <a:ext cx="9560404" cy="49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경청해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주셔서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 </a:t>
            </a:r>
            <a:r>
              <a:rPr lang="en-US" sz="3000" b="1" spc="-6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감사합니다</a:t>
            </a:r>
            <a:r>
              <a:rPr lang="en-US" sz="3000" b="1" spc="-6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9557" y="8370391"/>
            <a:ext cx="3742038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기획팀</a:t>
            </a:r>
            <a:r>
              <a:rPr lang="en-US" sz="2100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sz="2100" spc="-42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이지혜</a:t>
            </a:r>
            <a:endParaRPr lang="en-US" sz="2100" spc="-42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55390" y="8375130"/>
            <a:ext cx="297722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123-456-7890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06893" y="8370391"/>
            <a:ext cx="324106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hello@reallygreatsite</a:t>
            </a:r>
            <a:endParaRPr lang="en-US" sz="2100" spc="-42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 Kr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73095" y="7841730"/>
            <a:ext cx="16741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>
            <a:off x="6690005" y="8270355"/>
            <a:ext cx="0" cy="642156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H="1">
            <a:off x="11597995" y="8270355"/>
            <a:ext cx="0" cy="642156"/>
          </a:xfrm>
          <a:prstGeom prst="line">
            <a:avLst/>
          </a:prstGeom>
          <a:ln w="19050" cap="flat">
            <a:solidFill>
              <a:srgbClr val="C9D2E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1464</Words>
  <Application>Microsoft Office PowerPoint</Application>
  <PresentationFormat>사용자 지정</PresentationFormat>
  <Paragraphs>223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Calibri</vt:lpstr>
      <vt:lpstr>맑은 고딕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배경 현대적인 프로젝트 프레젠테이션</dc:title>
  <dc:creator>user</dc:creator>
  <cp:lastModifiedBy>이승건(대학원생-비즈니스IT전공)</cp:lastModifiedBy>
  <cp:revision>16</cp:revision>
  <dcterms:created xsi:type="dcterms:W3CDTF">2006-08-16T00:00:00Z</dcterms:created>
  <dcterms:modified xsi:type="dcterms:W3CDTF">2026-05-06T14:43:23Z</dcterms:modified>
  <dc:identifier>DAHI3_O5sRw</dc:identifier>
</cp:coreProperties>
</file>