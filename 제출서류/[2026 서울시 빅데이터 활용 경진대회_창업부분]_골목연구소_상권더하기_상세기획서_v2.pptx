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32" r:id="rId1"/>
    <p:sldMasterId id="2147483834" r:id="rId2"/>
  </p:sldMasterIdLst>
  <p:notesMasterIdLst>
    <p:notesMasterId r:id="rId30"/>
  </p:notesMasterIdLst>
  <p:handoutMasterIdLst>
    <p:handoutMasterId r:id="rId31"/>
  </p:handoutMasterIdLst>
  <p:sldIdLst>
    <p:sldId id="277" r:id="rId3"/>
    <p:sldId id="318" r:id="rId4"/>
    <p:sldId id="322" r:id="rId5"/>
    <p:sldId id="321" r:id="rId6"/>
    <p:sldId id="319" r:id="rId7"/>
    <p:sldId id="320" r:id="rId8"/>
    <p:sldId id="304" r:id="rId9"/>
    <p:sldId id="297" r:id="rId10"/>
    <p:sldId id="313" r:id="rId11"/>
    <p:sldId id="314" r:id="rId12"/>
    <p:sldId id="315" r:id="rId13"/>
    <p:sldId id="316" r:id="rId14"/>
    <p:sldId id="317" r:id="rId15"/>
    <p:sldId id="312" r:id="rId16"/>
    <p:sldId id="308" r:id="rId17"/>
    <p:sldId id="309" r:id="rId18"/>
    <p:sldId id="310" r:id="rId19"/>
    <p:sldId id="328" r:id="rId20"/>
    <p:sldId id="323" r:id="rId21"/>
    <p:sldId id="324" r:id="rId22"/>
    <p:sldId id="325" r:id="rId23"/>
    <p:sldId id="326" r:id="rId24"/>
    <p:sldId id="327" r:id="rId25"/>
    <p:sldId id="281" r:id="rId26"/>
    <p:sldId id="258" r:id="rId27"/>
    <p:sldId id="265" r:id="rId28"/>
    <p:sldId id="264" r:id="rId29"/>
  </p:sldIdLst>
  <p:sldSz cx="12192000" cy="6858000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6">
          <p15:clr>
            <a:srgbClr val="A4A3A4"/>
          </p15:clr>
        </p15:guide>
        <p15:guide id="3" orient="horz" pos="672">
          <p15:clr>
            <a:srgbClr val="A4A3A4"/>
          </p15:clr>
        </p15:guide>
        <p15:guide id="4" orient="horz" pos="1483">
          <p15:clr>
            <a:srgbClr val="A4A3A4"/>
          </p15:clr>
        </p15:guide>
        <p15:guide id="5" orient="horz" pos="1603">
          <p15:clr>
            <a:srgbClr val="A4A3A4"/>
          </p15:clr>
        </p15:guide>
        <p15:guide id="6" orient="horz" pos="612">
          <p15:clr>
            <a:srgbClr val="A4A3A4"/>
          </p15:clr>
        </p15:guide>
        <p15:guide id="7" orient="horz" pos="3873">
          <p15:clr>
            <a:srgbClr val="A4A3A4"/>
          </p15:clr>
        </p15:guide>
        <p15:guide id="8" orient="horz" pos="369">
          <p15:clr>
            <a:srgbClr val="A4A3A4"/>
          </p15:clr>
        </p15:guide>
        <p15:guide id="9" orient="horz" pos="3893">
          <p15:clr>
            <a:srgbClr val="A4A3A4"/>
          </p15:clr>
        </p15:guide>
        <p15:guide id="10" pos="303">
          <p15:clr>
            <a:srgbClr val="A4A3A4"/>
          </p15:clr>
        </p15:guide>
        <p15:guide id="11" pos="2076">
          <p15:clr>
            <a:srgbClr val="A4A3A4"/>
          </p15:clr>
        </p15:guide>
        <p15:guide id="12" pos="4597">
          <p15:clr>
            <a:srgbClr val="A4A3A4"/>
          </p15:clr>
        </p15:guide>
        <p15:guide id="13" pos="1906">
          <p15:clr>
            <a:srgbClr val="A4A3A4"/>
          </p15:clr>
        </p15:guide>
        <p15:guide id="14" pos="3724">
          <p15:clr>
            <a:srgbClr val="A4A3A4"/>
          </p15:clr>
        </p15:guide>
        <p15:guide id="15" pos="6073">
          <p15:clr>
            <a:srgbClr val="A4A3A4"/>
          </p15:clr>
        </p15:guide>
        <p15:guide id="16" pos="24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A9A9A9"/>
    <a:srgbClr val="BFBFBF"/>
    <a:srgbClr val="839BD1"/>
    <a:srgbClr val="FF7F82"/>
    <a:srgbClr val="F2F5FB"/>
    <a:srgbClr val="B7BDCB"/>
    <a:srgbClr val="7F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none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5" autoAdjust="0"/>
    <p:restoredTop sz="96074" autoAdjust="0"/>
  </p:normalViewPr>
  <p:slideViewPr>
    <p:cSldViewPr snapToGrid="0" snapToObjects="1">
      <p:cViewPr varScale="1">
        <p:scale>
          <a:sx n="110" d="100"/>
          <a:sy n="110" d="100"/>
        </p:scale>
        <p:origin x="660" y="78"/>
      </p:cViewPr>
      <p:guideLst>
        <p:guide orient="horz" pos="2158"/>
        <p:guide pos="3836"/>
        <p:guide orient="horz" pos="672"/>
        <p:guide orient="horz" pos="1483"/>
        <p:guide orient="horz" pos="1603"/>
        <p:guide orient="horz" pos="612"/>
        <p:guide orient="horz" pos="3873"/>
        <p:guide orient="horz" pos="369"/>
        <p:guide orient="horz" pos="3893"/>
        <p:guide pos="303"/>
        <p:guide pos="2076"/>
        <p:guide pos="4597"/>
        <p:guide pos="1906"/>
        <p:guide pos="3724"/>
        <p:guide pos="6073"/>
        <p:guide pos="24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F65DF070-341E-4367-A2CB-77A37ADB56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5A0CD1C-1E26-4A32-893B-313EF1BF9FF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B32DA378-2BCC-450C-80B5-238E7E16A07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6304072D-E980-498C-B1E7-5F2E45D691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defRPr kumimoji="1" sz="1300" b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3DA45C6-56ED-4983-8AA0-8C79D72E1D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43C9DE0B-6525-44B8-A9DF-67C769C02C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9277EB6C-9E9C-448D-8063-943A89981AD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71D477B8-35C4-43EE-820D-031614F956A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2950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7" name="Rectangle 5">
            <a:extLst>
              <a:ext uri="{FF2B5EF4-FFF2-40B4-BE49-F238E27FC236}">
                <a16:creationId xmlns:a16="http://schemas.microsoft.com/office/drawing/2014/main" id="{2356BDE1-0093-4319-8273-54E6A743BC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177158" name="Rectangle 6">
            <a:extLst>
              <a:ext uri="{FF2B5EF4-FFF2-40B4-BE49-F238E27FC236}">
                <a16:creationId xmlns:a16="http://schemas.microsoft.com/office/drawing/2014/main" id="{22AB6045-41C5-4B5A-945A-727B652E05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155AA4E9-8C62-4ED3-ADE4-F2D6115F9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spcBef>
                <a:spcPct val="50000"/>
              </a:spcBef>
              <a:defRPr kumimoji="1" sz="1300" b="0" smtClean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A9F95F4-9487-48DC-AA0F-B00014BA906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1101470" y="3067224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  <p:sp>
        <p:nvSpPr>
          <p:cNvPr id="3" name="텍스트 개체 틀 15"/>
          <p:cNvSpPr>
            <a:spLocks noGrp="1"/>
          </p:cNvSpPr>
          <p:nvPr>
            <p:ph type="body" sz="quarter" idx="14"/>
          </p:nvPr>
        </p:nvSpPr>
        <p:spPr>
          <a:xfrm>
            <a:off x="1465535" y="3642955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053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. 서비스 제작배경 및 필요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0E9692F-6DC8-49CC-A0AA-DBD9C15D98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892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1.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제안배경 및 출품작 소개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435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활용 공공데이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1004A927-1385-4635-8B65-4D74257302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62118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2.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핵심내용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공공데이터 활용 적정성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실현가능성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 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2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AFE44E2-9031-4875-9356-E7705A7DF04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765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기존 서비스와의 차별성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독창성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933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3. 개발과정 및 방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D1512B2-4258-46FD-8475-388176C916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8369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4.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개발과정 및 방법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057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FDD3E95-1CF8-4380-8F75-76BD438490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9924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5. IA(Information Architecture)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692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6. 서비스 활용방안 및 기대효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B82DBD5-00A0-416A-9298-5BFAD56B4D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59642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6.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출품작의 창업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사업화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시장성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매출 발생 및 투자가능성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발전 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70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3F3DD5A-1C8A-4606-92B4-A2ADAC7FA8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818063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상용에 따른 파급효과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기대효과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사회적 가치 창출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926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7. 개발 툴 및 참고문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3526137-8D1B-4D81-A9F8-67CA227F36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04812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 툴 및 참고문헌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953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4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그레이바탕">
            <a:extLst>
              <a:ext uri="{FF2B5EF4-FFF2-40B4-BE49-F238E27FC236}">
                <a16:creationId xmlns:a16="http://schemas.microsoft.com/office/drawing/2014/main" id="{55F7BD3E-0B96-44E3-9034-5C9D1CBAA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62475"/>
            <a:ext cx="121920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Line 462">
            <a:extLst>
              <a:ext uri="{FF2B5EF4-FFF2-40B4-BE49-F238E27FC236}">
                <a16:creationId xmlns:a16="http://schemas.microsoft.com/office/drawing/2014/main" id="{ECE4ABCF-68B8-493C-889E-D4D3305AB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43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8" name="Line 488">
            <a:extLst>
              <a:ext uri="{FF2B5EF4-FFF2-40B4-BE49-F238E27FC236}">
                <a16:creationId xmlns:a16="http://schemas.microsoft.com/office/drawing/2014/main" id="{0A6CF33A-EA4A-42F0-A6FB-61CA81082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429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9" name="Line 489">
            <a:extLst>
              <a:ext uri="{FF2B5EF4-FFF2-40B4-BE49-F238E27FC236}">
                <a16:creationId xmlns:a16="http://schemas.microsoft.com/office/drawing/2014/main" id="{11233526-3C9F-4928-BEC5-773B33F1B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0005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30" name="Text Box 539">
            <a:extLst>
              <a:ext uri="{FF2B5EF4-FFF2-40B4-BE49-F238E27FC236}">
                <a16:creationId xmlns:a16="http://schemas.microsoft.com/office/drawing/2014/main" id="{F2759659-4FBB-4705-8827-72150306F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04975"/>
            <a:ext cx="5256212" cy="4619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30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상세기획서</a:t>
            </a:r>
          </a:p>
        </p:txBody>
      </p:sp>
      <p:sp>
        <p:nvSpPr>
          <p:cNvPr id="1031" name="Text Box 510">
            <a:extLst>
              <a:ext uri="{FF2B5EF4-FFF2-40B4-BE49-F238E27FC236}">
                <a16:creationId xmlns:a16="http://schemas.microsoft.com/office/drawing/2014/main" id="{70854706-E568-4E12-B124-A7E8F9A7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395413"/>
            <a:ext cx="7653337" cy="2460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2026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년 서울시 빅데이터 활용 경진대회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서울 열린데이터광장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b="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1032" name="그림 1">
            <a:extLst>
              <a:ext uri="{FF2B5EF4-FFF2-40B4-BE49-F238E27FC236}">
                <a16:creationId xmlns:a16="http://schemas.microsoft.com/office/drawing/2014/main" id="{D6C2F4C5-9D36-4B55-8C7F-92D773DB74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275" y="6373813"/>
            <a:ext cx="2095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그림 12">
            <a:extLst>
              <a:ext uri="{FF2B5EF4-FFF2-40B4-BE49-F238E27FC236}">
                <a16:creationId xmlns:a16="http://schemas.microsoft.com/office/drawing/2014/main" id="{28249751-894D-418C-B0B7-B954474DFA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558800"/>
            <a:ext cx="17605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텍스트 개체 틀 15">
            <a:extLst>
              <a:ext uri="{FF2B5EF4-FFF2-40B4-BE49-F238E27FC236}">
                <a16:creationId xmlns:a16="http://schemas.microsoft.com/office/drawing/2014/main" id="{491F08E7-4DD7-4433-8F56-1AADF6432CE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071813"/>
            <a:ext cx="1430337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서비스명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:</a:t>
            </a:r>
            <a:endParaRPr kumimoji="1"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035" name="텍스트 개체 틀 15">
            <a:extLst>
              <a:ext uri="{FF2B5EF4-FFF2-40B4-BE49-F238E27FC236}">
                <a16:creationId xmlns:a16="http://schemas.microsoft.com/office/drawing/2014/main" id="{D169740E-0E9B-476F-A1F2-0DDB5015DD3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644900"/>
            <a:ext cx="1430337" cy="358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참가자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팀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명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:</a:t>
            </a:r>
            <a:endParaRPr kumimoji="1"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9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직사각형 15">
            <a:extLst>
              <a:ext uri="{FF2B5EF4-FFF2-40B4-BE49-F238E27FC236}">
                <a16:creationId xmlns:a16="http://schemas.microsoft.com/office/drawing/2014/main" id="{E289CBA3-FDDF-4113-9432-3D7B17F8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106363"/>
            <a:ext cx="32766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2026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년 서울시 빅데이터 활용 경진대회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서울 열린데이터광장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1AC150-33DE-4BB4-A40F-D7220710849A}"/>
              </a:ext>
            </a:extLst>
          </p:cNvPr>
          <p:cNvSpPr/>
          <p:nvPr/>
        </p:nvSpPr>
        <p:spPr>
          <a:xfrm>
            <a:off x="8337550" y="107950"/>
            <a:ext cx="50800" cy="244475"/>
          </a:xfrm>
          <a:prstGeom prst="rect">
            <a:avLst/>
          </a:prstGeom>
          <a:solidFill>
            <a:srgbClr val="E8E8E8"/>
          </a:solidFill>
          <a:ln w="25400">
            <a:solidFill>
              <a:srgbClr val="FEFFFE"/>
            </a:solidFill>
            <a:miter/>
          </a:ln>
          <a:effectLst/>
        </p:spPr>
        <p:txBody>
          <a:bodyPr lIns="0" tIns="0" rIns="0" bIns="0" anchor="ctr"/>
          <a:lstStyle/>
          <a:p>
            <a:pPr algn="ctr" defTabSz="1080135" eaLnBrk="1" hangingPunct="1">
              <a:defRPr/>
            </a:pPr>
            <a:endParaRPr lang="ko-KR" altLang="en-US" sz="2000" b="0" spc="5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2B798FB-19AC-429B-A127-D10754097EE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16700"/>
            <a:ext cx="12192000" cy="223838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01000"/>
              </a:lnSpc>
              <a:spcBef>
                <a:spcPct val="50000"/>
              </a:spcBef>
              <a:defRPr/>
            </a:pPr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fld id="{9FA08651-405C-44B8-B710-91BD47940B55}" type="slidenum">
              <a:rPr kumimoji="1" lang="en-US" altLang="ko-KR" sz="900" b="0" smtClean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pPr algn="ctr">
                <a:lnSpc>
                  <a:spcPct val="101000"/>
                </a:lnSpc>
                <a:spcBef>
                  <a:spcPct val="50000"/>
                </a:spcBef>
                <a:defRPr/>
              </a:pPr>
              <a:t>‹#›</a:t>
            </a:fld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-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0520E7-DD5B-455E-ACB3-9F2C14819AEE}"/>
              </a:ext>
            </a:extLst>
          </p:cNvPr>
          <p:cNvCxnSpPr/>
          <p:nvPr userDrawn="1"/>
        </p:nvCxnSpPr>
        <p:spPr>
          <a:xfrm>
            <a:off x="119063" y="476250"/>
            <a:ext cx="119538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p:spPr>
      </p:cxnSp>
      <p:pic>
        <p:nvPicPr>
          <p:cNvPr id="2054" name="그림 6">
            <a:extLst>
              <a:ext uri="{FF2B5EF4-FFF2-40B4-BE49-F238E27FC236}">
                <a16:creationId xmlns:a16="http://schemas.microsoft.com/office/drawing/2014/main" id="{115E4D90-EBEE-4AE2-9826-D090C143135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120650"/>
            <a:ext cx="947738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eg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jpe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텍스트 개체 틀 1">
            <a:extLst>
              <a:ext uri="{FF2B5EF4-FFF2-40B4-BE49-F238E27FC236}">
                <a16:creationId xmlns:a16="http://schemas.microsoft.com/office/drawing/2014/main" id="{6A2C0C7F-8628-4F16-8372-E51064D88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1101725" y="3067050"/>
            <a:ext cx="4164013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/>
              <a:t>상권더하기</a:t>
            </a:r>
          </a:p>
        </p:txBody>
      </p:sp>
      <p:sp>
        <p:nvSpPr>
          <p:cNvPr id="13315" name="텍스트 개체 틀 2">
            <a:extLst>
              <a:ext uri="{FF2B5EF4-FFF2-40B4-BE49-F238E27FC236}">
                <a16:creationId xmlns:a16="http://schemas.microsoft.com/office/drawing/2014/main" id="{01138803-E67D-4649-934A-DF9478E6E8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1465263" y="3643313"/>
            <a:ext cx="4165600" cy="360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/>
              <a:t>골목연구소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BFCEAC-022D-40AF-800B-60DE1374A1F1}"/>
              </a:ext>
            </a:extLst>
          </p:cNvPr>
          <p:cNvSpPr/>
          <p:nvPr/>
        </p:nvSpPr>
        <p:spPr>
          <a:xfrm>
            <a:off x="28575" y="4635500"/>
            <a:ext cx="9540875" cy="129222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>
            <a:spAutoFit/>
          </a:bodyPr>
          <a:lstStyle/>
          <a:p>
            <a:pPr marL="285750" indent="-2857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상세기획서 작성항목을 준수하여 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PPT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로 작성합니다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. </a:t>
            </a:r>
          </a:p>
          <a:p>
            <a:pPr marL="285750" indent="-2857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PPT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디자인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폰트 등은 자유롭게 구성합니다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. </a:t>
            </a:r>
            <a:r>
              <a:rPr lang="en-US" altLang="ko-KR" sz="1100" dirty="0">
                <a:latin typeface="Pretendard" panose="02000503000000020004" pitchFamily="50" charset="-127"/>
                <a:ea typeface="굴림"/>
              </a:rPr>
              <a:t>*</a:t>
            </a:r>
            <a:r>
              <a:rPr lang="ko-KR" altLang="en-US" sz="1100" dirty="0">
                <a:latin typeface="Pretendard" panose="02000503000000020004" pitchFamily="50" charset="-127"/>
                <a:ea typeface="굴림"/>
              </a:rPr>
              <a:t>별도의 폰트 사용시 </a:t>
            </a:r>
            <a:r>
              <a:rPr lang="en-US" altLang="ko-KR" sz="1100" dirty="0">
                <a:latin typeface="Pretendard" panose="02000503000000020004" pitchFamily="50" charset="-127"/>
                <a:ea typeface="굴림"/>
              </a:rPr>
              <a:t>[</a:t>
            </a:r>
            <a:r>
              <a:rPr lang="ko-KR" altLang="en-US" sz="1100" dirty="0">
                <a:latin typeface="Pretendard" panose="02000503000000020004" pitchFamily="50" charset="-127"/>
                <a:ea typeface="굴림"/>
              </a:rPr>
              <a:t>파일에 글꼴 포함</a:t>
            </a:r>
            <a:r>
              <a:rPr lang="en-US" altLang="ko-KR" sz="1100" dirty="0">
                <a:latin typeface="Pretendard" panose="02000503000000020004" pitchFamily="50" charset="-127"/>
                <a:ea typeface="굴림"/>
              </a:rPr>
              <a:t>]</a:t>
            </a:r>
            <a:r>
              <a:rPr lang="ko-KR" altLang="en-US" sz="1100" dirty="0">
                <a:latin typeface="Pretendard" panose="02000503000000020004" pitchFamily="50" charset="-127"/>
                <a:ea typeface="굴림"/>
              </a:rPr>
              <a:t>으로 저장하여 제출</a:t>
            </a:r>
            <a:r>
              <a:rPr lang="en-US" altLang="ko-KR" sz="1100" dirty="0">
                <a:latin typeface="Pretendard" panose="02000503000000020004" pitchFamily="50" charset="-127"/>
                <a:ea typeface="굴림"/>
              </a:rPr>
              <a:t>.</a:t>
            </a:r>
          </a:p>
          <a:p>
            <a:pPr marL="285750" indent="-2857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①상세기획서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(PPT)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 제출</a:t>
            </a:r>
            <a:endParaRPr lang="en-US" altLang="ko-KR" sz="1400" dirty="0">
              <a:solidFill>
                <a:srgbClr val="FF0000"/>
              </a:solidFill>
              <a:latin typeface="Pretendard" panose="02000503000000020004" pitchFamily="50" charset="-127"/>
              <a:ea typeface="굴림"/>
            </a:endParaRPr>
          </a:p>
          <a:p>
            <a:pPr eaLnBrk="1" latinLnBrk="1" hangingPunct="1">
              <a:defRPr/>
            </a:pPr>
            <a:r>
              <a:rPr lang="en-US" altLang="ko-KR" sz="800" u="sng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   </a:t>
            </a:r>
          </a:p>
          <a:p>
            <a:pPr eaLnBrk="1" latinLnBrk="1" hangingPunct="1">
              <a:defRPr/>
            </a:pP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   - 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페이지 분량 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: 10~30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페이지 내외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    </a:t>
            </a:r>
          </a:p>
          <a:p>
            <a:pPr eaLnBrk="1" latinLnBrk="1" hangingPunct="1">
              <a:defRPr/>
            </a:pP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   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- 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공정한 심사를 위해 상세기획서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(PPT)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 내에 개인정보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기재를 금지 합니다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.(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팀이름만 기재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(</a:t>
            </a:r>
            <a:r>
              <a:rPr lang="ko-KR" altLang="en-US" sz="1400" dirty="0" err="1">
                <a:latin typeface="Pretendard" panose="02000503000000020004" pitchFamily="50" charset="-127"/>
                <a:ea typeface="굴림"/>
              </a:rPr>
              <a:t>개인은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 성명 작성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))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18496D-2922-4379-93E3-08F8E1651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925" y="153987"/>
            <a:ext cx="7331075" cy="4887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3">
            <a:extLst>
              <a:ext uri="{FF2B5EF4-FFF2-40B4-BE49-F238E27FC236}">
                <a16:creationId xmlns:a16="http://schemas.microsoft.com/office/drawing/2014/main" id="{17AC861F-CB33-4497-A304-CA2CA556CAD5}"/>
              </a:ext>
            </a:extLst>
          </p:cNvPr>
          <p:cNvSpPr/>
          <p:nvPr/>
        </p:nvSpPr>
        <p:spPr>
          <a:xfrm>
            <a:off x="457200" y="914400"/>
            <a:ext cx="1097280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39" name="Text 4">
            <a:extLst>
              <a:ext uri="{FF2B5EF4-FFF2-40B4-BE49-F238E27FC236}">
                <a16:creationId xmlns:a16="http://schemas.microsoft.com/office/drawing/2014/main" id="{C8089D95-CB49-46BF-9F2F-EA6070ACA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109728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문제는</a:t>
            </a:r>
            <a:r>
              <a:rPr lang="en-US" altLang="ko-KR" sz="3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있지만</a:t>
            </a:r>
            <a:r>
              <a:rPr lang="en-US" altLang="ko-KR" sz="3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endParaRPr lang="en-US" altLang="ko-KR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무엇이</a:t>
            </a:r>
            <a:r>
              <a:rPr lang="en-US" altLang="ko-KR" sz="3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문제인지</a:t>
            </a:r>
            <a:r>
              <a:rPr lang="en-US" altLang="ko-KR" sz="3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모른다</a:t>
            </a:r>
            <a:endParaRPr lang="en-US" altLang="ko-KR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0" name="Shape 5">
            <a:extLst>
              <a:ext uri="{FF2B5EF4-FFF2-40B4-BE49-F238E27FC236}">
                <a16:creationId xmlns:a16="http://schemas.microsoft.com/office/drawing/2014/main" id="{E5C1D870-2E21-4C86-B597-21616B37D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17838"/>
            <a:ext cx="2157413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1" name="Shape 6">
            <a:extLst>
              <a:ext uri="{FF2B5EF4-FFF2-40B4-BE49-F238E27FC236}">
                <a16:creationId xmlns:a16="http://schemas.microsoft.com/office/drawing/2014/main" id="{BB63774B-46BE-46F3-B285-B58BBF727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17838"/>
            <a:ext cx="55563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A6A7B9CB-92F5-455E-A4C1-A85F9B28F01D}"/>
              </a:ext>
            </a:extLst>
          </p:cNvPr>
          <p:cNvSpPr/>
          <p:nvPr/>
        </p:nvSpPr>
        <p:spPr>
          <a:xfrm>
            <a:off x="639763" y="3200400"/>
            <a:ext cx="1884362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3" name="Text 8">
            <a:extLst>
              <a:ext uri="{FF2B5EF4-FFF2-40B4-BE49-F238E27FC236}">
                <a16:creationId xmlns:a16="http://schemas.microsoft.com/office/drawing/2014/main" id="{164A8AA0-1F5F-4BF6-94A5-0DC7B3072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611563"/>
            <a:ext cx="188436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손님은 있는데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매출이 안 오름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4" name="Shape 9">
            <a:extLst>
              <a:ext uri="{FF2B5EF4-FFF2-40B4-BE49-F238E27FC236}">
                <a16:creationId xmlns:a16="http://schemas.microsoft.com/office/drawing/2014/main" id="{20E52C6E-5A6D-4C74-ABB3-A04D50B09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3017838"/>
            <a:ext cx="2159000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5" name="Shape 10">
            <a:extLst>
              <a:ext uri="{FF2B5EF4-FFF2-40B4-BE49-F238E27FC236}">
                <a16:creationId xmlns:a16="http://schemas.microsoft.com/office/drawing/2014/main" id="{7CD09DC3-B901-444C-89C3-A64D58E6C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3017838"/>
            <a:ext cx="55563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8604619B-AC8F-474F-AB45-EB2739104921}"/>
              </a:ext>
            </a:extLst>
          </p:cNvPr>
          <p:cNvSpPr/>
          <p:nvPr/>
        </p:nvSpPr>
        <p:spPr>
          <a:xfrm>
            <a:off x="2916238" y="3200400"/>
            <a:ext cx="1884362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7" name="Text 12">
            <a:extLst>
              <a:ext uri="{FF2B5EF4-FFF2-40B4-BE49-F238E27FC236}">
                <a16:creationId xmlns:a16="http://schemas.microsoft.com/office/drawing/2014/main" id="{E5F6E17B-AC64-4DEF-93B8-DE1D614E1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611563"/>
            <a:ext cx="188436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유동인구는 많지만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구매 전환이 안됨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8" name="Shape 13">
            <a:extLst>
              <a:ext uri="{FF2B5EF4-FFF2-40B4-BE49-F238E27FC236}">
                <a16:creationId xmlns:a16="http://schemas.microsoft.com/office/drawing/2014/main" id="{474919CC-DB85-433B-A712-CBAE83B50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3017838"/>
            <a:ext cx="2159000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9" name="Shape 14">
            <a:extLst>
              <a:ext uri="{FF2B5EF4-FFF2-40B4-BE49-F238E27FC236}">
                <a16:creationId xmlns:a16="http://schemas.microsoft.com/office/drawing/2014/main" id="{C7D5046D-F4CE-4C0A-8523-37D942ADD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3017838"/>
            <a:ext cx="55563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EF122203-5B71-4C8B-BC65-8B221AE2B469}"/>
              </a:ext>
            </a:extLst>
          </p:cNvPr>
          <p:cNvSpPr/>
          <p:nvPr/>
        </p:nvSpPr>
        <p:spPr>
          <a:xfrm>
            <a:off x="5194300" y="3200400"/>
            <a:ext cx="1882775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1" name="Text 16">
            <a:extLst>
              <a:ext uri="{FF2B5EF4-FFF2-40B4-BE49-F238E27FC236}">
                <a16:creationId xmlns:a16="http://schemas.microsoft.com/office/drawing/2014/main" id="{7A140B5B-7902-4DD2-9B5A-6B5F82DBF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3611563"/>
            <a:ext cx="18827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특정 시간대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매출이 붕괴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2" name="Shape 17">
            <a:extLst>
              <a:ext uri="{FF2B5EF4-FFF2-40B4-BE49-F238E27FC236}">
                <a16:creationId xmlns:a16="http://schemas.microsoft.com/office/drawing/2014/main" id="{4D73B584-D980-4360-8F2E-FF4085BA1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3017838"/>
            <a:ext cx="2157412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3" name="Shape 18">
            <a:extLst>
              <a:ext uri="{FF2B5EF4-FFF2-40B4-BE49-F238E27FC236}">
                <a16:creationId xmlns:a16="http://schemas.microsoft.com/office/drawing/2014/main" id="{4589D746-4999-4ABC-A869-F14CD1EA8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3017838"/>
            <a:ext cx="53975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8B7E6DEC-6C97-4C65-ACD8-46795F578EBF}"/>
              </a:ext>
            </a:extLst>
          </p:cNvPr>
          <p:cNvSpPr/>
          <p:nvPr/>
        </p:nvSpPr>
        <p:spPr>
          <a:xfrm>
            <a:off x="7470775" y="3200400"/>
            <a:ext cx="1882775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5" name="Text 20">
            <a:extLst>
              <a:ext uri="{FF2B5EF4-FFF2-40B4-BE49-F238E27FC236}">
                <a16:creationId xmlns:a16="http://schemas.microsoft.com/office/drawing/2014/main" id="{051C9E34-5651-463D-B5C9-38C2F202B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775" y="3611563"/>
            <a:ext cx="18827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단골이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잘 생기지 않음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6" name="Shape 21">
            <a:extLst>
              <a:ext uri="{FF2B5EF4-FFF2-40B4-BE49-F238E27FC236}">
                <a16:creationId xmlns:a16="http://schemas.microsoft.com/office/drawing/2014/main" id="{53E66A2D-F503-4F7B-91BE-8C5DAC08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4688" y="3017838"/>
            <a:ext cx="2157412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7" name="Shape 22">
            <a:extLst>
              <a:ext uri="{FF2B5EF4-FFF2-40B4-BE49-F238E27FC236}">
                <a16:creationId xmlns:a16="http://schemas.microsoft.com/office/drawing/2014/main" id="{2819DDD0-AD67-4333-B78C-B3073F7E0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4688" y="3017838"/>
            <a:ext cx="55562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E349625D-AA15-4608-B12A-AB66DBB56007}"/>
              </a:ext>
            </a:extLst>
          </p:cNvPr>
          <p:cNvSpPr/>
          <p:nvPr/>
        </p:nvSpPr>
        <p:spPr>
          <a:xfrm>
            <a:off x="9747250" y="3200400"/>
            <a:ext cx="1884363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9" name="Text 24">
            <a:extLst>
              <a:ext uri="{FF2B5EF4-FFF2-40B4-BE49-F238E27FC236}">
                <a16:creationId xmlns:a16="http://schemas.microsoft.com/office/drawing/2014/main" id="{3B9A9246-8BDB-41AF-B395-399957435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0" y="3611563"/>
            <a:ext cx="1884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방문 대비 객단가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저조 → 운영 효율 저하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60" name="Shape 25">
            <a:extLst>
              <a:ext uri="{FF2B5EF4-FFF2-40B4-BE49-F238E27FC236}">
                <a16:creationId xmlns:a16="http://schemas.microsoft.com/office/drawing/2014/main" id="{0E02C0CA-0B43-4569-8A5A-11B055C06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75238"/>
            <a:ext cx="11274425" cy="1189037"/>
          </a:xfrm>
          <a:prstGeom prst="rect">
            <a:avLst/>
          </a:prstGeom>
          <a:solidFill>
            <a:srgbClr val="0F1B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61" name="Shape 26">
            <a:extLst>
              <a:ext uri="{FF2B5EF4-FFF2-40B4-BE49-F238E27FC236}">
                <a16:creationId xmlns:a16="http://schemas.microsoft.com/office/drawing/2014/main" id="{BCAD0741-C013-42D2-AF58-C0B9711E8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75238"/>
            <a:ext cx="73025" cy="1189037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62" name="Text 27">
            <a:extLst>
              <a:ext uri="{FF2B5EF4-FFF2-40B4-BE49-F238E27FC236}">
                <a16:creationId xmlns:a16="http://schemas.microsoft.com/office/drawing/2014/main" id="{ED662A9F-5803-4549-BBF2-55B99E881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5211763"/>
            <a:ext cx="1051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7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점주는 어려움을 느끼지만, “장사가 안 된다”는 감각 수준에 머무른다.</a:t>
            </a:r>
            <a:endParaRPr lang="en-US" altLang="ko-KR" sz="1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63" name="Text 28">
            <a:extLst>
              <a:ext uri="{FF2B5EF4-FFF2-40B4-BE49-F238E27FC236}">
                <a16:creationId xmlns:a16="http://schemas.microsoft.com/office/drawing/2014/main" id="{A5A5D214-6195-42FE-8460-1A29F0254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5715000"/>
            <a:ext cx="105156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 i="1">
                <a:solidFill>
                  <a:srgbClr val="FFF4D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어디를, 어떻게 바꿔야 하는지 모른 채로 매일이 반복된다.</a:t>
            </a:r>
            <a:endParaRPr lang="en-US" altLang="ko-KR" sz="13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7EDFB9-EBA3-4397-A38E-244B8792C93F}"/>
              </a:ext>
            </a:extLst>
          </p:cNvPr>
          <p:cNvSpPr txBox="1"/>
          <p:nvPr/>
        </p:nvSpPr>
        <p:spPr>
          <a:xfrm>
            <a:off x="5194300" y="-124591"/>
            <a:ext cx="7804150" cy="2863850"/>
          </a:xfrm>
          <a:prstGeom prst="rect">
            <a:avLst/>
          </a:prstGeom>
          <a:solidFill>
            <a:srgbClr val="FFC000"/>
          </a:solidFill>
          <a:ln w="9525" algn="ctr">
            <a:noFill/>
            <a:miter/>
          </a:ln>
          <a:effectLst/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8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문제는 있지만</a:t>
            </a:r>
            <a:r>
              <a:rPr lang="en-US" altLang="ko-KR" sz="18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8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무엇이 문제인지 모른다</a:t>
            </a:r>
            <a:endParaRPr lang="en-US" altLang="ko-KR" sz="18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상권에서 매장을 운영하는 점주는 매일 비슷한 고민을 반복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손님은 분명히 있는데 매출이 기대만큼 오르지 않거나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유동인구는 많지만 실제 구매로 이어지지 않는 경우가 흔함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b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어떤 매장은 특정 시간대 매출이 유독 약함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b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어떤 매장은 단골이 잘 생기지 않음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어떤 매장은 방문객 수에 비해 객단가가 낮아 운영 효율이 떨어짐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sz="14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문제는 점주가 이런 어려움을 느끼고 있어도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 인식이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장사가 잘 안 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정도의 감각 수준에 머무는 경우가 많다는 점이다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무엇이 문제인지 어렴풋이 느끼지만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어디를 어떻게 바꿔야 하는지는 알기 어려운 상태에 놓여 있음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ko-KR" sz="14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문제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점주는 문제를 느끼지만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그것을 구체적인 개선 방향으로 옮기지 못하는 상황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3">
            <a:extLst>
              <a:ext uri="{FF2B5EF4-FFF2-40B4-BE49-F238E27FC236}">
                <a16:creationId xmlns:a16="http://schemas.microsoft.com/office/drawing/2014/main" id="{3D93EE4B-012F-433B-A168-19B1F3F163B7}"/>
              </a:ext>
            </a:extLst>
          </p:cNvPr>
          <p:cNvSpPr/>
          <p:nvPr/>
        </p:nvSpPr>
        <p:spPr>
          <a:xfrm>
            <a:off x="457200" y="914400"/>
            <a:ext cx="1097280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EXISTING SERVICE</a:t>
            </a:r>
            <a:endParaRPr lang="en-US" sz="1200" dirty="0">
              <a:latin typeface="Pretendard" panose="02000503000000020004" pitchFamily="50" charset="-127"/>
            </a:endParaRPr>
          </a:p>
        </p:txBody>
      </p:sp>
      <p:sp>
        <p:nvSpPr>
          <p:cNvPr id="15363" name="Text 4">
            <a:extLst>
              <a:ext uri="{FF2B5EF4-FFF2-40B4-BE49-F238E27FC236}">
                <a16:creationId xmlns:a16="http://schemas.microsoft.com/office/drawing/2014/main" id="{77986B2A-0FA9-462D-852E-D5221FC6C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109728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데이터는 있는데, 해석과 실행이 없다</a:t>
            </a:r>
            <a:endParaRPr lang="en-US" altLang="ko-KR" sz="3200">
              <a:latin typeface="Pretendard" panose="02000503000000020004" pitchFamily="50" charset="-127"/>
            </a:endParaRPr>
          </a:p>
        </p:txBody>
      </p:sp>
      <p:sp>
        <p:nvSpPr>
          <p:cNvPr id="15364" name="Shape 5">
            <a:extLst>
              <a:ext uri="{FF2B5EF4-FFF2-40B4-BE49-F238E27FC236}">
                <a16:creationId xmlns:a16="http://schemas.microsoft.com/office/drawing/2014/main" id="{EF5F9745-0525-4898-8BCF-A3A31D42F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25763"/>
            <a:ext cx="5486400" cy="320040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65" name="Text 6">
            <a:extLst>
              <a:ext uri="{FF2B5EF4-FFF2-40B4-BE49-F238E27FC236}">
                <a16:creationId xmlns:a16="http://schemas.microsoft.com/office/drawing/2014/main" id="{FD0A402D-F33C-4583-82CC-29F1FD38F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200400"/>
            <a:ext cx="475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기존 서울시 상권분석 서비스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66" name="Text 7">
            <a:extLst>
              <a:ext uri="{FF2B5EF4-FFF2-40B4-BE49-F238E27FC236}">
                <a16:creationId xmlns:a16="http://schemas.microsoft.com/office/drawing/2014/main" id="{2FC2FB0E-D220-419A-9B73-389064409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565525"/>
            <a:ext cx="475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제공하는 정보</a:t>
            </a:r>
            <a:endParaRPr lang="en-US" altLang="ko-KR" sz="2200">
              <a:latin typeface="Pretendard" panose="02000503000000020004" pitchFamily="50" charset="-127"/>
            </a:endParaRPr>
          </a:p>
        </p:txBody>
      </p:sp>
      <p:sp>
        <p:nvSpPr>
          <p:cNvPr id="15367" name="Shape 8">
            <a:extLst>
              <a:ext uri="{FF2B5EF4-FFF2-40B4-BE49-F238E27FC236}">
                <a16:creationId xmlns:a16="http://schemas.microsoft.com/office/drawing/2014/main" id="{1D245FBF-537E-4A9C-B288-27003ED58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206875"/>
            <a:ext cx="1509713" cy="36512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68" name="Text 9">
            <a:extLst>
              <a:ext uri="{FF2B5EF4-FFF2-40B4-BE49-F238E27FC236}">
                <a16:creationId xmlns:a16="http://schemas.microsoft.com/office/drawing/2014/main" id="{9AF71335-653F-4A4C-A7A6-ECD549655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206875"/>
            <a:ext cx="15097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위험도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69" name="Shape 10">
            <a:extLst>
              <a:ext uri="{FF2B5EF4-FFF2-40B4-BE49-F238E27FC236}">
                <a16:creationId xmlns:a16="http://schemas.microsoft.com/office/drawing/2014/main" id="{2D937B8D-89B5-4120-AF33-B0EE8D420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4206875"/>
            <a:ext cx="1508125" cy="36512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0" name="Text 11">
            <a:extLst>
              <a:ext uri="{FF2B5EF4-FFF2-40B4-BE49-F238E27FC236}">
                <a16:creationId xmlns:a16="http://schemas.microsoft.com/office/drawing/2014/main" id="{35F1D39E-10E1-4360-B3B9-58C60F64B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4206875"/>
            <a:ext cx="15081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고객 유형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71" name="Shape 12">
            <a:extLst>
              <a:ext uri="{FF2B5EF4-FFF2-40B4-BE49-F238E27FC236}">
                <a16:creationId xmlns:a16="http://schemas.microsoft.com/office/drawing/2014/main" id="{1F1A6E33-2BE5-43BF-9A0E-78BCAD53F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4206875"/>
            <a:ext cx="1509712" cy="36512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2" name="Text 13">
            <a:extLst>
              <a:ext uri="{FF2B5EF4-FFF2-40B4-BE49-F238E27FC236}">
                <a16:creationId xmlns:a16="http://schemas.microsoft.com/office/drawing/2014/main" id="{B65FE977-EB8A-4E25-A5D3-1C764902D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4206875"/>
            <a:ext cx="1509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소비 특성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73" name="Shape 14">
            <a:extLst>
              <a:ext uri="{FF2B5EF4-FFF2-40B4-BE49-F238E27FC236}">
                <a16:creationId xmlns:a16="http://schemas.microsoft.com/office/drawing/2014/main" id="{DCEC82D5-F5C4-4378-8113-A7A533137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681538"/>
            <a:ext cx="1509713" cy="3667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4" name="Text 15">
            <a:extLst>
              <a:ext uri="{FF2B5EF4-FFF2-40B4-BE49-F238E27FC236}">
                <a16:creationId xmlns:a16="http://schemas.microsoft.com/office/drawing/2014/main" id="{ED1D1E75-AF22-4C0E-A938-59B1EE640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681538"/>
            <a:ext cx="15097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매출 데이터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75" name="Shape 16">
            <a:extLst>
              <a:ext uri="{FF2B5EF4-FFF2-40B4-BE49-F238E27FC236}">
                <a16:creationId xmlns:a16="http://schemas.microsoft.com/office/drawing/2014/main" id="{0BB7DE8A-2635-49FD-99F7-A1359A15B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4681538"/>
            <a:ext cx="1508125" cy="3667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6" name="Text 17">
            <a:extLst>
              <a:ext uri="{FF2B5EF4-FFF2-40B4-BE49-F238E27FC236}">
                <a16:creationId xmlns:a16="http://schemas.microsoft.com/office/drawing/2014/main" id="{9C75A7ED-2C15-4C1B-86D8-753F3800E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4681538"/>
            <a:ext cx="1508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유동인구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77" name="Text 18">
            <a:extLst>
              <a:ext uri="{FF2B5EF4-FFF2-40B4-BE49-F238E27FC236}">
                <a16:creationId xmlns:a16="http://schemas.microsoft.com/office/drawing/2014/main" id="{4916E369-DB95-49A0-B374-D5EBA5265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5211763"/>
            <a:ext cx="4756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 i="1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→ 분석 리포트 형태로 제공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78" name="Shape 19">
            <a:extLst>
              <a:ext uri="{FF2B5EF4-FFF2-40B4-BE49-F238E27FC236}">
                <a16:creationId xmlns:a16="http://schemas.microsoft.com/office/drawing/2014/main" id="{58F2B25A-F322-47FE-A416-4A0260B0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5622925"/>
            <a:ext cx="4756150" cy="19050"/>
          </a:xfrm>
          <a:prstGeom prst="rect">
            <a:avLst/>
          </a:prstGeom>
          <a:solidFill>
            <a:srgbClr val="E2E8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9" name="Text 20">
            <a:extLst>
              <a:ext uri="{FF2B5EF4-FFF2-40B4-BE49-F238E27FC236}">
                <a16:creationId xmlns:a16="http://schemas.microsoft.com/office/drawing/2014/main" id="{63814A8D-C450-484B-AF56-585FA4481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5715000"/>
            <a:ext cx="475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6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정보 제공형 서비스</a:t>
            </a:r>
            <a:endParaRPr lang="en-US" altLang="ko-KR" sz="1600">
              <a:latin typeface="Pretendard" panose="02000503000000020004" pitchFamily="50" charset="-127"/>
            </a:endParaRPr>
          </a:p>
        </p:txBody>
      </p:sp>
      <p:sp>
        <p:nvSpPr>
          <p:cNvPr id="15380" name="Shape 21">
            <a:extLst>
              <a:ext uri="{FF2B5EF4-FFF2-40B4-BE49-F238E27FC236}">
                <a16:creationId xmlns:a16="http://schemas.microsoft.com/office/drawing/2014/main" id="{2AE249E6-D022-46A3-A3DD-2B562258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225" y="2925763"/>
            <a:ext cx="5486400" cy="3200400"/>
          </a:xfrm>
          <a:prstGeom prst="rect">
            <a:avLst/>
          </a:prstGeom>
          <a:solidFill>
            <a:srgbClr val="0F1B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81" name="Text 22">
            <a:extLst>
              <a:ext uri="{FF2B5EF4-FFF2-40B4-BE49-F238E27FC236}">
                <a16:creationId xmlns:a16="http://schemas.microsoft.com/office/drawing/2014/main" id="{F277E8A7-34CD-4361-8920-29A33BBC4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3200400"/>
            <a:ext cx="475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BUT, 핵심 한계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82" name="Text 23">
            <a:extLst>
              <a:ext uri="{FF2B5EF4-FFF2-40B4-BE49-F238E27FC236}">
                <a16:creationId xmlns:a16="http://schemas.microsoft.com/office/drawing/2014/main" id="{E0F52EBF-406A-44A8-9EF5-AA1B8C29E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3703638"/>
            <a:ext cx="503238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01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83" name="Text 24">
            <a:extLst>
              <a:ext uri="{FF2B5EF4-FFF2-40B4-BE49-F238E27FC236}">
                <a16:creationId xmlns:a16="http://schemas.microsoft.com/office/drawing/2014/main" id="{7B53231E-1C05-4DFE-90CB-D053C66B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3703638"/>
            <a:ext cx="4252912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6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직접 해석해야 함</a:t>
            </a:r>
            <a:endParaRPr lang="en-US" altLang="ko-KR" sz="1600">
              <a:latin typeface="Pretendard" panose="02000503000000020004" pitchFamily="50" charset="-127"/>
            </a:endParaRPr>
          </a:p>
        </p:txBody>
      </p:sp>
      <p:sp>
        <p:nvSpPr>
          <p:cNvPr id="15384" name="Text 25">
            <a:extLst>
              <a:ext uri="{FF2B5EF4-FFF2-40B4-BE49-F238E27FC236}">
                <a16:creationId xmlns:a16="http://schemas.microsoft.com/office/drawing/2014/main" id="{3F765F44-64DD-49F1-AD59-429B95454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4068763"/>
            <a:ext cx="425291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리포트를 받아도 데이터를 어떻게 읽어야 할지 점주가 스스로 판단해야 한다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5385" name="Text 26">
            <a:extLst>
              <a:ext uri="{FF2B5EF4-FFF2-40B4-BE49-F238E27FC236}">
                <a16:creationId xmlns:a16="http://schemas.microsoft.com/office/drawing/2014/main" id="{91FAACCE-DB1E-4DF6-B113-EAB307288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4664075"/>
            <a:ext cx="503238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02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86" name="Text 27">
            <a:extLst>
              <a:ext uri="{FF2B5EF4-FFF2-40B4-BE49-F238E27FC236}">
                <a16:creationId xmlns:a16="http://schemas.microsoft.com/office/drawing/2014/main" id="{0498BFEA-E40B-458A-8C74-295BA58B6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4664075"/>
            <a:ext cx="4252912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6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실행 전략이 없음</a:t>
            </a:r>
            <a:endParaRPr lang="en-US" altLang="ko-KR" sz="1600">
              <a:latin typeface="Pretendard" panose="02000503000000020004" pitchFamily="50" charset="-127"/>
            </a:endParaRPr>
          </a:p>
        </p:txBody>
      </p:sp>
      <p:sp>
        <p:nvSpPr>
          <p:cNvPr id="15387" name="Text 28">
            <a:extLst>
              <a:ext uri="{FF2B5EF4-FFF2-40B4-BE49-F238E27FC236}">
                <a16:creationId xmlns:a16="http://schemas.microsoft.com/office/drawing/2014/main" id="{03895BD8-9668-4484-841F-D55332365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5029200"/>
            <a:ext cx="425291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분석 결과와 실제 운영 변화 사이를 연결해주는 단계가 비어 있다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5388" name="Shape 29">
            <a:extLst>
              <a:ext uri="{FF2B5EF4-FFF2-40B4-BE49-F238E27FC236}">
                <a16:creationId xmlns:a16="http://schemas.microsoft.com/office/drawing/2014/main" id="{A01DFA7E-297E-41B5-A8FE-D25C53DE7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5668963"/>
            <a:ext cx="4756150" cy="19050"/>
          </a:xfrm>
          <a:prstGeom prst="rect">
            <a:avLst/>
          </a:prstGeom>
          <a:solidFill>
            <a:srgbClr val="2D3F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89" name="Text 30">
            <a:extLst>
              <a:ext uri="{FF2B5EF4-FFF2-40B4-BE49-F238E27FC236}">
                <a16:creationId xmlns:a16="http://schemas.microsoft.com/office/drawing/2014/main" id="{B3E3B722-77D1-4D71-90F0-77CF9BF0E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5761038"/>
            <a:ext cx="4756150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 i="1">
                <a:solidFill>
                  <a:srgbClr val="FFF4D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→ 결국 점주는 “그래서 뭘 해야 하지?” 라는 자리로 돌아온다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3B97F0D9-0F8B-4969-BA23-CA71FE27C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2003425"/>
            <a:ext cx="5280025" cy="19462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 서울시 상권분석 서비스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0000"/>
              </a:lnSpc>
            </a:pPr>
            <a:endParaRPr kumimoji="1" lang="en-US" altLang="ko-KR" sz="18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서울시 상권분석 서비스는 점포 주변의 상권 위험도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유형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 특성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매출 데이터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유동인구를 분석 리포트 형태로 제공한다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점주가 자신의 매장이 위치한 상권의 현재 상태를 파악할 수 있도록 돕는 정보 제공형 서비스</a:t>
            </a:r>
            <a:endParaRPr kumimoji="1" lang="ko-KR" altLang="en-US" sz="14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E7BD12BF-8081-4579-BEF4-D9D4654C9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3988" y="2003425"/>
            <a:ext cx="5280025" cy="28511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 서비스의 한계</a:t>
            </a:r>
            <a:b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 해석해야 함 리포트에 담긴 수치와 분석을 점주가 스스로 읽고 의미를 파악해야 한다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받았다고 해서 자동으로 답을 알게 되는 것은 아니다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b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실행 전략이 없음 분석 결과가 곧바로 운영 변화로 이어지지 않는다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진단과 실행 사이에 그 매장에 맞는 구체적 행동을 만들어주는 단계가 비어 있다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14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49852620-30D3-408A-919B-8F99A5A7B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5570538"/>
            <a:ext cx="8896350" cy="3476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결국 점주는 리포트를 받고도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그래서 무엇을 해야 하지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?"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질문 앞에 다시 서게 됨</a:t>
            </a:r>
            <a:endParaRPr kumimoji="1" lang="ko-KR" altLang="en-US" sz="18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3">
            <a:extLst>
              <a:ext uri="{FF2B5EF4-FFF2-40B4-BE49-F238E27FC236}">
                <a16:creationId xmlns:a16="http://schemas.microsoft.com/office/drawing/2014/main" id="{BA93510A-7142-431F-91AD-1686ACACD1F0}"/>
              </a:ext>
            </a:extLst>
          </p:cNvPr>
          <p:cNvSpPr/>
          <p:nvPr/>
        </p:nvSpPr>
        <p:spPr>
          <a:xfrm>
            <a:off x="457200" y="914400"/>
            <a:ext cx="1097280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REAL DIAGNOSIS</a:t>
            </a:r>
            <a:endParaRPr lang="en-US" sz="1200" dirty="0">
              <a:latin typeface="Pretendard" panose="02000503000000020004" pitchFamily="50" charset="-127"/>
            </a:endParaRPr>
          </a:p>
        </p:txBody>
      </p:sp>
      <p:sp>
        <p:nvSpPr>
          <p:cNvPr id="16387" name="Text 4">
            <a:extLst>
              <a:ext uri="{FF2B5EF4-FFF2-40B4-BE49-F238E27FC236}">
                <a16:creationId xmlns:a16="http://schemas.microsoft.com/office/drawing/2014/main" id="{F566867C-646C-4885-872A-13EE6400D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109728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문제는</a:t>
            </a:r>
            <a:r>
              <a:rPr lang="en-US" altLang="ko-KR" sz="3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데이터</a:t>
            </a:r>
            <a:r>
              <a:rPr lang="en-US" altLang="ko-KR" sz="3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부족이</a:t>
            </a:r>
            <a:r>
              <a:rPr lang="en-US" altLang="ko-KR" sz="3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아니라</a:t>
            </a:r>
            <a:r>
              <a:rPr lang="en-US" altLang="ko-KR" sz="3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해석</a:t>
            </a:r>
            <a:r>
              <a:rPr lang="en-US" altLang="ko-KR" sz="3200" dirty="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3200" dirty="0" err="1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부족이다</a:t>
            </a:r>
            <a:endParaRPr lang="en-US" altLang="ko-KR" sz="3200" dirty="0">
              <a:latin typeface="Pretendard" panose="02000503000000020004" pitchFamily="50" charset="-127"/>
            </a:endParaRPr>
          </a:p>
        </p:txBody>
      </p:sp>
      <p:sp>
        <p:nvSpPr>
          <p:cNvPr id="16388" name="Shape 5">
            <a:extLst>
              <a:ext uri="{FF2B5EF4-FFF2-40B4-BE49-F238E27FC236}">
                <a16:creationId xmlns:a16="http://schemas.microsoft.com/office/drawing/2014/main" id="{9AF9EE8E-D850-4AA7-BC04-0D2B2E391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3017838"/>
            <a:ext cx="3108325" cy="1828800"/>
          </a:xfrm>
          <a:prstGeom prst="rect">
            <a:avLst/>
          </a:prstGeom>
          <a:solidFill>
            <a:srgbClr val="1E27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389" name="Text 6">
            <a:extLst>
              <a:ext uri="{FF2B5EF4-FFF2-40B4-BE49-F238E27FC236}">
                <a16:creationId xmlns:a16="http://schemas.microsoft.com/office/drawing/2014/main" id="{5B56645C-84A9-4486-B777-D074A6984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32464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FFF4D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현재 가능한 것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390" name="Text 7">
            <a:extLst>
              <a:ext uri="{FF2B5EF4-FFF2-40B4-BE49-F238E27FC236}">
                <a16:creationId xmlns:a16="http://schemas.microsoft.com/office/drawing/2014/main" id="{F9C4917F-E391-440F-8D57-F83631E10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3565525"/>
            <a:ext cx="274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6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데이터</a:t>
            </a:r>
            <a:endParaRPr lang="en-US" altLang="ko-KR" sz="3600">
              <a:latin typeface="Pretendard" panose="02000503000000020004" pitchFamily="50" charset="-127"/>
            </a:endParaRPr>
          </a:p>
        </p:txBody>
      </p:sp>
      <p:sp>
        <p:nvSpPr>
          <p:cNvPr id="16391" name="Text 8">
            <a:extLst>
              <a:ext uri="{FF2B5EF4-FFF2-40B4-BE49-F238E27FC236}">
                <a16:creationId xmlns:a16="http://schemas.microsoft.com/office/drawing/2014/main" id="{691EF5BC-E0D8-47CF-AD11-86F779EE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4251325"/>
            <a:ext cx="2743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공공 상권 분석 데이터</a:t>
            </a:r>
            <a:endParaRPr lang="en-US" altLang="ko-KR" sz="1100">
              <a:latin typeface="Pretendard" panose="02000503000000020004" pitchFamily="50" charset="-127"/>
            </a:endParaRPr>
          </a:p>
          <a:p>
            <a:r>
              <a:rPr lang="en-US" altLang="ko-KR" sz="11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매출 / 유동인구 / 고객 통계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392" name="Text 9">
            <a:extLst>
              <a:ext uri="{FF2B5EF4-FFF2-40B4-BE49-F238E27FC236}">
                <a16:creationId xmlns:a16="http://schemas.microsoft.com/office/drawing/2014/main" id="{4366132B-D920-4F66-A84F-CEEB5C323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0" y="3657600"/>
            <a:ext cx="5937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320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→</a:t>
            </a:r>
            <a:endParaRPr lang="en-US" altLang="ko-KR" sz="3200">
              <a:latin typeface="Pretendard" panose="02000503000000020004" pitchFamily="50" charset="-127"/>
            </a:endParaRPr>
          </a:p>
        </p:txBody>
      </p:sp>
      <p:sp>
        <p:nvSpPr>
          <p:cNvPr id="16393" name="Shape 10">
            <a:extLst>
              <a:ext uri="{FF2B5EF4-FFF2-40B4-BE49-F238E27FC236}">
                <a16:creationId xmlns:a16="http://schemas.microsoft.com/office/drawing/2014/main" id="{3C535AAD-E049-4CD8-A2E6-060550D37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0" y="3017838"/>
            <a:ext cx="3108325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394" name="Text 11">
            <a:extLst>
              <a:ext uri="{FF2B5EF4-FFF2-40B4-BE49-F238E27FC236}">
                <a16:creationId xmlns:a16="http://schemas.microsoft.com/office/drawing/2014/main" id="{1A581D0C-15E8-4269-8C02-F16A179D7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32464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비어있는 영역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395" name="Text 12">
            <a:extLst>
              <a:ext uri="{FF2B5EF4-FFF2-40B4-BE49-F238E27FC236}">
                <a16:creationId xmlns:a16="http://schemas.microsoft.com/office/drawing/2014/main" id="{63E85DD2-FD4D-4575-A9BD-CD20F615A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3565525"/>
            <a:ext cx="274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60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?</a:t>
            </a:r>
            <a:endParaRPr lang="en-US" altLang="ko-KR" sz="3600">
              <a:latin typeface="Pretendard" panose="02000503000000020004" pitchFamily="50" charset="-127"/>
            </a:endParaRPr>
          </a:p>
        </p:txBody>
      </p:sp>
      <p:sp>
        <p:nvSpPr>
          <p:cNvPr id="16396" name="Text 13">
            <a:extLst>
              <a:ext uri="{FF2B5EF4-FFF2-40B4-BE49-F238E27FC236}">
                <a16:creationId xmlns:a16="http://schemas.microsoft.com/office/drawing/2014/main" id="{607D0D02-2581-4428-8BED-3BAFF5DEA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4251325"/>
            <a:ext cx="2743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감각과 데이터를 잇는</a:t>
            </a:r>
            <a:endParaRPr lang="en-US" altLang="ko-KR" sz="1100">
              <a:latin typeface="Pretendard" panose="02000503000000020004" pitchFamily="50" charset="-127"/>
            </a:endParaRPr>
          </a:p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해석 레이어가 없다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397" name="Text 14">
            <a:extLst>
              <a:ext uri="{FF2B5EF4-FFF2-40B4-BE49-F238E27FC236}">
                <a16:creationId xmlns:a16="http://schemas.microsoft.com/office/drawing/2014/main" id="{DA625948-BCCC-4E0A-9850-19DDA2A3B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657600"/>
            <a:ext cx="5937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320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→</a:t>
            </a:r>
            <a:endParaRPr lang="en-US" altLang="ko-KR" sz="3200">
              <a:latin typeface="Pretendard" panose="02000503000000020004" pitchFamily="50" charset="-127"/>
            </a:endParaRPr>
          </a:p>
        </p:txBody>
      </p:sp>
      <p:sp>
        <p:nvSpPr>
          <p:cNvPr id="16398" name="Shape 15">
            <a:extLst>
              <a:ext uri="{FF2B5EF4-FFF2-40B4-BE49-F238E27FC236}">
                <a16:creationId xmlns:a16="http://schemas.microsoft.com/office/drawing/2014/main" id="{E6D98F8D-F3F0-49CE-8616-4FAA6CC80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6450" y="3017838"/>
            <a:ext cx="3108325" cy="1828800"/>
          </a:xfrm>
          <a:prstGeom prst="rect">
            <a:avLst/>
          </a:prstGeom>
          <a:solidFill>
            <a:srgbClr val="0596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399" name="Text 16">
            <a:extLst>
              <a:ext uri="{FF2B5EF4-FFF2-40B4-BE49-F238E27FC236}">
                <a16:creationId xmlns:a16="http://schemas.microsoft.com/office/drawing/2014/main" id="{6B063CBC-924A-47EE-8C45-D6ACDFE8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9013" y="32464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FFF4D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점주가 원하는 것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400" name="Text 17">
            <a:extLst>
              <a:ext uri="{FF2B5EF4-FFF2-40B4-BE49-F238E27FC236}">
                <a16:creationId xmlns:a16="http://schemas.microsoft.com/office/drawing/2014/main" id="{F40780DF-809A-4489-8A92-AB5B66624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9013" y="3565525"/>
            <a:ext cx="274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6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실행</a:t>
            </a:r>
            <a:endParaRPr lang="en-US" altLang="ko-KR" sz="3600">
              <a:latin typeface="Pretendard" panose="02000503000000020004" pitchFamily="50" charset="-127"/>
            </a:endParaRPr>
          </a:p>
        </p:txBody>
      </p:sp>
      <p:sp>
        <p:nvSpPr>
          <p:cNvPr id="16401" name="Text 18">
            <a:extLst>
              <a:ext uri="{FF2B5EF4-FFF2-40B4-BE49-F238E27FC236}">
                <a16:creationId xmlns:a16="http://schemas.microsoft.com/office/drawing/2014/main" id="{EEB61FCF-423F-4E3E-A1E2-2B516A65B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9013" y="4251325"/>
            <a:ext cx="2743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구체적으로 무엇을</a:t>
            </a:r>
            <a:endParaRPr lang="en-US" altLang="ko-KR" sz="1100">
              <a:latin typeface="Pretendard" panose="02000503000000020004" pitchFamily="50" charset="-127"/>
            </a:endParaRPr>
          </a:p>
          <a:p>
            <a:r>
              <a:rPr lang="en-US" altLang="ko-KR" sz="11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어떻게 바꿀지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402" name="Shape 19">
            <a:extLst>
              <a:ext uri="{FF2B5EF4-FFF2-40B4-BE49-F238E27FC236}">
                <a16:creationId xmlns:a16="http://schemas.microsoft.com/office/drawing/2014/main" id="{93C15540-65B5-468A-A5E4-A51EF241B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349875"/>
            <a:ext cx="11274425" cy="914400"/>
          </a:xfrm>
          <a:prstGeom prst="rect">
            <a:avLst/>
          </a:prstGeom>
          <a:solidFill>
            <a:srgbClr val="FFF4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403" name="Shape 20">
            <a:extLst>
              <a:ext uri="{FF2B5EF4-FFF2-40B4-BE49-F238E27FC236}">
                <a16:creationId xmlns:a16="http://schemas.microsoft.com/office/drawing/2014/main" id="{A9F5003A-60A4-4C82-BC09-F2B3F6E45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349875"/>
            <a:ext cx="73025" cy="914400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A6FF91ED-7A17-4286-ABC9-16D5082496F7}"/>
              </a:ext>
            </a:extLst>
          </p:cNvPr>
          <p:cNvSpPr/>
          <p:nvPr/>
        </p:nvSpPr>
        <p:spPr>
          <a:xfrm>
            <a:off x="731838" y="5440363"/>
            <a:ext cx="182880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INSIGHT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6405" name="Text 22">
            <a:extLst>
              <a:ext uri="{FF2B5EF4-FFF2-40B4-BE49-F238E27FC236}">
                <a16:creationId xmlns:a16="http://schemas.microsoft.com/office/drawing/2014/main" id="{D664B8F0-4656-4D18-A9D2-CF45F5947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5715000"/>
            <a:ext cx="1097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5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점주는 데이터가 없어서 못하는 게 아니다. 데이터를 자기 매장 맥락으로 번역해줄 사람이 없을 뿐이다.</a:t>
            </a:r>
            <a:endParaRPr lang="en-US" altLang="ko-KR" sz="1500">
              <a:latin typeface="Pretendard" panose="02000503000000020004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96F2748-9012-441C-8B3B-97F8A52ED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87755"/>
              </p:ext>
            </p:extLst>
          </p:nvPr>
        </p:nvGraphicFramePr>
        <p:xfrm>
          <a:off x="589119" y="2057400"/>
          <a:ext cx="10515600" cy="1371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212543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951230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2484560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현재 가능한 것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비어있는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영역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점주가 원하는 것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37097"/>
                  </a:ext>
                </a:extLst>
              </a:tr>
              <a:tr h="0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???</a:t>
                      </a:r>
                      <a:r>
                        <a:rPr kumimoji="0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0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0" lang="ko-KR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비어있음을</a:t>
                      </a:r>
                      <a:r>
                        <a:rPr kumimoji="0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의미</a:t>
                      </a:r>
                      <a:r>
                        <a:rPr kumimoji="0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실행</a:t>
                      </a: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765209"/>
                  </a:ext>
                </a:extLst>
              </a:tr>
              <a:tr h="0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공공 상권 분석 데이터</a:t>
                      </a:r>
                      <a:b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매출 </a:t>
                      </a: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유동인구 </a:t>
                      </a: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통계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감각과 데이터를 잇는</a:t>
                      </a:r>
                      <a:b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해석 레이어가 없다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구체적으로 무엇을</a:t>
                      </a:r>
                      <a:b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어떻게 바꿀지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958644"/>
                  </a:ext>
                </a:extLst>
              </a:tr>
            </a:tbl>
          </a:graphicData>
        </a:graphic>
      </p:graphicFrame>
      <p:sp>
        <p:nvSpPr>
          <p:cNvPr id="23" name="TextBox 5">
            <a:extLst>
              <a:ext uri="{FF2B5EF4-FFF2-40B4-BE49-F238E27FC236}">
                <a16:creationId xmlns:a16="http://schemas.microsoft.com/office/drawing/2014/main" id="{33E4F747-AC1D-4C1A-B274-B056B9DFE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8069" y="4267200"/>
            <a:ext cx="6997700" cy="1477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지금까지 점주에게 부족했던 것은 데이터가 아님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 데이터와 통계는 이미 충분히 공개되어 있음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정작 비어 있는 것은 그 데이터를 자기 매장의 맥락으로 번역해주는 단계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감각적 고민을 구조적 문제로 바꿔주는 해석 레이어</a:t>
            </a:r>
            <a:b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점주는 데이터가 없어서 못 움직이는 것이 아니다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데이터를 자기 매장 맥락으로 읽어줄 도구가 없을 뿐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3">
            <a:extLst>
              <a:ext uri="{FF2B5EF4-FFF2-40B4-BE49-F238E27FC236}">
                <a16:creationId xmlns:a16="http://schemas.microsoft.com/office/drawing/2014/main" id="{C43B3082-0FF5-4D55-9421-3F43F69480D8}"/>
              </a:ext>
            </a:extLst>
          </p:cNvPr>
          <p:cNvSpPr/>
          <p:nvPr/>
        </p:nvSpPr>
        <p:spPr>
          <a:xfrm>
            <a:off x="457200" y="1096963"/>
            <a:ext cx="1097280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OUR SERVICE</a:t>
            </a:r>
            <a:endParaRPr lang="en-US" sz="1200" dirty="0">
              <a:latin typeface="Pretendard" panose="02000503000000020004" pitchFamily="50" charset="-127"/>
            </a:endParaRPr>
          </a:p>
        </p:txBody>
      </p:sp>
      <p:sp>
        <p:nvSpPr>
          <p:cNvPr id="17411" name="Text 4">
            <a:extLst>
              <a:ext uri="{FF2B5EF4-FFF2-40B4-BE49-F238E27FC236}">
                <a16:creationId xmlns:a16="http://schemas.microsoft.com/office/drawing/2014/main" id="{306FA5AA-B6A6-4BFD-869C-82CF06E4B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63675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6000">
                <a:latin typeface="Pretendard" panose="02000503000000020004" pitchFamily="50" charset="-127"/>
                <a:ea typeface="Pretendard" panose="02000503000000020004" pitchFamily="50" charset="-127"/>
              </a:rPr>
              <a:t>상권더하기</a:t>
            </a:r>
            <a:endParaRPr lang="en-US" altLang="ko-KR" sz="6000">
              <a:latin typeface="Pretendard" panose="02000503000000020004" pitchFamily="50" charset="-127"/>
            </a:endParaRPr>
          </a:p>
        </p:txBody>
      </p:sp>
      <p:sp>
        <p:nvSpPr>
          <p:cNvPr id="17412" name="Text 5">
            <a:extLst>
              <a:ext uri="{FF2B5EF4-FFF2-40B4-BE49-F238E27FC236}">
                <a16:creationId xmlns:a16="http://schemas.microsoft.com/office/drawing/2014/main" id="{47C134AE-0C38-4BFE-88F8-45E11D537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97163"/>
            <a:ext cx="1127442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 입력</a:t>
            </a:r>
            <a:r>
              <a:rPr lang="en-US" altLang="ko-KR" sz="2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20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en-US" altLang="ko-KR" sz="2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공공 데이터</a:t>
            </a:r>
            <a:r>
              <a:rPr lang="en-US" altLang="ko-KR" sz="2200">
                <a:latin typeface="Pretendard" panose="02000503000000020004" pitchFamily="50" charset="-127"/>
                <a:ea typeface="Pretendard" panose="02000503000000020004" pitchFamily="50" charset="-127"/>
              </a:rPr>
              <a:t>를 결합하여,</a:t>
            </a:r>
            <a:r>
              <a:rPr lang="en-US" altLang="ko-KR" sz="2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
</a:t>
            </a:r>
            <a:r>
              <a:rPr lang="en-US" altLang="ko-KR" sz="2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LLM 멀티에이전트</a:t>
            </a:r>
            <a:r>
              <a:rPr lang="en-US" altLang="ko-KR" sz="2200">
                <a:latin typeface="Pretendard" panose="02000503000000020004" pitchFamily="50" charset="-127"/>
                <a:ea typeface="Pretendard" panose="02000503000000020004" pitchFamily="50" charset="-127"/>
              </a:rPr>
              <a:t>로 구조적 해석을 거쳐,</a:t>
            </a:r>
            <a:r>
              <a:rPr lang="en-US" altLang="ko-KR" sz="2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
</a:t>
            </a:r>
            <a:r>
              <a:rPr lang="en-US" altLang="ko-KR" sz="2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실행 가능한 운영 솔루션</a:t>
            </a:r>
            <a:r>
              <a:rPr lang="en-US" altLang="ko-KR" sz="2200">
                <a:latin typeface="Pretendard" panose="02000503000000020004" pitchFamily="50" charset="-127"/>
                <a:ea typeface="Pretendard" panose="02000503000000020004" pitchFamily="50" charset="-127"/>
              </a:rPr>
              <a:t>을 제공하는 서비스</a:t>
            </a:r>
            <a:endParaRPr lang="en-US" altLang="ko-KR" sz="2200">
              <a:latin typeface="Pretendard" panose="02000503000000020004" pitchFamily="50" charset="-127"/>
            </a:endParaRPr>
          </a:p>
        </p:txBody>
      </p:sp>
      <p:sp>
        <p:nvSpPr>
          <p:cNvPr id="17413" name="Shape 6">
            <a:extLst>
              <a:ext uri="{FF2B5EF4-FFF2-40B4-BE49-F238E27FC236}">
                <a16:creationId xmlns:a16="http://schemas.microsoft.com/office/drawing/2014/main" id="{972789F2-F47B-43B1-8288-1E53270B9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4297363"/>
            <a:ext cx="3657600" cy="2011362"/>
          </a:xfrm>
          <a:prstGeom prst="rect">
            <a:avLst/>
          </a:prstGeom>
          <a:solidFill>
            <a:srgbClr val="1A2854"/>
          </a:solidFill>
          <a:ln w="9525">
            <a:solidFill>
              <a:srgbClr val="2D3F75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7414" name="Shape 7">
            <a:extLst>
              <a:ext uri="{FF2B5EF4-FFF2-40B4-BE49-F238E27FC236}">
                <a16:creationId xmlns:a16="http://schemas.microsoft.com/office/drawing/2014/main" id="{FEC39F6F-0DD8-4FC7-B6D6-CECCBA38D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4297363"/>
            <a:ext cx="53975" cy="2011362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DD5CB010-85BC-44CC-8E36-448249CD17A3}"/>
              </a:ext>
            </a:extLst>
          </p:cNvPr>
          <p:cNvSpPr/>
          <p:nvPr/>
        </p:nvSpPr>
        <p:spPr>
          <a:xfrm>
            <a:off x="690563" y="4479925"/>
            <a:ext cx="3290887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INPUT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7416" name="Text 9">
            <a:extLst>
              <a:ext uri="{FF2B5EF4-FFF2-40B4-BE49-F238E27FC236}">
                <a16:creationId xmlns:a16="http://schemas.microsoft.com/office/drawing/2014/main" id="{819E01CB-C18D-458E-8188-9B43608C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4800600"/>
            <a:ext cx="3290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0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 + 공공</a:t>
            </a:r>
            <a:endParaRPr lang="en-US" altLang="ko-KR" sz="2000">
              <a:latin typeface="Pretendard" panose="02000503000000020004" pitchFamily="50" charset="-127"/>
            </a:endParaRPr>
          </a:p>
        </p:txBody>
      </p:sp>
      <p:sp>
        <p:nvSpPr>
          <p:cNvPr id="17417" name="Text 10">
            <a:extLst>
              <a:ext uri="{FF2B5EF4-FFF2-40B4-BE49-F238E27FC236}">
                <a16:creationId xmlns:a16="http://schemas.microsoft.com/office/drawing/2014/main" id="{457DF5A5-F218-42AC-867C-0AE112201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5303838"/>
            <a:ext cx="3290887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상호명 · 구/동 · 업종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운영시간 · 대표상품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매장 분위기 · 고민사항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주요 고객층 + 공공데이터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7418" name="Shape 11">
            <a:extLst>
              <a:ext uri="{FF2B5EF4-FFF2-40B4-BE49-F238E27FC236}">
                <a16:creationId xmlns:a16="http://schemas.microsoft.com/office/drawing/2014/main" id="{CA5A01E8-0FCC-4273-A1E1-5C0775C12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4297363"/>
            <a:ext cx="3657600" cy="2011362"/>
          </a:xfrm>
          <a:prstGeom prst="rect">
            <a:avLst/>
          </a:prstGeom>
          <a:solidFill>
            <a:srgbClr val="1A2854"/>
          </a:solidFill>
          <a:ln w="9525">
            <a:solidFill>
              <a:srgbClr val="2D3F75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7419" name="Shape 12">
            <a:extLst>
              <a:ext uri="{FF2B5EF4-FFF2-40B4-BE49-F238E27FC236}">
                <a16:creationId xmlns:a16="http://schemas.microsoft.com/office/drawing/2014/main" id="{ACB06B16-26E6-4A7E-B9EA-6D4FFDE52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4297363"/>
            <a:ext cx="55562" cy="2011362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E276B395-58CB-4356-A751-9EF8F5333D0A}"/>
              </a:ext>
            </a:extLst>
          </p:cNvPr>
          <p:cNvSpPr/>
          <p:nvPr/>
        </p:nvSpPr>
        <p:spPr>
          <a:xfrm>
            <a:off x="4494213" y="4479925"/>
            <a:ext cx="3292475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PROCESS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7421" name="Text 14">
            <a:extLst>
              <a:ext uri="{FF2B5EF4-FFF2-40B4-BE49-F238E27FC236}">
                <a16:creationId xmlns:a16="http://schemas.microsoft.com/office/drawing/2014/main" id="{A6514CAD-6CE7-4D56-A640-BF488DCF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4800600"/>
            <a:ext cx="329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0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구조적 해석</a:t>
            </a:r>
            <a:endParaRPr lang="en-US" altLang="ko-KR" sz="2000">
              <a:latin typeface="Pretendard" panose="02000503000000020004" pitchFamily="50" charset="-127"/>
            </a:endParaRPr>
          </a:p>
        </p:txBody>
      </p:sp>
      <p:sp>
        <p:nvSpPr>
          <p:cNvPr id="17422" name="Text 15">
            <a:extLst>
              <a:ext uri="{FF2B5EF4-FFF2-40B4-BE49-F238E27FC236}">
                <a16:creationId xmlns:a16="http://schemas.microsoft.com/office/drawing/2014/main" id="{2365864B-6E39-403A-8575-97B84DEE2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5303838"/>
            <a:ext cx="3292475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LLM 멀티에이전트가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맥락 · 운영 특성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고객 특성 · 불안 포인트를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다각도로 해석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7423" name="Shape 16">
            <a:extLst>
              <a:ext uri="{FF2B5EF4-FFF2-40B4-BE49-F238E27FC236}">
                <a16:creationId xmlns:a16="http://schemas.microsoft.com/office/drawing/2014/main" id="{C3F633FC-514A-4311-AC29-41AC436AA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4297363"/>
            <a:ext cx="3657600" cy="2011362"/>
          </a:xfrm>
          <a:prstGeom prst="rect">
            <a:avLst/>
          </a:prstGeom>
          <a:solidFill>
            <a:srgbClr val="1A2854"/>
          </a:solidFill>
          <a:ln w="9525">
            <a:solidFill>
              <a:srgbClr val="2D3F75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7424" name="Shape 17">
            <a:extLst>
              <a:ext uri="{FF2B5EF4-FFF2-40B4-BE49-F238E27FC236}">
                <a16:creationId xmlns:a16="http://schemas.microsoft.com/office/drawing/2014/main" id="{3CC68AC1-F7D4-470C-BAEC-A1A80A103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4297363"/>
            <a:ext cx="55562" cy="2011362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595A85C1-7029-48AB-86B0-CFB32B68D677}"/>
              </a:ext>
            </a:extLst>
          </p:cNvPr>
          <p:cNvSpPr/>
          <p:nvPr/>
        </p:nvSpPr>
        <p:spPr>
          <a:xfrm>
            <a:off x="8297863" y="4479925"/>
            <a:ext cx="3292475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OUTPUT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7426" name="Text 19">
            <a:extLst>
              <a:ext uri="{FF2B5EF4-FFF2-40B4-BE49-F238E27FC236}">
                <a16:creationId xmlns:a16="http://schemas.microsoft.com/office/drawing/2014/main" id="{8CB32D6C-089B-4A03-8428-5F72B308D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863" y="4800600"/>
            <a:ext cx="329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0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운영 솔루션</a:t>
            </a:r>
            <a:endParaRPr lang="en-US" altLang="ko-KR" sz="2000">
              <a:latin typeface="Pretendard" panose="02000503000000020004" pitchFamily="50" charset="-127"/>
            </a:endParaRPr>
          </a:p>
        </p:txBody>
      </p:sp>
      <p:sp>
        <p:nvSpPr>
          <p:cNvPr id="17427" name="Text 20">
            <a:extLst>
              <a:ext uri="{FF2B5EF4-FFF2-40B4-BE49-F238E27FC236}">
                <a16:creationId xmlns:a16="http://schemas.microsoft.com/office/drawing/2014/main" id="{5EE2F9EB-8BF3-488C-891F-AD0B029B6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863" y="5303838"/>
            <a:ext cx="3292475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시간대 운영 전략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단골 전환 구조 강화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진열·동선 개선 등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매장별 맞춤 액션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7428" name="Text 21">
            <a:extLst>
              <a:ext uri="{FF2B5EF4-FFF2-40B4-BE49-F238E27FC236}">
                <a16:creationId xmlns:a16="http://schemas.microsoft.com/office/drawing/2014/main" id="{87A7CD02-347B-4757-96C5-CB35AE15D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446838"/>
            <a:ext cx="112744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300" i="1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“감각적 고민을  →  구조적 문제로  →  실행 솔루션으로”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551482D3-93CA-4ADC-8792-BAD854AF5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3994" y="-21431"/>
            <a:ext cx="8248650" cy="443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*점주가 입력한 매장 운영 데이터와 공공 상권 데이터를 결합하여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LLM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기반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멀티에이전트가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매장의 상황을 구조적으로 해석하고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실행 가능한 운영 솔루션까지 제안하는 서비스</a:t>
            </a:r>
            <a:b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ko-KR" altLang="en-US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**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구성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INPUT 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—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점주 입력 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공공데이터 점주는 상호명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업종 카테고리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운영시간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 상품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매장 분위기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고민사항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고객층 등 매장의 운영 상태를 입력한다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입력은 단순한 소개 정보가 아니라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매장이 현재 어떤 구조로 운영되고 있는지를 보여주는 신호가 된다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여기에 공공 상권 데이터가 결합</a:t>
            </a:r>
            <a:b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PROCESS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—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구조적 해석 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LLM </a:t>
            </a:r>
            <a:r>
              <a:rPr lang="ko-KR" altLang="en-US" sz="1600" b="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멀티에이전트가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상권 맥락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 특성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특성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점주가 직접 느끼는 불안 포인트를 다각도로 읽어낸다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업종만 보고 획일적인 답을 주는 것이 아니라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매장 고유의 상황을 입체적으로 해석</a:t>
            </a:r>
            <a:b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OUTPUT 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—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 솔루션 진단에서 끝나지 않는다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시간대별 운영 전략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단골 전환 구조 강화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진열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동선 개선처럼 매장 상황에 맞는 구체적 액션을 솔루션 형태로 제공</a:t>
            </a:r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감각적 고민을 → 구조적 문제로 → 실행 솔루션으로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3">
            <a:extLst>
              <a:ext uri="{FF2B5EF4-FFF2-40B4-BE49-F238E27FC236}">
                <a16:creationId xmlns:a16="http://schemas.microsoft.com/office/drawing/2014/main" id="{BAC0D905-3E53-468E-8010-A1A7AF9D384B}"/>
              </a:ext>
            </a:extLst>
          </p:cNvPr>
          <p:cNvSpPr/>
          <p:nvPr/>
        </p:nvSpPr>
        <p:spPr>
          <a:xfrm>
            <a:off x="457200" y="914400"/>
            <a:ext cx="1097280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OUR APPROACH</a:t>
            </a:r>
            <a:endParaRPr lang="en-US" sz="1200" dirty="0">
              <a:latin typeface="Pretendard" panose="02000503000000020004" pitchFamily="50" charset="-127"/>
            </a:endParaRPr>
          </a:p>
        </p:txBody>
      </p:sp>
      <p:sp>
        <p:nvSpPr>
          <p:cNvPr id="18435" name="Text 4">
            <a:extLst>
              <a:ext uri="{FF2B5EF4-FFF2-40B4-BE49-F238E27FC236}">
                <a16:creationId xmlns:a16="http://schemas.microsoft.com/office/drawing/2014/main" id="{BE999282-09D7-43E4-8316-A96072148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109728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분석을 운영 의사결정으로 전환한다</a:t>
            </a:r>
            <a:endParaRPr lang="en-US" altLang="ko-KR" sz="3200">
              <a:latin typeface="Pretendard" panose="02000503000000020004" pitchFamily="50" charset="-127"/>
            </a:endParaRPr>
          </a:p>
        </p:txBody>
      </p:sp>
      <p:sp>
        <p:nvSpPr>
          <p:cNvPr id="18436" name="Shape 5">
            <a:extLst>
              <a:ext uri="{FF2B5EF4-FFF2-40B4-BE49-F238E27FC236}">
                <a16:creationId xmlns:a16="http://schemas.microsoft.com/office/drawing/2014/main" id="{5672849E-770D-4B7B-8F9B-FF046EDE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97163"/>
            <a:ext cx="5349875" cy="182880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37" name="Shape 6">
            <a:extLst>
              <a:ext uri="{FF2B5EF4-FFF2-40B4-BE49-F238E27FC236}">
                <a16:creationId xmlns:a16="http://schemas.microsoft.com/office/drawing/2014/main" id="{87E2CF4C-6D76-4659-8EE1-F2A153691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2971800"/>
            <a:ext cx="503237" cy="503238"/>
          </a:xfrm>
          <a:prstGeom prst="ellipse">
            <a:avLst/>
          </a:prstGeom>
          <a:solidFill>
            <a:srgbClr val="1E27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38" name="Text 7">
            <a:extLst>
              <a:ext uri="{FF2B5EF4-FFF2-40B4-BE49-F238E27FC236}">
                <a16:creationId xmlns:a16="http://schemas.microsoft.com/office/drawing/2014/main" id="{34CFE2E6-221C-4503-8979-452AB9118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2971800"/>
            <a:ext cx="50323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2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</a:t>
            </a:r>
            <a:endParaRPr lang="en-US" altLang="ko-KR" sz="2200">
              <a:latin typeface="Pretendard" panose="02000503000000020004" pitchFamily="50" charset="-127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27D4C76-EF0F-48C8-A420-8350993151D3}"/>
              </a:ext>
            </a:extLst>
          </p:cNvPr>
          <p:cNvSpPr/>
          <p:nvPr/>
        </p:nvSpPr>
        <p:spPr>
          <a:xfrm>
            <a:off x="1371600" y="2925763"/>
            <a:ext cx="274320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01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8440" name="Text 9">
            <a:extLst>
              <a:ext uri="{FF2B5EF4-FFF2-40B4-BE49-F238E27FC236}">
                <a16:creationId xmlns:a16="http://schemas.microsoft.com/office/drawing/2014/main" id="{6508D0FD-545C-4B00-A4BF-8D96D6C3C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154363"/>
            <a:ext cx="4251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8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데이터 → 문제 구조화</a:t>
            </a:r>
            <a:endParaRPr lang="en-US" altLang="ko-KR" sz="1800">
              <a:latin typeface="Pretendard" panose="02000503000000020004" pitchFamily="50" charset="-127"/>
            </a:endParaRPr>
          </a:p>
        </p:txBody>
      </p:sp>
      <p:sp>
        <p:nvSpPr>
          <p:cNvPr id="18441" name="Text 10">
            <a:extLst>
              <a:ext uri="{FF2B5EF4-FFF2-40B4-BE49-F238E27FC236}">
                <a16:creationId xmlns:a16="http://schemas.microsoft.com/office/drawing/2014/main" id="{46C6F1AB-78D3-4FF9-BA3B-B79F7DD50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611563"/>
            <a:ext cx="461803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94A3B8"/>
                </a:solidFill>
                <a:latin typeface="Pretendard" panose="02000503000000020004" pitchFamily="50" charset="-127"/>
              </a:rPr>
              <a:t>막연한 고민</a:t>
            </a:r>
            <a:endParaRPr lang="en-US" altLang="ko-KR">
              <a:latin typeface="Pretendard" panose="02000503000000020004" pitchFamily="50" charset="-127"/>
            </a:endParaRPr>
          </a:p>
          <a:p>
            <a:r>
              <a:rPr lang="en-US" altLang="ko-KR" sz="1200" i="1">
                <a:solidFill>
                  <a:srgbClr val="4A5568"/>
                </a:solidFill>
                <a:latin typeface="Pretendard" panose="02000503000000020004" pitchFamily="50" charset="-127"/>
              </a:rPr>
              <a:t>"손님이 적다 / 매출이 약하다"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42" name="Text 11">
            <a:extLst>
              <a:ext uri="{FF2B5EF4-FFF2-40B4-BE49-F238E27FC236}">
                <a16:creationId xmlns:a16="http://schemas.microsoft.com/office/drawing/2014/main" id="{791EFE28-E61E-4DB7-AC64-0D1D30037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995738"/>
            <a:ext cx="46180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↓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43" name="Text 12">
            <a:extLst>
              <a:ext uri="{FF2B5EF4-FFF2-40B4-BE49-F238E27FC236}">
                <a16:creationId xmlns:a16="http://schemas.microsoft.com/office/drawing/2014/main" id="{F40B83EF-53F1-4357-9425-890CBF811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114800"/>
            <a:ext cx="4618038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1E2761"/>
                </a:solidFill>
                <a:latin typeface="Pretendard" panose="02000503000000020004" pitchFamily="50" charset="-127"/>
              </a:rPr>
              <a:t>구조적 진단</a:t>
            </a:r>
            <a:endParaRPr lang="en-US" altLang="ko-KR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1A1A2E"/>
                </a:solidFill>
                <a:latin typeface="Pretendard" panose="02000503000000020004" pitchFamily="50" charset="-127"/>
              </a:rPr>
              <a:t>시간대 매출 붕괴 / 단골 전환 실패 / 객단가 저하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44" name="Shape 13">
            <a:extLst>
              <a:ext uri="{FF2B5EF4-FFF2-40B4-BE49-F238E27FC236}">
                <a16:creationId xmlns:a16="http://schemas.microsoft.com/office/drawing/2014/main" id="{DD774C2D-9959-4A73-AEA8-E28413151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2697163"/>
            <a:ext cx="5348287" cy="1828800"/>
          </a:xfrm>
          <a:prstGeom prst="rect">
            <a:avLst/>
          </a:prstGeom>
          <a:solidFill>
            <a:srgbClr val="1E27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45" name="Shape 14">
            <a:extLst>
              <a:ext uri="{FF2B5EF4-FFF2-40B4-BE49-F238E27FC236}">
                <a16:creationId xmlns:a16="http://schemas.microsoft.com/office/drawing/2014/main" id="{4D2DC347-B4DA-4DAC-9249-67FB3AD67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2971800"/>
            <a:ext cx="501650" cy="503238"/>
          </a:xfrm>
          <a:prstGeom prst="ellipse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46" name="Text 15">
            <a:extLst>
              <a:ext uri="{FF2B5EF4-FFF2-40B4-BE49-F238E27FC236}">
                <a16:creationId xmlns:a16="http://schemas.microsoft.com/office/drawing/2014/main" id="{E80D6C8A-4FCE-4E9E-9479-6AAC4C5FB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2971800"/>
            <a:ext cx="5016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2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2</a:t>
            </a:r>
            <a:endParaRPr lang="en-US" altLang="ko-KR" sz="2200">
              <a:latin typeface="Pretendard" panose="02000503000000020004" pitchFamily="50" charset="-127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A0C2BF83-46CB-4E8C-B4C5-3F7FE1476939}"/>
              </a:ext>
            </a:extLst>
          </p:cNvPr>
          <p:cNvSpPr/>
          <p:nvPr/>
        </p:nvSpPr>
        <p:spPr>
          <a:xfrm>
            <a:off x="7132638" y="2925763"/>
            <a:ext cx="274320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02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8448" name="Text 17">
            <a:extLst>
              <a:ext uri="{FF2B5EF4-FFF2-40B4-BE49-F238E27FC236}">
                <a16:creationId xmlns:a16="http://schemas.microsoft.com/office/drawing/2014/main" id="{226076DD-23A2-4F73-8F32-B7679893C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638" y="3154363"/>
            <a:ext cx="4251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8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문제 → 실행 전략</a:t>
            </a:r>
            <a:endParaRPr lang="en-US" altLang="ko-KR" sz="1800">
              <a:latin typeface="Pretendard" panose="02000503000000020004" pitchFamily="50" charset="-127"/>
            </a:endParaRPr>
          </a:p>
        </p:txBody>
      </p:sp>
      <p:sp>
        <p:nvSpPr>
          <p:cNvPr id="18449" name="Text 18">
            <a:extLst>
              <a:ext uri="{FF2B5EF4-FFF2-40B4-BE49-F238E27FC236}">
                <a16:creationId xmlns:a16="http://schemas.microsoft.com/office/drawing/2014/main" id="{688D5FF8-4E0B-4B65-84D0-1CC7863CD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3611563"/>
            <a:ext cx="461803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94A3B8"/>
                </a:solidFill>
                <a:latin typeface="Pretendard" panose="02000503000000020004" pitchFamily="50" charset="-127"/>
              </a:rPr>
              <a:t>구조적 진단</a:t>
            </a:r>
            <a:endParaRPr lang="en-US" altLang="ko-KR">
              <a:latin typeface="Pretendard" panose="02000503000000020004" pitchFamily="50" charset="-127"/>
            </a:endParaRPr>
          </a:p>
          <a:p>
            <a:r>
              <a:rPr lang="en-US" altLang="ko-KR" sz="1200" i="1">
                <a:solidFill>
                  <a:srgbClr val="CBD5E1"/>
                </a:solidFill>
                <a:latin typeface="Pretendard" panose="02000503000000020004" pitchFamily="50" charset="-127"/>
              </a:rPr>
              <a:t>"시간대 매출 붕괴 / 단골 전환 실패"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50" name="Text 19">
            <a:extLst>
              <a:ext uri="{FF2B5EF4-FFF2-40B4-BE49-F238E27FC236}">
                <a16:creationId xmlns:a16="http://schemas.microsoft.com/office/drawing/2014/main" id="{F576A031-74B4-47C8-AE4A-41B655478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3995738"/>
            <a:ext cx="46180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↓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51" name="Text 20">
            <a:extLst>
              <a:ext uri="{FF2B5EF4-FFF2-40B4-BE49-F238E27FC236}">
                <a16:creationId xmlns:a16="http://schemas.microsoft.com/office/drawing/2014/main" id="{131D805B-43F2-4C88-AEDF-CFE9FF64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4114800"/>
            <a:ext cx="4618037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F4B942"/>
                </a:solidFill>
                <a:latin typeface="Pretendard" panose="02000503000000020004" pitchFamily="50" charset="-127"/>
              </a:rPr>
              <a:t>실행 액션</a:t>
            </a:r>
            <a:endParaRPr lang="en-US" altLang="ko-KR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FFFFFF"/>
                </a:solidFill>
                <a:latin typeface="Pretendard" panose="02000503000000020004" pitchFamily="50" charset="-127"/>
              </a:rPr>
              <a:t>시간대 운영 분리 / 단골 전환 구조 / 동선 개선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52" name="Text 21">
            <a:extLst>
              <a:ext uri="{FF2B5EF4-FFF2-40B4-BE49-F238E27FC236}">
                <a16:creationId xmlns:a16="http://schemas.microsoft.com/office/drawing/2014/main" id="{26EE5A35-4276-4F02-9BAA-38856CE21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708525"/>
            <a:ext cx="11274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같은 카페, 다른 유형 → 다른 솔루션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53" name="Shape 22">
            <a:extLst>
              <a:ext uri="{FF2B5EF4-FFF2-40B4-BE49-F238E27FC236}">
                <a16:creationId xmlns:a16="http://schemas.microsoft.com/office/drawing/2014/main" id="{FC14FA56-D55B-42F4-92CC-D4C31CE83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29200"/>
            <a:ext cx="5486400" cy="1692275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54" name="Shape 23">
            <a:extLst>
              <a:ext uri="{FF2B5EF4-FFF2-40B4-BE49-F238E27FC236}">
                <a16:creationId xmlns:a16="http://schemas.microsoft.com/office/drawing/2014/main" id="{4FFC33DE-69AB-4B81-8954-CFB61FC91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29200"/>
            <a:ext cx="55563" cy="1692275"/>
          </a:xfrm>
          <a:prstGeom prst="rect">
            <a:avLst/>
          </a:prstGeom>
          <a:solidFill>
            <a:srgbClr val="1E27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EEC4DA3E-CF93-42A6-9659-EBE605F8FE12}"/>
              </a:ext>
            </a:extLst>
          </p:cNvPr>
          <p:cNvSpPr/>
          <p:nvPr/>
        </p:nvSpPr>
        <p:spPr>
          <a:xfrm>
            <a:off x="685800" y="5194300"/>
            <a:ext cx="1646238" cy="411163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400" kern="0" spc="200" dirty="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DUTM</a:t>
            </a:r>
            <a:endParaRPr lang="en-US" sz="2400" dirty="0">
              <a:latin typeface="Pretendard" panose="02000503000000020004" pitchFamily="50" charset="-127"/>
            </a:endParaRPr>
          </a:p>
        </p:txBody>
      </p:sp>
      <p:sp>
        <p:nvSpPr>
          <p:cNvPr id="18456" name="Text 25">
            <a:extLst>
              <a:ext uri="{FF2B5EF4-FFF2-40B4-BE49-F238E27FC236}">
                <a16:creationId xmlns:a16="http://schemas.microsoft.com/office/drawing/2014/main" id="{4A861A12-86DC-4CC6-BAFF-57BAF855E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284788"/>
            <a:ext cx="3382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주간 · 실용 · 통과 · 대중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57" name="Text 26">
            <a:extLst>
              <a:ext uri="{FF2B5EF4-FFF2-40B4-BE49-F238E27FC236}">
                <a16:creationId xmlns:a16="http://schemas.microsoft.com/office/drawing/2014/main" id="{D45D942D-D52A-4BE7-8029-834D1A80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668963"/>
            <a:ext cx="51212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 i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역삼 직장가 카페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58" name="Text 27">
            <a:extLst>
              <a:ext uri="{FF2B5EF4-FFF2-40B4-BE49-F238E27FC236}">
                <a16:creationId xmlns:a16="http://schemas.microsoft.com/office/drawing/2014/main" id="{072176C5-24EE-47AC-B155-0A748F4C1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989638"/>
            <a:ext cx="639763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진단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59" name="Text 28">
            <a:extLst>
              <a:ext uri="{FF2B5EF4-FFF2-40B4-BE49-F238E27FC236}">
                <a16:creationId xmlns:a16="http://schemas.microsoft.com/office/drawing/2014/main" id="{B2BC9AFF-A43A-43C3-ADDF-956DF7C1D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5989638"/>
            <a:ext cx="4481512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점심 시간대 구매 목적 미스매치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60" name="Text 29">
            <a:extLst>
              <a:ext uri="{FF2B5EF4-FFF2-40B4-BE49-F238E27FC236}">
                <a16:creationId xmlns:a16="http://schemas.microsoft.com/office/drawing/2014/main" id="{3C32BFB7-B744-4E2D-93D9-6D5417133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308725"/>
            <a:ext cx="6397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솔루션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61" name="Text 30">
            <a:extLst>
              <a:ext uri="{FF2B5EF4-FFF2-40B4-BE49-F238E27FC236}">
                <a16:creationId xmlns:a16="http://schemas.microsoft.com/office/drawing/2014/main" id="{EFC347DE-6E31-4F5E-9BBC-2B4BBC74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6308725"/>
            <a:ext cx="4481512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점심 2시간 전용 운영 재설계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62" name="Shape 31">
            <a:extLst>
              <a:ext uri="{FF2B5EF4-FFF2-40B4-BE49-F238E27FC236}">
                <a16:creationId xmlns:a16="http://schemas.microsoft.com/office/drawing/2014/main" id="{C504E65F-E10E-4FE9-A0EB-BBB7374A0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225" y="5029200"/>
            <a:ext cx="5486400" cy="1692275"/>
          </a:xfrm>
          <a:prstGeom prst="rect">
            <a:avLst/>
          </a:prstGeom>
          <a:solidFill>
            <a:srgbClr val="0F1B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63" name="Shape 32">
            <a:extLst>
              <a:ext uri="{FF2B5EF4-FFF2-40B4-BE49-F238E27FC236}">
                <a16:creationId xmlns:a16="http://schemas.microsoft.com/office/drawing/2014/main" id="{CA0E3C1B-99A0-4195-87C5-4CCE16D34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225" y="5029200"/>
            <a:ext cx="55563" cy="1692275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7B2B1AEF-2FC3-4EE6-9DCD-1784DC3A8639}"/>
              </a:ext>
            </a:extLst>
          </p:cNvPr>
          <p:cNvSpPr/>
          <p:nvPr/>
        </p:nvSpPr>
        <p:spPr>
          <a:xfrm>
            <a:off x="6473825" y="5194300"/>
            <a:ext cx="1646238" cy="411163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400" kern="0" spc="2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NFTG</a:t>
            </a:r>
            <a:endParaRPr lang="en-US" sz="2400" dirty="0">
              <a:latin typeface="Pretendard" panose="02000503000000020004" pitchFamily="50" charset="-127"/>
            </a:endParaRPr>
          </a:p>
        </p:txBody>
      </p:sp>
      <p:sp>
        <p:nvSpPr>
          <p:cNvPr id="18465" name="Text 34">
            <a:extLst>
              <a:ext uri="{FF2B5EF4-FFF2-40B4-BE49-F238E27FC236}">
                <a16:creationId xmlns:a16="http://schemas.microsoft.com/office/drawing/2014/main" id="{3F594B91-8780-4AF3-BAEB-A1DDE7825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4025" y="5284788"/>
            <a:ext cx="3382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야간 · 감성 · 통과 · 틈새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66" name="Text 35">
            <a:extLst>
              <a:ext uri="{FF2B5EF4-FFF2-40B4-BE49-F238E27FC236}">
                <a16:creationId xmlns:a16="http://schemas.microsoft.com/office/drawing/2014/main" id="{3F1D2037-7564-4106-9A3E-EA604FDFC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5668963"/>
            <a:ext cx="51212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 i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홍대 관광 상권 카페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67" name="Text 36">
            <a:extLst>
              <a:ext uri="{FF2B5EF4-FFF2-40B4-BE49-F238E27FC236}">
                <a16:creationId xmlns:a16="http://schemas.microsoft.com/office/drawing/2014/main" id="{AC63ED72-157F-4AE8-8AE1-B6C34460E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5989638"/>
            <a:ext cx="639763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진단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68" name="Text 37">
            <a:extLst>
              <a:ext uri="{FF2B5EF4-FFF2-40B4-BE49-F238E27FC236}">
                <a16:creationId xmlns:a16="http://schemas.microsoft.com/office/drawing/2014/main" id="{B5E45056-10CA-437F-A029-A26120EBC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5989638"/>
            <a:ext cx="4481512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선택 피로 + 첫 구매 동선 복잡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69" name="Text 38">
            <a:extLst>
              <a:ext uri="{FF2B5EF4-FFF2-40B4-BE49-F238E27FC236}">
                <a16:creationId xmlns:a16="http://schemas.microsoft.com/office/drawing/2014/main" id="{27AC769E-30D5-4995-9F4E-935A0A3E0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6308725"/>
            <a:ext cx="6397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솔루션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70" name="Text 39">
            <a:extLst>
              <a:ext uri="{FF2B5EF4-FFF2-40B4-BE49-F238E27FC236}">
                <a16:creationId xmlns:a16="http://schemas.microsoft.com/office/drawing/2014/main" id="{3B30EF2E-C8AB-4157-AD1C-8E249493A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6308725"/>
            <a:ext cx="4481512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히어로 상품 집중 + 동선 단순화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39" name="TextBox 2">
            <a:extLst>
              <a:ext uri="{FF2B5EF4-FFF2-40B4-BE49-F238E27FC236}">
                <a16:creationId xmlns:a16="http://schemas.microsoft.com/office/drawing/2014/main" id="{EF8C023D-7CEC-4397-A82D-3EDFE0729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914400"/>
            <a:ext cx="9023350" cy="22161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 서비스는 상권 분석을 운영 의사결정으로 전환하기 위해 두 단계의 변환을 거친다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 01.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문제 구조화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점주가 가진 막연한 고민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("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손님이 적다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", "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매출이 약하다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")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데이터에 기반한 구조적 진단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시간대 매출 붕괴 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단골 전환 실패 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400" b="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객단가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저하 등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변환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4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 02.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실행 전략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구조적 진단을 다시 매장이 실제로 시도할 수 있는 실행 액션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시간대 운영 분리 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단골 전환 구조 강화 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동선 개선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풀어냄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4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 두 단계를 거쳐야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상권 분석은 비로소 점주의 운영 의사결정으로 연결</a:t>
            </a:r>
            <a:endParaRPr lang="en-US" altLang="ko-KR" sz="14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같은 카페 </a:t>
            </a:r>
            <a:r>
              <a:rPr lang="ko-KR" altLang="en-US" sz="1400" b="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업종이어도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매장 유형에 따라 진단과 솔루션은 완전히 달라짐</a:t>
            </a:r>
            <a:endParaRPr lang="en-US" altLang="ko-KR" sz="14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">
            <a:extLst>
              <a:ext uri="{FF2B5EF4-FFF2-40B4-BE49-F238E27FC236}">
                <a16:creationId xmlns:a16="http://schemas.microsoft.com/office/drawing/2014/main" id="{3001B1BA-1144-4ACA-9DCD-1E030BD79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3238" y="3457903"/>
            <a:ext cx="8401050" cy="29638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*예시 페르소나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 — DUTM (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주간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실용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통과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대중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케이스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역삼 </a:t>
            </a:r>
            <a:r>
              <a:rPr lang="ko-KR" altLang="en-US" sz="1400" b="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직장가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카페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진단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사람이 없는 게 아니라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점심 시간대의 구매 목적과 매장 제안이 어긋난다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솔루션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점심 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시간을 전용 운영 시간대로 재설계 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전용 세트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픽업 강조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인력 재배치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*예시 페르소나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 — NFTG (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야간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감성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통과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틈새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케이스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홍대 관광 상권 카페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진단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유입은 충분하지만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 피로와 첫 구매 동선이 복잡해 결제로 이어지지 않는다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솔루션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히어로 상품 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1~2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개에 집중하고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입구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키오스크 동선을 단순화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잘린 한쪽 모서리 1">
            <a:extLst>
              <a:ext uri="{FF2B5EF4-FFF2-40B4-BE49-F238E27FC236}">
                <a16:creationId xmlns:a16="http://schemas.microsoft.com/office/drawing/2014/main" id="{C8DBBB0C-62CE-446E-A52D-DBF3FC0B8401}"/>
              </a:ext>
            </a:extLst>
          </p:cNvPr>
          <p:cNvSpPr/>
          <p:nvPr/>
        </p:nvSpPr>
        <p:spPr>
          <a:xfrm>
            <a:off x="0" y="4630738"/>
            <a:ext cx="1524000" cy="2227262"/>
          </a:xfrm>
          <a:prstGeom prst="snip1Rect">
            <a:avLst/>
          </a:prstGeom>
          <a:solidFill>
            <a:srgbClr val="FFFF00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공공데이터 활용데이터에 관한 소개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339" name="Picture 4" descr="공공데이터공개 &lt; 정보공개 &lt; 경기도여성가족재단">
            <a:extLst>
              <a:ext uri="{FF2B5EF4-FFF2-40B4-BE49-F238E27FC236}">
                <a16:creationId xmlns:a16="http://schemas.microsoft.com/office/drawing/2014/main" id="{99C17724-44F6-4624-97E9-F80C60650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2" t="31767" r="25397" b="29593"/>
          <a:stretch>
            <a:fillRect/>
          </a:stretch>
        </p:blipFill>
        <p:spPr bwMode="auto">
          <a:xfrm>
            <a:off x="2709863" y="3021013"/>
            <a:ext cx="1768475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6" descr="서울 열린데이터광장">
            <a:extLst>
              <a:ext uri="{FF2B5EF4-FFF2-40B4-BE49-F238E27FC236}">
                <a16:creationId xmlns:a16="http://schemas.microsoft.com/office/drawing/2014/main" id="{E00064A1-F94E-4D46-9090-E7F6B567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3" t="32674" r="17078" b="36253"/>
          <a:stretch>
            <a:fillRect/>
          </a:stretch>
        </p:blipFill>
        <p:spPr bwMode="auto">
          <a:xfrm>
            <a:off x="688975" y="2914650"/>
            <a:ext cx="18288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Box 4">
            <a:extLst>
              <a:ext uri="{FF2B5EF4-FFF2-40B4-BE49-F238E27FC236}">
                <a16:creationId xmlns:a16="http://schemas.microsoft.com/office/drawing/2014/main" id="{1DD680D4-4236-4C17-A6EC-9EFE6928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25" y="2220913"/>
            <a:ext cx="3044825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공공데이터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2B4E7AFE-7003-4F0D-819B-41CCFE0C22AD}"/>
              </a:ext>
            </a:extLst>
          </p:cNvPr>
          <p:cNvSpPr txBox="1"/>
          <p:nvPr/>
        </p:nvSpPr>
        <p:spPr>
          <a:xfrm>
            <a:off x="6096000" y="1970088"/>
            <a:ext cx="5867400" cy="1887537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업종 점포 수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개업률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비율 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길단위인구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시간대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요일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유동인구 수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시간대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요일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추정 매출 금액 </a:t>
            </a:r>
            <a:endParaRPr lang="ko-KR" alt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205DA4E-86C0-4860-B58D-395F6857AD1E}"/>
              </a:ext>
            </a:extLst>
          </p:cNvPr>
          <p:cNvSpPr txBox="1"/>
          <p:nvPr/>
        </p:nvSpPr>
        <p:spPr>
          <a:xfrm>
            <a:off x="6153150" y="4427538"/>
            <a:ext cx="5867400" cy="156686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서울교통공사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1~8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역사 좌표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위경도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1~8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전체 역 위경도 좌표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국가철도공단 수도권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역위치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전체역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위경도 좌표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endParaRPr lang="ko-KR" alt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344" name="Picture 6" descr="서울 열린데이터광장">
            <a:extLst>
              <a:ext uri="{FF2B5EF4-FFF2-40B4-BE49-F238E27FC236}">
                <a16:creationId xmlns:a16="http://schemas.microsoft.com/office/drawing/2014/main" id="{C8A75098-7E3E-49A7-A543-041A3E52C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3" t="32674" r="17078" b="36253"/>
          <a:stretch>
            <a:fillRect/>
          </a:stretch>
        </p:blipFill>
        <p:spPr bwMode="auto">
          <a:xfrm>
            <a:off x="6019800" y="1663700"/>
            <a:ext cx="1320800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4" descr="공공데이터공개 &lt; 정보공개 &lt; 경기도여성가족재단">
            <a:extLst>
              <a:ext uri="{FF2B5EF4-FFF2-40B4-BE49-F238E27FC236}">
                <a16:creationId xmlns:a16="http://schemas.microsoft.com/office/drawing/2014/main" id="{D5F218CC-6842-4A39-AE6F-34ED89396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2" t="31767" r="25397" b="29593"/>
          <a:stretch>
            <a:fillRect/>
          </a:stretch>
        </p:blipFill>
        <p:spPr bwMode="auto">
          <a:xfrm>
            <a:off x="6096000" y="4165600"/>
            <a:ext cx="10985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3ACCEA0-B6E0-4863-B174-6063B9EB9939}"/>
              </a:ext>
            </a:extLst>
          </p:cNvPr>
          <p:cNvSpPr/>
          <p:nvPr/>
        </p:nvSpPr>
        <p:spPr>
          <a:xfrm>
            <a:off x="0" y="3992563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슬라이드에서 전달하고 싶은 것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서비스에 활용한 공공데이터 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종을 출처별로 소개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상권분석서비스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점포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 업종 점포 수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개업률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비율을 담고 있으며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내 경쟁 환경과 시장 활성도 분석에 활용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상권분석서비스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길단위인구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 시간대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요일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유동인구 수를 담고 있으며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유동 패턴과 주 고객층 파악에 활용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상권분석서비스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 시간대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요일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추정 매출 금액을 담고 있으며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업종별 매출 패턴과 타겟 고객 매출 비중 산출에 활용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서울교통공사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1~8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국가철도공단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역 위경도 좌표를 담고 있으며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 파일을 통합하여 점주 매장 기준 역세권 여부 및 최근접 역 거리 계산에 활용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 eaLnBrk="1" hangingPunct="1">
              <a:defRPr/>
            </a:pPr>
            <a:endParaRPr lang="ko-KR" altLang="en-US" sz="9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B6058CA6-6C08-49AF-A9AB-2BEA52D5339B}"/>
              </a:ext>
            </a:extLst>
          </p:cNvPr>
          <p:cNvSpPr txBox="1"/>
          <p:nvPr/>
        </p:nvSpPr>
        <p:spPr>
          <a:xfrm>
            <a:off x="6153150" y="1219200"/>
            <a:ext cx="3541713" cy="156368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점포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업종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100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여개를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개 카테고리로 통합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카테고리 기준으로 주요 지표 재계산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- 2025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분기 단일 시점 기준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7DDB5-4E1D-45B7-8933-B8D7769EA924}"/>
              </a:ext>
            </a:extLst>
          </p:cNvPr>
          <p:cNvSpPr txBox="1"/>
          <p:nvPr/>
        </p:nvSpPr>
        <p:spPr>
          <a:xfrm>
            <a:off x="6153150" y="4498975"/>
            <a:ext cx="3541713" cy="65881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길단위인구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 - 2025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분기 단일 시점 기준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9B46E-8735-4EEA-A177-B66A031C29D6}"/>
              </a:ext>
            </a:extLst>
          </p:cNvPr>
          <p:cNvSpPr txBox="1"/>
          <p:nvPr/>
        </p:nvSpPr>
        <p:spPr>
          <a:xfrm>
            <a:off x="6153150" y="5503863"/>
            <a:ext cx="3381375" cy="96678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서울교통공사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(1~8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국가철도공단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9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두 파일 통합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환승역 중복 제거 및 좌표 평균화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0F9D2-02A4-4D28-BCE7-309515B444FC}"/>
              </a:ext>
            </a:extLst>
          </p:cNvPr>
          <p:cNvSpPr txBox="1"/>
          <p:nvPr/>
        </p:nvSpPr>
        <p:spPr>
          <a:xfrm>
            <a:off x="6096000" y="3070225"/>
            <a:ext cx="3540125" cy="96678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추정매출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추정매출 업종 단위 → 카테고리 단위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재집계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- 2025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분기 단일 시점 기준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19462" name="그림 7">
            <a:extLst>
              <a:ext uri="{FF2B5EF4-FFF2-40B4-BE49-F238E27FC236}">
                <a16:creationId xmlns:a16="http://schemas.microsoft.com/office/drawing/2014/main" id="{92240D3F-8B6C-432E-B122-C12012BFC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303"/>
          <a:stretch>
            <a:fillRect/>
          </a:stretch>
        </p:blipFill>
        <p:spPr bwMode="auto">
          <a:xfrm>
            <a:off x="1657350" y="1219200"/>
            <a:ext cx="3487738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그림 10">
            <a:extLst>
              <a:ext uri="{FF2B5EF4-FFF2-40B4-BE49-F238E27FC236}">
                <a16:creationId xmlns:a16="http://schemas.microsoft.com/office/drawing/2014/main" id="{852A2E20-06E7-4A01-8584-E253D20DE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65"/>
          <a:stretch>
            <a:fillRect/>
          </a:stretch>
        </p:blipFill>
        <p:spPr bwMode="auto">
          <a:xfrm>
            <a:off x="1657350" y="2667000"/>
            <a:ext cx="3225800" cy="108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4" name="그림 15">
            <a:extLst>
              <a:ext uri="{FF2B5EF4-FFF2-40B4-BE49-F238E27FC236}">
                <a16:creationId xmlns:a16="http://schemas.microsoft.com/office/drawing/2014/main" id="{C5B26E27-825A-4633-B9BD-CD8722854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43"/>
          <a:stretch>
            <a:fillRect/>
          </a:stretch>
        </p:blipFill>
        <p:spPr bwMode="auto">
          <a:xfrm>
            <a:off x="1657350" y="3965575"/>
            <a:ext cx="3225800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그림 17">
            <a:extLst>
              <a:ext uri="{FF2B5EF4-FFF2-40B4-BE49-F238E27FC236}">
                <a16:creationId xmlns:a16="http://schemas.microsoft.com/office/drawing/2014/main" id="{049FFF52-1655-4FF1-A341-048EE3D9C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03"/>
          <a:stretch>
            <a:fillRect/>
          </a:stretch>
        </p:blipFill>
        <p:spPr bwMode="auto">
          <a:xfrm>
            <a:off x="1657350" y="5260975"/>
            <a:ext cx="3665538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92D3089-7354-4E8B-BAC8-FDA030224E10}"/>
              </a:ext>
            </a:extLst>
          </p:cNvPr>
          <p:cNvSpPr/>
          <p:nvPr/>
        </p:nvSpPr>
        <p:spPr>
          <a:xfrm>
            <a:off x="0" y="3590925"/>
            <a:ext cx="5935663" cy="324326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서비스 목적에 맞게 직접 </a:t>
            </a:r>
            <a:r>
              <a:rPr lang="ko-KR" altLang="en-US" sz="900" b="0" dirty="0" err="1">
                <a:latin typeface="+mn-ea"/>
                <a:ea typeface="+mn-ea"/>
              </a:rPr>
              <a:t>전처리했음을</a:t>
            </a:r>
            <a:r>
              <a:rPr lang="ko-KR" altLang="en-US" sz="900" b="0" dirty="0">
                <a:latin typeface="+mn-ea"/>
                <a:ea typeface="+mn-ea"/>
              </a:rPr>
              <a:t> 보여주기 위해</a:t>
            </a: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서울시 상권분석서비스 </a:t>
            </a:r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점포</a:t>
            </a: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행정동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원본 데이터의 서비스 업종이 </a:t>
            </a:r>
            <a:r>
              <a:rPr lang="en-US" altLang="ko-KR" sz="900" b="0" dirty="0">
                <a:latin typeface="+mn-ea"/>
                <a:ea typeface="+mn-ea"/>
              </a:rPr>
              <a:t>100</a:t>
            </a:r>
            <a:r>
              <a:rPr lang="ko-KR" altLang="en-US" sz="900" b="0" dirty="0">
                <a:latin typeface="+mn-ea"/>
                <a:ea typeface="+mn-ea"/>
              </a:rPr>
              <a:t>여 개로 세분화되어 있어 분석 단위로 활용하기 어렵다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  <a:r>
              <a:rPr lang="ko-KR" altLang="en-US" sz="900" b="0" dirty="0">
                <a:latin typeface="+mn-ea"/>
                <a:ea typeface="+mn-ea"/>
              </a:rPr>
              <a:t>이를 </a:t>
            </a:r>
            <a:r>
              <a:rPr lang="en-US" altLang="ko-KR" sz="900" b="0" dirty="0">
                <a:latin typeface="+mn-ea"/>
                <a:ea typeface="+mn-ea"/>
              </a:rPr>
              <a:t>12</a:t>
            </a:r>
            <a:r>
              <a:rPr lang="ko-KR" altLang="en-US" sz="900" b="0" dirty="0">
                <a:latin typeface="+mn-ea"/>
                <a:ea typeface="+mn-ea"/>
              </a:rPr>
              <a:t>개 카테고리로 통합하고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카테고리 기준으로 점포 수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 err="1">
                <a:latin typeface="+mn-ea"/>
                <a:ea typeface="+mn-ea"/>
              </a:rPr>
              <a:t>개업률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 err="1">
                <a:latin typeface="+mn-ea"/>
                <a:ea typeface="+mn-ea"/>
              </a:rPr>
              <a:t>폐업률</a:t>
            </a:r>
            <a:r>
              <a:rPr lang="ko-KR" altLang="en-US" sz="900" b="0" dirty="0">
                <a:latin typeface="+mn-ea"/>
                <a:ea typeface="+mn-ea"/>
              </a:rPr>
              <a:t> 등 주요 지표를 재계산했다</a:t>
            </a:r>
            <a:r>
              <a:rPr lang="en-US" altLang="ko-KR" sz="900" b="0" dirty="0">
                <a:latin typeface="+mn-ea"/>
                <a:ea typeface="+mn-ea"/>
              </a:rPr>
              <a:t>. (2025</a:t>
            </a:r>
            <a:r>
              <a:rPr lang="ko-KR" altLang="en-US" sz="900" b="0" dirty="0">
                <a:latin typeface="+mn-ea"/>
                <a:ea typeface="+mn-ea"/>
              </a:rPr>
              <a:t>년 </a:t>
            </a:r>
            <a:r>
              <a:rPr lang="en-US" altLang="ko-KR" sz="900" b="0" dirty="0">
                <a:latin typeface="+mn-ea"/>
                <a:ea typeface="+mn-ea"/>
              </a:rPr>
              <a:t>4</a:t>
            </a:r>
            <a:r>
              <a:rPr lang="ko-KR" altLang="en-US" sz="900" b="0" dirty="0">
                <a:latin typeface="+mn-ea"/>
                <a:ea typeface="+mn-ea"/>
              </a:rPr>
              <a:t>분기 단일 시점 기준으로 통일했다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서울시 상권분석서비스 </a:t>
            </a:r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추정매출</a:t>
            </a: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행정동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원본 데이터가 서비스 업종 단위로 집계되어 있어 우리가 바꾼 점포</a:t>
            </a:r>
            <a:r>
              <a:rPr lang="en-US" altLang="ko-KR" sz="900" b="0" dirty="0">
                <a:latin typeface="+mn-ea"/>
                <a:ea typeface="+mn-ea"/>
              </a:rPr>
              <a:t>-</a:t>
            </a:r>
            <a:r>
              <a:rPr lang="ko-KR" altLang="en-US" sz="900" b="0" dirty="0">
                <a:latin typeface="+mn-ea"/>
                <a:ea typeface="+mn-ea"/>
              </a:rPr>
              <a:t>행정동 데이터와 기준이 달랐기에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카테고리 단위로 </a:t>
            </a:r>
            <a:r>
              <a:rPr lang="ko-KR" altLang="en-US" sz="900" b="0" dirty="0" err="1">
                <a:latin typeface="+mn-ea"/>
                <a:ea typeface="+mn-ea"/>
              </a:rPr>
              <a:t>재집계하여</a:t>
            </a:r>
            <a:r>
              <a:rPr lang="ko-KR" altLang="en-US" sz="900" b="0" dirty="0">
                <a:latin typeface="+mn-ea"/>
                <a:ea typeface="+mn-ea"/>
              </a:rPr>
              <a:t> 점포 데이터와 동일한 기준으로 결합 가능하도록 처리했다</a:t>
            </a:r>
            <a:r>
              <a:rPr lang="en-US" altLang="ko-KR" sz="900" b="0" dirty="0">
                <a:latin typeface="+mn-ea"/>
                <a:ea typeface="+mn-ea"/>
              </a:rPr>
              <a:t>. (2025</a:t>
            </a:r>
            <a:r>
              <a:rPr lang="ko-KR" altLang="en-US" sz="900" b="0" dirty="0">
                <a:latin typeface="+mn-ea"/>
                <a:ea typeface="+mn-ea"/>
              </a:rPr>
              <a:t>년 </a:t>
            </a:r>
            <a:r>
              <a:rPr lang="en-US" altLang="ko-KR" sz="900" b="0" dirty="0">
                <a:latin typeface="+mn-ea"/>
                <a:ea typeface="+mn-ea"/>
              </a:rPr>
              <a:t>4</a:t>
            </a:r>
            <a:r>
              <a:rPr lang="ko-KR" altLang="en-US" sz="900" b="0" dirty="0">
                <a:latin typeface="+mn-ea"/>
                <a:ea typeface="+mn-ea"/>
              </a:rPr>
              <a:t>분기 단일 시점 기준으로 통일했다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서울시 상권분석서비스 </a:t>
            </a:r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길단위인구</a:t>
            </a: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행정동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별도 가공 없이 </a:t>
            </a:r>
            <a:r>
              <a:rPr lang="en-US" altLang="ko-KR" sz="900" b="0" dirty="0">
                <a:latin typeface="+mn-ea"/>
                <a:ea typeface="+mn-ea"/>
              </a:rPr>
              <a:t>2025</a:t>
            </a:r>
            <a:r>
              <a:rPr lang="ko-KR" altLang="en-US" sz="900" b="0" dirty="0">
                <a:latin typeface="+mn-ea"/>
                <a:ea typeface="+mn-ea"/>
              </a:rPr>
              <a:t>년 </a:t>
            </a:r>
            <a:r>
              <a:rPr lang="en-US" altLang="ko-KR" sz="900" b="0" dirty="0">
                <a:latin typeface="+mn-ea"/>
                <a:ea typeface="+mn-ea"/>
              </a:rPr>
              <a:t>4</a:t>
            </a:r>
            <a:r>
              <a:rPr lang="ko-KR" altLang="en-US" sz="900" b="0" dirty="0">
                <a:latin typeface="+mn-ea"/>
                <a:ea typeface="+mn-ea"/>
              </a:rPr>
              <a:t>분기 단일 시점 기준으로 사용했다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서울교통공사 </a:t>
            </a:r>
            <a:r>
              <a:rPr lang="en-US" altLang="ko-KR" sz="900" dirty="0">
                <a:latin typeface="+mn-ea"/>
                <a:ea typeface="+mn-ea"/>
              </a:rPr>
              <a:t>1~8</a:t>
            </a:r>
            <a:r>
              <a:rPr lang="ko-KR" altLang="en-US" sz="900" dirty="0">
                <a:latin typeface="+mn-ea"/>
                <a:ea typeface="+mn-ea"/>
              </a:rPr>
              <a:t>호선 </a:t>
            </a:r>
            <a:r>
              <a:rPr lang="en-US" altLang="ko-KR" sz="900" dirty="0">
                <a:latin typeface="+mn-ea"/>
                <a:ea typeface="+mn-ea"/>
              </a:rPr>
              <a:t>+ </a:t>
            </a:r>
            <a:r>
              <a:rPr lang="ko-KR" altLang="en-US" sz="900" dirty="0">
                <a:latin typeface="+mn-ea"/>
                <a:ea typeface="+mn-ea"/>
              </a:rPr>
              <a:t>국가철도공단 </a:t>
            </a:r>
            <a:r>
              <a:rPr lang="en-US" altLang="ko-KR" sz="900" dirty="0">
                <a:latin typeface="+mn-ea"/>
                <a:ea typeface="+mn-ea"/>
              </a:rPr>
              <a:t>9</a:t>
            </a:r>
            <a:r>
              <a:rPr lang="ko-KR" altLang="en-US" sz="900" dirty="0">
                <a:latin typeface="+mn-ea"/>
                <a:ea typeface="+mn-ea"/>
              </a:rPr>
              <a:t>호선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두 파일을 통합하고 환승역 중복을 제거했다</a:t>
            </a:r>
            <a:r>
              <a:rPr lang="en-US" altLang="ko-KR" sz="900" b="0" dirty="0">
                <a:latin typeface="+mn-ea"/>
                <a:ea typeface="+mn-ea"/>
              </a:rPr>
              <a:t>. (</a:t>
            </a:r>
            <a:r>
              <a:rPr lang="ko-KR" altLang="en-US" sz="900" b="0" dirty="0">
                <a:latin typeface="+mn-ea"/>
                <a:ea typeface="+mn-ea"/>
              </a:rPr>
              <a:t>동일 역의 여러 좌표는 </a:t>
            </a:r>
            <a:r>
              <a:rPr lang="ko-KR" altLang="en-US" sz="900" b="0" dirty="0" err="1">
                <a:latin typeface="+mn-ea"/>
                <a:ea typeface="+mn-ea"/>
              </a:rPr>
              <a:t>평균화하여</a:t>
            </a:r>
            <a:r>
              <a:rPr lang="ko-KR" altLang="en-US" sz="900" b="0" dirty="0">
                <a:latin typeface="+mn-ea"/>
                <a:ea typeface="+mn-ea"/>
              </a:rPr>
              <a:t> 역 하나당 단일 좌표로 정리함</a:t>
            </a:r>
            <a:r>
              <a:rPr lang="en-US" altLang="ko-KR" sz="900" b="0" dirty="0">
                <a:latin typeface="+mn-ea"/>
                <a:ea typeface="+mn-ea"/>
              </a:rPr>
              <a:t>) </a:t>
            </a:r>
            <a:r>
              <a:rPr lang="ko-KR" altLang="en-US" sz="900" b="0" dirty="0">
                <a:latin typeface="+mn-ea"/>
                <a:ea typeface="+mn-ea"/>
              </a:rPr>
              <a:t>역세권 거리 계산에 활용하기 위해 진행함</a:t>
            </a:r>
            <a:endParaRPr lang="en-US" altLang="ko-KR" sz="9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C531F41E-E7FC-4470-BC50-254A677D7536}"/>
              </a:ext>
            </a:extLst>
          </p:cNvPr>
          <p:cNvSpPr/>
          <p:nvPr/>
        </p:nvSpPr>
        <p:spPr>
          <a:xfrm>
            <a:off x="1657350" y="1409700"/>
            <a:ext cx="8229600" cy="5032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서비스 시나리오</a:t>
            </a:r>
            <a:endParaRPr lang="en-US" sz="16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83" name="Shape 1">
            <a:extLst>
              <a:ext uri="{FF2B5EF4-FFF2-40B4-BE49-F238E27FC236}">
                <a16:creationId xmlns:a16="http://schemas.microsoft.com/office/drawing/2014/main" id="{C7565F02-1B3C-4DD9-8A0E-DA581BDFB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275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1555B1A5-A667-4FC8-B0D2-A5BC44797DFB}"/>
              </a:ext>
            </a:extLst>
          </p:cNvPr>
          <p:cNvSpPr/>
          <p:nvPr/>
        </p:nvSpPr>
        <p:spPr>
          <a:xfrm>
            <a:off x="1565275" y="2049463"/>
            <a:ext cx="1262063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점주 입력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C368263-F3E2-4EA8-A116-B5ED95F9299F}"/>
              </a:ext>
            </a:extLst>
          </p:cNvPr>
          <p:cNvSpPr/>
          <p:nvPr/>
        </p:nvSpPr>
        <p:spPr>
          <a:xfrm>
            <a:off x="2844800" y="2068513"/>
            <a:ext cx="138113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86" name="Shape 4">
            <a:extLst>
              <a:ext uri="{FF2B5EF4-FFF2-40B4-BE49-F238E27FC236}">
                <a16:creationId xmlns:a16="http://schemas.microsoft.com/office/drawing/2014/main" id="{66984F93-C895-4192-A48C-5A0A6CBBD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0891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3D8FB35-FDAD-4554-BF14-40BB68E12470}"/>
              </a:ext>
            </a:extLst>
          </p:cNvPr>
          <p:cNvSpPr/>
          <p:nvPr/>
        </p:nvSpPr>
        <p:spPr>
          <a:xfrm>
            <a:off x="3000375" y="2049463"/>
            <a:ext cx="1262063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분석 시작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8EE90A3-657E-4AEA-A748-924C259675A6}"/>
              </a:ext>
            </a:extLst>
          </p:cNvPr>
          <p:cNvSpPr/>
          <p:nvPr/>
        </p:nvSpPr>
        <p:spPr>
          <a:xfrm>
            <a:off x="4281488" y="206851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89" name="Shape 7">
            <a:extLst>
              <a:ext uri="{FF2B5EF4-FFF2-40B4-BE49-F238E27FC236}">
                <a16:creationId xmlns:a16="http://schemas.microsoft.com/office/drawing/2014/main" id="{526FBB6D-B89B-4F77-BD21-42FCEF657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063" y="2049463"/>
            <a:ext cx="1260475" cy="347662"/>
          </a:xfrm>
          <a:prstGeom prst="roundRect">
            <a:avLst>
              <a:gd name="adj" fmla="val 15787"/>
            </a:avLst>
          </a:prstGeom>
          <a:solidFill>
            <a:srgbClr val="1118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3DCC239-2CF5-47DE-BA2B-4627823FAFB4}"/>
              </a:ext>
            </a:extLst>
          </p:cNvPr>
          <p:cNvSpPr/>
          <p:nvPr/>
        </p:nvSpPr>
        <p:spPr>
          <a:xfrm>
            <a:off x="4437063" y="2049463"/>
            <a:ext cx="1260475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MBTI 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결과 확인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BD9EC17-F797-44D4-9B9B-52FADD688362}"/>
              </a:ext>
            </a:extLst>
          </p:cNvPr>
          <p:cNvSpPr/>
          <p:nvPr/>
        </p:nvSpPr>
        <p:spPr>
          <a:xfrm>
            <a:off x="5716588" y="206851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92" name="Shape 10">
            <a:extLst>
              <a:ext uri="{FF2B5EF4-FFF2-40B4-BE49-F238E27FC236}">
                <a16:creationId xmlns:a16="http://schemas.microsoft.com/office/drawing/2014/main" id="{58A8163A-6265-426C-BF31-DCA7375D4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6366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A8912F5-68B2-4D16-97E6-64FD91BF6230}"/>
              </a:ext>
            </a:extLst>
          </p:cNvPr>
          <p:cNvSpPr/>
          <p:nvPr/>
        </p:nvSpPr>
        <p:spPr>
          <a:xfrm>
            <a:off x="5872163" y="2049463"/>
            <a:ext cx="1262062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맞춤형 솔루션 제안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0124E593-E3D1-4EC8-8D0F-5056A29DD5B8}"/>
              </a:ext>
            </a:extLst>
          </p:cNvPr>
          <p:cNvSpPr/>
          <p:nvPr/>
        </p:nvSpPr>
        <p:spPr>
          <a:xfrm>
            <a:off x="7151688" y="2068513"/>
            <a:ext cx="138112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95" name="Shape 13">
            <a:extLst>
              <a:ext uri="{FF2B5EF4-FFF2-40B4-BE49-F238E27FC236}">
                <a16:creationId xmlns:a16="http://schemas.microsoft.com/office/drawing/2014/main" id="{7D63CA88-CBD2-4675-B6C7-A28053F1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2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0596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4C773A76-174A-4E7F-87BB-B030C66B3F68}"/>
              </a:ext>
            </a:extLst>
          </p:cNvPr>
          <p:cNvSpPr/>
          <p:nvPr/>
        </p:nvSpPr>
        <p:spPr>
          <a:xfrm>
            <a:off x="7307263" y="2049463"/>
            <a:ext cx="1262062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우리 상권 확인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D114FCA8-C008-4222-9056-D3D50A7AFF45}"/>
              </a:ext>
            </a:extLst>
          </p:cNvPr>
          <p:cNvSpPr/>
          <p:nvPr/>
        </p:nvSpPr>
        <p:spPr>
          <a:xfrm>
            <a:off x="8588375" y="206851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98" name="Shape 16">
            <a:extLst>
              <a:ext uri="{FF2B5EF4-FFF2-40B4-BE49-F238E27FC236}">
                <a16:creationId xmlns:a16="http://schemas.microsoft.com/office/drawing/2014/main" id="{FAAB42ED-D47D-4498-8FDC-C2EC05BE0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3950" y="2049463"/>
            <a:ext cx="1260475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C3846EC5-8AD3-4FCA-8D77-8D17A62926AB}"/>
              </a:ext>
            </a:extLst>
          </p:cNvPr>
          <p:cNvSpPr/>
          <p:nvPr/>
        </p:nvSpPr>
        <p:spPr>
          <a:xfrm>
            <a:off x="8743950" y="2049463"/>
            <a:ext cx="1260475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dirty="0" err="1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솔루션</a:t>
            </a:r>
            <a:r>
              <a:rPr 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찾기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pic>
        <p:nvPicPr>
          <p:cNvPr id="20500" name="그림 25">
            <a:extLst>
              <a:ext uri="{FF2B5EF4-FFF2-40B4-BE49-F238E27FC236}">
                <a16:creationId xmlns:a16="http://schemas.microsoft.com/office/drawing/2014/main" id="{B566FDE2-0B51-4B14-A0C2-1FD3B7C00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763" y="2868613"/>
            <a:ext cx="105886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1" name="그림 26">
            <a:extLst>
              <a:ext uri="{FF2B5EF4-FFF2-40B4-BE49-F238E27FC236}">
                <a16:creationId xmlns:a16="http://schemas.microsoft.com/office/drawing/2014/main" id="{BACE64B6-267C-481B-A55D-352BE6389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"/>
          <a:stretch>
            <a:fillRect/>
          </a:stretch>
        </p:blipFill>
        <p:spPr bwMode="auto">
          <a:xfrm>
            <a:off x="1627188" y="2868613"/>
            <a:ext cx="11588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2" name="그림 27">
            <a:extLst>
              <a:ext uri="{FF2B5EF4-FFF2-40B4-BE49-F238E27FC236}">
                <a16:creationId xmlns:a16="http://schemas.microsoft.com/office/drawing/2014/main" id="{B358F943-DCDB-4AA8-A206-84DEAB6D4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66"/>
          <a:stretch>
            <a:fillRect/>
          </a:stretch>
        </p:blipFill>
        <p:spPr bwMode="auto">
          <a:xfrm>
            <a:off x="4538663" y="2868613"/>
            <a:ext cx="105251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3" name="그림 28">
            <a:extLst>
              <a:ext uri="{FF2B5EF4-FFF2-40B4-BE49-F238E27FC236}">
                <a16:creationId xmlns:a16="http://schemas.microsoft.com/office/drawing/2014/main" id="{73D6C23B-A86E-4DFC-899D-15D42D389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4383088" y="2808288"/>
            <a:ext cx="136525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4" name="그림 29">
            <a:extLst>
              <a:ext uri="{FF2B5EF4-FFF2-40B4-BE49-F238E27FC236}">
                <a16:creationId xmlns:a16="http://schemas.microsoft.com/office/drawing/2014/main" id="{A52ED0C3-89F2-47BA-8A3E-8AA6D50AE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 bwMode="auto">
          <a:xfrm>
            <a:off x="3071813" y="2868613"/>
            <a:ext cx="11588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5" name="그림 30">
            <a:extLst>
              <a:ext uri="{FF2B5EF4-FFF2-40B4-BE49-F238E27FC236}">
                <a16:creationId xmlns:a16="http://schemas.microsoft.com/office/drawing/2014/main" id="{ED7FCBA1-7B40-4DC8-B449-8297C6FDA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2968625" y="2779713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6" name="그림 31">
            <a:extLst>
              <a:ext uri="{FF2B5EF4-FFF2-40B4-BE49-F238E27FC236}">
                <a16:creationId xmlns:a16="http://schemas.microsoft.com/office/drawing/2014/main" id="{55A54455-D9DB-41C6-B054-888509F31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530350" y="2808288"/>
            <a:ext cx="136525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7" name="그림 32">
            <a:extLst>
              <a:ext uri="{FF2B5EF4-FFF2-40B4-BE49-F238E27FC236}">
                <a16:creationId xmlns:a16="http://schemas.microsoft.com/office/drawing/2014/main" id="{6134B22A-B42C-4B33-93C2-E22D07DAD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5821363" y="280352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8" name="그림 33">
            <a:extLst>
              <a:ext uri="{FF2B5EF4-FFF2-40B4-BE49-F238E27FC236}">
                <a16:creationId xmlns:a16="http://schemas.microsoft.com/office/drawing/2014/main" id="{FD6EAB90-F99A-4272-B6DF-8CC9F6EC5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913" y="2862263"/>
            <a:ext cx="107315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9" name="그림 34">
            <a:extLst>
              <a:ext uri="{FF2B5EF4-FFF2-40B4-BE49-F238E27FC236}">
                <a16:creationId xmlns:a16="http://schemas.microsoft.com/office/drawing/2014/main" id="{02C650E6-17F4-4BCE-B951-550AED2D5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7273925" y="2809875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0" name="그림 35">
            <a:extLst>
              <a:ext uri="{FF2B5EF4-FFF2-40B4-BE49-F238E27FC236}">
                <a16:creationId xmlns:a16="http://schemas.microsoft.com/office/drawing/2014/main" id="{3F72AA65-04F9-4F20-BACE-2F62A19ED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8824913" y="2862263"/>
            <a:ext cx="1100137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1" name="그림 36">
            <a:extLst>
              <a:ext uri="{FF2B5EF4-FFF2-40B4-BE49-F238E27FC236}">
                <a16:creationId xmlns:a16="http://schemas.microsoft.com/office/drawing/2014/main" id="{22772DE2-EAF7-4DD1-A532-670D22681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8682038" y="2803525"/>
            <a:ext cx="1366837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30F7DF6-7F47-4FA5-B0D0-60D8AA8E9D89}"/>
              </a:ext>
            </a:extLst>
          </p:cNvPr>
          <p:cNvSpPr/>
          <p:nvPr/>
        </p:nvSpPr>
        <p:spPr>
          <a:xfrm>
            <a:off x="-163513" y="5797021"/>
            <a:ext cx="5935663" cy="3619500"/>
          </a:xfrm>
          <a:prstGeom prst="roundRect">
            <a:avLst>
              <a:gd name="adj" fmla="val 4656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점주가 서비스를 실제로 사용하는 흐름을 한눈에 보여주기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요즘 제 점포가 </a:t>
            </a:r>
            <a:r>
              <a:rPr lang="ko-KR" altLang="en-US" sz="900" b="0" dirty="0" err="1">
                <a:latin typeface="+mn-ea"/>
                <a:ea typeface="+mn-ea"/>
              </a:rPr>
              <a:t>속해있는</a:t>
            </a:r>
            <a:r>
              <a:rPr lang="ko-KR" altLang="en-US" sz="900" b="0" dirty="0">
                <a:latin typeface="+mn-ea"/>
                <a:ea typeface="+mn-ea"/>
              </a:rPr>
              <a:t> 상권의 분위기가 궁금해요</a:t>
            </a: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라는 점주의 고민에서 시작해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입력부터 솔루션 수령까지 과정을 </a:t>
            </a:r>
            <a:r>
              <a:rPr lang="en-US" altLang="ko-KR" sz="900" b="0" dirty="0">
                <a:latin typeface="+mn-ea"/>
                <a:ea typeface="+mn-ea"/>
              </a:rPr>
              <a:t>6</a:t>
            </a:r>
            <a:r>
              <a:rPr lang="ko-KR" altLang="en-US" sz="900" b="0" dirty="0">
                <a:latin typeface="+mn-ea"/>
                <a:ea typeface="+mn-ea"/>
              </a:rPr>
              <a:t>단계로 보여준다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점주 입력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상호명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위치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운영정보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err="1">
                <a:latin typeface="+mn-ea"/>
                <a:ea typeface="+mn-ea"/>
              </a:rPr>
              <a:t>시그니처</a:t>
            </a:r>
            <a:r>
              <a:rPr lang="ko-KR" altLang="en-US" sz="900" b="0" dirty="0">
                <a:latin typeface="+mn-ea"/>
                <a:ea typeface="+mn-ea"/>
              </a:rPr>
              <a:t> 상품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분위기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고민사항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주 고객 연령대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>
                <a:latin typeface="+mn-ea"/>
                <a:ea typeface="+mn-ea"/>
              </a:rPr>
              <a:t>성별 등을 입력한다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분석 시작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입력된 데이터와 공공데이터가 결합되어 </a:t>
            </a:r>
            <a:r>
              <a:rPr lang="en-US" altLang="ko-KR" sz="900" b="0" dirty="0">
                <a:latin typeface="+mn-ea"/>
                <a:ea typeface="+mn-ea"/>
              </a:rPr>
              <a:t>LLM </a:t>
            </a:r>
            <a:r>
              <a:rPr lang="ko-KR" altLang="en-US" sz="900" b="0" dirty="0" err="1">
                <a:latin typeface="+mn-ea"/>
                <a:ea typeface="+mn-ea"/>
              </a:rPr>
              <a:t>멀티에이전트</a:t>
            </a:r>
            <a:r>
              <a:rPr lang="ko-KR" altLang="en-US" sz="900" b="0" dirty="0">
                <a:latin typeface="+mn-ea"/>
                <a:ea typeface="+mn-ea"/>
              </a:rPr>
              <a:t> 분석이 시작된다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dirty="0">
                <a:latin typeface="+mn-ea"/>
                <a:ea typeface="+mn-ea"/>
              </a:rPr>
              <a:t>MBTI </a:t>
            </a:r>
            <a:r>
              <a:rPr lang="ko-KR" altLang="en-US" sz="900" dirty="0">
                <a:latin typeface="+mn-ea"/>
                <a:ea typeface="+mn-ea"/>
              </a:rPr>
              <a:t>결과 확인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상권 </a:t>
            </a: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유형이 도출되고 유형별 특성이 설명된다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맞춤형 솔루션 제안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유형에 맞는 구체적인 실행 솔루션이 제안된다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우리 상권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유사 유형 매장들과 클러스터로 묶여 상권 지도와 함께 현황을 확인한다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솔루션 찾기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문제 유형별 맞춤 솔루션과 예상 효과를 확인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그림 25">
            <a:extLst>
              <a:ext uri="{FF2B5EF4-FFF2-40B4-BE49-F238E27FC236}">
                <a16:creationId xmlns:a16="http://schemas.microsoft.com/office/drawing/2014/main" id="{336676D4-A607-4253-8792-4CD73A5E5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038" y="2576513"/>
            <a:ext cx="106045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그림 26">
            <a:extLst>
              <a:ext uri="{FF2B5EF4-FFF2-40B4-BE49-F238E27FC236}">
                <a16:creationId xmlns:a16="http://schemas.microsoft.com/office/drawing/2014/main" id="{D68FA411-53AC-470F-9092-C8B01C7BF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"/>
          <a:stretch>
            <a:fillRect/>
          </a:stretch>
        </p:blipFill>
        <p:spPr bwMode="auto">
          <a:xfrm>
            <a:off x="2089150" y="2600325"/>
            <a:ext cx="11588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그림 27">
            <a:extLst>
              <a:ext uri="{FF2B5EF4-FFF2-40B4-BE49-F238E27FC236}">
                <a16:creationId xmlns:a16="http://schemas.microsoft.com/office/drawing/2014/main" id="{B5EACA8E-63A4-4F0B-9EBF-FE653E14F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66"/>
          <a:stretch>
            <a:fillRect/>
          </a:stretch>
        </p:blipFill>
        <p:spPr bwMode="auto">
          <a:xfrm>
            <a:off x="5089525" y="2576513"/>
            <a:ext cx="1052513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그림 28">
            <a:extLst>
              <a:ext uri="{FF2B5EF4-FFF2-40B4-BE49-F238E27FC236}">
                <a16:creationId xmlns:a16="http://schemas.microsoft.com/office/drawing/2014/main" id="{32E7452A-CEA4-4D3B-A66B-0DCD3A5AE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4932363" y="2516188"/>
            <a:ext cx="1366837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그림 29">
            <a:extLst>
              <a:ext uri="{FF2B5EF4-FFF2-40B4-BE49-F238E27FC236}">
                <a16:creationId xmlns:a16="http://schemas.microsoft.com/office/drawing/2014/main" id="{D22BC29D-CCA8-4D13-9DFC-ACEDE55FF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 bwMode="auto">
          <a:xfrm>
            <a:off x="3533775" y="2600325"/>
            <a:ext cx="11588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그림 30">
            <a:extLst>
              <a:ext uri="{FF2B5EF4-FFF2-40B4-BE49-F238E27FC236}">
                <a16:creationId xmlns:a16="http://schemas.microsoft.com/office/drawing/2014/main" id="{0F03B5AC-2B13-430D-B542-0C574D5E5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430588" y="251142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그림 31">
            <a:extLst>
              <a:ext uri="{FF2B5EF4-FFF2-40B4-BE49-F238E27FC236}">
                <a16:creationId xmlns:a16="http://schemas.microsoft.com/office/drawing/2014/main" id="{B47631BA-21EE-4C0C-AE3D-A16508FB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992313" y="2541588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3" name="그림 32">
            <a:extLst>
              <a:ext uri="{FF2B5EF4-FFF2-40B4-BE49-F238E27FC236}">
                <a16:creationId xmlns:a16="http://schemas.microsoft.com/office/drawing/2014/main" id="{21009360-D8CC-4AFA-85DB-F2E975E1B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6372225" y="251142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4" name="그림 33">
            <a:extLst>
              <a:ext uri="{FF2B5EF4-FFF2-40B4-BE49-F238E27FC236}">
                <a16:creationId xmlns:a16="http://schemas.microsoft.com/office/drawing/2014/main" id="{895022AE-9EBD-465E-B1EB-9A3C221E6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88" y="2570163"/>
            <a:ext cx="1074737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5" name="그림 34">
            <a:extLst>
              <a:ext uri="{FF2B5EF4-FFF2-40B4-BE49-F238E27FC236}">
                <a16:creationId xmlns:a16="http://schemas.microsoft.com/office/drawing/2014/main" id="{CD46E678-9A55-4C85-821C-FAE95368D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7823200" y="2517775"/>
            <a:ext cx="1366838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6" name="그림 35">
            <a:extLst>
              <a:ext uri="{FF2B5EF4-FFF2-40B4-BE49-F238E27FC236}">
                <a16:creationId xmlns:a16="http://schemas.microsoft.com/office/drawing/2014/main" id="{42E31071-3677-4127-8F41-01072CD5F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9374188" y="2570163"/>
            <a:ext cx="110172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7" name="그림 36">
            <a:extLst>
              <a:ext uri="{FF2B5EF4-FFF2-40B4-BE49-F238E27FC236}">
                <a16:creationId xmlns:a16="http://schemas.microsoft.com/office/drawing/2014/main" id="{5A0573C0-1615-4002-8252-BD1734D0F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9232900" y="251142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8" name="그림 2">
            <a:extLst>
              <a:ext uri="{FF2B5EF4-FFF2-40B4-BE49-F238E27FC236}">
                <a16:creationId xmlns:a16="http://schemas.microsoft.com/office/drawing/2014/main" id="{87CB837D-D068-47FA-B944-BDFDDD94B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025" y="1665288"/>
            <a:ext cx="1258888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말풍선: 모서리가 둥근 사각형 56">
            <a:extLst>
              <a:ext uri="{FF2B5EF4-FFF2-40B4-BE49-F238E27FC236}">
                <a16:creationId xmlns:a16="http://schemas.microsoft.com/office/drawing/2014/main" id="{F6BEDF29-DC78-44C0-85B9-147DFCE8507A}"/>
              </a:ext>
            </a:extLst>
          </p:cNvPr>
          <p:cNvSpPr/>
          <p:nvPr/>
        </p:nvSpPr>
        <p:spPr>
          <a:xfrm>
            <a:off x="650875" y="723900"/>
            <a:ext cx="1979613" cy="785813"/>
          </a:xfrm>
          <a:prstGeom prst="wedgeRoundRectCallout">
            <a:avLst>
              <a:gd name="adj1" fmla="val -43186"/>
              <a:gd name="adj2" fmla="val 72250"/>
              <a:gd name="adj3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요즘 제 점포가 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속해있는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상권의 분위기가 궁금해요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1520" name="Shape 1">
            <a:extLst>
              <a:ext uri="{FF2B5EF4-FFF2-40B4-BE49-F238E27FC236}">
                <a16:creationId xmlns:a16="http://schemas.microsoft.com/office/drawing/2014/main" id="{12389D82-76D3-4AE3-A9A3-C53593A96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175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21" name="Text 2">
            <a:extLst>
              <a:ext uri="{FF2B5EF4-FFF2-40B4-BE49-F238E27FC236}">
                <a16:creationId xmlns:a16="http://schemas.microsoft.com/office/drawing/2014/main" id="{BCA9F1EC-8834-4DC3-AF72-E86F28C45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175" y="2049463"/>
            <a:ext cx="1262063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rgbClr val="FFFFFF"/>
                </a:solidFill>
                <a:latin typeface="Pretendard" panose="02000503000000020004" pitchFamily="50" charset="-127"/>
              </a:rPr>
              <a:t>점주 입력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22" name="Text 3">
            <a:extLst>
              <a:ext uri="{FF2B5EF4-FFF2-40B4-BE49-F238E27FC236}">
                <a16:creationId xmlns:a16="http://schemas.microsoft.com/office/drawing/2014/main" id="{2BEAB948-D4E8-4FF1-97D5-A562DE9E1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288" y="2066925"/>
            <a:ext cx="1365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23" name="Shape 4">
            <a:extLst>
              <a:ext uri="{FF2B5EF4-FFF2-40B4-BE49-F238E27FC236}">
                <a16:creationId xmlns:a16="http://schemas.microsoft.com/office/drawing/2014/main" id="{5927511A-B7D3-43F6-8781-AFE0BA13F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8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0891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24" name="Text 5">
            <a:extLst>
              <a:ext uri="{FF2B5EF4-FFF2-40B4-BE49-F238E27FC236}">
                <a16:creationId xmlns:a16="http://schemas.microsoft.com/office/drawing/2014/main" id="{21906AFB-69A5-4AE2-A633-FAC85B625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863" y="2049463"/>
            <a:ext cx="1262062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분석 시작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25" name="Text 6">
            <a:extLst>
              <a:ext uri="{FF2B5EF4-FFF2-40B4-BE49-F238E27FC236}">
                <a16:creationId xmlns:a16="http://schemas.microsoft.com/office/drawing/2014/main" id="{A1CEC230-6AFA-4528-B276-D90F4E3CD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388" y="2066925"/>
            <a:ext cx="13811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26" name="Shape 7">
            <a:extLst>
              <a:ext uri="{FF2B5EF4-FFF2-40B4-BE49-F238E27FC236}">
                <a16:creationId xmlns:a16="http://schemas.microsoft.com/office/drawing/2014/main" id="{22EFAD0D-9D0B-4183-87CB-527BCC200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9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1118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27" name="Text 8">
            <a:extLst>
              <a:ext uri="{FF2B5EF4-FFF2-40B4-BE49-F238E27FC236}">
                <a16:creationId xmlns:a16="http://schemas.microsoft.com/office/drawing/2014/main" id="{3F786D1D-B344-4721-8E7C-F32668907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963" y="2049463"/>
            <a:ext cx="1262062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rgbClr val="FFFFFF"/>
                </a:solidFill>
                <a:latin typeface="Pretendard" panose="02000503000000020004" pitchFamily="50" charset="-127"/>
              </a:rPr>
              <a:t>MBTI </a:t>
            </a:r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결과 확인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28" name="Text 9">
            <a:extLst>
              <a:ext uri="{FF2B5EF4-FFF2-40B4-BE49-F238E27FC236}">
                <a16:creationId xmlns:a16="http://schemas.microsoft.com/office/drawing/2014/main" id="{25DEC39C-CEB2-4C7B-A893-41ADEB8DA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2066925"/>
            <a:ext cx="13811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29" name="Shape 10">
            <a:extLst>
              <a:ext uri="{FF2B5EF4-FFF2-40B4-BE49-F238E27FC236}">
                <a16:creationId xmlns:a16="http://schemas.microsoft.com/office/drawing/2014/main" id="{E71C1163-C37F-470C-8F4F-AFC23681A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6366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30" name="Text 11">
            <a:extLst>
              <a:ext uri="{FF2B5EF4-FFF2-40B4-BE49-F238E27FC236}">
                <a16:creationId xmlns:a16="http://schemas.microsoft.com/office/drawing/2014/main" id="{1D34B79F-A29F-4089-B2CC-7A66CDA75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2049463"/>
            <a:ext cx="1262062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맞춤형 솔루션 제안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31" name="Text 12">
            <a:extLst>
              <a:ext uri="{FF2B5EF4-FFF2-40B4-BE49-F238E27FC236}">
                <a16:creationId xmlns:a16="http://schemas.microsoft.com/office/drawing/2014/main" id="{C0F5B4CE-9AB7-4455-AC30-C1262312F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3175" y="2066925"/>
            <a:ext cx="1365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32" name="Shape 13">
            <a:extLst>
              <a:ext uri="{FF2B5EF4-FFF2-40B4-BE49-F238E27FC236}">
                <a16:creationId xmlns:a16="http://schemas.microsoft.com/office/drawing/2014/main" id="{E48FA319-A61E-4FE2-A995-86436CC76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0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0596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33" name="Text 14">
            <a:extLst>
              <a:ext uri="{FF2B5EF4-FFF2-40B4-BE49-F238E27FC236}">
                <a16:creationId xmlns:a16="http://schemas.microsoft.com/office/drawing/2014/main" id="{E59E851D-3B87-41F1-9767-4BA25B10A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0" y="2049463"/>
            <a:ext cx="1262063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우리 상권 확인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34" name="Text 15">
            <a:extLst>
              <a:ext uri="{FF2B5EF4-FFF2-40B4-BE49-F238E27FC236}">
                <a16:creationId xmlns:a16="http://schemas.microsoft.com/office/drawing/2014/main" id="{F892D319-1C09-4835-A052-56E3067E7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8275" y="2066925"/>
            <a:ext cx="1381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35" name="Shape 16">
            <a:extLst>
              <a:ext uri="{FF2B5EF4-FFF2-40B4-BE49-F238E27FC236}">
                <a16:creationId xmlns:a16="http://schemas.microsoft.com/office/drawing/2014/main" id="{6C94100B-F50E-4D45-97A7-BC9FB3FAD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3850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36" name="Text 17">
            <a:extLst>
              <a:ext uri="{FF2B5EF4-FFF2-40B4-BE49-F238E27FC236}">
                <a16:creationId xmlns:a16="http://schemas.microsoft.com/office/drawing/2014/main" id="{D5E3CA46-29AD-4DEE-87E5-64F2C08E2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3850" y="2049463"/>
            <a:ext cx="1262063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rgbClr val="FFFFFF"/>
                </a:solidFill>
                <a:latin typeface="Pretendard" panose="02000503000000020004" pitchFamily="50" charset="-127"/>
              </a:rPr>
              <a:t>솔루션 </a:t>
            </a:r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찾기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53C8942-BF83-4928-AB90-9938C0A7C679}"/>
              </a:ext>
            </a:extLst>
          </p:cNvPr>
          <p:cNvSpPr/>
          <p:nvPr/>
        </p:nvSpPr>
        <p:spPr>
          <a:xfrm>
            <a:off x="-932657" y="6134100"/>
            <a:ext cx="5935663" cy="3619500"/>
          </a:xfrm>
          <a:prstGeom prst="roundRect">
            <a:avLst>
              <a:gd name="adj" fmla="val 4656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점주가 서비스를 실제로 사용하는 흐름을 한눈에 보여주기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요즘 제 점포가 </a:t>
            </a:r>
            <a:r>
              <a:rPr lang="ko-KR" altLang="en-US" sz="900" b="0" dirty="0" err="1">
                <a:latin typeface="+mn-ea"/>
                <a:ea typeface="+mn-ea"/>
              </a:rPr>
              <a:t>속해있는</a:t>
            </a:r>
            <a:r>
              <a:rPr lang="ko-KR" altLang="en-US" sz="900" b="0" dirty="0">
                <a:latin typeface="+mn-ea"/>
                <a:ea typeface="+mn-ea"/>
              </a:rPr>
              <a:t> 상권의 분위기가 궁금해요</a:t>
            </a: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라는 점주의 고민에서 시작해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입력부터 솔루션 수령까지 과정을 </a:t>
            </a:r>
            <a:r>
              <a:rPr lang="en-US" altLang="ko-KR" sz="900" b="0" dirty="0">
                <a:latin typeface="+mn-ea"/>
                <a:ea typeface="+mn-ea"/>
              </a:rPr>
              <a:t>6</a:t>
            </a:r>
            <a:r>
              <a:rPr lang="ko-KR" altLang="en-US" sz="900" b="0" dirty="0">
                <a:latin typeface="+mn-ea"/>
                <a:ea typeface="+mn-ea"/>
              </a:rPr>
              <a:t>단계로 보여준다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점주 입력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상호명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위치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운영정보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err="1">
                <a:latin typeface="+mn-ea"/>
                <a:ea typeface="+mn-ea"/>
              </a:rPr>
              <a:t>시그니처</a:t>
            </a:r>
            <a:r>
              <a:rPr lang="ko-KR" altLang="en-US" sz="900" b="0" dirty="0">
                <a:latin typeface="+mn-ea"/>
                <a:ea typeface="+mn-ea"/>
              </a:rPr>
              <a:t> 상품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분위기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고민사항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주 고객 연령대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>
                <a:latin typeface="+mn-ea"/>
                <a:ea typeface="+mn-ea"/>
              </a:rPr>
              <a:t>성별 등을 입력한다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분석 시작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입력된 데이터와 공공데이터가 결합되어 </a:t>
            </a:r>
            <a:r>
              <a:rPr lang="en-US" altLang="ko-KR" sz="900" b="0" dirty="0">
                <a:latin typeface="+mn-ea"/>
                <a:ea typeface="+mn-ea"/>
              </a:rPr>
              <a:t>LLM </a:t>
            </a:r>
            <a:r>
              <a:rPr lang="ko-KR" altLang="en-US" sz="900" b="0" dirty="0" err="1">
                <a:latin typeface="+mn-ea"/>
                <a:ea typeface="+mn-ea"/>
              </a:rPr>
              <a:t>멀티에이전트</a:t>
            </a:r>
            <a:r>
              <a:rPr lang="ko-KR" altLang="en-US" sz="900" b="0" dirty="0">
                <a:latin typeface="+mn-ea"/>
                <a:ea typeface="+mn-ea"/>
              </a:rPr>
              <a:t> 분석이 시작된다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dirty="0">
                <a:latin typeface="+mn-ea"/>
                <a:ea typeface="+mn-ea"/>
              </a:rPr>
              <a:t>MBTI </a:t>
            </a:r>
            <a:r>
              <a:rPr lang="ko-KR" altLang="en-US" sz="900" dirty="0">
                <a:latin typeface="+mn-ea"/>
                <a:ea typeface="+mn-ea"/>
              </a:rPr>
              <a:t>결과 확인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상권 </a:t>
            </a: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유형이 도출되고 유형별 특성이 설명된다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맞춤형 솔루션 제안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유형에 맞는 구체적인 실행 솔루션이 제안된다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우리 상권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유사 유형 매장들과 클러스터로 묶여 상권 지도와 함께 현황을 확인한다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솔루션 찾기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문제 유형별 맞춤 솔루션과 예상 효과를 확인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데이터</a:t>
            </a:r>
            <a:r>
              <a:rPr 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입력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2876550" y="5008563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① 기본 정보 입력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2876550" y="5300663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기본 정보 입력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E70DA312-5088-405B-8BBD-229A05D69036}"/>
              </a:ext>
            </a:extLst>
          </p:cNvPr>
          <p:cNvSpPr/>
          <p:nvPr/>
        </p:nvSpPr>
        <p:spPr>
          <a:xfrm>
            <a:off x="5757863" y="5008563"/>
            <a:ext cx="2560637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②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 고민 </a:t>
            </a:r>
            <a:r>
              <a:rPr lang="en-US" sz="12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입력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B55EA259-5DAD-4D10-91E2-1C8643DCB550}"/>
              </a:ext>
            </a:extLst>
          </p:cNvPr>
          <p:cNvSpPr/>
          <p:nvPr/>
        </p:nvSpPr>
        <p:spPr>
          <a:xfrm>
            <a:off x="5757863" y="5300663"/>
            <a:ext cx="2560637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점주의 고민 사항 입력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pic>
        <p:nvPicPr>
          <p:cNvPr id="22536" name="그림 7">
            <a:extLst>
              <a:ext uri="{FF2B5EF4-FFF2-40B4-BE49-F238E27FC236}">
                <a16:creationId xmlns:a16="http://schemas.microsoft.com/office/drawing/2014/main" id="{5311E4D6-B196-4188-B980-2F26E87E1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"/>
          <a:stretch>
            <a:fillRect/>
          </a:stretch>
        </p:blipFill>
        <p:spPr bwMode="auto">
          <a:xfrm>
            <a:off x="3571875" y="2438400"/>
            <a:ext cx="11588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그림 8">
            <a:extLst>
              <a:ext uri="{FF2B5EF4-FFF2-40B4-BE49-F238E27FC236}">
                <a16:creationId xmlns:a16="http://schemas.microsoft.com/office/drawing/2014/main" id="{19758574-90E0-436F-B554-D93EC8F0C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 bwMode="auto">
          <a:xfrm>
            <a:off x="6457950" y="2466975"/>
            <a:ext cx="11588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그림 9">
            <a:extLst>
              <a:ext uri="{FF2B5EF4-FFF2-40B4-BE49-F238E27FC236}">
                <a16:creationId xmlns:a16="http://schemas.microsoft.com/office/drawing/2014/main" id="{FC3DF6F3-3F22-4094-BE41-484FDCE18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6354763" y="2378075"/>
            <a:ext cx="1366837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그림 10">
            <a:extLst>
              <a:ext uri="{FF2B5EF4-FFF2-40B4-BE49-F238E27FC236}">
                <a16:creationId xmlns:a16="http://schemas.microsoft.com/office/drawing/2014/main" id="{CD58CA02-2B89-40CB-840B-0BA89D924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475038" y="237807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7DB0C48-5A89-4147-8995-2A8191BF89EC}"/>
              </a:ext>
            </a:extLst>
          </p:cNvPr>
          <p:cNvSpPr/>
          <p:nvPr/>
        </p:nvSpPr>
        <p:spPr>
          <a:xfrm>
            <a:off x="-389467" y="5838297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점주가 서비스에 입력하는 데이터가 무엇인지를 보여준다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  <a:r>
              <a:rPr lang="ko-KR" altLang="en-US" sz="900" b="0" dirty="0">
                <a:latin typeface="+mn-ea"/>
                <a:ea typeface="+mn-ea"/>
              </a:rPr>
              <a:t>입력은 두 단계로 나뉜다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① 기본 정보 입력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상호명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위치</a:t>
            </a: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구</a:t>
            </a:r>
            <a:r>
              <a:rPr lang="en-US" altLang="ko-KR" sz="900" b="0" dirty="0">
                <a:latin typeface="+mn-ea"/>
                <a:ea typeface="+mn-ea"/>
              </a:rPr>
              <a:t>/</a:t>
            </a:r>
            <a:r>
              <a:rPr lang="ko-KR" altLang="en-US" sz="900" b="0" dirty="0">
                <a:latin typeface="+mn-ea"/>
                <a:ea typeface="+mn-ea"/>
              </a:rPr>
              <a:t>동</a:t>
            </a:r>
            <a:r>
              <a:rPr lang="en-US" altLang="ko-KR" sz="900" b="0" dirty="0">
                <a:latin typeface="+mn-ea"/>
                <a:ea typeface="+mn-ea"/>
              </a:rPr>
              <a:t>), </a:t>
            </a:r>
            <a:r>
              <a:rPr lang="ko-KR" altLang="en-US" sz="900" b="0" dirty="0">
                <a:latin typeface="+mn-ea"/>
                <a:ea typeface="+mn-ea"/>
              </a:rPr>
              <a:t>운영 요일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운영 시간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err="1">
                <a:latin typeface="+mn-ea"/>
                <a:ea typeface="+mn-ea"/>
              </a:rPr>
              <a:t>시그니처</a:t>
            </a:r>
            <a:r>
              <a:rPr lang="ko-KR" altLang="en-US" sz="900" b="0" dirty="0">
                <a:latin typeface="+mn-ea"/>
                <a:ea typeface="+mn-ea"/>
              </a:rPr>
              <a:t> </a:t>
            </a:r>
            <a:r>
              <a:rPr lang="ko-KR" altLang="en-US" sz="900" b="0" dirty="0" err="1">
                <a:latin typeface="+mn-ea"/>
                <a:ea typeface="+mn-ea"/>
              </a:rPr>
              <a:t>상품등을</a:t>
            </a:r>
            <a:r>
              <a:rPr lang="ko-KR" altLang="en-US" sz="900" b="0" dirty="0">
                <a:latin typeface="+mn-ea"/>
                <a:ea typeface="+mn-ea"/>
              </a:rPr>
              <a:t> 입력한다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가게의 기본적인 운영 현황을 파악하기 위한 항목들임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② 점주 고민 입력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가게 분위기를 버튼으로 선택하고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현재 가장 큰 고민을 텍스트로 직접 입력한다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주 고객 연령대와 성별도 선택함</a:t>
            </a:r>
            <a:r>
              <a:rPr lang="en-US" altLang="ko-KR" sz="900" b="0" dirty="0">
                <a:latin typeface="+mn-ea"/>
                <a:ea typeface="+mn-ea"/>
              </a:rPr>
              <a:t>.  (</a:t>
            </a:r>
            <a:r>
              <a:rPr lang="ko-KR" altLang="en-US" sz="900" b="0" dirty="0">
                <a:latin typeface="+mn-ea"/>
                <a:ea typeface="+mn-ea"/>
              </a:rPr>
              <a:t>점주의 주관적인 상황과 타겟 고객층을 파악하기 위한 항목들임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이 두 가지 입력이 공공데이터와 결합되어 분석의 기반이 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69E81F4D-FB9E-4D47-83FA-09F60D6AEAFA}"/>
              </a:ext>
            </a:extLst>
          </p:cNvPr>
          <p:cNvSpPr/>
          <p:nvPr/>
        </p:nvSpPr>
        <p:spPr>
          <a:xfrm>
            <a:off x="1738313" y="1238250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6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분석</a:t>
            </a:r>
            <a:r>
              <a:rPr 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결과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3555" name="Shape 1">
            <a:extLst>
              <a:ext uri="{FF2B5EF4-FFF2-40B4-BE49-F238E27FC236}">
                <a16:creationId xmlns:a16="http://schemas.microsoft.com/office/drawing/2014/main" id="{BD6DBEB9-F747-44A4-9CCD-6AEB6456D2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8313" y="1741488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99C9A68-7060-4511-B7B1-2DB573431872}"/>
              </a:ext>
            </a:extLst>
          </p:cNvPr>
          <p:cNvSpPr/>
          <p:nvPr/>
        </p:nvSpPr>
        <p:spPr>
          <a:xfrm>
            <a:off x="4622800" y="5046663"/>
            <a:ext cx="255905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④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진단 결과 확인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74EB8E8-6162-44C1-AB9F-F6F72B5219ED}"/>
              </a:ext>
            </a:extLst>
          </p:cNvPr>
          <p:cNvSpPr/>
          <p:nvPr/>
        </p:nvSpPr>
        <p:spPr>
          <a:xfrm>
            <a:off x="4622800" y="5338763"/>
            <a:ext cx="2559050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MBTI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분석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내 가게 상태 진단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E7606C42-9D63-4AAD-AE3E-C8E7830C4D2C}"/>
              </a:ext>
            </a:extLst>
          </p:cNvPr>
          <p:cNvSpPr/>
          <p:nvPr/>
        </p:nvSpPr>
        <p:spPr>
          <a:xfrm>
            <a:off x="7472363" y="5046663"/>
            <a:ext cx="2560637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⑤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맞춤형 솔루션 제안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3568B04-E131-402F-982A-89910C911D2C}"/>
              </a:ext>
            </a:extLst>
          </p:cNvPr>
          <p:cNvSpPr/>
          <p:nvPr/>
        </p:nvSpPr>
        <p:spPr>
          <a:xfrm>
            <a:off x="7472363" y="5338763"/>
            <a:ext cx="2560637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MBTI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유형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맞춤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솔루션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제안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59B58EB6-869E-477D-B1D3-85DE3863BF94}"/>
              </a:ext>
            </a:extLst>
          </p:cNvPr>
          <p:cNvSpPr/>
          <p:nvPr/>
        </p:nvSpPr>
        <p:spPr>
          <a:xfrm>
            <a:off x="1771650" y="5046663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③ MBTI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결과 확인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83C06745-38C1-4C88-9B12-E1EA04FD19F7}"/>
              </a:ext>
            </a:extLst>
          </p:cNvPr>
          <p:cNvSpPr/>
          <p:nvPr/>
        </p:nvSpPr>
        <p:spPr>
          <a:xfrm>
            <a:off x="1771650" y="5338763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MBTI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유형 도출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</a:t>
            </a:r>
          </a:p>
          <a:p>
            <a:pPr algn="ctr">
              <a:lnSpc>
                <a:spcPct val="130000"/>
              </a:lnSpc>
              <a:defRPr/>
            </a:pP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유형별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특성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설명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pic>
        <p:nvPicPr>
          <p:cNvPr id="23562" name="그림 9">
            <a:extLst>
              <a:ext uri="{FF2B5EF4-FFF2-40B4-BE49-F238E27FC236}">
                <a16:creationId xmlns:a16="http://schemas.microsoft.com/office/drawing/2014/main" id="{982F547C-36D9-4D2F-838C-AF1E1807D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66"/>
          <a:stretch>
            <a:fillRect/>
          </a:stretch>
        </p:blipFill>
        <p:spPr bwMode="auto">
          <a:xfrm>
            <a:off x="2500313" y="2505075"/>
            <a:ext cx="10541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3" name="그림 10">
            <a:extLst>
              <a:ext uri="{FF2B5EF4-FFF2-40B4-BE49-F238E27FC236}">
                <a16:creationId xmlns:a16="http://schemas.microsoft.com/office/drawing/2014/main" id="{8D4DFDDE-8693-48BB-925C-D9B74368C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2344738" y="2444750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4" name="그림 11">
            <a:extLst>
              <a:ext uri="{FF2B5EF4-FFF2-40B4-BE49-F238E27FC236}">
                <a16:creationId xmlns:a16="http://schemas.microsoft.com/office/drawing/2014/main" id="{2BB50B91-8D55-4C6D-BFEE-AE730A304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225" y="2505075"/>
            <a:ext cx="106045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5" name="그림 12">
            <a:extLst>
              <a:ext uri="{FF2B5EF4-FFF2-40B4-BE49-F238E27FC236}">
                <a16:creationId xmlns:a16="http://schemas.microsoft.com/office/drawing/2014/main" id="{AE0F2222-24AF-481F-81BC-1DE383E61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5203825" y="2417763"/>
            <a:ext cx="136525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6" name="그림 13">
            <a:extLst>
              <a:ext uri="{FF2B5EF4-FFF2-40B4-BE49-F238E27FC236}">
                <a16:creationId xmlns:a16="http://schemas.microsoft.com/office/drawing/2014/main" id="{C94333C5-8439-4A5D-B6BE-3C95926B0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75" y="2509838"/>
            <a:ext cx="106045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7" name="그림 14">
            <a:extLst>
              <a:ext uri="{FF2B5EF4-FFF2-40B4-BE49-F238E27FC236}">
                <a16:creationId xmlns:a16="http://schemas.microsoft.com/office/drawing/2014/main" id="{341D739C-537A-413B-97DD-41BC41722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8069263" y="2444750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48A78EF-4F51-458F-8D58-FF37141996F2}"/>
              </a:ext>
            </a:extLst>
          </p:cNvPr>
          <p:cNvSpPr/>
          <p:nvPr/>
        </p:nvSpPr>
        <p:spPr>
          <a:xfrm>
            <a:off x="-623094" y="6193897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점주가 입력한 데이터와 공공데이터가 결합되어 </a:t>
            </a:r>
            <a:r>
              <a:rPr lang="en-US" altLang="ko-KR" sz="900" b="0" dirty="0">
                <a:latin typeface="+mn-ea"/>
                <a:ea typeface="+mn-ea"/>
              </a:rPr>
              <a:t>LLM </a:t>
            </a:r>
            <a:r>
              <a:rPr lang="ko-KR" altLang="en-US" sz="900" b="0" dirty="0" err="1">
                <a:latin typeface="+mn-ea"/>
                <a:ea typeface="+mn-ea"/>
              </a:rPr>
              <a:t>멀티에이전트가</a:t>
            </a:r>
            <a:r>
              <a:rPr lang="ko-KR" altLang="en-US" sz="900" b="0" dirty="0">
                <a:latin typeface="+mn-ea"/>
                <a:ea typeface="+mn-ea"/>
              </a:rPr>
              <a:t> 분석한 결과물을 보여줌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③ </a:t>
            </a:r>
            <a:r>
              <a:rPr lang="en-US" altLang="ko-KR" sz="900" dirty="0">
                <a:latin typeface="+mn-ea"/>
                <a:ea typeface="+mn-ea"/>
              </a:rPr>
              <a:t>MBTI </a:t>
            </a:r>
            <a:r>
              <a:rPr lang="ko-KR" altLang="en-US" sz="900" dirty="0">
                <a:latin typeface="+mn-ea"/>
                <a:ea typeface="+mn-ea"/>
              </a:rPr>
              <a:t>결과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우리가 정의한 </a:t>
            </a: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기반으로 상권 유형을 분류하고 </a:t>
            </a:r>
            <a:r>
              <a:rPr lang="en-US" altLang="ko-KR" sz="900" b="0" dirty="0">
                <a:latin typeface="+mn-ea"/>
                <a:ea typeface="+mn-ea"/>
              </a:rPr>
              <a:t>DULT </a:t>
            </a:r>
            <a:r>
              <a:rPr lang="ko-KR" altLang="en-US" sz="900" b="0" dirty="0">
                <a:latin typeface="+mn-ea"/>
                <a:ea typeface="+mn-ea"/>
              </a:rPr>
              <a:t>등 유형명을 도출한다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각 축의 특성과 해당 유형이 가진 상권의 성격을 설명함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④ 진단 결과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비율을 </a:t>
            </a:r>
            <a:r>
              <a:rPr lang="ko-KR" altLang="en-US" sz="900" b="0" dirty="0" err="1">
                <a:latin typeface="+mn-ea"/>
                <a:ea typeface="+mn-ea"/>
              </a:rPr>
              <a:t>시각화하여</a:t>
            </a:r>
            <a:r>
              <a:rPr lang="ko-KR" altLang="en-US" sz="900" b="0" dirty="0">
                <a:latin typeface="+mn-ea"/>
                <a:ea typeface="+mn-ea"/>
              </a:rPr>
              <a:t> 어느 축이 강하고 약한지를 보여준다</a:t>
            </a:r>
            <a:r>
              <a:rPr lang="en-US" altLang="ko-KR" sz="900" b="0" dirty="0">
                <a:latin typeface="+mn-ea"/>
                <a:ea typeface="+mn-ea"/>
              </a:rPr>
              <a:t>. 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핵심 인사이트와 함께 내 가게의 현재 상태를 </a:t>
            </a: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손님은 많은데 재방문율이 낮아요</a:t>
            </a:r>
            <a:r>
              <a:rPr lang="en-US" altLang="ko-KR" sz="900" b="0" dirty="0">
                <a:latin typeface="+mn-ea"/>
                <a:ea typeface="+mn-ea"/>
              </a:rPr>
              <a:t>" </a:t>
            </a:r>
            <a:r>
              <a:rPr lang="ko-KR" altLang="en-US" sz="900" b="0" dirty="0">
                <a:latin typeface="+mn-ea"/>
                <a:ea typeface="+mn-ea"/>
              </a:rPr>
              <a:t>와 같은 식으로 진단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⑤ 맞춤형 솔루션 제안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유형에 맞는 구체적인 실행 솔루션을 제안한다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솔루션 마켓으로 연결되어 더 자세한 실행 방법 또한 확인가능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0">
            <a:extLst>
              <a:ext uri="{FF2B5EF4-FFF2-40B4-BE49-F238E27FC236}">
                <a16:creationId xmlns:a16="http://schemas.microsoft.com/office/drawing/2014/main" id="{405B6EB8-9382-45C0-950C-128D8EF5E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25" y="1127125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</a:rPr>
              <a:t>클러스터링 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</a:rPr>
              <a:t>&amp;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</a:rPr>
              <a:t>솔루션</a:t>
            </a:r>
          </a:p>
        </p:txBody>
      </p:sp>
      <p:sp>
        <p:nvSpPr>
          <p:cNvPr id="24579" name="Shape 1">
            <a:extLst>
              <a:ext uri="{FF2B5EF4-FFF2-40B4-BE49-F238E27FC236}">
                <a16:creationId xmlns:a16="http://schemas.microsoft.com/office/drawing/2014/main" id="{FB95AEC1-3FB3-4545-ABC0-49F5EA740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25" y="1630363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D0BD9958-B535-4591-943C-686BB28A651A}"/>
              </a:ext>
            </a:extLst>
          </p:cNvPr>
          <p:cNvSpPr/>
          <p:nvPr/>
        </p:nvSpPr>
        <p:spPr>
          <a:xfrm>
            <a:off x="3729038" y="4943475"/>
            <a:ext cx="393065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⑦ </a:t>
            </a:r>
            <a:r>
              <a:rPr lang="en-US" sz="12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상권</a:t>
            </a: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12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공동</a:t>
            </a: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12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고민</a:t>
            </a: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파악</a:t>
            </a:r>
            <a:endParaRPr lang="en-US" sz="12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F8FD9125-59E3-4383-A222-39BFD2DEB0F2}"/>
              </a:ext>
            </a:extLst>
          </p:cNvPr>
          <p:cNvSpPr/>
          <p:nvPr/>
        </p:nvSpPr>
        <p:spPr>
          <a:xfrm>
            <a:off x="3729038" y="5235575"/>
            <a:ext cx="3930650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내 공통 문제 도출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·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함께 실행하는 협업 솔루션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2F9047F6-4D49-47A4-851B-106497A34348}"/>
              </a:ext>
            </a:extLst>
          </p:cNvPr>
          <p:cNvSpPr/>
          <p:nvPr/>
        </p:nvSpPr>
        <p:spPr>
          <a:xfrm>
            <a:off x="6834188" y="4940300"/>
            <a:ext cx="3932237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⑧ 솔루션 마켓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43312FB-6221-4CCC-8E44-209352F59BCC}"/>
              </a:ext>
            </a:extLst>
          </p:cNvPr>
          <p:cNvSpPr/>
          <p:nvPr/>
        </p:nvSpPr>
        <p:spPr>
          <a:xfrm>
            <a:off x="6834188" y="5232400"/>
            <a:ext cx="3932237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고민 유형별 맞춤 솔루션 추천 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·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예상 효과 수치 제공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B877B8A0-6DBA-49A1-BE3D-991358DAA9DA}"/>
              </a:ext>
            </a:extLst>
          </p:cNvPr>
          <p:cNvSpPr/>
          <p:nvPr/>
        </p:nvSpPr>
        <p:spPr>
          <a:xfrm>
            <a:off x="1374775" y="4943475"/>
            <a:ext cx="2560638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⑥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우리 상권 확인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4585" name="Text 10">
            <a:extLst>
              <a:ext uri="{FF2B5EF4-FFF2-40B4-BE49-F238E27FC236}">
                <a16:creationId xmlns:a16="http://schemas.microsoft.com/office/drawing/2014/main" id="{15E2212D-4205-418D-85D1-975C99620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5235575"/>
            <a:ext cx="256063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sz="80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유사 유형 매장 군집화 </a:t>
            </a:r>
            <a:r>
              <a:rPr lang="en-US" altLang="ko-KR" sz="80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· </a:t>
            </a:r>
            <a:r>
              <a:rPr lang="ko-KR" altLang="en-US" sz="80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지도</a:t>
            </a:r>
          </a:p>
        </p:txBody>
      </p:sp>
      <p:pic>
        <p:nvPicPr>
          <p:cNvPr id="24586" name="그림 9">
            <a:extLst>
              <a:ext uri="{FF2B5EF4-FFF2-40B4-BE49-F238E27FC236}">
                <a16:creationId xmlns:a16="http://schemas.microsoft.com/office/drawing/2014/main" id="{A120717D-426D-4DDE-93EE-F089AD47E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2384425"/>
            <a:ext cx="1073150" cy="233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7" name="그림 10">
            <a:extLst>
              <a:ext uri="{FF2B5EF4-FFF2-40B4-BE49-F238E27FC236}">
                <a16:creationId xmlns:a16="http://schemas.microsoft.com/office/drawing/2014/main" id="{D6923D3E-68A4-4EB7-A727-E2C3A8467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978025" y="2332038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8" name="그림 11">
            <a:extLst>
              <a:ext uri="{FF2B5EF4-FFF2-40B4-BE49-F238E27FC236}">
                <a16:creationId xmlns:a16="http://schemas.microsoft.com/office/drawing/2014/main" id="{6C05BD73-7703-4767-8BBD-1E002CA5B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8210550" y="2390775"/>
            <a:ext cx="1100138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9" name="그림 12">
            <a:extLst>
              <a:ext uri="{FF2B5EF4-FFF2-40B4-BE49-F238E27FC236}">
                <a16:creationId xmlns:a16="http://schemas.microsoft.com/office/drawing/2014/main" id="{4B8569EF-79E2-4587-995D-2C5EDA614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8067675" y="2332038"/>
            <a:ext cx="1366838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0" name="그림 13">
            <a:extLst>
              <a:ext uri="{FF2B5EF4-FFF2-40B4-BE49-F238E27FC236}">
                <a16:creationId xmlns:a16="http://schemas.microsoft.com/office/drawing/2014/main" id="{E4BD37C8-BC10-4539-A4C4-0C45CCED2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900" y="2384425"/>
            <a:ext cx="1074738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1" name="그림 14">
            <a:extLst>
              <a:ext uri="{FF2B5EF4-FFF2-40B4-BE49-F238E27FC236}">
                <a16:creationId xmlns:a16="http://schemas.microsoft.com/office/drawing/2014/main" id="{5DD23CC5-7115-4C24-BD87-DCD6CA785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5022850" y="2332038"/>
            <a:ext cx="1366838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D80F190-58DD-448A-8B96-8E67263F7FF2}"/>
              </a:ext>
            </a:extLst>
          </p:cNvPr>
          <p:cNvSpPr/>
          <p:nvPr/>
        </p:nvSpPr>
        <p:spPr>
          <a:xfrm>
            <a:off x="-406400" y="6439430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우리 서비스는 개별 점주 분석에서 끝나지 않고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유사한 상권 매장들을 함께 묶어 공동으로 문제를 해결하는 구조다</a:t>
            </a:r>
            <a:r>
              <a:rPr lang="en-US" altLang="ko-KR" sz="900" b="0" dirty="0">
                <a:latin typeface="+mn-ea"/>
                <a:ea typeface="+mn-ea"/>
              </a:rPr>
              <a:t>!! 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이 서비스의 핵심 </a:t>
            </a:r>
            <a:r>
              <a:rPr lang="ko-KR" altLang="en-US" sz="900" b="0" dirty="0" err="1">
                <a:latin typeface="+mn-ea"/>
                <a:ea typeface="+mn-ea"/>
              </a:rPr>
              <a:t>차별점임</a:t>
            </a:r>
            <a:r>
              <a:rPr lang="en-US" altLang="ko-KR" sz="900" b="0" dirty="0">
                <a:latin typeface="+mn-ea"/>
                <a:ea typeface="+mn-ea"/>
              </a:rPr>
              <a:t>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⑥ 우리 상권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같은 </a:t>
            </a: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유형의 인근 매장들이 자동으로 클러스터로 묶인다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상권 지도 위에 업종별 매장 분포가 </a:t>
            </a:r>
            <a:r>
              <a:rPr lang="ko-KR" altLang="en-US" sz="900" b="0" dirty="0" err="1">
                <a:latin typeface="+mn-ea"/>
                <a:ea typeface="+mn-ea"/>
              </a:rPr>
              <a:t>시각화되고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클러스터 내 참여 매장 현황을 확인할 수 있다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⑦ 상권 공동 고민 파악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클러스터 내 점주들의 공통 고민이 자동으로 추출된다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개별 점주가 혼자 해결하기 어려운 문제를 함께 실행할 수 있는 협업형 솔루션이 제안된다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야간 공동 프로모션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상권 브랜딩 강화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타겟 고객 유입 확대 등이 예시</a:t>
            </a:r>
            <a:r>
              <a:rPr lang="en-US" altLang="ko-KR" sz="900" b="0" dirty="0">
                <a:latin typeface="+mn-ea"/>
                <a:ea typeface="+mn-ea"/>
              </a:rPr>
              <a:t>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⑧ 솔루션 마켓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고민 유형별로 </a:t>
            </a:r>
            <a:r>
              <a:rPr lang="ko-KR" altLang="en-US" sz="900" b="0" dirty="0" err="1">
                <a:latin typeface="+mn-ea"/>
                <a:ea typeface="+mn-ea"/>
              </a:rPr>
              <a:t>필터링된</a:t>
            </a:r>
            <a:r>
              <a:rPr lang="ko-KR" altLang="en-US" sz="900" b="0" dirty="0">
                <a:latin typeface="+mn-ea"/>
                <a:ea typeface="+mn-ea"/>
              </a:rPr>
              <a:t> 맞춤 솔루션 목록을 제공한다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클러스터 내 다른 점주들의 활용 사례와 예상 효과 수치를 함께 보여주어 실행 판단을 도움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그림 3">
            <a:extLst>
              <a:ext uri="{FF2B5EF4-FFF2-40B4-BE49-F238E27FC236}">
                <a16:creationId xmlns:a16="http://schemas.microsoft.com/office/drawing/2014/main" id="{49E84FA6-ED54-4967-926A-8B5C4BF26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163" y="1557338"/>
            <a:ext cx="9337675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그림 4">
            <a:extLst>
              <a:ext uri="{FF2B5EF4-FFF2-40B4-BE49-F238E27FC236}">
                <a16:creationId xmlns:a16="http://schemas.microsoft.com/office/drawing/2014/main" id="{B8FD0138-8237-4EA6-A1BA-AFD502E13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2789238"/>
            <a:ext cx="37623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5">
            <a:extLst>
              <a:ext uri="{FF2B5EF4-FFF2-40B4-BE49-F238E27FC236}">
                <a16:creationId xmlns:a16="http://schemas.microsoft.com/office/drawing/2014/main" id="{1D94D49B-0A53-46A0-8356-25F5272DC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23907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상권더하기 서비스 흐름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E1D192E-7DCB-462F-A979-8348D905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18360D5-5DAA-48C1-B42D-3BEDE584A33C}"/>
              </a:ext>
            </a:extLst>
          </p:cNvPr>
          <p:cNvSpPr/>
          <p:nvPr/>
        </p:nvSpPr>
        <p:spPr>
          <a:xfrm>
            <a:off x="59267" y="6101557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상권더하기의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분석 파이프라인은 세 단계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(Phase)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구성된다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입력에 맞춰  공공데이터를 검색하여 매장 맞춤 지표를 추출한다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2: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멀티에이전트가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이를 다각도로 심층 분석하여 보고서를 작성한다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3: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분석 보고서를 통합해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 도출과 상권 작명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 보고서를 제출한다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때 종합 분석 보고서는 클러스터링에 추가되며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결과는 기존 상권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참고하여 중복과 한 상권에 여러 이름을 짓는 것을 방지한다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다시 말하자면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출력은 데이터베이스에 축적되어 클러스터와 상권 이름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갱신에 활용된다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그림 4">
            <a:extLst>
              <a:ext uri="{FF2B5EF4-FFF2-40B4-BE49-F238E27FC236}">
                <a16:creationId xmlns:a16="http://schemas.microsoft.com/office/drawing/2014/main" id="{736A105E-43BF-4D4F-8437-AB885F943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660650"/>
            <a:ext cx="6159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Box 5">
            <a:extLst>
              <a:ext uri="{FF2B5EF4-FFF2-40B4-BE49-F238E27FC236}">
                <a16:creationId xmlns:a16="http://schemas.microsoft.com/office/drawing/2014/main" id="{77C8C9BD-ADEF-4F90-8B81-CE4A25B85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44328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Phase 1.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기반 데이터 융합</a:t>
            </a:r>
          </a:p>
        </p:txBody>
      </p:sp>
      <p:pic>
        <p:nvPicPr>
          <p:cNvPr id="26628" name="그림 7">
            <a:extLst>
              <a:ext uri="{FF2B5EF4-FFF2-40B4-BE49-F238E27FC236}">
                <a16:creationId xmlns:a16="http://schemas.microsoft.com/office/drawing/2014/main" id="{1516AB22-7868-40A5-B3CB-372BC0211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639763"/>
            <a:ext cx="431006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A609D21-8464-443A-AF89-9C6BCB2DF1C3}"/>
              </a:ext>
            </a:extLst>
          </p:cNvPr>
          <p:cNvSpPr/>
          <p:nvPr/>
        </p:nvSpPr>
        <p:spPr>
          <a:xfrm>
            <a:off x="7500938" y="1547813"/>
            <a:ext cx="4433887" cy="1114425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7402A6-3DA2-4FCB-A37D-C6E8511421E4}"/>
              </a:ext>
            </a:extLst>
          </p:cNvPr>
          <p:cNvSpPr/>
          <p:nvPr/>
        </p:nvSpPr>
        <p:spPr>
          <a:xfrm>
            <a:off x="9880600" y="1295400"/>
            <a:ext cx="2054225" cy="261938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6631" name="TextBox 12">
            <a:extLst>
              <a:ext uri="{FF2B5EF4-FFF2-40B4-BE49-F238E27FC236}">
                <a16:creationId xmlns:a16="http://schemas.microsoft.com/office/drawing/2014/main" id="{D38E23F1-3147-4887-A2CE-C76BF43E4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3276600"/>
            <a:ext cx="18891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사용자 데이터 입력</a:t>
            </a:r>
          </a:p>
        </p:txBody>
      </p:sp>
      <p:sp>
        <p:nvSpPr>
          <p:cNvPr id="26632" name="TextBox 13">
            <a:extLst>
              <a:ext uri="{FF2B5EF4-FFF2-40B4-BE49-F238E27FC236}">
                <a16:creationId xmlns:a16="http://schemas.microsoft.com/office/drawing/2014/main" id="{C6144814-7267-40CF-A32C-CF00A409F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" y="3743325"/>
            <a:ext cx="1330325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상호명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운영 요일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오픈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마감시간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시그니쳐 상품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고민 사항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주고객 연령층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성별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33" name="화살표: 오른쪽 14">
            <a:extLst>
              <a:ext uri="{FF2B5EF4-FFF2-40B4-BE49-F238E27FC236}">
                <a16:creationId xmlns:a16="http://schemas.microsoft.com/office/drawing/2014/main" id="{3904A5DB-659F-4DDE-B8C0-CE0AD8079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743325"/>
            <a:ext cx="836612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pic>
        <p:nvPicPr>
          <p:cNvPr id="26634" name="그림 20">
            <a:extLst>
              <a:ext uri="{FF2B5EF4-FFF2-40B4-BE49-F238E27FC236}">
                <a16:creationId xmlns:a16="http://schemas.microsoft.com/office/drawing/2014/main" id="{BD83B92A-C3B5-4F6B-8559-D099CDF5E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3619500"/>
            <a:ext cx="5318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그림 22">
            <a:extLst>
              <a:ext uri="{FF2B5EF4-FFF2-40B4-BE49-F238E27FC236}">
                <a16:creationId xmlns:a16="http://schemas.microsoft.com/office/drawing/2014/main" id="{AA5E81B1-0834-40DC-B2A6-035246D20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4246563"/>
            <a:ext cx="5588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6" name="TextBox 23">
            <a:extLst>
              <a:ext uri="{FF2B5EF4-FFF2-40B4-BE49-F238E27FC236}">
                <a16:creationId xmlns:a16="http://schemas.microsoft.com/office/drawing/2014/main" id="{3F59141E-0BCF-48BF-BDD0-89C6372DD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186113"/>
            <a:ext cx="2389187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사용자 맞춤 데이터 검색</a:t>
            </a:r>
          </a:p>
        </p:txBody>
      </p:sp>
      <p:pic>
        <p:nvPicPr>
          <p:cNvPr id="26637" name="그림 24">
            <a:extLst>
              <a:ext uri="{FF2B5EF4-FFF2-40B4-BE49-F238E27FC236}">
                <a16:creationId xmlns:a16="http://schemas.microsoft.com/office/drawing/2014/main" id="{A2C1F10A-707F-4DD5-A324-732A7E2D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4754563"/>
            <a:ext cx="5588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8" name="그림 25">
            <a:extLst>
              <a:ext uri="{FF2B5EF4-FFF2-40B4-BE49-F238E27FC236}">
                <a16:creationId xmlns:a16="http://schemas.microsoft.com/office/drawing/2014/main" id="{1C0CE500-BEA7-4583-9F51-90684553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5264150"/>
            <a:ext cx="558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9" name="TextBox 26">
            <a:extLst>
              <a:ext uri="{FF2B5EF4-FFF2-40B4-BE49-F238E27FC236}">
                <a16:creationId xmlns:a16="http://schemas.microsoft.com/office/drawing/2014/main" id="{7ECF8912-6BD3-4A9C-B5AE-20265AB4F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3783013"/>
            <a:ext cx="9842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카카오 지도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API</a:t>
            </a:r>
          </a:p>
        </p:txBody>
      </p:sp>
      <p:sp>
        <p:nvSpPr>
          <p:cNvPr id="26640" name="TextBox 27">
            <a:extLst>
              <a:ext uri="{FF2B5EF4-FFF2-40B4-BE49-F238E27FC236}">
                <a16:creationId xmlns:a16="http://schemas.microsoft.com/office/drawing/2014/main" id="{C78C7CB9-2819-43F2-8911-120F0EBBE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330700"/>
            <a:ext cx="185737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유동인구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1" name="TextBox 28">
            <a:extLst>
              <a:ext uri="{FF2B5EF4-FFF2-40B4-BE49-F238E27FC236}">
                <a16:creationId xmlns:a16="http://schemas.microsoft.com/office/drawing/2014/main" id="{1D634CF8-49F6-4498-8E20-D58D02D8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829175"/>
            <a:ext cx="206057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점포 수 변화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2" name="TextBox 29">
            <a:extLst>
              <a:ext uri="{FF2B5EF4-FFF2-40B4-BE49-F238E27FC236}">
                <a16:creationId xmlns:a16="http://schemas.microsoft.com/office/drawing/2014/main" id="{A6BDCC6F-32E3-425B-986D-8C4EA2879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5380038"/>
            <a:ext cx="18923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추정 매출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26643" name="그림 30">
            <a:extLst>
              <a:ext uri="{FF2B5EF4-FFF2-40B4-BE49-F238E27FC236}">
                <a16:creationId xmlns:a16="http://schemas.microsoft.com/office/drawing/2014/main" id="{17DB401D-76D4-4E21-B976-5AEB27F0D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5702300"/>
            <a:ext cx="55880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44" name="TextBox 31">
            <a:extLst>
              <a:ext uri="{FF2B5EF4-FFF2-40B4-BE49-F238E27FC236}">
                <a16:creationId xmlns:a16="http://schemas.microsoft.com/office/drawing/2014/main" id="{0CE0BE6E-E395-4438-A790-B2489E3A4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5818188"/>
            <a:ext cx="200977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서울시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1~9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호선 역사 좌표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5" name="화살표: 오른쪽 32">
            <a:extLst>
              <a:ext uri="{FF2B5EF4-FFF2-40B4-BE49-F238E27FC236}">
                <a16:creationId xmlns:a16="http://schemas.microsoft.com/office/drawing/2014/main" id="{F80EBCF4-0A45-4325-BD2B-6794CB6BA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3743325"/>
            <a:ext cx="835025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6646" name="TextBox 37">
            <a:extLst>
              <a:ext uri="{FF2B5EF4-FFF2-40B4-BE49-F238E27FC236}">
                <a16:creationId xmlns:a16="http://schemas.microsoft.com/office/drawing/2014/main" id="{2E9DFF75-FC8F-42D3-BABC-19A174895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25" y="3276600"/>
            <a:ext cx="16668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타겟 데이터 출력</a:t>
            </a:r>
          </a:p>
        </p:txBody>
      </p:sp>
      <p:sp>
        <p:nvSpPr>
          <p:cNvPr id="26647" name="TextBox 38">
            <a:extLst>
              <a:ext uri="{FF2B5EF4-FFF2-40B4-BE49-F238E27FC236}">
                <a16:creationId xmlns:a16="http://schemas.microsoft.com/office/drawing/2014/main" id="{0522A145-7248-4888-83F4-4FE31A6A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338" y="3854450"/>
            <a:ext cx="241300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개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폐업률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프랜차이즈 점포 수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가장 가까운 역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역까지 거리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시간대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성별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연령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최저 매출 시간대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타겟 연령대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매출 순위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457CC647-EF85-4396-87ED-5C79D7C99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1027605-10A5-45E0-B16E-461671C0B796}"/>
              </a:ext>
            </a:extLst>
          </p:cNvPr>
          <p:cNvSpPr/>
          <p:nvPr/>
        </p:nvSpPr>
        <p:spPr>
          <a:xfrm>
            <a:off x="-496888" y="5926138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점주가 입력한 정보와 공공데이터를 결합하여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분석에 필요한 매장 맞춤 지표를 생성하는 단계다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점주는 상호명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자치구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요일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오픈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마감 시간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시그니처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상품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분위기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고민 사항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고객 연령층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성별을 입력한다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입력값은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단순 소개 정보가 아니라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매장의 운영 구조와 점주의 주관적 상황을 반영하는 신호로 해석된다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입력된 위치 정보를 기준으로 카카오 지도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활용하여 매장 좌표를 특정하고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자치구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행정동에 대응하는 공공데이터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점포 수 변화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검색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매핑한다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1~9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역사 좌표 데이터를 통해 가장 가까운 역과 거리도 계산된다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단계의 최종 출력은 업종 카테고리별 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점포 수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역까지의 거리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최저 유동인구 시간대 및 성별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 분포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최저 매출 시간대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점주가 지정한 타겟 연령대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성별의 유동인구 및 매출 순위 등이다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지표들이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입력값이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그림 4">
            <a:extLst>
              <a:ext uri="{FF2B5EF4-FFF2-40B4-BE49-F238E27FC236}">
                <a16:creationId xmlns:a16="http://schemas.microsoft.com/office/drawing/2014/main" id="{4437B190-ECEC-47AE-8407-81080AC41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146300"/>
            <a:ext cx="6159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Box 5">
            <a:extLst>
              <a:ext uri="{FF2B5EF4-FFF2-40B4-BE49-F238E27FC236}">
                <a16:creationId xmlns:a16="http://schemas.microsoft.com/office/drawing/2014/main" id="{5679DFD8-3FE9-4A7E-8978-732794BF1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25755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Phase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2.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 다면적 상권 심층 분석</a:t>
            </a:r>
          </a:p>
        </p:txBody>
      </p:sp>
      <p:pic>
        <p:nvPicPr>
          <p:cNvPr id="27652" name="그림 7">
            <a:extLst>
              <a:ext uri="{FF2B5EF4-FFF2-40B4-BE49-F238E27FC236}">
                <a16:creationId xmlns:a16="http://schemas.microsoft.com/office/drawing/2014/main" id="{5ECCE73E-94B6-44DD-9B10-CA3C1647D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639763"/>
            <a:ext cx="431006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A94DD86-023E-4297-B8AB-C38B6919CDE9}"/>
              </a:ext>
            </a:extLst>
          </p:cNvPr>
          <p:cNvSpPr/>
          <p:nvPr/>
        </p:nvSpPr>
        <p:spPr>
          <a:xfrm>
            <a:off x="7500938" y="639763"/>
            <a:ext cx="2379662" cy="917575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3A1340-724E-447A-852F-093A4DED5CDF}"/>
              </a:ext>
            </a:extLst>
          </p:cNvPr>
          <p:cNvSpPr/>
          <p:nvPr/>
        </p:nvSpPr>
        <p:spPr>
          <a:xfrm>
            <a:off x="9880600" y="1287463"/>
            <a:ext cx="2054225" cy="1430337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8439" name="TextBox 12">
            <a:extLst>
              <a:ext uri="{FF2B5EF4-FFF2-40B4-BE49-F238E27FC236}">
                <a16:creationId xmlns:a16="http://schemas.microsoft.com/office/drawing/2014/main" id="{C7E4017F-C72A-4773-82FC-EBF770F20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2762250"/>
            <a:ext cx="2617788" cy="3857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입력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타겟 데이터</a:t>
            </a:r>
          </a:p>
        </p:txBody>
      </p:sp>
      <p:sp>
        <p:nvSpPr>
          <p:cNvPr id="18440" name="TextBox 13">
            <a:extLst>
              <a:ext uri="{FF2B5EF4-FFF2-40B4-BE49-F238E27FC236}">
                <a16:creationId xmlns:a16="http://schemas.microsoft.com/office/drawing/2014/main" id="{32EDEC82-1108-4839-8AE8-84482E0BE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3130550"/>
            <a:ext cx="2413000" cy="3305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상호명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운영 요일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오픈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마감시간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시그니쳐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 상품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고민 사항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주고객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 연령층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성별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개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 err="1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폐업률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프랜차이즈 점포 수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가장 가까운 역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역까지 거리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시간대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성별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연령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매출 시간대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타겟 연령대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매출 순위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57" name="화살표: 오른쪽 14">
            <a:extLst>
              <a:ext uri="{FF2B5EF4-FFF2-40B4-BE49-F238E27FC236}">
                <a16:creationId xmlns:a16="http://schemas.microsoft.com/office/drawing/2014/main" id="{1D76ADDF-8DE2-4E1B-B4BE-6F0CDE8B0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743325"/>
            <a:ext cx="836612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7658" name="TextBox 23">
            <a:extLst>
              <a:ext uri="{FF2B5EF4-FFF2-40B4-BE49-F238E27FC236}">
                <a16:creationId xmlns:a16="http://schemas.microsoft.com/office/drawing/2014/main" id="{EA8D195D-C546-4F4B-996E-EF5CF35C3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2767013"/>
            <a:ext cx="38989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LLM 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멀티에이전트 기반 상권 심층 분석</a:t>
            </a:r>
          </a:p>
        </p:txBody>
      </p:sp>
      <p:sp>
        <p:nvSpPr>
          <p:cNvPr id="27659" name="화살표: 오른쪽 32">
            <a:extLst>
              <a:ext uri="{FF2B5EF4-FFF2-40B4-BE49-F238E27FC236}">
                <a16:creationId xmlns:a16="http://schemas.microsoft.com/office/drawing/2014/main" id="{3B1B6D6B-AA75-4C33-9344-86096418B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3743325"/>
            <a:ext cx="835025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46FC263-66A2-4A25-B183-2C9AB3F6363D}"/>
              </a:ext>
            </a:extLst>
          </p:cNvPr>
          <p:cNvSpPr/>
          <p:nvPr/>
        </p:nvSpPr>
        <p:spPr>
          <a:xfrm>
            <a:off x="4643438" y="3635375"/>
            <a:ext cx="2033587" cy="449263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1" name="그림 42">
            <a:extLst>
              <a:ext uri="{FF2B5EF4-FFF2-40B4-BE49-F238E27FC236}">
                <a16:creationId xmlns:a16="http://schemas.microsoft.com/office/drawing/2014/main" id="{2DF5C889-73A5-4D26-A426-62D05BF5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366871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7391C34-5EB4-43E9-83FF-020563D4817B}"/>
              </a:ext>
            </a:extLst>
          </p:cNvPr>
          <p:cNvSpPr/>
          <p:nvPr/>
        </p:nvSpPr>
        <p:spPr>
          <a:xfrm>
            <a:off x="4643438" y="4178300"/>
            <a:ext cx="2033587" cy="449263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3" name="그림 44">
            <a:extLst>
              <a:ext uri="{FF2B5EF4-FFF2-40B4-BE49-F238E27FC236}">
                <a16:creationId xmlns:a16="http://schemas.microsoft.com/office/drawing/2014/main" id="{4228FD58-8331-487E-AEEA-BB4A55131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21322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4" name="TextBox 45">
            <a:extLst>
              <a:ext uri="{FF2B5EF4-FFF2-40B4-BE49-F238E27FC236}">
                <a16:creationId xmlns:a16="http://schemas.microsoft.com/office/drawing/2014/main" id="{416EDCD6-FE41-404F-9AD7-1E647F233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27513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경쟁환경 분석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5B187A4-17BE-4AC6-99B9-80C9DC7EC62F}"/>
              </a:ext>
            </a:extLst>
          </p:cNvPr>
          <p:cNvSpPr/>
          <p:nvPr/>
        </p:nvSpPr>
        <p:spPr>
          <a:xfrm>
            <a:off x="4643438" y="4706938"/>
            <a:ext cx="2033587" cy="449262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6" name="그림 47">
            <a:extLst>
              <a:ext uri="{FF2B5EF4-FFF2-40B4-BE49-F238E27FC236}">
                <a16:creationId xmlns:a16="http://schemas.microsoft.com/office/drawing/2014/main" id="{A5506E94-AC06-4DC8-95B7-A90BFFA38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74027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7" name="TextBox 48">
            <a:extLst>
              <a:ext uri="{FF2B5EF4-FFF2-40B4-BE49-F238E27FC236}">
                <a16:creationId xmlns:a16="http://schemas.microsoft.com/office/drawing/2014/main" id="{A2015238-124A-4533-8CB3-69BAEE7B3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80218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업종 추천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68" name="TextBox 49">
            <a:extLst>
              <a:ext uri="{FF2B5EF4-FFF2-40B4-BE49-F238E27FC236}">
                <a16:creationId xmlns:a16="http://schemas.microsoft.com/office/drawing/2014/main" id="{50923C7B-8316-4DF3-9A66-A7C664CEB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8088" y="3730625"/>
            <a:ext cx="17129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분석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69" name="TextBox 50">
            <a:extLst>
              <a:ext uri="{FF2B5EF4-FFF2-40B4-BE49-F238E27FC236}">
                <a16:creationId xmlns:a16="http://schemas.microsoft.com/office/drawing/2014/main" id="{2E1AEEF5-959B-43AC-9128-8F43D8417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5413" y="2767013"/>
            <a:ext cx="216852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상권 분석 보고서 출력</a:t>
            </a:r>
          </a:p>
        </p:txBody>
      </p:sp>
      <p:pic>
        <p:nvPicPr>
          <p:cNvPr id="27670" name="그림 2">
            <a:extLst>
              <a:ext uri="{FF2B5EF4-FFF2-40B4-BE49-F238E27FC236}">
                <a16:creationId xmlns:a16="http://schemas.microsoft.com/office/drawing/2014/main" id="{940F748A-C334-40DA-8669-DB69AD006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35607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1" name="그림 51">
            <a:extLst>
              <a:ext uri="{FF2B5EF4-FFF2-40B4-BE49-F238E27FC236}">
                <a16:creationId xmlns:a16="http://schemas.microsoft.com/office/drawing/2014/main" id="{60461FC1-A8AF-46A6-8F7F-5C0CC624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406082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2" name="그림 52">
            <a:extLst>
              <a:ext uri="{FF2B5EF4-FFF2-40B4-BE49-F238E27FC236}">
                <a16:creationId xmlns:a16="http://schemas.microsoft.com/office/drawing/2014/main" id="{49A42229-700A-45BF-B4A1-86B7DFC7B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457358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3" name="TextBox 53">
            <a:extLst>
              <a:ext uri="{FF2B5EF4-FFF2-40B4-BE49-F238E27FC236}">
                <a16:creationId xmlns:a16="http://schemas.microsoft.com/office/drawing/2014/main" id="{5AA16A4D-3518-40CF-94C1-7F87EEB47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4706938"/>
            <a:ext cx="1711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업종 추천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74" name="TextBox 54">
            <a:extLst>
              <a:ext uri="{FF2B5EF4-FFF2-40B4-BE49-F238E27FC236}">
                <a16:creationId xmlns:a16="http://schemas.microsoft.com/office/drawing/2014/main" id="{4A25B7CF-3551-4F16-9F52-1B6ACBD78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4184650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경쟁환경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75" name="TextBox 55">
            <a:extLst>
              <a:ext uri="{FF2B5EF4-FFF2-40B4-BE49-F238E27FC236}">
                <a16:creationId xmlns:a16="http://schemas.microsoft.com/office/drawing/2014/main" id="{73C284A6-37EF-471C-9E90-94C05DECE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3705225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60D2FF56-6A12-4E53-9C23-B748A7A70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B062461-E7CE-44E5-8906-F917163D19B5}"/>
              </a:ext>
            </a:extLst>
          </p:cNvPr>
          <p:cNvSpPr/>
          <p:nvPr/>
        </p:nvSpPr>
        <p:spPr>
          <a:xfrm>
            <a:off x="-372533" y="5659438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생성된 사용자 입력과 타겟 데이터를 결합하여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LLM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멀티에이전트가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매장의 상황을 다각도로 심층 분석하는 단계다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개의 전문 에이전트가 병렬적으로 독립 분석을 수행한다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 에이전트는 동일 업종 카테고리의 점포 수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비율을 바탕으로 상권 내 경쟁 구조와 시장 성장성을 평가하고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강도를 종합 판정한다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추천 에이전트는 해당 행정동의 업종별 매출 순위와 현재 운영 업종의 포지셔닝을 비교하여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업종 유지 여부 또는 전환 방향에 대한 운영 인사이트를 도출한다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에이전트는 유동인구 시간대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분포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시간대 패턴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점주의 타겟 고객과 실제 유동인구 간의 정합성을 평가하여 상권 활성도를 종합 진단한다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에이전트의 분석 결과는 독립된 보고서 형태로 출력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추천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세 보고서가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통합 분석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입력값으로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전달된다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1CF2935-8047-47DB-8C5F-BC013279A21E}"/>
              </a:ext>
            </a:extLst>
          </p:cNvPr>
          <p:cNvSpPr/>
          <p:nvPr/>
        </p:nvSpPr>
        <p:spPr>
          <a:xfrm>
            <a:off x="9759950" y="4349750"/>
            <a:ext cx="2147888" cy="9302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675" name="TextBox 5">
            <a:extLst>
              <a:ext uri="{FF2B5EF4-FFF2-40B4-BE49-F238E27FC236}">
                <a16:creationId xmlns:a16="http://schemas.microsoft.com/office/drawing/2014/main" id="{F196DA19-F01A-4103-8AAD-481209385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04323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Phase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통합 분석 및 브랜딩</a:t>
            </a:r>
          </a:p>
        </p:txBody>
      </p:sp>
      <p:pic>
        <p:nvPicPr>
          <p:cNvPr id="28676" name="그림 7">
            <a:extLst>
              <a:ext uri="{FF2B5EF4-FFF2-40B4-BE49-F238E27FC236}">
                <a16:creationId xmlns:a16="http://schemas.microsoft.com/office/drawing/2014/main" id="{90F3DF9A-6FDD-4346-BF45-3E05EF15A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639763"/>
            <a:ext cx="431006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D2D1E86-EC79-4205-813C-7AF908C04511}"/>
              </a:ext>
            </a:extLst>
          </p:cNvPr>
          <p:cNvSpPr/>
          <p:nvPr/>
        </p:nvSpPr>
        <p:spPr>
          <a:xfrm>
            <a:off x="7500938" y="639763"/>
            <a:ext cx="2379662" cy="2078037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8678" name="화살표: 오른쪽 14">
            <a:extLst>
              <a:ext uri="{FF2B5EF4-FFF2-40B4-BE49-F238E27FC236}">
                <a16:creationId xmlns:a16="http://schemas.microsoft.com/office/drawing/2014/main" id="{8509668E-D283-46C1-A893-56C78EE33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3941763"/>
            <a:ext cx="836613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8679" name="TextBox 23">
            <a:extLst>
              <a:ext uri="{FF2B5EF4-FFF2-40B4-BE49-F238E27FC236}">
                <a16:creationId xmlns:a16="http://schemas.microsoft.com/office/drawing/2014/main" id="{E64C1E54-7375-43B5-9067-900E06F09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7363" y="2790825"/>
            <a:ext cx="220503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en-US" altLang="ko-KR" sz="1800">
                <a:latin typeface="Pretendard" panose="02000503000000020004" pitchFamily="50" charset="-127"/>
                <a:ea typeface="Pretendard" panose="02000503000000020004" pitchFamily="50" charset="-127"/>
              </a:rPr>
              <a:t>LLM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멀티에이전트 기반 </a:t>
            </a:r>
            <a:endParaRPr lang="en-US" altLang="ko-KR" sz="18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및 종합 분석</a:t>
            </a:r>
          </a:p>
        </p:txBody>
      </p:sp>
      <p:sp>
        <p:nvSpPr>
          <p:cNvPr id="28680" name="화살표: 오른쪽 32">
            <a:extLst>
              <a:ext uri="{FF2B5EF4-FFF2-40B4-BE49-F238E27FC236}">
                <a16:creationId xmlns:a16="http://schemas.microsoft.com/office/drawing/2014/main" id="{8DB0E611-27D8-4FFC-A0C4-1D56FCC34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3941763"/>
            <a:ext cx="835025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B12B402-FF01-47C2-9E7B-368A004F0ACB}"/>
              </a:ext>
            </a:extLst>
          </p:cNvPr>
          <p:cNvSpPr/>
          <p:nvPr/>
        </p:nvSpPr>
        <p:spPr>
          <a:xfrm>
            <a:off x="3113088" y="4014788"/>
            <a:ext cx="2033587" cy="449262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682" name="그림 42">
            <a:extLst>
              <a:ext uri="{FF2B5EF4-FFF2-40B4-BE49-F238E27FC236}">
                <a16:creationId xmlns:a16="http://schemas.microsoft.com/office/drawing/2014/main" id="{D46E85F5-CB30-419A-934F-BA06CF8A7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8" y="404812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F9F241B-5C85-46FD-8B4A-EB69A7464302}"/>
              </a:ext>
            </a:extLst>
          </p:cNvPr>
          <p:cNvSpPr/>
          <p:nvPr/>
        </p:nvSpPr>
        <p:spPr>
          <a:xfrm>
            <a:off x="3113088" y="4557713"/>
            <a:ext cx="2033587" cy="450850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684" name="그림 44">
            <a:extLst>
              <a:ext uri="{FF2B5EF4-FFF2-40B4-BE49-F238E27FC236}">
                <a16:creationId xmlns:a16="http://schemas.microsoft.com/office/drawing/2014/main" id="{1258A364-0CE3-4057-BA0B-9B1A27B1C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8" y="459263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5" name="TextBox 45">
            <a:extLst>
              <a:ext uri="{FF2B5EF4-FFF2-40B4-BE49-F238E27FC236}">
                <a16:creationId xmlns:a16="http://schemas.microsoft.com/office/drawing/2014/main" id="{067F6684-004C-4B88-B446-9B22500B9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963" y="4654550"/>
            <a:ext cx="17129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에이전트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86" name="TextBox 49">
            <a:extLst>
              <a:ext uri="{FF2B5EF4-FFF2-40B4-BE49-F238E27FC236}">
                <a16:creationId xmlns:a16="http://schemas.microsoft.com/office/drawing/2014/main" id="{1D85F373-F6AE-415A-9EA4-0351AA461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738" y="411003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종합 분석 에이전트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87" name="TextBox 50">
            <a:extLst>
              <a:ext uri="{FF2B5EF4-FFF2-40B4-BE49-F238E27FC236}">
                <a16:creationId xmlns:a16="http://schemas.microsoft.com/office/drawing/2014/main" id="{A8C54AC0-C6D5-443F-8FAD-0AA89D017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2790825"/>
            <a:ext cx="174942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종합 보고서 및 </a:t>
            </a:r>
            <a:endParaRPr lang="en-US" altLang="ko-KR" sz="18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결과 출력</a:t>
            </a:r>
          </a:p>
        </p:txBody>
      </p:sp>
      <p:pic>
        <p:nvPicPr>
          <p:cNvPr id="28688" name="그림 2">
            <a:extLst>
              <a:ext uri="{FF2B5EF4-FFF2-40B4-BE49-F238E27FC236}">
                <a16:creationId xmlns:a16="http://schemas.microsoft.com/office/drawing/2014/main" id="{A213BE9D-B049-4ED3-ACAB-2B2BABB11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39417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9" name="그림 51">
            <a:extLst>
              <a:ext uri="{FF2B5EF4-FFF2-40B4-BE49-F238E27FC236}">
                <a16:creationId xmlns:a16="http://schemas.microsoft.com/office/drawing/2014/main" id="{D10E87C5-59B3-4E3A-AC60-D90BF6F5C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4443413"/>
            <a:ext cx="5080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0" name="TextBox 54">
            <a:extLst>
              <a:ext uri="{FF2B5EF4-FFF2-40B4-BE49-F238E27FC236}">
                <a16:creationId xmlns:a16="http://schemas.microsoft.com/office/drawing/2014/main" id="{C123DFA9-0FBD-4B85-A4E5-B62D85AD9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4565650"/>
            <a:ext cx="17129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결과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1" name="TextBox 55">
            <a:extLst>
              <a:ext uri="{FF2B5EF4-FFF2-40B4-BE49-F238E27FC236}">
                <a16:creationId xmlns:a16="http://schemas.microsoft.com/office/drawing/2014/main" id="{DAF48DAD-9389-4280-BBE9-3DD78A0D0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4087813"/>
            <a:ext cx="17129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종합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2" name="TextBox 36">
            <a:extLst>
              <a:ext uri="{FF2B5EF4-FFF2-40B4-BE49-F238E27FC236}">
                <a16:creationId xmlns:a16="http://schemas.microsoft.com/office/drawing/2014/main" id="{03D8793C-1439-4A4C-9655-20A2F1A43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2798763"/>
            <a:ext cx="19478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분석 보고서 입력</a:t>
            </a:r>
          </a:p>
        </p:txBody>
      </p:sp>
      <p:pic>
        <p:nvPicPr>
          <p:cNvPr id="28693" name="그림 37">
            <a:extLst>
              <a:ext uri="{FF2B5EF4-FFF2-40B4-BE49-F238E27FC236}">
                <a16:creationId xmlns:a16="http://schemas.microsoft.com/office/drawing/2014/main" id="{F373C60D-7037-45D2-9502-F1684B0FA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7592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4" name="그림 38">
            <a:extLst>
              <a:ext uri="{FF2B5EF4-FFF2-40B4-BE49-F238E27FC236}">
                <a16:creationId xmlns:a16="http://schemas.microsoft.com/office/drawing/2014/main" id="{BCEBB54B-EE59-4622-ACEE-530A73F6C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2592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5" name="그림 39">
            <a:extLst>
              <a:ext uri="{FF2B5EF4-FFF2-40B4-BE49-F238E27FC236}">
                <a16:creationId xmlns:a16="http://schemas.microsoft.com/office/drawing/2014/main" id="{74143C26-5A9D-4D9D-8FC3-EAC22E57A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77202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6" name="TextBox 40">
            <a:extLst>
              <a:ext uri="{FF2B5EF4-FFF2-40B4-BE49-F238E27FC236}">
                <a16:creationId xmlns:a16="http://schemas.microsoft.com/office/drawing/2014/main" id="{B070E48C-2001-4DDC-AC99-30CD5DD19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905375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업종 추천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7" name="TextBox 56">
            <a:extLst>
              <a:ext uri="{FF2B5EF4-FFF2-40B4-BE49-F238E27FC236}">
                <a16:creationId xmlns:a16="http://schemas.microsoft.com/office/drawing/2014/main" id="{1E2B18E8-BD88-4596-97A1-FA40F64C9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383088"/>
            <a:ext cx="17113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경쟁환경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8" name="TextBox 57">
            <a:extLst>
              <a:ext uri="{FF2B5EF4-FFF2-40B4-BE49-F238E27FC236}">
                <a16:creationId xmlns:a16="http://schemas.microsoft.com/office/drawing/2014/main" id="{0AEA38A7-F0F4-4712-B640-6D39BD2C0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3903663"/>
            <a:ext cx="1711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9" name="화살표: 오른쪽 58">
            <a:extLst>
              <a:ext uri="{FF2B5EF4-FFF2-40B4-BE49-F238E27FC236}">
                <a16:creationId xmlns:a16="http://schemas.microsoft.com/office/drawing/2014/main" id="{EEEAF8BD-80FD-4EE3-899E-C4B0D3D44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2675" y="3941763"/>
            <a:ext cx="835025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8700" name="TextBox 59">
            <a:extLst>
              <a:ext uri="{FF2B5EF4-FFF2-40B4-BE49-F238E27FC236}">
                <a16:creationId xmlns:a16="http://schemas.microsoft.com/office/drawing/2014/main" id="{A3A02EE8-1AB4-48AA-A20E-F32290070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6413" y="2781300"/>
            <a:ext cx="270668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종합 분석 결과 클러스터링 및 데이터베이스 갱신</a:t>
            </a:r>
            <a:endParaRPr lang="en-US" altLang="ko-KR" sz="18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28701" name="그림 60">
            <a:extLst>
              <a:ext uri="{FF2B5EF4-FFF2-40B4-BE49-F238E27FC236}">
                <a16:creationId xmlns:a16="http://schemas.microsoft.com/office/drawing/2014/main" id="{10A0DFB5-8FB8-4B02-9EA9-10900E72D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963" y="4429125"/>
            <a:ext cx="404812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2" name="그림 61">
            <a:extLst>
              <a:ext uri="{FF2B5EF4-FFF2-40B4-BE49-F238E27FC236}">
                <a16:creationId xmlns:a16="http://schemas.microsoft.com/office/drawing/2014/main" id="{80C2611C-C4A5-4735-AA63-5CA43E84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338" y="4429125"/>
            <a:ext cx="557212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703" name="TextBox 62">
            <a:extLst>
              <a:ext uri="{FF2B5EF4-FFF2-40B4-BE49-F238E27FC236}">
                <a16:creationId xmlns:a16="http://schemas.microsoft.com/office/drawing/2014/main" id="{7A700CBA-98A2-4C13-8DD7-EFF8AF323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9950" y="4897438"/>
            <a:ext cx="11128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사용자</a:t>
            </a:r>
            <a:r>
              <a:rPr lang="en-US" altLang="ko-KR" sz="11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클러스터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704" name="TextBox 63">
            <a:extLst>
              <a:ext uri="{FF2B5EF4-FFF2-40B4-BE49-F238E27FC236}">
                <a16:creationId xmlns:a16="http://schemas.microsoft.com/office/drawing/2014/main" id="{FD3413CE-DFA1-46E4-A573-B6ABE87F9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4525" y="4899025"/>
            <a:ext cx="11128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</a:t>
            </a:r>
            <a:r>
              <a:rPr lang="en-US" altLang="ko-KR" sz="1100">
                <a:latin typeface="Pretendard" panose="02000503000000020004" pitchFamily="50" charset="-127"/>
                <a:ea typeface="Pretendard" panose="02000503000000020004" pitchFamily="50" charset="-127"/>
              </a:rPr>
              <a:t>DB</a:t>
            </a:r>
          </a:p>
        </p:txBody>
      </p:sp>
      <p:pic>
        <p:nvPicPr>
          <p:cNvPr id="28705" name="그림 3">
            <a:extLst>
              <a:ext uri="{FF2B5EF4-FFF2-40B4-BE49-F238E27FC236}">
                <a16:creationId xmlns:a16="http://schemas.microsoft.com/office/drawing/2014/main" id="{A7D15E92-EDBD-4190-BDF1-07F0A5A44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663" y="3697288"/>
            <a:ext cx="574675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5">
            <a:extLst>
              <a:ext uri="{FF2B5EF4-FFF2-40B4-BE49-F238E27FC236}">
                <a16:creationId xmlns:a16="http://schemas.microsoft.com/office/drawing/2014/main" id="{7B6D9442-0012-4F59-9806-C001E7DA0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3290479-EAEF-452F-96F6-094D298173F1}"/>
              </a:ext>
            </a:extLst>
          </p:cNvPr>
          <p:cNvSpPr/>
          <p:nvPr/>
        </p:nvSpPr>
        <p:spPr>
          <a:xfrm>
            <a:off x="-558007" y="6045200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출력된 세 개의 보고서를 입력으로 받아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 판정과 상권 작명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그리고 클러스터 배정까지 완결하는 단계다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에이전트는 경쟁환경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업종추천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보고서를 종합하여 매장의 운영 특성을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네 축으로 판별하고 최종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유형을 확정한다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유형에 따른 핵심 인사이트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 실행 전략이 종합 보고서로 출력된다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때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MBTI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수치로 도출할 수 있도록 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에이전트는 분석된 상권의 핵심 특성인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 패턴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고객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구조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 정체성을 반영하여 해당 상권을 대표하는 이름 후보를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생성하고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그중 하나를 채택한다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작명 결과는 점주 간 공유 자산으로 상권 브랜딩에 활용된다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결과는 데이터베이스에 저장되어 두 가지 방향으로 활용된다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첫째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동일하거나 유사한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유형의 매장들을 자동으로 클러스터로 묶어 사용자 클러스터를 구성한다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둘째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결과가 누적되어 상권 작명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형성하고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 신규 매장의 분석 정확도와 작명 품질을 지속적으로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고도화하는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피드백 루프로 작동한다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2">
            <a:extLst>
              <a:ext uri="{FF2B5EF4-FFF2-40B4-BE49-F238E27FC236}">
                <a16:creationId xmlns:a16="http://schemas.microsoft.com/office/drawing/2014/main" id="{F055483A-5290-470D-8F89-E36D6961D5F1}"/>
              </a:ext>
            </a:extLst>
          </p:cNvPr>
          <p:cNvSpPr/>
          <p:nvPr/>
        </p:nvSpPr>
        <p:spPr>
          <a:xfrm>
            <a:off x="6387092" y="1365842"/>
            <a:ext cx="1234440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5" name="Text 3">
            <a:extLst>
              <a:ext uri="{FF2B5EF4-FFF2-40B4-BE49-F238E27FC236}">
                <a16:creationId xmlns:a16="http://schemas.microsoft.com/office/drawing/2014/main" id="{E26284EB-DAF8-4610-A764-4BBB5F354650}"/>
              </a:ext>
            </a:extLst>
          </p:cNvPr>
          <p:cNvSpPr/>
          <p:nvPr/>
        </p:nvSpPr>
        <p:spPr>
          <a:xfrm>
            <a:off x="6387092" y="136584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소요 시간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32.09 sec</a:t>
            </a:r>
          </a:p>
        </p:txBody>
      </p:sp>
      <p:sp>
        <p:nvSpPr>
          <p:cNvPr id="376" name="Shape 4">
            <a:extLst>
              <a:ext uri="{FF2B5EF4-FFF2-40B4-BE49-F238E27FC236}">
                <a16:creationId xmlns:a16="http://schemas.microsoft.com/office/drawing/2014/main" id="{7A96393B-95C0-4620-87D0-D23FA2575D6D}"/>
              </a:ext>
            </a:extLst>
          </p:cNvPr>
          <p:cNvSpPr/>
          <p:nvPr/>
        </p:nvSpPr>
        <p:spPr>
          <a:xfrm>
            <a:off x="7712972" y="1365842"/>
            <a:ext cx="1234440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7" name="Text 5">
            <a:extLst>
              <a:ext uri="{FF2B5EF4-FFF2-40B4-BE49-F238E27FC236}">
                <a16:creationId xmlns:a16="http://schemas.microsoft.com/office/drawing/2014/main" id="{69CA36A7-442C-4945-B19E-C5E8293C72E9}"/>
              </a:ext>
            </a:extLst>
          </p:cNvPr>
          <p:cNvSpPr/>
          <p:nvPr/>
        </p:nvSpPr>
        <p:spPr>
          <a:xfrm>
            <a:off x="7712972" y="136584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gpt-4o-mini</a:t>
            </a:r>
          </a:p>
        </p:txBody>
      </p:sp>
      <p:sp>
        <p:nvSpPr>
          <p:cNvPr id="378" name="Shape 6">
            <a:extLst>
              <a:ext uri="{FF2B5EF4-FFF2-40B4-BE49-F238E27FC236}">
                <a16:creationId xmlns:a16="http://schemas.microsoft.com/office/drawing/2014/main" id="{88C2ECF5-5B20-4B4E-8982-FF1F7E64C230}"/>
              </a:ext>
            </a:extLst>
          </p:cNvPr>
          <p:cNvSpPr/>
          <p:nvPr/>
        </p:nvSpPr>
        <p:spPr>
          <a:xfrm>
            <a:off x="179330" y="1795610"/>
            <a:ext cx="3200400" cy="4342046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9" name="Shape 7">
            <a:extLst>
              <a:ext uri="{FF2B5EF4-FFF2-40B4-BE49-F238E27FC236}">
                <a16:creationId xmlns:a16="http://schemas.microsoft.com/office/drawing/2014/main" id="{7A96BC6D-BD89-45F1-AFFF-20638F12C8BB}"/>
              </a:ext>
            </a:extLst>
          </p:cNvPr>
          <p:cNvSpPr/>
          <p:nvPr/>
        </p:nvSpPr>
        <p:spPr>
          <a:xfrm>
            <a:off x="179330" y="1795610"/>
            <a:ext cx="3200400" cy="2926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80" name="Text 8">
            <a:extLst>
              <a:ext uri="{FF2B5EF4-FFF2-40B4-BE49-F238E27FC236}">
                <a16:creationId xmlns:a16="http://schemas.microsoft.com/office/drawing/2014/main" id="{B820873C-5ED0-4F9B-A74D-2EDA1245817C}"/>
              </a:ext>
            </a:extLst>
          </p:cNvPr>
          <p:cNvSpPr/>
          <p:nvPr/>
        </p:nvSpPr>
        <p:spPr>
          <a:xfrm>
            <a:off x="179330" y="179561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DataLoader — input_data (JSON 발췌)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1" name="Shape 9">
            <a:extLst>
              <a:ext uri="{FF2B5EF4-FFF2-40B4-BE49-F238E27FC236}">
                <a16:creationId xmlns:a16="http://schemas.microsoft.com/office/drawing/2014/main" id="{F93D6BAD-03D5-4AFF-8675-BA52585C549F}"/>
              </a:ext>
            </a:extLst>
          </p:cNvPr>
          <p:cNvSpPr/>
          <p:nvPr/>
        </p:nvSpPr>
        <p:spPr>
          <a:xfrm>
            <a:off x="252482" y="2152226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82" name="Text 10">
            <a:extLst>
              <a:ext uri="{FF2B5EF4-FFF2-40B4-BE49-F238E27FC236}">
                <a16:creationId xmlns:a16="http://schemas.microsoft.com/office/drawing/2014/main" id="{228D32C9-020F-46B7-B322-BA1AEF59B4DC}"/>
              </a:ext>
            </a:extLst>
          </p:cNvPr>
          <p:cNvSpPr/>
          <p:nvPr/>
        </p:nvSpPr>
        <p:spPr>
          <a:xfrm>
            <a:off x="298202" y="215222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가장_가까운_역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3" name="Text 11">
            <a:extLst>
              <a:ext uri="{FF2B5EF4-FFF2-40B4-BE49-F238E27FC236}">
                <a16:creationId xmlns:a16="http://schemas.microsoft.com/office/drawing/2014/main" id="{0BC5DAC6-E646-40F7-BBC0-C6233745A2F5}"/>
              </a:ext>
            </a:extLst>
          </p:cNvPr>
          <p:cNvSpPr/>
          <p:nvPr/>
        </p:nvSpPr>
        <p:spPr>
          <a:xfrm>
            <a:off x="2026418" y="215222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"상수역"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4" name="Shape 12">
            <a:extLst>
              <a:ext uri="{FF2B5EF4-FFF2-40B4-BE49-F238E27FC236}">
                <a16:creationId xmlns:a16="http://schemas.microsoft.com/office/drawing/2014/main" id="{BDF8EEE5-74D1-4378-B3C5-46C72C029073}"/>
              </a:ext>
            </a:extLst>
          </p:cNvPr>
          <p:cNvSpPr/>
          <p:nvPr/>
        </p:nvSpPr>
        <p:spPr>
          <a:xfrm>
            <a:off x="252482" y="2476838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85" name="Text 13">
            <a:extLst>
              <a:ext uri="{FF2B5EF4-FFF2-40B4-BE49-F238E27FC236}">
                <a16:creationId xmlns:a16="http://schemas.microsoft.com/office/drawing/2014/main" id="{6AF9D594-7B61-4340-9CCA-F4792F3D4D4E}"/>
              </a:ext>
            </a:extLst>
          </p:cNvPr>
          <p:cNvSpPr/>
          <p:nvPr/>
        </p:nvSpPr>
        <p:spPr>
          <a:xfrm>
            <a:off x="298202" y="247683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역까지_거리_m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6" name="Text 14">
            <a:extLst>
              <a:ext uri="{FF2B5EF4-FFF2-40B4-BE49-F238E27FC236}">
                <a16:creationId xmlns:a16="http://schemas.microsoft.com/office/drawing/2014/main" id="{0E1B183D-01D6-416A-BFF6-9A92BFDB0EE5}"/>
              </a:ext>
            </a:extLst>
          </p:cNvPr>
          <p:cNvSpPr/>
          <p:nvPr/>
        </p:nvSpPr>
        <p:spPr>
          <a:xfrm>
            <a:off x="2026418" y="247683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288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7" name="Shape 15">
            <a:extLst>
              <a:ext uri="{FF2B5EF4-FFF2-40B4-BE49-F238E27FC236}">
                <a16:creationId xmlns:a16="http://schemas.microsoft.com/office/drawing/2014/main" id="{C5BA1746-F274-4A5E-B2A6-E6D26D72DB6A}"/>
              </a:ext>
            </a:extLst>
          </p:cNvPr>
          <p:cNvSpPr/>
          <p:nvPr/>
        </p:nvSpPr>
        <p:spPr>
          <a:xfrm>
            <a:off x="252482" y="2801450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88" name="Text 16">
            <a:extLst>
              <a:ext uri="{FF2B5EF4-FFF2-40B4-BE49-F238E27FC236}">
                <a16:creationId xmlns:a16="http://schemas.microsoft.com/office/drawing/2014/main" id="{75409835-13E7-4096-97F7-89ABDD540591}"/>
              </a:ext>
            </a:extLst>
          </p:cNvPr>
          <p:cNvSpPr/>
          <p:nvPr/>
        </p:nvSpPr>
        <p:spPr>
          <a:xfrm>
            <a:off x="298202" y="280145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반경_유사업종_점포수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9" name="Text 17">
            <a:extLst>
              <a:ext uri="{FF2B5EF4-FFF2-40B4-BE49-F238E27FC236}">
                <a16:creationId xmlns:a16="http://schemas.microsoft.com/office/drawing/2014/main" id="{DD6ED164-1CB3-483B-AF4C-BA154340BE57}"/>
              </a:ext>
            </a:extLst>
          </p:cNvPr>
          <p:cNvSpPr/>
          <p:nvPr/>
        </p:nvSpPr>
        <p:spPr>
          <a:xfrm>
            <a:off x="2026418" y="280145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2,684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0" name="Shape 18">
            <a:extLst>
              <a:ext uri="{FF2B5EF4-FFF2-40B4-BE49-F238E27FC236}">
                <a16:creationId xmlns:a16="http://schemas.microsoft.com/office/drawing/2014/main" id="{2B255914-D95D-4919-B292-1BE9EA66F49E}"/>
              </a:ext>
            </a:extLst>
          </p:cNvPr>
          <p:cNvSpPr/>
          <p:nvPr/>
        </p:nvSpPr>
        <p:spPr>
          <a:xfrm>
            <a:off x="252482" y="3126062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91" name="Text 19">
            <a:extLst>
              <a:ext uri="{FF2B5EF4-FFF2-40B4-BE49-F238E27FC236}">
                <a16:creationId xmlns:a16="http://schemas.microsoft.com/office/drawing/2014/main" id="{847254BC-9C9A-4F10-AED4-916DC7C68AFA}"/>
              </a:ext>
            </a:extLst>
          </p:cNvPr>
          <p:cNvSpPr/>
          <p:nvPr/>
        </p:nvSpPr>
        <p:spPr>
          <a:xfrm>
            <a:off x="298202" y="312606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카테고리_개업률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2" name="Text 20">
            <a:extLst>
              <a:ext uri="{FF2B5EF4-FFF2-40B4-BE49-F238E27FC236}">
                <a16:creationId xmlns:a16="http://schemas.microsoft.com/office/drawing/2014/main" id="{4B17930C-67A7-4D19-97F1-41A0F4B0FEB5}"/>
              </a:ext>
            </a:extLst>
          </p:cNvPr>
          <p:cNvSpPr/>
          <p:nvPr/>
        </p:nvSpPr>
        <p:spPr>
          <a:xfrm>
            <a:off x="2026418" y="312606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3.5 %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3" name="Shape 21">
            <a:extLst>
              <a:ext uri="{FF2B5EF4-FFF2-40B4-BE49-F238E27FC236}">
                <a16:creationId xmlns:a16="http://schemas.microsoft.com/office/drawing/2014/main" id="{2BF64C56-D744-41E6-9B65-F1481AAB2BBB}"/>
              </a:ext>
            </a:extLst>
          </p:cNvPr>
          <p:cNvSpPr/>
          <p:nvPr/>
        </p:nvSpPr>
        <p:spPr>
          <a:xfrm>
            <a:off x="252482" y="3450674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94" name="Text 22">
            <a:extLst>
              <a:ext uri="{FF2B5EF4-FFF2-40B4-BE49-F238E27FC236}">
                <a16:creationId xmlns:a16="http://schemas.microsoft.com/office/drawing/2014/main" id="{1A685FA0-9C20-41F7-8613-7E6A94AE1F6A}"/>
              </a:ext>
            </a:extLst>
          </p:cNvPr>
          <p:cNvSpPr/>
          <p:nvPr/>
        </p:nvSpPr>
        <p:spPr>
          <a:xfrm>
            <a:off x="298202" y="3450674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카테고리_폐업률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5" name="Text 23">
            <a:extLst>
              <a:ext uri="{FF2B5EF4-FFF2-40B4-BE49-F238E27FC236}">
                <a16:creationId xmlns:a16="http://schemas.microsoft.com/office/drawing/2014/main" id="{C5532D45-E0EE-4B7D-9960-D5EFAFED6A17}"/>
              </a:ext>
            </a:extLst>
          </p:cNvPr>
          <p:cNvSpPr/>
          <p:nvPr/>
        </p:nvSpPr>
        <p:spPr>
          <a:xfrm>
            <a:off x="2026418" y="345067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4D6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5.1 %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6" name="Shape 24">
            <a:extLst>
              <a:ext uri="{FF2B5EF4-FFF2-40B4-BE49-F238E27FC236}">
                <a16:creationId xmlns:a16="http://schemas.microsoft.com/office/drawing/2014/main" id="{B6B442D4-1B4D-4605-A7D0-82F9D3CD20D8}"/>
              </a:ext>
            </a:extLst>
          </p:cNvPr>
          <p:cNvSpPr/>
          <p:nvPr/>
        </p:nvSpPr>
        <p:spPr>
          <a:xfrm>
            <a:off x="252482" y="3775286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97" name="Text 25">
            <a:extLst>
              <a:ext uri="{FF2B5EF4-FFF2-40B4-BE49-F238E27FC236}">
                <a16:creationId xmlns:a16="http://schemas.microsoft.com/office/drawing/2014/main" id="{EF2D8CFC-E830-4CF4-AC78-096F33E06C27}"/>
              </a:ext>
            </a:extLst>
          </p:cNvPr>
          <p:cNvSpPr/>
          <p:nvPr/>
        </p:nvSpPr>
        <p:spPr>
          <a:xfrm>
            <a:off x="298202" y="377528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카테고리_프랜차이즈_점포수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8" name="Text 26">
            <a:extLst>
              <a:ext uri="{FF2B5EF4-FFF2-40B4-BE49-F238E27FC236}">
                <a16:creationId xmlns:a16="http://schemas.microsoft.com/office/drawing/2014/main" id="{80D60893-2705-44A5-8A07-57F56DD65D77}"/>
              </a:ext>
            </a:extLst>
          </p:cNvPr>
          <p:cNvSpPr/>
          <p:nvPr/>
        </p:nvSpPr>
        <p:spPr>
          <a:xfrm>
            <a:off x="2026418" y="377528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424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9" name="Shape 27">
            <a:extLst>
              <a:ext uri="{FF2B5EF4-FFF2-40B4-BE49-F238E27FC236}">
                <a16:creationId xmlns:a16="http://schemas.microsoft.com/office/drawing/2014/main" id="{FDB565AE-4631-4736-ABBD-BFFECB6F8D37}"/>
              </a:ext>
            </a:extLst>
          </p:cNvPr>
          <p:cNvSpPr/>
          <p:nvPr/>
        </p:nvSpPr>
        <p:spPr>
          <a:xfrm>
            <a:off x="252482" y="4099898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0" name="Text 28">
            <a:extLst>
              <a:ext uri="{FF2B5EF4-FFF2-40B4-BE49-F238E27FC236}">
                <a16:creationId xmlns:a16="http://schemas.microsoft.com/office/drawing/2014/main" id="{085FC047-87E7-4E2A-A05B-798596623510}"/>
              </a:ext>
            </a:extLst>
          </p:cNvPr>
          <p:cNvSpPr/>
          <p:nvPr/>
        </p:nvSpPr>
        <p:spPr>
          <a:xfrm>
            <a:off x="298202" y="409989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최다_유동인구_시간대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1" name="Text 29">
            <a:extLst>
              <a:ext uri="{FF2B5EF4-FFF2-40B4-BE49-F238E27FC236}">
                <a16:creationId xmlns:a16="http://schemas.microsoft.com/office/drawing/2014/main" id="{561664B7-5ECF-4416-BF85-E70D8C97B844}"/>
              </a:ext>
            </a:extLst>
          </p:cNvPr>
          <p:cNvSpPr/>
          <p:nvPr/>
        </p:nvSpPr>
        <p:spPr>
          <a:xfrm>
            <a:off x="2026418" y="409989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"17~21시"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2" name="Shape 30">
            <a:extLst>
              <a:ext uri="{FF2B5EF4-FFF2-40B4-BE49-F238E27FC236}">
                <a16:creationId xmlns:a16="http://schemas.microsoft.com/office/drawing/2014/main" id="{BF8E2499-F71A-4839-B791-AEBB23630C38}"/>
              </a:ext>
            </a:extLst>
          </p:cNvPr>
          <p:cNvSpPr/>
          <p:nvPr/>
        </p:nvSpPr>
        <p:spPr>
          <a:xfrm>
            <a:off x="252482" y="4424510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3" name="Text 31">
            <a:extLst>
              <a:ext uri="{FF2B5EF4-FFF2-40B4-BE49-F238E27FC236}">
                <a16:creationId xmlns:a16="http://schemas.microsoft.com/office/drawing/2014/main" id="{74F6A03D-E161-4C1B-8109-1C16FBD46034}"/>
              </a:ext>
            </a:extLst>
          </p:cNvPr>
          <p:cNvSpPr/>
          <p:nvPr/>
        </p:nvSpPr>
        <p:spPr>
          <a:xfrm>
            <a:off x="298202" y="442451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유동인구_성별_우세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4" name="Text 32">
            <a:extLst>
              <a:ext uri="{FF2B5EF4-FFF2-40B4-BE49-F238E27FC236}">
                <a16:creationId xmlns:a16="http://schemas.microsoft.com/office/drawing/2014/main" id="{10FCD69A-96FD-40CD-8F6F-88A01F7006AF}"/>
              </a:ext>
            </a:extLst>
          </p:cNvPr>
          <p:cNvSpPr/>
          <p:nvPr/>
        </p:nvSpPr>
        <p:spPr>
          <a:xfrm>
            <a:off x="2026418" y="442451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"여성"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5" name="Shape 33">
            <a:extLst>
              <a:ext uri="{FF2B5EF4-FFF2-40B4-BE49-F238E27FC236}">
                <a16:creationId xmlns:a16="http://schemas.microsoft.com/office/drawing/2014/main" id="{A17946E9-B475-4CFC-9767-70253D75AB73}"/>
              </a:ext>
            </a:extLst>
          </p:cNvPr>
          <p:cNvSpPr/>
          <p:nvPr/>
        </p:nvSpPr>
        <p:spPr>
          <a:xfrm>
            <a:off x="252482" y="4749122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6" name="Text 34">
            <a:extLst>
              <a:ext uri="{FF2B5EF4-FFF2-40B4-BE49-F238E27FC236}">
                <a16:creationId xmlns:a16="http://schemas.microsoft.com/office/drawing/2014/main" id="{FB574665-1A41-42CC-909C-4736A637B36E}"/>
              </a:ext>
            </a:extLst>
          </p:cNvPr>
          <p:cNvSpPr/>
          <p:nvPr/>
        </p:nvSpPr>
        <p:spPr>
          <a:xfrm>
            <a:off x="298202" y="474912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유동인구_연령대_1위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7" name="Text 35">
            <a:extLst>
              <a:ext uri="{FF2B5EF4-FFF2-40B4-BE49-F238E27FC236}">
                <a16:creationId xmlns:a16="http://schemas.microsoft.com/office/drawing/2014/main" id="{8D1ABAFF-43C0-4145-ACA9-CFA1BEACED39}"/>
              </a:ext>
            </a:extLst>
          </p:cNvPr>
          <p:cNvSpPr/>
          <p:nvPr/>
        </p:nvSpPr>
        <p:spPr>
          <a:xfrm>
            <a:off x="2026418" y="474912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"20대"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8" name="Shape 36">
            <a:extLst>
              <a:ext uri="{FF2B5EF4-FFF2-40B4-BE49-F238E27FC236}">
                <a16:creationId xmlns:a16="http://schemas.microsoft.com/office/drawing/2014/main" id="{BD098352-517A-4D02-AD07-776879CCE45C}"/>
              </a:ext>
            </a:extLst>
          </p:cNvPr>
          <p:cNvSpPr/>
          <p:nvPr/>
        </p:nvSpPr>
        <p:spPr>
          <a:xfrm>
            <a:off x="252482" y="5073734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9" name="Text 37">
            <a:extLst>
              <a:ext uri="{FF2B5EF4-FFF2-40B4-BE49-F238E27FC236}">
                <a16:creationId xmlns:a16="http://schemas.microsoft.com/office/drawing/2014/main" id="{DC5B2C0B-4FFF-4E3B-8D95-DC8E8EF55F62}"/>
              </a:ext>
            </a:extLst>
          </p:cNvPr>
          <p:cNvSpPr/>
          <p:nvPr/>
        </p:nvSpPr>
        <p:spPr>
          <a:xfrm>
            <a:off x="298202" y="5073734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최다_매출_시간대_금액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0" name="Text 38">
            <a:extLst>
              <a:ext uri="{FF2B5EF4-FFF2-40B4-BE49-F238E27FC236}">
                <a16:creationId xmlns:a16="http://schemas.microsoft.com/office/drawing/2014/main" id="{0AA4BBD6-6156-4E07-A0BC-A5827CFC5413}"/>
              </a:ext>
            </a:extLst>
          </p:cNvPr>
          <p:cNvSpPr/>
          <p:nvPr/>
        </p:nvSpPr>
        <p:spPr>
          <a:xfrm>
            <a:off x="2026418" y="507373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61,321,791,437원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1" name="Shape 39">
            <a:extLst>
              <a:ext uri="{FF2B5EF4-FFF2-40B4-BE49-F238E27FC236}">
                <a16:creationId xmlns:a16="http://schemas.microsoft.com/office/drawing/2014/main" id="{DDCD766A-80AB-405D-A79C-5378D290E3D6}"/>
              </a:ext>
            </a:extLst>
          </p:cNvPr>
          <p:cNvSpPr/>
          <p:nvPr/>
        </p:nvSpPr>
        <p:spPr>
          <a:xfrm>
            <a:off x="252482" y="5398346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12" name="Text 40">
            <a:extLst>
              <a:ext uri="{FF2B5EF4-FFF2-40B4-BE49-F238E27FC236}">
                <a16:creationId xmlns:a16="http://schemas.microsoft.com/office/drawing/2014/main" id="{6DC1C017-043C-4F97-8F8B-4D89129B3397}"/>
              </a:ext>
            </a:extLst>
          </p:cNvPr>
          <p:cNvSpPr/>
          <p:nvPr/>
        </p:nvSpPr>
        <p:spPr>
          <a:xfrm>
            <a:off x="298202" y="539834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타겟_연령대_유동인구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3" name="Text 41">
            <a:extLst>
              <a:ext uri="{FF2B5EF4-FFF2-40B4-BE49-F238E27FC236}">
                <a16:creationId xmlns:a16="http://schemas.microsoft.com/office/drawing/2014/main" id="{5BABD205-B045-411E-A8AA-91C68017D894}"/>
              </a:ext>
            </a:extLst>
          </p:cNvPr>
          <p:cNvSpPr/>
          <p:nvPr/>
        </p:nvSpPr>
        <p:spPr>
          <a:xfrm>
            <a:off x="2026418" y="539834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5,790,726명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4" name="Shape 42">
            <a:extLst>
              <a:ext uri="{FF2B5EF4-FFF2-40B4-BE49-F238E27FC236}">
                <a16:creationId xmlns:a16="http://schemas.microsoft.com/office/drawing/2014/main" id="{FC5E634A-0DFE-4336-9DE8-C092BDBA6AED}"/>
              </a:ext>
            </a:extLst>
          </p:cNvPr>
          <p:cNvSpPr/>
          <p:nvPr/>
        </p:nvSpPr>
        <p:spPr>
          <a:xfrm>
            <a:off x="252482" y="5722958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15" name="Text 43">
            <a:extLst>
              <a:ext uri="{FF2B5EF4-FFF2-40B4-BE49-F238E27FC236}">
                <a16:creationId xmlns:a16="http://schemas.microsoft.com/office/drawing/2014/main" id="{3EBDC5A6-006B-4EFC-A009-886D75283C9F}"/>
              </a:ext>
            </a:extLst>
          </p:cNvPr>
          <p:cNvSpPr/>
          <p:nvPr/>
        </p:nvSpPr>
        <p:spPr>
          <a:xfrm>
            <a:off x="298202" y="572295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동_카테고리_매출_최대_업종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6" name="Text 44">
            <a:extLst>
              <a:ext uri="{FF2B5EF4-FFF2-40B4-BE49-F238E27FC236}">
                <a16:creationId xmlns:a16="http://schemas.microsoft.com/office/drawing/2014/main" id="{07E36DAF-D0D6-4625-8C03-174FF310A516}"/>
              </a:ext>
            </a:extLst>
          </p:cNvPr>
          <p:cNvSpPr/>
          <p:nvPr/>
        </p:nvSpPr>
        <p:spPr>
          <a:xfrm>
            <a:off x="2026418" y="572295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"외식/F&amp;B"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7" name="Shape 45">
            <a:extLst>
              <a:ext uri="{FF2B5EF4-FFF2-40B4-BE49-F238E27FC236}">
                <a16:creationId xmlns:a16="http://schemas.microsoft.com/office/drawing/2014/main" id="{A74FFE2F-0367-4D37-8962-60E4C04F665B}"/>
              </a:ext>
            </a:extLst>
          </p:cNvPr>
          <p:cNvSpPr/>
          <p:nvPr/>
        </p:nvSpPr>
        <p:spPr>
          <a:xfrm>
            <a:off x="3516890" y="1795610"/>
            <a:ext cx="2743200" cy="4342046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18" name="Shape 46">
            <a:extLst>
              <a:ext uri="{FF2B5EF4-FFF2-40B4-BE49-F238E27FC236}">
                <a16:creationId xmlns:a16="http://schemas.microsoft.com/office/drawing/2014/main" id="{F7D43EB0-7AF3-44C8-AE34-4F75294419B0}"/>
              </a:ext>
            </a:extLst>
          </p:cNvPr>
          <p:cNvSpPr/>
          <p:nvPr/>
        </p:nvSpPr>
        <p:spPr>
          <a:xfrm>
            <a:off x="3516890" y="1795610"/>
            <a:ext cx="274320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9" name="Text 47">
            <a:extLst>
              <a:ext uri="{FF2B5EF4-FFF2-40B4-BE49-F238E27FC236}">
                <a16:creationId xmlns:a16="http://schemas.microsoft.com/office/drawing/2014/main" id="{241A1FDB-D2F4-40C5-B6C8-C163DD2ECC76}"/>
              </a:ext>
            </a:extLst>
          </p:cNvPr>
          <p:cNvSpPr/>
          <p:nvPr/>
        </p:nvSpPr>
        <p:spPr>
          <a:xfrm>
            <a:off x="3516890" y="179561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reports — 에이전트 핵심 진단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0" name="Text 48">
            <a:extLst>
              <a:ext uri="{FF2B5EF4-FFF2-40B4-BE49-F238E27FC236}">
                <a16:creationId xmlns:a16="http://schemas.microsoft.com/office/drawing/2014/main" id="{E36A0020-C011-4231-A11D-9624E5CA4C3F}"/>
              </a:ext>
            </a:extLst>
          </p:cNvPr>
          <p:cNvSpPr/>
          <p:nvPr/>
        </p:nvSpPr>
        <p:spPr>
          <a:xfrm>
            <a:off x="3590042" y="215222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상권활성도_보고서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1" name="Shape 49">
            <a:extLst>
              <a:ext uri="{FF2B5EF4-FFF2-40B4-BE49-F238E27FC236}">
                <a16:creationId xmlns:a16="http://schemas.microsoft.com/office/drawing/2014/main" id="{1D441502-90E1-4938-8244-556D57BC3E5E}"/>
              </a:ext>
            </a:extLst>
          </p:cNvPr>
          <p:cNvSpPr/>
          <p:nvPr/>
        </p:nvSpPr>
        <p:spPr>
          <a:xfrm>
            <a:off x="3590042" y="2362538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22" name="Text 50">
            <a:extLst>
              <a:ext uri="{FF2B5EF4-FFF2-40B4-BE49-F238E27FC236}">
                <a16:creationId xmlns:a16="http://schemas.microsoft.com/office/drawing/2014/main" id="{A42CC938-B2BC-4C2A-9CA3-41EB5D80200C}"/>
              </a:ext>
            </a:extLst>
          </p:cNvPr>
          <p:cNvSpPr/>
          <p:nvPr/>
        </p:nvSpPr>
        <p:spPr>
          <a:xfrm>
            <a:off x="3635762" y="236253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해당 (288m)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3" name="Shape 51">
            <a:extLst>
              <a:ext uri="{FF2B5EF4-FFF2-40B4-BE49-F238E27FC236}">
                <a16:creationId xmlns:a16="http://schemas.microsoft.com/office/drawing/2014/main" id="{F4925D1F-8AD9-46C8-BCB3-8D787947D794}"/>
              </a:ext>
            </a:extLst>
          </p:cNvPr>
          <p:cNvSpPr/>
          <p:nvPr/>
        </p:nvSpPr>
        <p:spPr>
          <a:xfrm>
            <a:off x="3590042" y="2609426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24" name="Text 52">
            <a:extLst>
              <a:ext uri="{FF2B5EF4-FFF2-40B4-BE49-F238E27FC236}">
                <a16:creationId xmlns:a16="http://schemas.microsoft.com/office/drawing/2014/main" id="{E2F492BD-CD4C-4EB0-ABA8-DD45531737BA}"/>
              </a:ext>
            </a:extLst>
          </p:cNvPr>
          <p:cNvSpPr/>
          <p:nvPr/>
        </p:nvSpPr>
        <p:spPr>
          <a:xfrm>
            <a:off x="3635762" y="260942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피크 17~21시, 3.9M명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5" name="Shape 53">
            <a:extLst>
              <a:ext uri="{FF2B5EF4-FFF2-40B4-BE49-F238E27FC236}">
                <a16:creationId xmlns:a16="http://schemas.microsoft.com/office/drawing/2014/main" id="{DC3D6478-A307-49B3-9FFE-C00C61A7CE7D}"/>
              </a:ext>
            </a:extLst>
          </p:cNvPr>
          <p:cNvSpPr/>
          <p:nvPr/>
        </p:nvSpPr>
        <p:spPr>
          <a:xfrm>
            <a:off x="3590042" y="2856314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26" name="Text 54">
            <a:extLst>
              <a:ext uri="{FF2B5EF4-FFF2-40B4-BE49-F238E27FC236}">
                <a16:creationId xmlns:a16="http://schemas.microsoft.com/office/drawing/2014/main" id="{65C761A8-4DEC-4987-960A-7ABB8FC3F830}"/>
              </a:ext>
            </a:extLst>
          </p:cNvPr>
          <p:cNvSpPr/>
          <p:nvPr/>
        </p:nvSpPr>
        <p:spPr>
          <a:xfrm>
            <a:off x="3635762" y="2856314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20대·여성 타겟 정합 ✓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7" name="Shape 55">
            <a:extLst>
              <a:ext uri="{FF2B5EF4-FFF2-40B4-BE49-F238E27FC236}">
                <a16:creationId xmlns:a16="http://schemas.microsoft.com/office/drawing/2014/main" id="{70B25CF4-01C1-4AF5-B911-BB704BFB0F0E}"/>
              </a:ext>
            </a:extLst>
          </p:cNvPr>
          <p:cNvSpPr/>
          <p:nvPr/>
        </p:nvSpPr>
        <p:spPr>
          <a:xfrm>
            <a:off x="3590042" y="3103202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28" name="Text 56">
            <a:extLst>
              <a:ext uri="{FF2B5EF4-FFF2-40B4-BE49-F238E27FC236}">
                <a16:creationId xmlns:a16="http://schemas.microsoft.com/office/drawing/2014/main" id="{37D6BC83-2C42-4AAD-94AF-C3F3D5629711}"/>
              </a:ext>
            </a:extLst>
          </p:cNvPr>
          <p:cNvSpPr/>
          <p:nvPr/>
        </p:nvSpPr>
        <p:spPr>
          <a:xfrm>
            <a:off x="3635762" y="3103202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종합: 저조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9" name="Shape 57">
            <a:extLst>
              <a:ext uri="{FF2B5EF4-FFF2-40B4-BE49-F238E27FC236}">
                <a16:creationId xmlns:a16="http://schemas.microsoft.com/office/drawing/2014/main" id="{BA97B4BC-7FF7-4670-86E6-6E16A2D7BE90}"/>
              </a:ext>
            </a:extLst>
          </p:cNvPr>
          <p:cNvSpPr/>
          <p:nvPr/>
        </p:nvSpPr>
        <p:spPr>
          <a:xfrm>
            <a:off x="3590042" y="3350090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0" name="Text 58">
            <a:extLst>
              <a:ext uri="{FF2B5EF4-FFF2-40B4-BE49-F238E27FC236}">
                <a16:creationId xmlns:a16="http://schemas.microsoft.com/office/drawing/2014/main" id="{E9EEE07F-7619-48FD-8DE4-4CE4625F849F}"/>
              </a:ext>
            </a:extLst>
          </p:cNvPr>
          <p:cNvSpPr/>
          <p:nvPr/>
        </p:nvSpPr>
        <p:spPr>
          <a:xfrm>
            <a:off x="3635762" y="335009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구매 전환 전략 필요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1" name="Text 59">
            <a:extLst>
              <a:ext uri="{FF2B5EF4-FFF2-40B4-BE49-F238E27FC236}">
                <a16:creationId xmlns:a16="http://schemas.microsoft.com/office/drawing/2014/main" id="{24640757-7D15-44C7-B2D7-C3922F370EA1}"/>
              </a:ext>
            </a:extLst>
          </p:cNvPr>
          <p:cNvSpPr/>
          <p:nvPr/>
        </p:nvSpPr>
        <p:spPr>
          <a:xfrm>
            <a:off x="3590042" y="366098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D6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경쟁환경_보고서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2" name="Shape 60">
            <a:extLst>
              <a:ext uri="{FF2B5EF4-FFF2-40B4-BE49-F238E27FC236}">
                <a16:creationId xmlns:a16="http://schemas.microsoft.com/office/drawing/2014/main" id="{4521D485-3DDA-480D-93ED-5F3574E25D0F}"/>
              </a:ext>
            </a:extLst>
          </p:cNvPr>
          <p:cNvSpPr/>
          <p:nvPr/>
        </p:nvSpPr>
        <p:spPr>
          <a:xfrm>
            <a:off x="3590042" y="3871298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3" name="Text 61">
            <a:extLst>
              <a:ext uri="{FF2B5EF4-FFF2-40B4-BE49-F238E27FC236}">
                <a16:creationId xmlns:a16="http://schemas.microsoft.com/office/drawing/2014/main" id="{5C01B212-6496-4BF2-A730-0494FC8DE29C}"/>
              </a:ext>
            </a:extLst>
          </p:cNvPr>
          <p:cNvSpPr/>
          <p:nvPr/>
        </p:nvSpPr>
        <p:spPr>
          <a:xfrm>
            <a:off x="3635762" y="387129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F&amp;B 점포 34.6% 점유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4" name="Shape 62">
            <a:extLst>
              <a:ext uri="{FF2B5EF4-FFF2-40B4-BE49-F238E27FC236}">
                <a16:creationId xmlns:a16="http://schemas.microsoft.com/office/drawing/2014/main" id="{A963CA48-ACCB-4930-B6F1-E62CA95E1BAA}"/>
              </a:ext>
            </a:extLst>
          </p:cNvPr>
          <p:cNvSpPr/>
          <p:nvPr/>
        </p:nvSpPr>
        <p:spPr>
          <a:xfrm>
            <a:off x="3590042" y="4118186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5" name="Text 63">
            <a:extLst>
              <a:ext uri="{FF2B5EF4-FFF2-40B4-BE49-F238E27FC236}">
                <a16:creationId xmlns:a16="http://schemas.microsoft.com/office/drawing/2014/main" id="{B3FB1730-64ED-4841-AA3A-30B2FD1A643E}"/>
              </a:ext>
            </a:extLst>
          </p:cNvPr>
          <p:cNvSpPr/>
          <p:nvPr/>
        </p:nvSpPr>
        <p:spPr>
          <a:xfrm>
            <a:off x="3635762" y="411818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 5.1% &gt; 개업률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6" name="Shape 64">
            <a:extLst>
              <a:ext uri="{FF2B5EF4-FFF2-40B4-BE49-F238E27FC236}">
                <a16:creationId xmlns:a16="http://schemas.microsoft.com/office/drawing/2014/main" id="{D14AEFC0-63C5-45B6-8671-45D0EE15BCBA}"/>
              </a:ext>
            </a:extLst>
          </p:cNvPr>
          <p:cNvSpPr/>
          <p:nvPr/>
        </p:nvSpPr>
        <p:spPr>
          <a:xfrm>
            <a:off x="3590042" y="4365074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7" name="Text 65">
            <a:extLst>
              <a:ext uri="{FF2B5EF4-FFF2-40B4-BE49-F238E27FC236}">
                <a16:creationId xmlns:a16="http://schemas.microsoft.com/office/drawing/2014/main" id="{7927EBAB-AB5F-49FF-8423-057B43493896}"/>
              </a:ext>
            </a:extLst>
          </p:cNvPr>
          <p:cNvSpPr/>
          <p:nvPr/>
        </p:nvSpPr>
        <p:spPr>
          <a:xfrm>
            <a:off x="3635762" y="4365074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15.8%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8" name="Shape 66">
            <a:extLst>
              <a:ext uri="{FF2B5EF4-FFF2-40B4-BE49-F238E27FC236}">
                <a16:creationId xmlns:a16="http://schemas.microsoft.com/office/drawing/2014/main" id="{9B7F6A60-0371-43BF-B75B-46B9B07BA464}"/>
              </a:ext>
            </a:extLst>
          </p:cNvPr>
          <p:cNvSpPr/>
          <p:nvPr/>
        </p:nvSpPr>
        <p:spPr>
          <a:xfrm>
            <a:off x="3590042" y="4611962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39" name="Text 67">
            <a:extLst>
              <a:ext uri="{FF2B5EF4-FFF2-40B4-BE49-F238E27FC236}">
                <a16:creationId xmlns:a16="http://schemas.microsoft.com/office/drawing/2014/main" id="{911B5025-5FF5-45F3-A218-38371E748FD1}"/>
              </a:ext>
            </a:extLst>
          </p:cNvPr>
          <p:cNvSpPr/>
          <p:nvPr/>
        </p:nvSpPr>
        <p:spPr>
          <a:xfrm>
            <a:off x="3635762" y="4611962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D6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경쟁 강도: 매우 치열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0" name="Text 68">
            <a:extLst>
              <a:ext uri="{FF2B5EF4-FFF2-40B4-BE49-F238E27FC236}">
                <a16:creationId xmlns:a16="http://schemas.microsoft.com/office/drawing/2014/main" id="{C8F9E830-5368-4047-9722-39B559F6E41A}"/>
              </a:ext>
            </a:extLst>
          </p:cNvPr>
          <p:cNvSpPr/>
          <p:nvPr/>
        </p:nvSpPr>
        <p:spPr>
          <a:xfrm>
            <a:off x="3590042" y="4922858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업종추천_보고서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1" name="Shape 69">
            <a:extLst>
              <a:ext uri="{FF2B5EF4-FFF2-40B4-BE49-F238E27FC236}">
                <a16:creationId xmlns:a16="http://schemas.microsoft.com/office/drawing/2014/main" id="{862BE704-7380-4924-8F13-2E84F67032A1}"/>
              </a:ext>
            </a:extLst>
          </p:cNvPr>
          <p:cNvSpPr/>
          <p:nvPr/>
        </p:nvSpPr>
        <p:spPr>
          <a:xfrm>
            <a:off x="3590042" y="5133170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2" name="Text 70">
            <a:extLst>
              <a:ext uri="{FF2B5EF4-FFF2-40B4-BE49-F238E27FC236}">
                <a16:creationId xmlns:a16="http://schemas.microsoft.com/office/drawing/2014/main" id="{89A67AC6-199F-4F4F-97A4-EAD123C4A708}"/>
              </a:ext>
            </a:extLst>
          </p:cNvPr>
          <p:cNvSpPr/>
          <p:nvPr/>
        </p:nvSpPr>
        <p:spPr>
          <a:xfrm>
            <a:off x="3635762" y="513317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F&amp;B 동내 매출 1위 (188억)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3" name="Shape 71">
            <a:extLst>
              <a:ext uri="{FF2B5EF4-FFF2-40B4-BE49-F238E27FC236}">
                <a16:creationId xmlns:a16="http://schemas.microsoft.com/office/drawing/2014/main" id="{2EE72314-DB52-4645-BB3F-CBA81F22A55F}"/>
              </a:ext>
            </a:extLst>
          </p:cNvPr>
          <p:cNvSpPr/>
          <p:nvPr/>
        </p:nvSpPr>
        <p:spPr>
          <a:xfrm>
            <a:off x="3590042" y="5380058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4" name="Text 72">
            <a:extLst>
              <a:ext uri="{FF2B5EF4-FFF2-40B4-BE49-F238E27FC236}">
                <a16:creationId xmlns:a16="http://schemas.microsoft.com/office/drawing/2014/main" id="{A6E5BB58-860A-4F15-8655-945C3C0D0C7D}"/>
              </a:ext>
            </a:extLst>
          </p:cNvPr>
          <p:cNvSpPr/>
          <p:nvPr/>
        </p:nvSpPr>
        <p:spPr>
          <a:xfrm>
            <a:off x="3635762" y="538005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 업종 포지션 유지 권장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5" name="Shape 73">
            <a:extLst>
              <a:ext uri="{FF2B5EF4-FFF2-40B4-BE49-F238E27FC236}">
                <a16:creationId xmlns:a16="http://schemas.microsoft.com/office/drawing/2014/main" id="{9F7C80EF-A587-40F6-970C-26503404BEB8}"/>
              </a:ext>
            </a:extLst>
          </p:cNvPr>
          <p:cNvSpPr/>
          <p:nvPr/>
        </p:nvSpPr>
        <p:spPr>
          <a:xfrm>
            <a:off x="3590042" y="5626946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6" name="Text 74">
            <a:extLst>
              <a:ext uri="{FF2B5EF4-FFF2-40B4-BE49-F238E27FC236}">
                <a16:creationId xmlns:a16="http://schemas.microsoft.com/office/drawing/2014/main" id="{80FB4EAC-06CC-43FC-8587-04C149B9B0DE}"/>
              </a:ext>
            </a:extLst>
          </p:cNvPr>
          <p:cNvSpPr/>
          <p:nvPr/>
        </p:nvSpPr>
        <p:spPr>
          <a:xfrm>
            <a:off x="3635762" y="562694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포토존·SNS 노출 강화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7" name="Shape 75">
            <a:extLst>
              <a:ext uri="{FF2B5EF4-FFF2-40B4-BE49-F238E27FC236}">
                <a16:creationId xmlns:a16="http://schemas.microsoft.com/office/drawing/2014/main" id="{865799AB-5808-4F5C-8078-C372CB9FA24C}"/>
              </a:ext>
            </a:extLst>
          </p:cNvPr>
          <p:cNvSpPr/>
          <p:nvPr/>
        </p:nvSpPr>
        <p:spPr>
          <a:xfrm>
            <a:off x="3590042" y="5873834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8" name="Text 76">
            <a:extLst>
              <a:ext uri="{FF2B5EF4-FFF2-40B4-BE49-F238E27FC236}">
                <a16:creationId xmlns:a16="http://schemas.microsoft.com/office/drawing/2014/main" id="{4266B24C-1E5F-4BBA-9FB0-56BD1120681C}"/>
              </a:ext>
            </a:extLst>
          </p:cNvPr>
          <p:cNvSpPr/>
          <p:nvPr/>
        </p:nvSpPr>
        <p:spPr>
          <a:xfrm>
            <a:off x="3635762" y="5873834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 1+1 프로모션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9" name="Shape 77">
            <a:extLst>
              <a:ext uri="{FF2B5EF4-FFF2-40B4-BE49-F238E27FC236}">
                <a16:creationId xmlns:a16="http://schemas.microsoft.com/office/drawing/2014/main" id="{9DC8E7EB-0328-40E4-92B1-29C1268F1084}"/>
              </a:ext>
            </a:extLst>
          </p:cNvPr>
          <p:cNvSpPr/>
          <p:nvPr/>
        </p:nvSpPr>
        <p:spPr>
          <a:xfrm>
            <a:off x="6397250" y="1795610"/>
            <a:ext cx="2560320" cy="4342046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50" name="Shape 78">
            <a:extLst>
              <a:ext uri="{FF2B5EF4-FFF2-40B4-BE49-F238E27FC236}">
                <a16:creationId xmlns:a16="http://schemas.microsoft.com/office/drawing/2014/main" id="{4C8E7738-F22D-4B9E-B40E-0F5E5D6ED7DF}"/>
              </a:ext>
            </a:extLst>
          </p:cNvPr>
          <p:cNvSpPr/>
          <p:nvPr/>
        </p:nvSpPr>
        <p:spPr>
          <a:xfrm>
            <a:off x="6397250" y="1795610"/>
            <a:ext cx="256032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51" name="Text 79">
            <a:extLst>
              <a:ext uri="{FF2B5EF4-FFF2-40B4-BE49-F238E27FC236}">
                <a16:creationId xmlns:a16="http://schemas.microsoft.com/office/drawing/2014/main" id="{24D4C9F8-B8D9-40B5-BA8A-A3BF74793B77}"/>
              </a:ext>
            </a:extLst>
          </p:cNvPr>
          <p:cNvSpPr/>
          <p:nvPr/>
        </p:nvSpPr>
        <p:spPr>
          <a:xfrm>
            <a:off x="6397250" y="179561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output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2" name="Text 80">
            <a:extLst>
              <a:ext uri="{FF2B5EF4-FFF2-40B4-BE49-F238E27FC236}">
                <a16:creationId xmlns:a16="http://schemas.microsoft.com/office/drawing/2014/main" id="{DF02F5B6-2739-41A6-8638-2599996091C3}"/>
              </a:ext>
            </a:extLst>
          </p:cNvPr>
          <p:cNvSpPr/>
          <p:nvPr/>
        </p:nvSpPr>
        <p:spPr>
          <a:xfrm>
            <a:off x="6397250" y="215222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MBTI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3" name="Text 81">
            <a:extLst>
              <a:ext uri="{FF2B5EF4-FFF2-40B4-BE49-F238E27FC236}">
                <a16:creationId xmlns:a16="http://schemas.microsoft.com/office/drawing/2014/main" id="{747AAF27-0990-4C28-9F79-81BB099A4C6E}"/>
              </a:ext>
            </a:extLst>
          </p:cNvPr>
          <p:cNvSpPr/>
          <p:nvPr/>
        </p:nvSpPr>
        <p:spPr>
          <a:xfrm>
            <a:off x="6397250" y="235339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DULG</a:t>
            </a:r>
            <a:endParaRPr lang="en-US" sz="3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4" name="Text 82">
            <a:extLst>
              <a:ext uri="{FF2B5EF4-FFF2-40B4-BE49-F238E27FC236}">
                <a16:creationId xmlns:a16="http://schemas.microsoft.com/office/drawing/2014/main" id="{A00C615F-E587-4089-9A11-B5CF42F95455}"/>
              </a:ext>
            </a:extLst>
          </p:cNvPr>
          <p:cNvSpPr/>
          <p:nvPr/>
        </p:nvSpPr>
        <p:spPr>
          <a:xfrm>
            <a:off x="6442970" y="287460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 </a:t>
            </a:r>
            <a:r>
              <a:rPr lang="ko-KR" alt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주간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5" name="Text 83">
            <a:extLst>
              <a:ext uri="{FF2B5EF4-FFF2-40B4-BE49-F238E27FC236}">
                <a16:creationId xmlns:a16="http://schemas.microsoft.com/office/drawing/2014/main" id="{40089D14-F5BE-4D20-8177-87900F8AE797}"/>
              </a:ext>
            </a:extLst>
          </p:cNvPr>
          <p:cNvSpPr/>
          <p:nvPr/>
        </p:nvSpPr>
        <p:spPr>
          <a:xfrm>
            <a:off x="7494530" y="287460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야간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6" name="Shape 84">
            <a:extLst>
              <a:ext uri="{FF2B5EF4-FFF2-40B4-BE49-F238E27FC236}">
                <a16:creationId xmlns:a16="http://schemas.microsoft.com/office/drawing/2014/main" id="{1C42F78E-EEE3-4E30-AAB9-79462BE4C0FE}"/>
              </a:ext>
            </a:extLst>
          </p:cNvPr>
          <p:cNvSpPr/>
          <p:nvPr/>
        </p:nvSpPr>
        <p:spPr>
          <a:xfrm>
            <a:off x="6488690" y="3048338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57" name="Shape 85">
            <a:extLst>
              <a:ext uri="{FF2B5EF4-FFF2-40B4-BE49-F238E27FC236}">
                <a16:creationId xmlns:a16="http://schemas.microsoft.com/office/drawing/2014/main" id="{785645FA-DDF3-4BC8-9B70-83750EB93D36}"/>
              </a:ext>
            </a:extLst>
          </p:cNvPr>
          <p:cNvSpPr/>
          <p:nvPr/>
        </p:nvSpPr>
        <p:spPr>
          <a:xfrm>
            <a:off x="6488690" y="3048338"/>
            <a:ext cx="14859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8" name="Text 86">
            <a:extLst>
              <a:ext uri="{FF2B5EF4-FFF2-40B4-BE49-F238E27FC236}">
                <a16:creationId xmlns:a16="http://schemas.microsoft.com/office/drawing/2014/main" id="{AA268E31-10E6-4D5A-8CCB-99D0349DD029}"/>
              </a:ext>
            </a:extLst>
          </p:cNvPr>
          <p:cNvSpPr/>
          <p:nvPr/>
        </p:nvSpPr>
        <p:spPr>
          <a:xfrm>
            <a:off x="6442970" y="329522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 </a:t>
            </a:r>
            <a:r>
              <a:rPr lang="ko-KR" alt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9" name="Text 87">
            <a:extLst>
              <a:ext uri="{FF2B5EF4-FFF2-40B4-BE49-F238E27FC236}">
                <a16:creationId xmlns:a16="http://schemas.microsoft.com/office/drawing/2014/main" id="{D1229525-9C19-4409-AEB6-C71A3EE274F3}"/>
              </a:ext>
            </a:extLst>
          </p:cNvPr>
          <p:cNvSpPr/>
          <p:nvPr/>
        </p:nvSpPr>
        <p:spPr>
          <a:xfrm>
            <a:off x="7494530" y="329522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감성형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0" name="Shape 88">
            <a:extLst>
              <a:ext uri="{FF2B5EF4-FFF2-40B4-BE49-F238E27FC236}">
                <a16:creationId xmlns:a16="http://schemas.microsoft.com/office/drawing/2014/main" id="{AB3688E5-0095-4E30-9EB2-588D253B1642}"/>
              </a:ext>
            </a:extLst>
          </p:cNvPr>
          <p:cNvSpPr/>
          <p:nvPr/>
        </p:nvSpPr>
        <p:spPr>
          <a:xfrm>
            <a:off x="6488690" y="3468962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61" name="Shape 89">
            <a:extLst>
              <a:ext uri="{FF2B5EF4-FFF2-40B4-BE49-F238E27FC236}">
                <a16:creationId xmlns:a16="http://schemas.microsoft.com/office/drawing/2014/main" id="{63C5B106-8226-4356-86E0-9D4059ED6037}"/>
              </a:ext>
            </a:extLst>
          </p:cNvPr>
          <p:cNvSpPr/>
          <p:nvPr/>
        </p:nvSpPr>
        <p:spPr>
          <a:xfrm>
            <a:off x="6488690" y="3468962"/>
            <a:ext cx="125730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62" name="Text 90">
            <a:extLst>
              <a:ext uri="{FF2B5EF4-FFF2-40B4-BE49-F238E27FC236}">
                <a16:creationId xmlns:a16="http://schemas.microsoft.com/office/drawing/2014/main" id="{A82B2CD9-927E-4942-A7B9-0A8FA8DD13E6}"/>
              </a:ext>
            </a:extLst>
          </p:cNvPr>
          <p:cNvSpPr/>
          <p:nvPr/>
        </p:nvSpPr>
        <p:spPr>
          <a:xfrm>
            <a:off x="6442970" y="371585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 </a:t>
            </a:r>
            <a:r>
              <a:rPr lang="ko-KR" alt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3" name="Text 91">
            <a:extLst>
              <a:ext uri="{FF2B5EF4-FFF2-40B4-BE49-F238E27FC236}">
                <a16:creationId xmlns:a16="http://schemas.microsoft.com/office/drawing/2014/main" id="{08D9ECF9-B19E-4914-9CD1-3D997EB0D42A}"/>
              </a:ext>
            </a:extLst>
          </p:cNvPr>
          <p:cNvSpPr/>
          <p:nvPr/>
        </p:nvSpPr>
        <p:spPr>
          <a:xfrm>
            <a:off x="7494530" y="371585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통과형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4" name="Shape 92">
            <a:extLst>
              <a:ext uri="{FF2B5EF4-FFF2-40B4-BE49-F238E27FC236}">
                <a16:creationId xmlns:a16="http://schemas.microsoft.com/office/drawing/2014/main" id="{A02DC7C1-DEFB-4DBE-9F8A-3ABBDC3E61E2}"/>
              </a:ext>
            </a:extLst>
          </p:cNvPr>
          <p:cNvSpPr/>
          <p:nvPr/>
        </p:nvSpPr>
        <p:spPr>
          <a:xfrm>
            <a:off x="6488690" y="3889586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65" name="Shape 93">
            <a:extLst>
              <a:ext uri="{FF2B5EF4-FFF2-40B4-BE49-F238E27FC236}">
                <a16:creationId xmlns:a16="http://schemas.microsoft.com/office/drawing/2014/main" id="{83C453B7-9CC8-406C-90E7-D7BB57AF923D}"/>
              </a:ext>
            </a:extLst>
          </p:cNvPr>
          <p:cNvSpPr/>
          <p:nvPr/>
        </p:nvSpPr>
        <p:spPr>
          <a:xfrm>
            <a:off x="6488690" y="3889586"/>
            <a:ext cx="160020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66" name="Text 94">
            <a:extLst>
              <a:ext uri="{FF2B5EF4-FFF2-40B4-BE49-F238E27FC236}">
                <a16:creationId xmlns:a16="http://schemas.microsoft.com/office/drawing/2014/main" id="{A44AFCDE-95B0-4811-A033-10029013D9AE}"/>
              </a:ext>
            </a:extLst>
          </p:cNvPr>
          <p:cNvSpPr/>
          <p:nvPr/>
        </p:nvSpPr>
        <p:spPr>
          <a:xfrm>
            <a:off x="6442970" y="413647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</a:t>
            </a:r>
            <a:r>
              <a:rPr lang="ko-KR" alt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대중형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7" name="Text 95">
            <a:extLst>
              <a:ext uri="{FF2B5EF4-FFF2-40B4-BE49-F238E27FC236}">
                <a16:creationId xmlns:a16="http://schemas.microsoft.com/office/drawing/2014/main" id="{6A0A9630-38DA-4D03-A149-A5EC91D70DAD}"/>
              </a:ext>
            </a:extLst>
          </p:cNvPr>
          <p:cNvSpPr/>
          <p:nvPr/>
        </p:nvSpPr>
        <p:spPr>
          <a:xfrm>
            <a:off x="7494530" y="413647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틈새형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8" name="Shape 96">
            <a:extLst>
              <a:ext uri="{FF2B5EF4-FFF2-40B4-BE49-F238E27FC236}">
                <a16:creationId xmlns:a16="http://schemas.microsoft.com/office/drawing/2014/main" id="{1EEFB8BA-B7F3-4EFE-8926-DB4AB8D80597}"/>
              </a:ext>
            </a:extLst>
          </p:cNvPr>
          <p:cNvSpPr/>
          <p:nvPr/>
        </p:nvSpPr>
        <p:spPr>
          <a:xfrm>
            <a:off x="6488690" y="4310210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69" name="Shape 97">
            <a:extLst>
              <a:ext uri="{FF2B5EF4-FFF2-40B4-BE49-F238E27FC236}">
                <a16:creationId xmlns:a16="http://schemas.microsoft.com/office/drawing/2014/main" id="{83825A99-5B1A-4291-B6B1-01A6B96F4CC5}"/>
              </a:ext>
            </a:extLst>
          </p:cNvPr>
          <p:cNvSpPr/>
          <p:nvPr/>
        </p:nvSpPr>
        <p:spPr>
          <a:xfrm>
            <a:off x="6488690" y="4310210"/>
            <a:ext cx="13716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70" name="Shape 98">
            <a:extLst>
              <a:ext uri="{FF2B5EF4-FFF2-40B4-BE49-F238E27FC236}">
                <a16:creationId xmlns:a16="http://schemas.microsoft.com/office/drawing/2014/main" id="{859A5E9A-D58E-47D6-965C-0BA14C530C4D}"/>
              </a:ext>
            </a:extLst>
          </p:cNvPr>
          <p:cNvSpPr/>
          <p:nvPr/>
        </p:nvSpPr>
        <p:spPr>
          <a:xfrm>
            <a:off x="6442970" y="4749122"/>
            <a:ext cx="2468880" cy="320040"/>
          </a:xfrm>
          <a:prstGeom prst="rect">
            <a:avLst/>
          </a:prstGeom>
          <a:solidFill>
            <a:srgbClr val="162030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471" name="Text 99">
            <a:extLst>
              <a:ext uri="{FF2B5EF4-FFF2-40B4-BE49-F238E27FC236}">
                <a16:creationId xmlns:a16="http://schemas.microsoft.com/office/drawing/2014/main" id="{34F11C8C-5FB7-4793-8D77-268B0353E16A}"/>
              </a:ext>
            </a:extLst>
          </p:cNvPr>
          <p:cNvSpPr/>
          <p:nvPr/>
        </p:nvSpPr>
        <p:spPr>
          <a:xfrm>
            <a:off x="6488690" y="4758266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추천: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2" name="Text 100">
            <a:extLst>
              <a:ext uri="{FF2B5EF4-FFF2-40B4-BE49-F238E27FC236}">
                <a16:creationId xmlns:a16="http://schemas.microsoft.com/office/drawing/2014/main" id="{D7892434-A57B-4EA4-9F8C-DD95A3141B3C}"/>
              </a:ext>
            </a:extLst>
          </p:cNvPr>
          <p:cNvSpPr/>
          <p:nvPr/>
        </p:nvSpPr>
        <p:spPr>
          <a:xfrm>
            <a:off x="6488690" y="4895426"/>
            <a:ext cx="23774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"서교 핫스팟"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3" name="Shape 101">
            <a:extLst>
              <a:ext uri="{FF2B5EF4-FFF2-40B4-BE49-F238E27FC236}">
                <a16:creationId xmlns:a16="http://schemas.microsoft.com/office/drawing/2014/main" id="{D10CE6DE-BA31-4C05-BACB-53BDC85FFA52}"/>
              </a:ext>
            </a:extLst>
          </p:cNvPr>
          <p:cNvSpPr/>
          <p:nvPr/>
        </p:nvSpPr>
        <p:spPr>
          <a:xfrm>
            <a:off x="6442970" y="5133170"/>
            <a:ext cx="329184" cy="2286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74" name="Text 102">
            <a:extLst>
              <a:ext uri="{FF2B5EF4-FFF2-40B4-BE49-F238E27FC236}">
                <a16:creationId xmlns:a16="http://schemas.microsoft.com/office/drawing/2014/main" id="{969955EE-B50F-404E-9F15-4D4525BA86E7}"/>
              </a:ext>
            </a:extLst>
          </p:cNvPr>
          <p:cNvSpPr/>
          <p:nvPr/>
        </p:nvSpPr>
        <p:spPr>
          <a:xfrm>
            <a:off x="6442970" y="513317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5" name="Shape 103">
            <a:extLst>
              <a:ext uri="{FF2B5EF4-FFF2-40B4-BE49-F238E27FC236}">
                <a16:creationId xmlns:a16="http://schemas.microsoft.com/office/drawing/2014/main" id="{9DA60F59-1976-4591-A817-F4A518BC2E37}"/>
              </a:ext>
            </a:extLst>
          </p:cNvPr>
          <p:cNvSpPr/>
          <p:nvPr/>
        </p:nvSpPr>
        <p:spPr>
          <a:xfrm>
            <a:off x="6799586" y="5133170"/>
            <a:ext cx="2112264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76" name="Text 104">
            <a:extLst>
              <a:ext uri="{FF2B5EF4-FFF2-40B4-BE49-F238E27FC236}">
                <a16:creationId xmlns:a16="http://schemas.microsoft.com/office/drawing/2014/main" id="{0C063128-EB6D-453C-94FC-A1E3D8E85490}"/>
              </a:ext>
            </a:extLst>
          </p:cNvPr>
          <p:cNvSpPr/>
          <p:nvPr/>
        </p:nvSpPr>
        <p:spPr>
          <a:xfrm>
            <a:off x="6836162" y="513317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17~21시 1+1 + SNS 포토존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7" name="Shape 105">
            <a:extLst>
              <a:ext uri="{FF2B5EF4-FFF2-40B4-BE49-F238E27FC236}">
                <a16:creationId xmlns:a16="http://schemas.microsoft.com/office/drawing/2014/main" id="{0D7F9C1B-D642-42D3-8FD3-A63223C833C2}"/>
              </a:ext>
            </a:extLst>
          </p:cNvPr>
          <p:cNvSpPr/>
          <p:nvPr/>
        </p:nvSpPr>
        <p:spPr>
          <a:xfrm>
            <a:off x="6442970" y="5407490"/>
            <a:ext cx="329184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78" name="Text 106">
            <a:extLst>
              <a:ext uri="{FF2B5EF4-FFF2-40B4-BE49-F238E27FC236}">
                <a16:creationId xmlns:a16="http://schemas.microsoft.com/office/drawing/2014/main" id="{3B09B392-DC4D-4DBF-BFAD-72F49C3EF878}"/>
              </a:ext>
            </a:extLst>
          </p:cNvPr>
          <p:cNvSpPr/>
          <p:nvPr/>
        </p:nvSpPr>
        <p:spPr>
          <a:xfrm>
            <a:off x="6442970" y="540749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9" name="Shape 107">
            <a:extLst>
              <a:ext uri="{FF2B5EF4-FFF2-40B4-BE49-F238E27FC236}">
                <a16:creationId xmlns:a16="http://schemas.microsoft.com/office/drawing/2014/main" id="{5B1CC3D5-8EBF-4701-AB75-1F6E456BAE9D}"/>
              </a:ext>
            </a:extLst>
          </p:cNvPr>
          <p:cNvSpPr/>
          <p:nvPr/>
        </p:nvSpPr>
        <p:spPr>
          <a:xfrm>
            <a:off x="6799586" y="5407490"/>
            <a:ext cx="2112264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80" name="Text 108">
            <a:extLst>
              <a:ext uri="{FF2B5EF4-FFF2-40B4-BE49-F238E27FC236}">
                <a16:creationId xmlns:a16="http://schemas.microsoft.com/office/drawing/2014/main" id="{87AD0FE2-2F0E-4D6C-B739-28BAF20CA916}"/>
              </a:ext>
            </a:extLst>
          </p:cNvPr>
          <p:cNvSpPr/>
          <p:nvPr/>
        </p:nvSpPr>
        <p:spPr>
          <a:xfrm>
            <a:off x="6836162" y="540749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체험 코너 + 맞춤 쿠폰 배포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1" name="Shape 109">
            <a:extLst>
              <a:ext uri="{FF2B5EF4-FFF2-40B4-BE49-F238E27FC236}">
                <a16:creationId xmlns:a16="http://schemas.microsoft.com/office/drawing/2014/main" id="{78907F53-C575-4E1A-AC1F-571335696FFA}"/>
              </a:ext>
            </a:extLst>
          </p:cNvPr>
          <p:cNvSpPr/>
          <p:nvPr/>
        </p:nvSpPr>
        <p:spPr>
          <a:xfrm>
            <a:off x="6442970" y="5681810"/>
            <a:ext cx="329184" cy="2286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82" name="Text 110">
            <a:extLst>
              <a:ext uri="{FF2B5EF4-FFF2-40B4-BE49-F238E27FC236}">
                <a16:creationId xmlns:a16="http://schemas.microsoft.com/office/drawing/2014/main" id="{914E8B24-23D4-4DD0-993F-5657EB506124}"/>
              </a:ext>
            </a:extLst>
          </p:cNvPr>
          <p:cNvSpPr/>
          <p:nvPr/>
        </p:nvSpPr>
        <p:spPr>
          <a:xfrm>
            <a:off x="6442970" y="568181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3" name="Shape 111">
            <a:extLst>
              <a:ext uri="{FF2B5EF4-FFF2-40B4-BE49-F238E27FC236}">
                <a16:creationId xmlns:a16="http://schemas.microsoft.com/office/drawing/2014/main" id="{3CA3D4FB-99DF-414B-B38E-CE0E14643932}"/>
              </a:ext>
            </a:extLst>
          </p:cNvPr>
          <p:cNvSpPr/>
          <p:nvPr/>
        </p:nvSpPr>
        <p:spPr>
          <a:xfrm>
            <a:off x="6799586" y="5681810"/>
            <a:ext cx="2112264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84" name="Text 112">
            <a:extLst>
              <a:ext uri="{FF2B5EF4-FFF2-40B4-BE49-F238E27FC236}">
                <a16:creationId xmlns:a16="http://schemas.microsoft.com/office/drawing/2014/main" id="{F493CD6B-7B9A-456D-B6E3-B57135A9F5A0}"/>
              </a:ext>
            </a:extLst>
          </p:cNvPr>
          <p:cNvSpPr/>
          <p:nvPr/>
        </p:nvSpPr>
        <p:spPr>
          <a:xfrm>
            <a:off x="6836162" y="568181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리워드 프로그램 구축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5" name="TextBox 5">
            <a:extLst>
              <a:ext uri="{FF2B5EF4-FFF2-40B4-BE49-F238E27FC236}">
                <a16:creationId xmlns:a16="http://schemas.microsoft.com/office/drawing/2014/main" id="{86AD5D68-236D-44F8-8160-DC3FE8309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607812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실현가능성 측면</a:t>
            </a:r>
          </a:p>
        </p:txBody>
      </p:sp>
      <p:sp>
        <p:nvSpPr>
          <p:cNvPr id="486" name="TextBox 5">
            <a:extLst>
              <a:ext uri="{FF2B5EF4-FFF2-40B4-BE49-F238E27FC236}">
                <a16:creationId xmlns:a16="http://schemas.microsoft.com/office/drawing/2014/main" id="{C5EF61F3-E7BA-455D-80ED-D0236B8DA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87423" y="1101538"/>
            <a:ext cx="52129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buNone/>
            </a:pP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):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공차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홍대서교점</a:t>
            </a:r>
            <a:endParaRPr lang="en-US" altLang="ko-KR" sz="20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10E4E852-63EB-49C8-B049-7FF7BAEEACCA}"/>
              </a:ext>
            </a:extLst>
          </p:cNvPr>
          <p:cNvSpPr/>
          <p:nvPr/>
        </p:nvSpPr>
        <p:spPr>
          <a:xfrm>
            <a:off x="-770467" y="6322816"/>
            <a:ext cx="5935663" cy="313640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서비스의 실현가능성을 검증하기 위해 실제 매장 데이터를 입력하여 프로토타입을 실행했다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대상 매장은 공차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홍대서교점이며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gpt-4o-mini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기반으로 전체 분석이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32.09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완료되었다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왼쪽 상자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데이터 입력을 통해 실제 맞춤형 데이터를 검색하여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파일을 발췌한 것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가운데 상자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분석 에이전트의 분석 보고서 중 핵심 부분을 발췌한 것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오른쪽 상자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 분석 에이전트가 세 에이전트의 진단을 종합한 결과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매장의 상권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도출되었으며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작명은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서교 핫스팟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으로 제안되었다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전략은 단기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장기로 구분된다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17~21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1+1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프로모션과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SNS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포토존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운영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중기는 체험 코너 도입과 맞춤 쿠폰 배포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장기는 리워드 프로그램 구축이다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다만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장표에서는 클러스터링을 따로 넣지 않음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구현하지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않아서인데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이거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추가하는게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좋을까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대한 고민이 있음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1C9BD2-B1B8-43DF-BF8D-694597D09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64" y="2938610"/>
            <a:ext cx="4374924" cy="825372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FDE4981-4213-4C68-B8CE-B6515D7EFA9B}"/>
              </a:ext>
            </a:extLst>
          </p:cNvPr>
          <p:cNvCxnSpPr/>
          <p:nvPr/>
        </p:nvCxnSpPr>
        <p:spPr>
          <a:xfrm flipH="1" flipV="1">
            <a:off x="8957570" y="1795610"/>
            <a:ext cx="451594" cy="11430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54EEC99-8511-42D1-B6A0-E58C14E5AC06}"/>
              </a:ext>
            </a:extLst>
          </p:cNvPr>
          <p:cNvCxnSpPr/>
          <p:nvPr/>
        </p:nvCxnSpPr>
        <p:spPr>
          <a:xfrm flipH="1">
            <a:off x="8957570" y="3660986"/>
            <a:ext cx="451594" cy="247667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630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0001AF60-F846-46E4-86F6-AA1472B0A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497097"/>
              </p:ext>
            </p:extLst>
          </p:nvPr>
        </p:nvGraphicFramePr>
        <p:xfrm>
          <a:off x="769938" y="1573213"/>
          <a:ext cx="10252076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4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비교 항목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F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기존 서비스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5F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상권 더하기</a:t>
                      </a:r>
                      <a:endParaRPr lang="en-US" altLang="ko-KR" sz="1800" b="1" dirty="0">
                        <a:solidFill>
                          <a:srgbClr val="5EEAD4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75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 목적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24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상권 현황 정보 제공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435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매장 운영 문제 분석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솔루션 제안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4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분석 기반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F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공공데이터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유동인구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매출 등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rgbClr val="CBD5E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5F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공공데이터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점주의 입력 데이터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75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분석 방식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24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정형 통계 리포트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435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LLM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멀티 에이전트 다각도 해석</a:t>
                      </a:r>
                      <a:endParaRPr lang="en-US" altLang="ko-KR" sz="1400" b="1" dirty="0">
                        <a:solidFill>
                          <a:srgbClr val="5EEAD4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4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매장 유형화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F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업종 카테고리 분류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5F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매장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MBTI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축 유형 진단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75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결과물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24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분석 리포트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점주가 직접 해석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rgbClr val="CBD5E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435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맞춤 솔루션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상권 공동 전략 제안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4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개인화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F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동일 업종 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= </a:t>
                      </a:r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동일 결과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5F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같은 업종이라도 매장별 맞춤 결과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75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확장성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24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개별 매장 단위 정보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435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우리 상권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공동 전략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4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TextBox 7">
            <a:extLst>
              <a:ext uri="{FF2B5EF4-FFF2-40B4-BE49-F238E27FC236}">
                <a16:creationId xmlns:a16="http://schemas.microsoft.com/office/drawing/2014/main" id="{C4157031-C4C2-4F55-8249-52A46F2DF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 상권 분석이 아닌</a:t>
            </a: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맞춤 운영 솔루션</a:t>
            </a: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BF55713B-ABEE-478C-9DA7-EC9B87FC8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8432800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 제공에서 끝나지 않고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문제해석 → 솔루션 도출까지 연결합니다</a:t>
            </a:r>
          </a:p>
        </p:txBody>
      </p:sp>
    </p:spTree>
    <p:extLst>
      <p:ext uri="{BB962C8B-B14F-4D97-AF65-F5344CB8AC3E}">
        <p14:creationId xmlns:p14="http://schemas.microsoft.com/office/powerpoint/2010/main" val="2708984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71BB5F8-CAC8-4158-84E2-5A40DAD83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매장을 하나의 운영 유형으로 정의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0365429-AC8D-434E-8A06-75E9B6954F01}"/>
              </a:ext>
            </a:extLst>
          </p:cNvPr>
          <p:cNvSpPr/>
          <p:nvPr/>
        </p:nvSpPr>
        <p:spPr>
          <a:xfrm>
            <a:off x="863600" y="1909763"/>
            <a:ext cx="1677988" cy="1393825"/>
          </a:xfrm>
          <a:prstGeom prst="roundRect">
            <a:avLst/>
          </a:prstGeom>
          <a:solidFill>
            <a:srgbClr val="77FBD8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D/N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F255B-54DF-407A-90B2-901B4C34CFE6}"/>
              </a:ext>
            </a:extLst>
          </p:cNvPr>
          <p:cNvSpPr txBox="1"/>
          <p:nvPr/>
        </p:nvSpPr>
        <p:spPr>
          <a:xfrm>
            <a:off x="2986088" y="2274888"/>
            <a:ext cx="1668727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Diurnal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Nocturnal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B22AC1AF-A48D-499A-83FD-76E6C9604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909763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주간형  </a:t>
            </a:r>
            <a:r>
              <a:rPr lang="en-US" altLang="ko-KR" sz="200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야간형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758A6-9100-4BB3-9A32-4C6221B09AD1}"/>
              </a:ext>
            </a:extLst>
          </p:cNvPr>
          <p:cNvSpPr txBox="1"/>
          <p:nvPr/>
        </p:nvSpPr>
        <p:spPr>
          <a:xfrm>
            <a:off x="2768600" y="2620963"/>
            <a:ext cx="2381250" cy="56673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매장의 핵심 소비가 집중되는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 판별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099E848-D31D-4F47-A7B1-CE64AE18DB87}"/>
              </a:ext>
            </a:extLst>
          </p:cNvPr>
          <p:cNvSpPr/>
          <p:nvPr/>
        </p:nvSpPr>
        <p:spPr>
          <a:xfrm>
            <a:off x="6142038" y="1909763"/>
            <a:ext cx="1677987" cy="1393825"/>
          </a:xfrm>
          <a:prstGeom prst="roundRect">
            <a:avLst/>
          </a:prstGeom>
          <a:solidFill>
            <a:srgbClr val="1F497D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U/F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FF972-32A8-45D8-96AE-F15C7CCA869B}"/>
              </a:ext>
            </a:extLst>
          </p:cNvPr>
          <p:cNvSpPr txBox="1"/>
          <p:nvPr/>
        </p:nvSpPr>
        <p:spPr>
          <a:xfrm>
            <a:off x="8367713" y="2274888"/>
            <a:ext cx="1348126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Utility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Feeling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D142EEAF-0ADC-448D-8EB5-25CCD5463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1909763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실용형  </a:t>
            </a:r>
            <a:r>
              <a:rPr lang="en-US" altLang="ko-KR" sz="200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512A09-74CC-4CAB-99C3-F9C199978204}"/>
              </a:ext>
            </a:extLst>
          </p:cNvPr>
          <p:cNvSpPr txBox="1"/>
          <p:nvPr/>
        </p:nvSpPr>
        <p:spPr>
          <a:xfrm>
            <a:off x="8047038" y="2620963"/>
            <a:ext cx="2499082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고객의 방문 동기가 목적형 소비인지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경험 기반 소비인지 판별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271221-68CE-4166-A456-88F7D50F3B87}"/>
              </a:ext>
            </a:extLst>
          </p:cNvPr>
          <p:cNvSpPr/>
          <p:nvPr/>
        </p:nvSpPr>
        <p:spPr>
          <a:xfrm>
            <a:off x="863600" y="4137025"/>
            <a:ext cx="1677988" cy="1381125"/>
          </a:xfrm>
          <a:prstGeom prst="roundRect">
            <a:avLst/>
          </a:prstGeom>
          <a:solidFill>
            <a:srgbClr val="B3A2C7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L/T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D8865C-34DB-492C-86AA-20CBC69CFDD7}"/>
              </a:ext>
            </a:extLst>
          </p:cNvPr>
          <p:cNvSpPr txBox="1"/>
          <p:nvPr/>
        </p:nvSpPr>
        <p:spPr>
          <a:xfrm>
            <a:off x="3157538" y="4502150"/>
            <a:ext cx="1285608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Local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Transit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31">
            <a:extLst>
              <a:ext uri="{FF2B5EF4-FFF2-40B4-BE49-F238E27FC236}">
                <a16:creationId xmlns:a16="http://schemas.microsoft.com/office/drawing/2014/main" id="{DDE9B74E-6D28-4011-AE49-CC79A3726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4137025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로컬형  </a:t>
            </a:r>
            <a:r>
              <a:rPr lang="en-US" altLang="ko-KR" sz="200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통과형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0DA1B0-CC6E-485B-B8F1-3D70BF2F9C40}"/>
              </a:ext>
            </a:extLst>
          </p:cNvPr>
          <p:cNvSpPr txBox="1"/>
          <p:nvPr/>
        </p:nvSpPr>
        <p:spPr>
          <a:xfrm>
            <a:off x="2768600" y="4848225"/>
            <a:ext cx="2042226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생활권 기반 재방문 중심인지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 기반 통과인지 판별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C13D134-CF8D-46AE-A88C-C2A4A2B33F90}"/>
              </a:ext>
            </a:extLst>
          </p:cNvPr>
          <p:cNvSpPr/>
          <p:nvPr/>
        </p:nvSpPr>
        <p:spPr>
          <a:xfrm>
            <a:off x="6142038" y="4137025"/>
            <a:ext cx="1677987" cy="1381125"/>
          </a:xfrm>
          <a:prstGeom prst="roundRect">
            <a:avLst/>
          </a:prstGeom>
          <a:solidFill>
            <a:srgbClr val="E46C0A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G/M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C59496-A051-4ED1-882D-9CA3599979F1}"/>
              </a:ext>
            </a:extLst>
          </p:cNvPr>
          <p:cNvSpPr txBox="1"/>
          <p:nvPr/>
        </p:nvSpPr>
        <p:spPr>
          <a:xfrm>
            <a:off x="7888288" y="4502150"/>
            <a:ext cx="2117567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Trend-niche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Saturated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35">
            <a:extLst>
              <a:ext uri="{FF2B5EF4-FFF2-40B4-BE49-F238E27FC236}">
                <a16:creationId xmlns:a16="http://schemas.microsoft.com/office/drawing/2014/main" id="{58AB54E7-0D04-483A-9937-31B7B1C8C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4137025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틈새형  </a:t>
            </a:r>
            <a:r>
              <a:rPr lang="en-US" altLang="ko-KR" sz="200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CC6CFA-CF2D-4371-88D3-79097C297CAB}"/>
              </a:ext>
            </a:extLst>
          </p:cNvPr>
          <p:cNvSpPr txBox="1"/>
          <p:nvPr/>
        </p:nvSpPr>
        <p:spPr>
          <a:xfrm>
            <a:off x="8047038" y="4848225"/>
            <a:ext cx="2239396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기반 틈새 트렌드 소비인지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 트렌드 소비인지 판별</a:t>
            </a:r>
          </a:p>
        </p:txBody>
      </p:sp>
      <p:sp>
        <p:nvSpPr>
          <p:cNvPr id="22" name="TextBox 37">
            <a:extLst>
              <a:ext uri="{FF2B5EF4-FFF2-40B4-BE49-F238E27FC236}">
                <a16:creationId xmlns:a16="http://schemas.microsoft.com/office/drawing/2014/main" id="{489CE2DA-C30B-466D-82FE-5D2076A15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8432800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처럼 매장의 운영 특성을 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축으로 분류하여 고유한 운영 유형을 진단합니다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FB710BC4-6AC9-4C4D-8A2C-E889207CB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13" y="5972175"/>
            <a:ext cx="10218737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커피전문점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“DULT”(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주행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틈새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|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치킨집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“NFTS”(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야행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감성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통과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포화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6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154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6057AAD-B636-42A1-BBF9-C4B713428175}"/>
              </a:ext>
            </a:extLst>
          </p:cNvPr>
          <p:cNvSpPr/>
          <p:nvPr/>
        </p:nvSpPr>
        <p:spPr>
          <a:xfrm>
            <a:off x="9109075" y="1676400"/>
            <a:ext cx="2782888" cy="4518025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A7203D3-1E93-4039-B531-1A997E55E0F1}"/>
              </a:ext>
            </a:extLst>
          </p:cNvPr>
          <p:cNvSpPr/>
          <p:nvPr/>
        </p:nvSpPr>
        <p:spPr>
          <a:xfrm>
            <a:off x="6156325" y="1676400"/>
            <a:ext cx="2782888" cy="4518025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60E549-F4F2-4713-89EC-EF796509AC04}"/>
              </a:ext>
            </a:extLst>
          </p:cNvPr>
          <p:cNvSpPr/>
          <p:nvPr/>
        </p:nvSpPr>
        <p:spPr>
          <a:xfrm>
            <a:off x="3201988" y="1676400"/>
            <a:ext cx="2784475" cy="4518025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CD35D98A-4B7F-4578-859F-1C77B9DAE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 답변이 아닌</a:t>
            </a: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다각도 해석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D3F55D6-3F3B-4F1C-99DB-BDB9171FA9A8}"/>
              </a:ext>
            </a:extLst>
          </p:cNvPr>
          <p:cNvSpPr/>
          <p:nvPr/>
        </p:nvSpPr>
        <p:spPr>
          <a:xfrm>
            <a:off x="249238" y="1676400"/>
            <a:ext cx="2784475" cy="4518025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15AEB6E-105C-49EF-82B1-D48742E1C7BA}"/>
              </a:ext>
            </a:extLst>
          </p:cNvPr>
          <p:cNvSpPr/>
          <p:nvPr/>
        </p:nvSpPr>
        <p:spPr>
          <a:xfrm>
            <a:off x="1100138" y="2001838"/>
            <a:ext cx="1082675" cy="1082675"/>
          </a:xfrm>
          <a:prstGeom prst="ellipse">
            <a:avLst/>
          </a:prstGeom>
          <a:solidFill>
            <a:srgbClr val="FFBF93"/>
          </a:solidFill>
          <a:ln w="3175">
            <a:solidFill>
              <a:srgbClr val="FFBF93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8219237-C05F-455B-A032-C18F41F62644}"/>
              </a:ext>
            </a:extLst>
          </p:cNvPr>
          <p:cNvSpPr/>
          <p:nvPr/>
        </p:nvSpPr>
        <p:spPr>
          <a:xfrm>
            <a:off x="7005638" y="1997075"/>
            <a:ext cx="1084262" cy="1084263"/>
          </a:xfrm>
          <a:prstGeom prst="ellipse">
            <a:avLst/>
          </a:prstGeom>
          <a:solidFill>
            <a:srgbClr val="FF6600"/>
          </a:solidFill>
          <a:ln w="3175">
            <a:solidFill>
              <a:srgbClr val="FF6600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E167000-E16E-4BEE-9692-67A4AF30E63D}"/>
              </a:ext>
            </a:extLst>
          </p:cNvPr>
          <p:cNvSpPr/>
          <p:nvPr/>
        </p:nvSpPr>
        <p:spPr>
          <a:xfrm>
            <a:off x="4052888" y="1997075"/>
            <a:ext cx="1082675" cy="1084263"/>
          </a:xfrm>
          <a:prstGeom prst="ellipse">
            <a:avLst/>
          </a:prstGeom>
          <a:solidFill>
            <a:srgbClr val="CC00FF"/>
          </a:solidFill>
          <a:ln w="3175">
            <a:solidFill>
              <a:srgbClr val="CC00FF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36457EE-1B0F-469C-BA9D-DD9D41757A6B}"/>
              </a:ext>
            </a:extLst>
          </p:cNvPr>
          <p:cNvSpPr/>
          <p:nvPr/>
        </p:nvSpPr>
        <p:spPr>
          <a:xfrm>
            <a:off x="9961563" y="2001838"/>
            <a:ext cx="1082675" cy="1082675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solidFill>
              <a:srgbClr val="77933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60C33D6-94B6-4A7B-B225-355128D49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2146300"/>
            <a:ext cx="79216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75B9B3F8-39C9-404F-8F8D-53BC0A3C3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2111375"/>
            <a:ext cx="8572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26">
            <a:extLst>
              <a:ext uri="{FF2B5EF4-FFF2-40B4-BE49-F238E27FC236}">
                <a16:creationId xmlns:a16="http://schemas.microsoft.com/office/drawing/2014/main" id="{F7D36E1F-6FD1-42FD-9764-AD0F19779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3238500"/>
            <a:ext cx="1841851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에이전트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94A59A-FAC8-42EF-AE71-1273C818D394}"/>
              </a:ext>
            </a:extLst>
          </p:cNvPr>
          <p:cNvSpPr txBox="1"/>
          <p:nvPr/>
        </p:nvSpPr>
        <p:spPr>
          <a:xfrm flipH="1">
            <a:off x="319088" y="3736975"/>
            <a:ext cx="2830512" cy="203041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lIns="0" tIns="0" rIns="0" bIns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 시간대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분포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 판별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시간대 패턴 분석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고객 정합성 평가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평가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(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매우 활발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보통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저조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Box 33">
            <a:extLst>
              <a:ext uri="{FF2B5EF4-FFF2-40B4-BE49-F238E27FC236}">
                <a16:creationId xmlns:a16="http://schemas.microsoft.com/office/drawing/2014/main" id="{16029345-C887-4C5D-91C7-DCB1131F4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3241675"/>
            <a:ext cx="1643079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에이전트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FB8FDC-5DA0-43CC-B71C-12F0DB6DA588}"/>
              </a:ext>
            </a:extLst>
          </p:cNvPr>
          <p:cNvSpPr txBox="1"/>
          <p:nvPr/>
        </p:nvSpPr>
        <p:spPr>
          <a:xfrm flipH="1">
            <a:off x="3271838" y="3741738"/>
            <a:ext cx="2830512" cy="166211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lIns="0" tIns="0" rIns="0" bIns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유사업종 점포 수 분석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2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성장성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vs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독립 점포 구도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강도 종합 평가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(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매우 치열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치열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보통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완화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39" name="TextBox 35">
            <a:extLst>
              <a:ext uri="{FF2B5EF4-FFF2-40B4-BE49-F238E27FC236}">
                <a16:creationId xmlns:a16="http://schemas.microsoft.com/office/drawing/2014/main" id="{2712230F-7465-4913-8583-473A713C3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241675"/>
            <a:ext cx="1695977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추천 에이전트</a:t>
            </a:r>
          </a:p>
        </p:txBody>
      </p:sp>
      <p:sp>
        <p:nvSpPr>
          <p:cNvPr id="40" name="TextBox 36">
            <a:extLst>
              <a:ext uri="{FF2B5EF4-FFF2-40B4-BE49-F238E27FC236}">
                <a16:creationId xmlns:a16="http://schemas.microsoft.com/office/drawing/2014/main" id="{8FD54DE1-3E95-4B2B-B9DA-25ED5A43109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203950" y="3741738"/>
            <a:ext cx="2830513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동 업종별 매출 순위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업종 포지셔닝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</a:t>
            </a:r>
            <a:r>
              <a:rPr lang="en-US" altLang="ko-KR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최소 매출 업종 비교 분석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운영 인사이트 및 전략</a:t>
            </a:r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51F6A0DA-5657-482D-980C-5C80D2F02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9450" y="3241675"/>
            <a:ext cx="1695977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에이전트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B22DC840-550E-4398-B696-7C0859C5CFA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74163" y="3741738"/>
            <a:ext cx="2830512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핵심 특성 요약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 정체성 반영 작명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이름 후보 생성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슬로건 </a:t>
            </a:r>
            <a:r>
              <a:rPr lang="en-US" altLang="ko-KR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 문구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AD087B33-437F-4DE2-83EF-4373E5C93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4288" y="2233613"/>
            <a:ext cx="65246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0A2186F5-9E5A-425E-863C-D72ED71A1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013" y="2189163"/>
            <a:ext cx="7635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1">
            <a:extLst>
              <a:ext uri="{FF2B5EF4-FFF2-40B4-BE49-F238E27FC236}">
                <a16:creationId xmlns:a16="http://schemas.microsoft.com/office/drawing/2014/main" id="{0DCFC610-2AD9-4BF7-B751-4A13BCABF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8702675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개의 전문 에이전트가 각자의 관점에서 독립 분석한 뒤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결과를 종합하여 전달합니다</a:t>
            </a:r>
          </a:p>
        </p:txBody>
      </p:sp>
    </p:spTree>
    <p:extLst>
      <p:ext uri="{BB962C8B-B14F-4D97-AF65-F5344CB8AC3E}">
        <p14:creationId xmlns:p14="http://schemas.microsoft.com/office/powerpoint/2010/main" val="2870073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D4A31C56-570D-4BE1-BCDD-4A2EAA9E2E34}"/>
              </a:ext>
            </a:extLst>
          </p:cNvPr>
          <p:cNvSpPr/>
          <p:nvPr/>
        </p:nvSpPr>
        <p:spPr>
          <a:xfrm>
            <a:off x="788988" y="4164013"/>
            <a:ext cx="4676775" cy="1989137"/>
          </a:xfrm>
          <a:prstGeom prst="rect">
            <a:avLst/>
          </a:prstGeom>
          <a:solidFill>
            <a:srgbClr val="F3F9FB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1FA5A73-B76E-4BF1-801A-A9655B87A9CC}"/>
              </a:ext>
            </a:extLst>
          </p:cNvPr>
          <p:cNvSpPr/>
          <p:nvPr/>
        </p:nvSpPr>
        <p:spPr>
          <a:xfrm>
            <a:off x="5924550" y="4164013"/>
            <a:ext cx="4737100" cy="1989137"/>
          </a:xfrm>
          <a:prstGeom prst="rect">
            <a:avLst/>
          </a:prstGeom>
          <a:solidFill>
            <a:srgbClr val="F3F9FB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AE2BF13-7683-4C9B-A0FF-051275250CB1}"/>
              </a:ext>
            </a:extLst>
          </p:cNvPr>
          <p:cNvSpPr/>
          <p:nvPr/>
        </p:nvSpPr>
        <p:spPr>
          <a:xfrm>
            <a:off x="5984875" y="1755775"/>
            <a:ext cx="4676775" cy="1989138"/>
          </a:xfrm>
          <a:prstGeom prst="rect">
            <a:avLst/>
          </a:prstGeom>
          <a:solidFill>
            <a:srgbClr val="F3F9FB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9" name="TextBox 2">
            <a:extLst>
              <a:ext uri="{FF2B5EF4-FFF2-40B4-BE49-F238E27FC236}">
                <a16:creationId xmlns:a16="http://schemas.microsoft.com/office/drawing/2014/main" id="{D43129B3-B7B7-4E12-8852-F2206F9E9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조언이 아닌</a:t>
            </a: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실행 전략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725AB3A-D6B1-469D-A295-CD21BACD25B9}"/>
              </a:ext>
            </a:extLst>
          </p:cNvPr>
          <p:cNvSpPr/>
          <p:nvPr/>
        </p:nvSpPr>
        <p:spPr>
          <a:xfrm>
            <a:off x="788988" y="1755775"/>
            <a:ext cx="4676775" cy="1989138"/>
          </a:xfrm>
          <a:prstGeom prst="rect">
            <a:avLst/>
          </a:prstGeom>
          <a:solidFill>
            <a:srgbClr val="F3F9FB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C355CE1-6697-431F-B1F4-57FEA82A5AC1}"/>
              </a:ext>
            </a:extLst>
          </p:cNvPr>
          <p:cNvSpPr/>
          <p:nvPr/>
        </p:nvSpPr>
        <p:spPr>
          <a:xfrm>
            <a:off x="788988" y="1755775"/>
            <a:ext cx="193675" cy="1989138"/>
          </a:xfrm>
          <a:prstGeom prst="rect">
            <a:avLst/>
          </a:prstGeom>
          <a:solidFill>
            <a:srgbClr val="008000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89E011A-9DBE-42B0-865D-ED384E438E4B}"/>
              </a:ext>
            </a:extLst>
          </p:cNvPr>
          <p:cNvSpPr/>
          <p:nvPr/>
        </p:nvSpPr>
        <p:spPr>
          <a:xfrm>
            <a:off x="5924550" y="1755775"/>
            <a:ext cx="193675" cy="1989138"/>
          </a:xfrm>
          <a:prstGeom prst="rect">
            <a:avLst/>
          </a:prstGeom>
          <a:solidFill>
            <a:srgbClr val="0099FF"/>
          </a:solidFill>
          <a:ln w="3175">
            <a:solidFill>
              <a:srgbClr val="FFFFFF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101E832-4E5C-4957-86A0-E305AEB91328}"/>
              </a:ext>
            </a:extLst>
          </p:cNvPr>
          <p:cNvSpPr/>
          <p:nvPr/>
        </p:nvSpPr>
        <p:spPr>
          <a:xfrm>
            <a:off x="788988" y="4164013"/>
            <a:ext cx="193675" cy="1989137"/>
          </a:xfrm>
          <a:prstGeom prst="rect">
            <a:avLst/>
          </a:prstGeom>
          <a:solidFill>
            <a:srgbClr val="CC00FF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10B8DC2-F5DE-4339-8BC5-E4FA3E009529}"/>
              </a:ext>
            </a:extLst>
          </p:cNvPr>
          <p:cNvSpPr/>
          <p:nvPr/>
        </p:nvSpPr>
        <p:spPr>
          <a:xfrm>
            <a:off x="5924550" y="4164013"/>
            <a:ext cx="193675" cy="1989137"/>
          </a:xfrm>
          <a:prstGeom prst="rect">
            <a:avLst/>
          </a:prstGeom>
          <a:solidFill>
            <a:srgbClr val="FF6600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5" name="TextBox 11">
            <a:extLst>
              <a:ext uri="{FF2B5EF4-FFF2-40B4-BE49-F238E27FC236}">
                <a16:creationId xmlns:a16="http://schemas.microsoft.com/office/drawing/2014/main" id="{65467B92-3BB6-4200-A614-89D2C5529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1858963"/>
            <a:ext cx="2223366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solidFill>
                  <a:srgbClr val="008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6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</a:t>
            </a:r>
            <a:r>
              <a:rPr lang="en-US" altLang="ko-KR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솔루션 </a:t>
            </a:r>
          </a:p>
        </p:txBody>
      </p:sp>
      <p:sp>
        <p:nvSpPr>
          <p:cNvPr id="56" name="TextBox 13">
            <a:extLst>
              <a:ext uri="{FF2B5EF4-FFF2-40B4-BE49-F238E27FC236}">
                <a16:creationId xmlns:a16="http://schemas.microsoft.com/office/drawing/2014/main" id="{A75B352E-5986-4525-82FC-A6C1F3C70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4265613"/>
            <a:ext cx="2454198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solidFill>
                  <a:srgbClr val="CC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r>
              <a:rPr lang="en-US" altLang="ko-KR" sz="16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</a:t>
            </a:r>
            <a:r>
              <a:rPr lang="en-US" altLang="ko-KR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공동 전략</a:t>
            </a:r>
          </a:p>
        </p:txBody>
      </p:sp>
      <p:sp>
        <p:nvSpPr>
          <p:cNvPr id="57" name="TextBox 15">
            <a:extLst>
              <a:ext uri="{FF2B5EF4-FFF2-40B4-BE49-F238E27FC236}">
                <a16:creationId xmlns:a16="http://schemas.microsoft.com/office/drawing/2014/main" id="{656DDC3D-98F7-48D1-BF79-984EBF9DE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0788" y="2779713"/>
            <a:ext cx="40481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결과에 따라 시간대 전략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 관리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 등</a:t>
            </a:r>
            <a:endParaRPr lang="en-US" altLang="ko-KR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매장에 맞는 실행 전략을 즉시 제안합니다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조건을 바꿔</a:t>
            </a:r>
            <a:endParaRPr lang="en-US" altLang="ko-KR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재분석도 가능합니다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C606E8B7-4B5F-4849-871E-54F1F4A05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25" y="5187950"/>
            <a:ext cx="4325938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같은 상권 내 매장들과 함께 공동 프로모션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고객 유입 확대 등의 협력 전략을 진행할 수 있습니다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9DDD5684-FF11-40E8-8240-FED063AD2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1858963"/>
            <a:ext cx="1599797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solidFill>
                  <a:srgbClr val="0099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6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솔루션 마켓</a:t>
            </a:r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D0DF1793-C75A-4A61-9C9B-05EFEA6AE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4270375"/>
            <a:ext cx="2374048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solidFill>
                  <a:srgbClr val="FF66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r>
              <a:rPr lang="en-US" altLang="ko-KR" sz="16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보관함 </a:t>
            </a:r>
            <a:r>
              <a:rPr lang="en-US" altLang="ko-KR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재분석</a:t>
            </a:r>
          </a:p>
        </p:txBody>
      </p:sp>
      <p:sp>
        <p:nvSpPr>
          <p:cNvPr id="61" name="TextBox 23">
            <a:extLst>
              <a:ext uri="{FF2B5EF4-FFF2-40B4-BE49-F238E27FC236}">
                <a16:creationId xmlns:a16="http://schemas.microsoft.com/office/drawing/2014/main" id="{D436D62A-D60B-4DBB-B0AD-17EDC0E0E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2779713"/>
            <a:ext cx="432593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매장의 문제 유형별로 다른 매장들이 많이 선택한</a:t>
            </a:r>
            <a:endParaRPr lang="en-US" altLang="ko-KR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방법을 확인하고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 신청까지 연결할 수 있습니다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62" name="TextBox 24">
            <a:extLst>
              <a:ext uri="{FF2B5EF4-FFF2-40B4-BE49-F238E27FC236}">
                <a16:creationId xmlns:a16="http://schemas.microsoft.com/office/drawing/2014/main" id="{41B4681C-F7AF-4F23-BBEC-B3831A970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5187950"/>
            <a:ext cx="43259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 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이력을 보관함에 저장하고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흐름에 따른</a:t>
            </a:r>
            <a:endParaRPr lang="en-US" altLang="ko-KR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 변화를 추적하며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조건을 바꿔 시뮬레이션 할 수 있습니다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C0AC80B-D46D-485F-81F2-57340B945F03}"/>
              </a:ext>
            </a:extLst>
          </p:cNvPr>
          <p:cNvSpPr/>
          <p:nvPr/>
        </p:nvSpPr>
        <p:spPr>
          <a:xfrm>
            <a:off x="4319588" y="1951038"/>
            <a:ext cx="908050" cy="384175"/>
          </a:xfrm>
          <a:prstGeom prst="rect">
            <a:avLst/>
          </a:prstGeom>
          <a:solidFill>
            <a:srgbClr val="ACFE74"/>
          </a:solidFill>
          <a:ln w="3175">
            <a:solidFill>
              <a:srgbClr val="ACFE74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ko-KR" altLang="en-US" sz="1300" dirty="0">
                <a:solidFill>
                  <a:srgbClr val="008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맞춤 전략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E1803FE-4C8B-4EA2-891F-16437EB71214}"/>
              </a:ext>
            </a:extLst>
          </p:cNvPr>
          <p:cNvSpPr/>
          <p:nvPr/>
        </p:nvSpPr>
        <p:spPr>
          <a:xfrm>
            <a:off x="9521825" y="1951038"/>
            <a:ext cx="909638" cy="384175"/>
          </a:xfrm>
          <a:prstGeom prst="rect">
            <a:avLst/>
          </a:prstGeom>
          <a:solidFill>
            <a:srgbClr val="ACE9FE"/>
          </a:solidFill>
          <a:ln w="3175">
            <a:solidFill>
              <a:srgbClr val="ACFE74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ko-KR" altLang="en-US" sz="1300" dirty="0">
                <a:solidFill>
                  <a:srgbClr val="0099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실행 연결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2B895B1-DA1D-4ADE-9340-2B13E8F8BFC5}"/>
              </a:ext>
            </a:extLst>
          </p:cNvPr>
          <p:cNvSpPr/>
          <p:nvPr/>
        </p:nvSpPr>
        <p:spPr>
          <a:xfrm>
            <a:off x="4319588" y="4354513"/>
            <a:ext cx="909637" cy="385762"/>
          </a:xfrm>
          <a:prstGeom prst="rect">
            <a:avLst/>
          </a:prstGeom>
          <a:solidFill>
            <a:srgbClr val="FFB3FF"/>
          </a:solidFill>
          <a:ln w="3175">
            <a:solidFill>
              <a:srgbClr val="ACFE74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ko-KR" altLang="en-US" sz="1300" dirty="0">
                <a:solidFill>
                  <a:srgbClr val="CC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상권 협력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93A8446-70CF-48DA-A578-34068E948DAC}"/>
              </a:ext>
            </a:extLst>
          </p:cNvPr>
          <p:cNvSpPr/>
          <p:nvPr/>
        </p:nvSpPr>
        <p:spPr>
          <a:xfrm>
            <a:off x="9521825" y="4354513"/>
            <a:ext cx="909638" cy="385762"/>
          </a:xfrm>
          <a:prstGeom prst="rect">
            <a:avLst/>
          </a:prstGeom>
          <a:solidFill>
            <a:srgbClr val="FCDBAA"/>
          </a:solidFill>
          <a:ln w="3175">
            <a:solidFill>
              <a:srgbClr val="ACFE74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ko-KR" altLang="en-US" sz="1300" dirty="0">
                <a:solidFill>
                  <a:srgbClr val="FF66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지속 관리</a:t>
            </a:r>
          </a:p>
        </p:txBody>
      </p:sp>
      <p:sp>
        <p:nvSpPr>
          <p:cNvPr id="67" name="TextBox 30">
            <a:extLst>
              <a:ext uri="{FF2B5EF4-FFF2-40B4-BE49-F238E27FC236}">
                <a16:creationId xmlns:a16="http://schemas.microsoft.com/office/drawing/2014/main" id="{AF9EFA97-0A74-4E81-850A-F51202D11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8432800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진단에서 끝나지 않고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실행까지 연결되는 솔루션 체계를 제공합니다</a:t>
            </a:r>
          </a:p>
        </p:txBody>
      </p:sp>
    </p:spTree>
    <p:extLst>
      <p:ext uri="{BB962C8B-B14F-4D97-AF65-F5344CB8AC3E}">
        <p14:creationId xmlns:p14="http://schemas.microsoft.com/office/powerpoint/2010/main" val="796219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">
            <a:extLst>
              <a:ext uri="{FF2B5EF4-FFF2-40B4-BE49-F238E27FC236}">
                <a16:creationId xmlns:a16="http://schemas.microsoft.com/office/drawing/2014/main" id="{42F74B2C-57CB-4476-9E54-C6DC60A94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같은 업종이라도</a:t>
            </a: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결과</a:t>
            </a: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18DF6AA5-6B4C-434F-B8FA-EDA68A944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9005887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 업종이라도 위치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고객층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방식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점주의 고민에 따라 완전히 다른 솔루션을 도출합니다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4B7C40D-8D8D-4959-8B32-DA3C44433C86}"/>
              </a:ext>
            </a:extLst>
          </p:cNvPr>
          <p:cNvSpPr/>
          <p:nvPr/>
        </p:nvSpPr>
        <p:spPr>
          <a:xfrm>
            <a:off x="301625" y="1527175"/>
            <a:ext cx="5661025" cy="4618038"/>
          </a:xfrm>
          <a:prstGeom prst="roundRect">
            <a:avLst>
              <a:gd name="adj" fmla="val 8645"/>
            </a:avLst>
          </a:prstGeom>
          <a:solidFill>
            <a:srgbClr val="204356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cxnSp>
        <p:nvCxnSpPr>
          <p:cNvPr id="27" name="직선 연결선 9">
            <a:extLst>
              <a:ext uri="{FF2B5EF4-FFF2-40B4-BE49-F238E27FC236}">
                <a16:creationId xmlns:a16="http://schemas.microsoft.com/office/drawing/2014/main" id="{98B5BC25-B14C-4BC9-9AAA-2923BE685393}"/>
              </a:ext>
            </a:extLst>
          </p:cNvPr>
          <p:cNvCxnSpPr>
            <a:cxnSpLocks/>
          </p:cNvCxnSpPr>
          <p:nvPr/>
        </p:nvCxnSpPr>
        <p:spPr bwMode="auto">
          <a:xfrm>
            <a:off x="581025" y="2811463"/>
            <a:ext cx="5100638" cy="0"/>
          </a:xfrm>
          <a:prstGeom prst="line">
            <a:avLst/>
          </a:prstGeom>
          <a:noFill/>
          <a:ln w="12700" algn="ctr">
            <a:solidFill>
              <a:srgbClr val="ACBECD"/>
            </a:solidFill>
            <a:round/>
            <a:headEnd/>
            <a:tailEnd/>
          </a:ln>
        </p:spPr>
      </p:cxnSp>
      <p:sp>
        <p:nvSpPr>
          <p:cNvPr id="28" name="TextBox 11">
            <a:extLst>
              <a:ext uri="{FF2B5EF4-FFF2-40B4-BE49-F238E27FC236}">
                <a16:creationId xmlns:a16="http://schemas.microsoft.com/office/drawing/2014/main" id="{8A7039D5-585D-403E-9A15-35CB3CEA3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820863"/>
            <a:ext cx="1426673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4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커피 매장 </a:t>
            </a:r>
            <a:r>
              <a:rPr lang="en-US" altLang="ko-KR" sz="24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</a:t>
            </a:r>
            <a:endParaRPr lang="ko-KR" altLang="en-US" sz="24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77F9D11-C227-4F04-AA83-D5010D84D743}"/>
              </a:ext>
            </a:extLst>
          </p:cNvPr>
          <p:cNvSpPr/>
          <p:nvPr/>
        </p:nvSpPr>
        <p:spPr>
          <a:xfrm>
            <a:off x="4419600" y="1817688"/>
            <a:ext cx="1177925" cy="454025"/>
          </a:xfrm>
          <a:prstGeom prst="roundRect">
            <a:avLst/>
          </a:prstGeom>
          <a:solidFill>
            <a:srgbClr val="34F8C5"/>
          </a:solidFill>
          <a:ln w="3175">
            <a:solidFill>
              <a:srgbClr val="19756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DUTM</a:t>
            </a:r>
            <a:endParaRPr lang="ko-KR" altLang="en-US" sz="1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3B576D2A-D4D1-4AE2-9045-EB11A97C4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2417763"/>
            <a:ext cx="1885131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주행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통과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</a:t>
            </a: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AEAFB6A3-97CA-48C9-B42B-0D11AEDB7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3040063"/>
            <a:ext cx="2000548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위치           강남구 역삼동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D95E4BD9-1643-47E1-87CC-4DD2511BF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3578225"/>
            <a:ext cx="4209486" cy="653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고민           아침에는 손님이 많은데 점심 매출이 낮고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</a:pP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	   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오후 재방문이 적어요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4DACD29-88E9-426D-8046-872E9F107DAA}"/>
              </a:ext>
            </a:extLst>
          </p:cNvPr>
          <p:cNvSpPr/>
          <p:nvPr/>
        </p:nvSpPr>
        <p:spPr>
          <a:xfrm>
            <a:off x="581025" y="4500563"/>
            <a:ext cx="5100638" cy="1355725"/>
          </a:xfrm>
          <a:prstGeom prst="roundRect">
            <a:avLst/>
          </a:prstGeom>
          <a:solidFill>
            <a:srgbClr val="058D69"/>
          </a:solidFill>
          <a:ln w="3175">
            <a:solidFill>
              <a:srgbClr val="19756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1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3E450FDF-81ED-49DD-9CAE-529C3515E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4622800"/>
            <a:ext cx="819135" cy="269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40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 솔루션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E48611B2-021E-4DD0-A996-9EFD544D4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4956175"/>
            <a:ext cx="3685304" cy="653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점심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전용 운영 재설계</a:t>
            </a:r>
            <a:endParaRPr lang="en-US" altLang="ko-KR" sz="16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세트 구성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선주문 픽업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시간대별 홍보 분리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6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9DFA343-80CD-40D1-8D9D-86DC07888903}"/>
              </a:ext>
            </a:extLst>
          </p:cNvPr>
          <p:cNvSpPr/>
          <p:nvPr/>
        </p:nvSpPr>
        <p:spPr>
          <a:xfrm>
            <a:off x="6229350" y="1527175"/>
            <a:ext cx="5661025" cy="4618038"/>
          </a:xfrm>
          <a:prstGeom prst="roundRect">
            <a:avLst>
              <a:gd name="adj" fmla="val 8645"/>
            </a:avLst>
          </a:prstGeom>
          <a:solidFill>
            <a:srgbClr val="204356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cxnSp>
        <p:nvCxnSpPr>
          <p:cNvPr id="37" name="직선 연결선 24">
            <a:extLst>
              <a:ext uri="{FF2B5EF4-FFF2-40B4-BE49-F238E27FC236}">
                <a16:creationId xmlns:a16="http://schemas.microsoft.com/office/drawing/2014/main" id="{999257DE-CEAD-4DC9-855E-582E7E83F9B6}"/>
              </a:ext>
            </a:extLst>
          </p:cNvPr>
          <p:cNvCxnSpPr>
            <a:cxnSpLocks/>
          </p:cNvCxnSpPr>
          <p:nvPr/>
        </p:nvCxnSpPr>
        <p:spPr bwMode="auto">
          <a:xfrm>
            <a:off x="6508750" y="2811463"/>
            <a:ext cx="5099050" cy="0"/>
          </a:xfrm>
          <a:prstGeom prst="line">
            <a:avLst/>
          </a:prstGeom>
          <a:noFill/>
          <a:ln w="12700" algn="ctr">
            <a:solidFill>
              <a:srgbClr val="ACBECD"/>
            </a:solidFill>
            <a:round/>
            <a:headEnd/>
            <a:tailEnd/>
          </a:ln>
        </p:spPr>
      </p:cxnSp>
      <p:sp>
        <p:nvSpPr>
          <p:cNvPr id="38" name="TextBox 25">
            <a:extLst>
              <a:ext uri="{FF2B5EF4-FFF2-40B4-BE49-F238E27FC236}">
                <a16:creationId xmlns:a16="http://schemas.microsoft.com/office/drawing/2014/main" id="{C1AF528F-827F-4E63-BFAA-9C5328DF9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1820863"/>
            <a:ext cx="1401025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4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커피 매장 </a:t>
            </a:r>
            <a:r>
              <a:rPr lang="en-US" altLang="ko-KR" sz="24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endParaRPr lang="ko-KR" altLang="en-US" sz="24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A1F725D-49D5-4E01-92E5-46439B266E45}"/>
              </a:ext>
            </a:extLst>
          </p:cNvPr>
          <p:cNvSpPr/>
          <p:nvPr/>
        </p:nvSpPr>
        <p:spPr>
          <a:xfrm>
            <a:off x="10347325" y="1817688"/>
            <a:ext cx="1177925" cy="454025"/>
          </a:xfrm>
          <a:prstGeom prst="roundRect">
            <a:avLst/>
          </a:prstGeom>
          <a:solidFill>
            <a:srgbClr val="34F8C5"/>
          </a:solidFill>
          <a:ln w="3175">
            <a:solidFill>
              <a:srgbClr val="19756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DFLM</a:t>
            </a:r>
            <a:endParaRPr lang="ko-KR" altLang="en-US" sz="1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0" name="TextBox 27">
            <a:extLst>
              <a:ext uri="{FF2B5EF4-FFF2-40B4-BE49-F238E27FC236}">
                <a16:creationId xmlns:a16="http://schemas.microsoft.com/office/drawing/2014/main" id="{2A3B2A3C-C648-47BD-92C0-97CBF2B2A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2417763"/>
            <a:ext cx="1885131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주행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</a:t>
            </a:r>
          </a:p>
        </p:txBody>
      </p:sp>
      <p:sp>
        <p:nvSpPr>
          <p:cNvPr id="41" name="TextBox 28">
            <a:extLst>
              <a:ext uri="{FF2B5EF4-FFF2-40B4-BE49-F238E27FC236}">
                <a16:creationId xmlns:a16="http://schemas.microsoft.com/office/drawing/2014/main" id="{4D7D2068-1FCA-4E49-A66B-CC4FED5AA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3040063"/>
            <a:ext cx="2000548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위치           마포구 공덕동</a:t>
            </a:r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E6381295-6FFE-43A1-A193-A139546FA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3578225"/>
            <a:ext cx="3746218" cy="653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고민           출근길 매장은 괜찮은데 저녁 손님이</a:t>
            </a:r>
            <a:endParaRPr lang="en-US" altLang="ko-KR" sz="16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	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확 줄고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단골이 잘 안 생겨요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670A3DE-2504-40E3-ACFC-78C9CAC018A2}"/>
              </a:ext>
            </a:extLst>
          </p:cNvPr>
          <p:cNvSpPr/>
          <p:nvPr/>
        </p:nvSpPr>
        <p:spPr>
          <a:xfrm>
            <a:off x="6508750" y="4500563"/>
            <a:ext cx="5099050" cy="1355725"/>
          </a:xfrm>
          <a:prstGeom prst="roundRect">
            <a:avLst/>
          </a:prstGeom>
          <a:solidFill>
            <a:srgbClr val="058D69"/>
          </a:solidFill>
          <a:ln w="3175">
            <a:solidFill>
              <a:srgbClr val="19756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1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4" name="TextBox 31">
            <a:extLst>
              <a:ext uri="{FF2B5EF4-FFF2-40B4-BE49-F238E27FC236}">
                <a16:creationId xmlns:a16="http://schemas.microsoft.com/office/drawing/2014/main" id="{A1BC0F33-060A-4B9C-95B3-27ED3289E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4622800"/>
            <a:ext cx="819135" cy="269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40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 솔루션</a:t>
            </a:r>
          </a:p>
        </p:txBody>
      </p:sp>
      <p:sp>
        <p:nvSpPr>
          <p:cNvPr id="45" name="TextBox 32">
            <a:extLst>
              <a:ext uri="{FF2B5EF4-FFF2-40B4-BE49-F238E27FC236}">
                <a16:creationId xmlns:a16="http://schemas.microsoft.com/office/drawing/2014/main" id="{01AC5C47-DA89-42F9-91F5-6538BAE87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4956175"/>
            <a:ext cx="3685304" cy="997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재방문 구조 설계로 관계 자산 구축</a:t>
            </a:r>
            <a:endParaRPr lang="en-US" altLang="ko-KR" sz="16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단골 스탬프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저녁 디저트 묶음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재방문 쿠폰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140000"/>
              </a:lnSpc>
            </a:pPr>
            <a:endParaRPr lang="ko-KR" altLang="en-US" sz="1600" b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3160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A1CB3E2-8B6B-43F6-BEB0-C2D6CD2D5BC4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10445750" y="2321985"/>
            <a:ext cx="0" cy="1730375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2BFCA53-3070-40B4-9E49-602A46E112E2}"/>
              </a:ext>
            </a:extLst>
          </p:cNvPr>
          <p:cNvCxnSpPr>
            <a:cxnSpLocks/>
            <a:stCxn id="10" idx="2"/>
            <a:endCxn id="20" idx="0"/>
          </p:cNvCxnSpPr>
          <p:nvPr/>
        </p:nvCxnSpPr>
        <p:spPr>
          <a:xfrm flipH="1">
            <a:off x="7537450" y="2321985"/>
            <a:ext cx="0" cy="3140075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27F5D09-E0D8-4A61-90B2-2160B54F6638}"/>
              </a:ext>
            </a:extLst>
          </p:cNvPr>
          <p:cNvCxnSpPr>
            <a:cxnSpLocks/>
            <a:stCxn id="9" idx="2"/>
            <a:endCxn id="22" idx="0"/>
          </p:cNvCxnSpPr>
          <p:nvPr/>
        </p:nvCxnSpPr>
        <p:spPr>
          <a:xfrm flipH="1">
            <a:off x="4613275" y="2321985"/>
            <a:ext cx="15875" cy="2435225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E9BF304-807A-4E9B-9E0E-3CC503F97C4F}"/>
              </a:ext>
            </a:extLst>
          </p:cNvPr>
          <p:cNvCxnSpPr>
            <a:stCxn id="8" idx="2"/>
            <a:endCxn id="25" idx="2"/>
          </p:cNvCxnSpPr>
          <p:nvPr/>
        </p:nvCxnSpPr>
        <p:spPr>
          <a:xfrm flipH="1">
            <a:off x="1720850" y="2321985"/>
            <a:ext cx="0" cy="2135188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EC751FF-C8FA-4460-B547-0BF617900AC0}"/>
              </a:ext>
            </a:extLst>
          </p:cNvPr>
          <p:cNvSpPr/>
          <p:nvPr/>
        </p:nvSpPr>
        <p:spPr>
          <a:xfrm>
            <a:off x="706438" y="1915585"/>
            <a:ext cx="2027237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F5491A-68E3-45E7-AD7F-DA0529569DE8}"/>
              </a:ext>
            </a:extLst>
          </p:cNvPr>
          <p:cNvSpPr/>
          <p:nvPr/>
        </p:nvSpPr>
        <p:spPr>
          <a:xfrm>
            <a:off x="3616325" y="1915585"/>
            <a:ext cx="2025650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E16AA7-D93D-4D8C-9E32-E019D4494A75}"/>
              </a:ext>
            </a:extLst>
          </p:cNvPr>
          <p:cNvSpPr/>
          <p:nvPr/>
        </p:nvSpPr>
        <p:spPr>
          <a:xfrm>
            <a:off x="6524625" y="1915585"/>
            <a:ext cx="2027238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67D155-C38E-4476-AFCE-03D8AE617BED}"/>
              </a:ext>
            </a:extLst>
          </p:cNvPr>
          <p:cNvSpPr/>
          <p:nvPr/>
        </p:nvSpPr>
        <p:spPr>
          <a:xfrm>
            <a:off x="9432925" y="1915585"/>
            <a:ext cx="2027238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활동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B3EFB44-A441-4F51-B6DA-5D0A1DC2FCE4}"/>
              </a:ext>
            </a:extLst>
          </p:cNvPr>
          <p:cNvSpPr/>
          <p:nvPr/>
        </p:nvSpPr>
        <p:spPr>
          <a:xfrm>
            <a:off x="9858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현황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6EED377-A429-40B5-87C9-C6C299B75C6F}"/>
              </a:ext>
            </a:extLst>
          </p:cNvPr>
          <p:cNvSpPr/>
          <p:nvPr/>
        </p:nvSpPr>
        <p:spPr>
          <a:xfrm>
            <a:off x="38941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분석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4BB707-9D32-4AA8-ACC5-A90B902FCDCA}"/>
              </a:ext>
            </a:extLst>
          </p:cNvPr>
          <p:cNvSpPr/>
          <p:nvPr/>
        </p:nvSpPr>
        <p:spPr>
          <a:xfrm>
            <a:off x="68024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결과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54FDC50-12C5-44B1-A490-5EF27CC8576E}"/>
              </a:ext>
            </a:extLst>
          </p:cNvPr>
          <p:cNvSpPr/>
          <p:nvPr/>
        </p:nvSpPr>
        <p:spPr>
          <a:xfrm>
            <a:off x="9710738" y="2642660"/>
            <a:ext cx="1471612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정보 관리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7CF1A55-6466-43C3-963E-C832F51D7FA5}"/>
              </a:ext>
            </a:extLst>
          </p:cNvPr>
          <p:cNvSpPr/>
          <p:nvPr/>
        </p:nvSpPr>
        <p:spPr>
          <a:xfrm>
            <a:off x="9858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가게 상태 요약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96986AE-BFEE-417F-ACBC-F11849A96A64}"/>
              </a:ext>
            </a:extLst>
          </p:cNvPr>
          <p:cNvSpPr/>
          <p:nvPr/>
        </p:nvSpPr>
        <p:spPr>
          <a:xfrm>
            <a:off x="38941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결과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08C40E6-ACCE-4AF4-BA72-251570BD36AD}"/>
              </a:ext>
            </a:extLst>
          </p:cNvPr>
          <p:cNvSpPr/>
          <p:nvPr/>
        </p:nvSpPr>
        <p:spPr>
          <a:xfrm>
            <a:off x="6802438" y="475721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함께 더하기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2C03A4A-0F61-421E-BB7B-8C355F1D841C}"/>
              </a:ext>
            </a:extLst>
          </p:cNvPr>
          <p:cNvSpPr/>
          <p:nvPr/>
        </p:nvSpPr>
        <p:spPr>
          <a:xfrm>
            <a:off x="38941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0968DC-BD57-48BB-AF8F-33F9D92CBC1B}"/>
              </a:ext>
            </a:extLst>
          </p:cNvPr>
          <p:cNvSpPr/>
          <p:nvPr/>
        </p:nvSpPr>
        <p:spPr>
          <a:xfrm>
            <a:off x="6802438" y="5462060"/>
            <a:ext cx="1470025" cy="404813"/>
          </a:xfrm>
          <a:prstGeom prst="roundRect">
            <a:avLst/>
          </a:prstGeom>
          <a:solidFill>
            <a:srgbClr val="FEB45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  마켓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412F8A0-0FB1-4008-B36B-609E247C0028}"/>
              </a:ext>
            </a:extLst>
          </p:cNvPr>
          <p:cNvSpPr/>
          <p:nvPr/>
        </p:nvSpPr>
        <p:spPr>
          <a:xfrm>
            <a:off x="9710738" y="3347510"/>
            <a:ext cx="1471612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진단 보관함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9518B24-694F-4683-B650-63C5FC684769}"/>
              </a:ext>
            </a:extLst>
          </p:cNvPr>
          <p:cNvSpPr/>
          <p:nvPr/>
        </p:nvSpPr>
        <p:spPr>
          <a:xfrm>
            <a:off x="3878263" y="475721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재분석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2FF6B86-A5FA-497D-A967-C0DD7C822E92}"/>
              </a:ext>
            </a:extLst>
          </p:cNvPr>
          <p:cNvSpPr/>
          <p:nvPr/>
        </p:nvSpPr>
        <p:spPr>
          <a:xfrm>
            <a:off x="9710738" y="4052360"/>
            <a:ext cx="1471612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활동 배지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8FF3BE5-D6DD-494E-BF06-5F8B5A5DB306}"/>
              </a:ext>
            </a:extLst>
          </p:cNvPr>
          <p:cNvSpPr/>
          <p:nvPr/>
        </p:nvSpPr>
        <p:spPr>
          <a:xfrm>
            <a:off x="68024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클러스터 맵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BDC9621-5B62-4EDF-B5B5-E6DE9C1A3C50}"/>
              </a:ext>
            </a:extLst>
          </p:cNvPr>
          <p:cNvSpPr/>
          <p:nvPr/>
        </p:nvSpPr>
        <p:spPr>
          <a:xfrm>
            <a:off x="9858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성공 상권  사례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29721" name="TextBox 25">
            <a:extLst>
              <a:ext uri="{FF2B5EF4-FFF2-40B4-BE49-F238E27FC236}">
                <a16:creationId xmlns:a16="http://schemas.microsoft.com/office/drawing/2014/main" id="{D2FA1197-FC2F-4367-8A5D-684BFF6A1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863" y="2642660"/>
            <a:ext cx="1227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우리 상권 이름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참여율</a:t>
            </a:r>
          </a:p>
        </p:txBody>
      </p:sp>
      <p:sp>
        <p:nvSpPr>
          <p:cNvPr id="29722" name="TextBox 26">
            <a:extLst>
              <a:ext uri="{FF2B5EF4-FFF2-40B4-BE49-F238E27FC236}">
                <a16:creationId xmlns:a16="http://schemas.microsoft.com/office/drawing/2014/main" id="{FBA3BDB0-866D-4E20-AF7E-7184BF338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3320523"/>
            <a:ext cx="1033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MBTI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요약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문제 한 줄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55FF0E1-75AB-4014-8F11-F09EDB5B5043}"/>
              </a:ext>
            </a:extLst>
          </p:cNvPr>
          <p:cNvSpPr/>
          <p:nvPr/>
        </p:nvSpPr>
        <p:spPr>
          <a:xfrm>
            <a:off x="68024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고민</a:t>
            </a:r>
          </a:p>
        </p:txBody>
      </p:sp>
      <p:sp>
        <p:nvSpPr>
          <p:cNvPr id="29724" name="TextBox 28">
            <a:extLst>
              <a:ext uri="{FF2B5EF4-FFF2-40B4-BE49-F238E27FC236}">
                <a16:creationId xmlns:a16="http://schemas.microsoft.com/office/drawing/2014/main" id="{E58E4165-EA5E-4F18-86C5-77191ABCD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500" y="5462060"/>
            <a:ext cx="2455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솔루션 도와줄 수 있는 마켓 제안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B2B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중개 수수료</a:t>
            </a:r>
          </a:p>
        </p:txBody>
      </p:sp>
      <p:sp>
        <p:nvSpPr>
          <p:cNvPr id="29725" name="TextBox 29">
            <a:extLst>
              <a:ext uri="{FF2B5EF4-FFF2-40B4-BE49-F238E27FC236}">
                <a16:creationId xmlns:a16="http://schemas.microsoft.com/office/drawing/2014/main" id="{4C69DD6F-FB47-4B09-B04C-C69C9995B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8200" y="4547660"/>
            <a:ext cx="1863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내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다른 가게 사장님 </a:t>
            </a:r>
            <a:b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</a:b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유입 시킬 경우 배지 증정</a:t>
            </a:r>
          </a:p>
        </p:txBody>
      </p:sp>
      <p:sp>
        <p:nvSpPr>
          <p:cNvPr id="29726" name="TextBox 30">
            <a:extLst>
              <a:ext uri="{FF2B5EF4-FFF2-40B4-BE49-F238E27FC236}">
                <a16:creationId xmlns:a16="http://schemas.microsoft.com/office/drawing/2014/main" id="{23D9B613-28F0-43A6-90C7-CCCF8D855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500" y="4850873"/>
            <a:ext cx="13239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가치 제안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3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가지</a:t>
            </a:r>
          </a:p>
        </p:txBody>
      </p:sp>
      <p:sp>
        <p:nvSpPr>
          <p:cNvPr id="29727" name="TextBox 31">
            <a:extLst>
              <a:ext uri="{FF2B5EF4-FFF2-40B4-BE49-F238E27FC236}">
                <a16:creationId xmlns:a16="http://schemas.microsoft.com/office/drawing/2014/main" id="{403E748D-4F8B-45AE-B1EC-CEA90BD0C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864660"/>
            <a:ext cx="72231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나의 매장이 모여 우리 상권의 이름이 되는 곳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더하기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[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더하기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]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는 파편화된 매장의 데이터를 모아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숨겨진 상권의 가치를 더하고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지속 가능한 상생의 내일을 만듭니다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ko-KR" altLang="en-US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71BB4BBC-558A-4FCE-9087-F8BB0F945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4079" y="-369179"/>
            <a:ext cx="4420656" cy="29471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22AD9C-BAFC-6F43-9AE5-A6EB5267654F}"/>
              </a:ext>
            </a:extLst>
          </p:cNvPr>
          <p:cNvSpPr txBox="1"/>
          <p:nvPr/>
        </p:nvSpPr>
        <p:spPr>
          <a:xfrm>
            <a:off x="452120" y="843280"/>
            <a:ext cx="11287760" cy="569970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시장성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포지셔닝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상권 분석 시장은 크게 두가지 유형으로 나뉨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첫째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서비스로 데이터 시각화에 치중되어 실제 운영 판단을 사용자가 직접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수행해야함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둘째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민간 서비스의 경우 고비용 또는 개별 점포 분석에 한정되어 있음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전체를 하나의 브랜드로 상생하는 서비스는 현재 시장에서 존재하지 않음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타겟 고객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타겟 고객은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서울시 내 골목상권 소상공인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솔루션 마켓 통해 소상공인에게 서비스 제공하려는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B2B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파트너사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데이터 축적 이후 상권 활성화 정책 수립을 필요로 하는 서울시 및 자치구 지자체로 확장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브랜딩 실증 효과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로컬브랜드 상권 브랜딩 실증 결과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비지원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대비 매출 증가율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+2.9%,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일부 상권 최대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증가로 시장 수요 검증 완료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정책 연계 가능성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로컬브랜드 상권 육성사업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 원 투입으로 공공 예산이 이미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집행중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골목상권 활성화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자치구별 상권 맞춤형 사업 등 상권 브랜딩 관련 정책 수요 지속 확대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상권 분석 서비스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고도화 사업과 방향성 정합으로 공공 협력 가능성 보유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더하기가 축적한 데이터 지자체 정책 수립의 근거 자료로 활용 가능한 공공 자산으로 발전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검증된 수요와 명백한 공백 속에서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더하기는 소상공인부터 지자체까지 연결되는 상권 브랜딩 플랫폼으로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1,090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개 골목상권을 실질적으로 공략할 수 있는 시장성을 보유하고 있음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C8A45C7-0C04-2157-9C25-F43A0A84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80" y="746271"/>
            <a:ext cx="2580640" cy="20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18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3287-8DBC-AF01-016D-16844FF7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80ED46-48DE-1195-F96A-F6FC26F409CA}"/>
              </a:ext>
            </a:extLst>
          </p:cNvPr>
          <p:cNvSpPr txBox="1"/>
          <p:nvPr/>
        </p:nvSpPr>
        <p:spPr>
          <a:xfrm>
            <a:off x="452120" y="700062"/>
            <a:ext cx="11287760" cy="3889976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사업화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비즈니스 모델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더하기의 핵심 운영 구조는 가게가 하나씩 합류할수록 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업데이트되고 브랜딩이 진화하는 살아있는 플랫폼에 있음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진단 무료 제공으로 점주 유입 → 플랫폼 내 광고 수익 발생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솔루션 마켓 내 파트너사 노출 및 정보 제공으로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리스팅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 수취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축적 이후 지자체 대상 상권 분석 리포트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B2G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납푸으로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수익 확장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진입 구조와 확산 구조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진단으로 진입 장벽을 최소화하여 초기 점주 유입을 자연스럽게 유도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명의 점주가 합류하면 같은 상권 점주들이 자연스럽게 합류하는 네트워크 효과 작동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정교해질수록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점주들의 이탈 동기가 낮아지는 자연스러운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락인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효과 형성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진입 장벽이 낮고 확산 구조가 내재된 비즈니스 모델로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초기 투자 대비 빠르게 시장을 확보할 수 있으며 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플랫폼 가치가 높아지는 구조로 지속 가능한 사업화 기반을 갖춤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182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A113-443E-8EC5-7131-11FE4608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DEDB8-D03C-EDD8-6B0D-2DA9AE11DA54}"/>
              </a:ext>
            </a:extLst>
          </p:cNvPr>
          <p:cNvSpPr txBox="1"/>
          <p:nvPr/>
        </p:nvSpPr>
        <p:spPr>
          <a:xfrm>
            <a:off x="452120" y="700062"/>
            <a:ext cx="11287760" cy="440704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매출 발생 및 투자 가능성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매출 발생 구조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수익원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광고 및 파트너사 노출 수수료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B2G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납품 본격화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경쟁 우위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상권 브랜딩은 해당 상권 점주들의 참여로만 만들어지기 때문에 타 서비스가 복제할 수 없는 고유 데이터 자산 지속 축적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참여 점주 증가는 데이터 축적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브랜딩 고도화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점주 유입의 구조로 후발 진입자가 따라오기 어려운 선점 효과 지님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공동 브랜딩이 점주 간 협력 문화를 형성하고 지역 상생으로 이어지는 사회적 가치 실현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발전 가능성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쌓일수록 플랫폼 가치가 높아지는 구조로 선점한 플랫폼이 절대적으로 유리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공공 정책과 방향성이 일치하여 지자체 납품으로의 자연스러운 수익 확장 경로 확보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장기적으로 상권 침체를 사전에 예측하고 선제 대응하는 서울시 상권 조기경보 시스템으로 발전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초기 광고 수익부터 장기 지자체 납품 까지 명확한 수익 경로를 보유하고 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소상공인 생존율 향상과 지역 상생이라는 사회적 가치를 동시에 실현하는 서비스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178934"/>
      </p:ext>
    </p:extLst>
  </p:cSld>
  <p:clrMapOvr>
    <a:masterClrMapping/>
  </p:clrMapOvr>
</p:sld>
</file>

<file path=ppt/theme/theme1.xml><?xml version="1.0" encoding="utf-8"?>
<a:theme xmlns:a="http://schemas.openxmlformats.org/drawingml/2006/main" name="1_표지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 algn="ctr">
          <a:solidFill>
            <a:schemeClr val="bg1">
              <a:lumMod val="65000"/>
            </a:schemeClr>
          </a:solidFill>
          <a:miter/>
        </a:ln>
        <a:effectLst>
          <a:outerShdw dist="25400" dir="2700000" algn="ctr" rotWithShape="0">
            <a:schemeClr val="bg1">
              <a:lumMod val="65000"/>
            </a:schemeClr>
          </a:outerShdw>
        </a:effectLst>
      </a:spPr>
      <a:bodyPr lIns="36000" tIns="46800" rIns="36000" bIns="46800" anchor="ctr"/>
      <a:lstStyle>
        <a:defPPr fontAlgn="auto" latinLnBrk="0">
          <a:spcBef>
            <a:spcPts val="0"/>
          </a:spcBef>
          <a:spcAft>
            <a:spcPts val="0"/>
          </a:spcAft>
          <a:defRPr sz="1200" kern="0">
            <a:solidFill>
              <a:sysClr val="windowText" lastClr="000000"/>
            </a:solidFill>
            <a:latin typeface="맑은 고딕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>
        <a:spAutoFit/>
      </a:bodyPr>
      <a:lstStyle>
        <a:defPPr latinLnBrk="0">
          <a:lnSpc>
            <a:spcPct val="140000"/>
          </a:lnSpc>
          <a:spcBef>
            <a:spcPct val="0"/>
          </a:spcBef>
          <a:buFont typeface="Verdana"/>
          <a:buNone/>
          <a:defRPr sz="1100" dirty="0">
            <a:solidFill>
              <a:schemeClr val="tx1"/>
            </a:solidFill>
            <a:ea typeface="돋움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내지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85000"/>
            </a:schemeClr>
          </a:solidFill>
          <a:miter/>
        </a:ln>
        <a:effectLst/>
      </a:spPr>
      <a:bodyPr lIns="0" tIns="0" rIns="0" bIns="0" rtlCol="0" anchor="ctr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0" sz="8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latin typeface="+mn-ea"/>
            <a:ea typeface="+mn-ea"/>
            <a:sym typeface="Gill Sans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 wrap="none" lIns="0" tIns="0" rIns="0" bIns="0" rtlCol="0">
        <a:spAutoFit/>
      </a:bodyPr>
      <a:lstStyle>
        <a:defPPr algn="l" latinLnBrk="0">
          <a:lnSpc>
            <a:spcPct val="140000"/>
          </a:lnSpc>
          <a:defRPr b="0" dirty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32821</TotalTime>
  <Words>4823</Words>
  <Application>Microsoft Office PowerPoint</Application>
  <PresentationFormat>와이드스크린</PresentationFormat>
  <Paragraphs>706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Optima</vt:lpstr>
      <vt:lpstr>Pretendard</vt:lpstr>
      <vt:lpstr>나눔고딕</vt:lpstr>
      <vt:lpstr>맑은 고딕</vt:lpstr>
      <vt:lpstr>Arial</vt:lpstr>
      <vt:lpstr>Times New Roman</vt:lpstr>
      <vt:lpstr>Wingdings</vt:lpstr>
      <vt:lpstr>1_표지</vt:lpstr>
      <vt:lpstr>2_내지1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YTJ</Manager>
  <Company>SAC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subject>작성 표준 양식</dc:subject>
  <dc:creator>mano</dc:creator>
  <cp:lastModifiedBy>이승건(대학원생-비즈니스IT전공)</cp:lastModifiedBy>
  <cp:revision>23310</cp:revision>
  <cp:lastPrinted>2021-04-20T06:28:29Z</cp:lastPrinted>
  <dcterms:created xsi:type="dcterms:W3CDTF">2000-07-20T05:38:02Z</dcterms:created>
  <dcterms:modified xsi:type="dcterms:W3CDTF">2026-04-30T14:03:51Z</dcterms:modified>
</cp:coreProperties>
</file>