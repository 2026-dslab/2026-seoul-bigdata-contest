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34" r:id="rId1"/>
  </p:sldMasterIdLst>
  <p:notesMasterIdLst>
    <p:notesMasterId r:id="rId30"/>
  </p:notesMasterIdLst>
  <p:handoutMasterIdLst>
    <p:handoutMasterId r:id="rId31"/>
  </p:handoutMasterIdLst>
  <p:sldIdLst>
    <p:sldId id="268" r:id="rId2"/>
    <p:sldId id="270" r:id="rId3"/>
    <p:sldId id="271" r:id="rId4"/>
    <p:sldId id="272" r:id="rId5"/>
    <p:sldId id="275" r:id="rId6"/>
    <p:sldId id="276" r:id="rId7"/>
    <p:sldId id="277" r:id="rId8"/>
    <p:sldId id="273" r:id="rId9"/>
    <p:sldId id="274" r:id="rId10"/>
    <p:sldId id="297" r:id="rId11"/>
    <p:sldId id="330" r:id="rId12"/>
    <p:sldId id="331" r:id="rId13"/>
    <p:sldId id="312" r:id="rId14"/>
    <p:sldId id="308" r:id="rId15"/>
    <p:sldId id="309" r:id="rId16"/>
    <p:sldId id="310" r:id="rId17"/>
    <p:sldId id="315" r:id="rId18"/>
    <p:sldId id="333" r:id="rId19"/>
    <p:sldId id="334" r:id="rId20"/>
    <p:sldId id="335" r:id="rId21"/>
    <p:sldId id="313" r:id="rId22"/>
    <p:sldId id="328" r:id="rId23"/>
    <p:sldId id="259" r:id="rId24"/>
    <p:sldId id="260" r:id="rId25"/>
    <p:sldId id="281" r:id="rId26"/>
    <p:sldId id="258" r:id="rId27"/>
    <p:sldId id="265" r:id="rId28"/>
    <p:sldId id="264" r:id="rId29"/>
  </p:sldIdLst>
  <p:sldSz cx="12192000" cy="6858000"/>
  <p:notesSz cx="6797675" cy="99282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6">
          <p15:clr>
            <a:srgbClr val="A4A3A4"/>
          </p15:clr>
        </p15:guide>
        <p15:guide id="3" orient="horz" pos="672">
          <p15:clr>
            <a:srgbClr val="A4A3A4"/>
          </p15:clr>
        </p15:guide>
        <p15:guide id="4" orient="horz" pos="1483">
          <p15:clr>
            <a:srgbClr val="A4A3A4"/>
          </p15:clr>
        </p15:guide>
        <p15:guide id="5" orient="horz" pos="1603">
          <p15:clr>
            <a:srgbClr val="A4A3A4"/>
          </p15:clr>
        </p15:guide>
        <p15:guide id="6" orient="horz" pos="612">
          <p15:clr>
            <a:srgbClr val="A4A3A4"/>
          </p15:clr>
        </p15:guide>
        <p15:guide id="7" orient="horz" pos="3873">
          <p15:clr>
            <a:srgbClr val="A4A3A4"/>
          </p15:clr>
        </p15:guide>
        <p15:guide id="8" orient="horz" pos="369">
          <p15:clr>
            <a:srgbClr val="A4A3A4"/>
          </p15:clr>
        </p15:guide>
        <p15:guide id="9" orient="horz" pos="3893">
          <p15:clr>
            <a:srgbClr val="A4A3A4"/>
          </p15:clr>
        </p15:guide>
        <p15:guide id="10" pos="303">
          <p15:clr>
            <a:srgbClr val="A4A3A4"/>
          </p15:clr>
        </p15:guide>
        <p15:guide id="11" pos="2076">
          <p15:clr>
            <a:srgbClr val="A4A3A4"/>
          </p15:clr>
        </p15:guide>
        <p15:guide id="12" pos="4597">
          <p15:clr>
            <a:srgbClr val="A4A3A4"/>
          </p15:clr>
        </p15:guide>
        <p15:guide id="13" pos="1906">
          <p15:clr>
            <a:srgbClr val="A4A3A4"/>
          </p15:clr>
        </p15:guide>
        <p15:guide id="14" pos="3724">
          <p15:clr>
            <a:srgbClr val="A4A3A4"/>
          </p15:clr>
        </p15:guide>
        <p15:guide id="15" pos="6073">
          <p15:clr>
            <a:srgbClr val="A4A3A4"/>
          </p15:clr>
        </p15:guide>
        <p15:guide id="16" pos="24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7F82"/>
    <a:srgbClr val="A9A9A9"/>
    <a:srgbClr val="BFBFBF"/>
    <a:srgbClr val="839BD1"/>
    <a:srgbClr val="F2F5FB"/>
    <a:srgbClr val="B7BDCB"/>
    <a:srgbClr val="7F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none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보통 스타일 2 - 강조 2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6074" autoAdjust="0"/>
  </p:normalViewPr>
  <p:slideViewPr>
    <p:cSldViewPr snapToGrid="0" snapToObjects="1">
      <p:cViewPr varScale="1">
        <p:scale>
          <a:sx n="83" d="100"/>
          <a:sy n="83" d="100"/>
        </p:scale>
        <p:origin x="108" y="744"/>
      </p:cViewPr>
      <p:guideLst>
        <p:guide orient="horz" pos="2158"/>
        <p:guide pos="3836"/>
        <p:guide orient="horz" pos="672"/>
        <p:guide orient="horz" pos="1483"/>
        <p:guide orient="horz" pos="1603"/>
        <p:guide orient="horz" pos="612"/>
        <p:guide orient="horz" pos="3873"/>
        <p:guide orient="horz" pos="369"/>
        <p:guide orient="horz" pos="3893"/>
        <p:guide pos="303"/>
        <p:guide pos="2076"/>
        <p:guide pos="4597"/>
        <p:guide pos="1906"/>
        <p:guide pos="3724"/>
        <p:guide pos="6073"/>
        <p:guide pos="24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7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F65DF070-341E-4367-A2CB-77A37ADB56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45A0CD1C-1E26-4A32-893B-313EF1BF9FF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B32DA378-2BCC-450C-80B5-238E7E16A07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6304072D-E980-498C-B1E7-5F2E45D691B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defRPr kumimoji="1" sz="1300" b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fld id="{63DA45C6-56ED-4983-8AA0-8C79D72E1D6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43C9DE0B-6525-44B8-A9DF-67C769C02C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9277EB6C-9E9C-448D-8063-943A89981AD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71D477B8-35C4-43EE-820D-031614F956A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2950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7" name="Rectangle 5">
            <a:extLst>
              <a:ext uri="{FF2B5EF4-FFF2-40B4-BE49-F238E27FC236}">
                <a16:creationId xmlns:a16="http://schemas.microsoft.com/office/drawing/2014/main" id="{2356BDE1-0093-4319-8273-54E6A743BC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177158" name="Rectangle 6">
            <a:extLst>
              <a:ext uri="{FF2B5EF4-FFF2-40B4-BE49-F238E27FC236}">
                <a16:creationId xmlns:a16="http://schemas.microsoft.com/office/drawing/2014/main" id="{22AB6045-41C5-4B5A-945A-727B652E05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9" name="Rectangle 7">
            <a:extLst>
              <a:ext uri="{FF2B5EF4-FFF2-40B4-BE49-F238E27FC236}">
                <a16:creationId xmlns:a16="http://schemas.microsoft.com/office/drawing/2014/main" id="{155AA4E9-8C62-4ED3-ADE4-F2D6115F9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spcBef>
                <a:spcPct val="50000"/>
              </a:spcBef>
              <a:defRPr kumimoji="1" sz="1300" b="0" smtClean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fld id="{6A9F95F4-9487-48DC-AA0F-B00014BA906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. 서비스 제작배경 및 필요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20E9692F-6DC8-49CC-A0AA-DBD9C15D98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88925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1.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제안배경 및 출품작 소개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4351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활용 공공데이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1004A927-1385-4635-8B65-4D74257302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621188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2.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 핵심내용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공공데이터 활용 적정성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실현가능성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 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92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2AFE44E2-9031-4875-9356-E7705A7DF04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87655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3.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기존 서비스와의 차별성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독창성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933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3. 개발과정 및 방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D1512B2-4258-46FD-8475-388176C916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383698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4.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개발과정 및 방법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제품 및 서비스개발만 해당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0570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FDD3E95-1CF8-4380-8F75-76BD438490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99243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5. IA(Information Architecture)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692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6. 서비스 활용방안 및 기대효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BB82DBD5-00A0-416A-9298-5BFAD56B4D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596423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6.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출품작의 창업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사업화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시장성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매출 발생 및 투자가능성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발전 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70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B3F3DD5A-1C8A-4606-92B4-A2ADAC7FA8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818063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7.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 상용에 따른 파급효과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기대효과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사회적 가치 창출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926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7. 개발 툴 및 참고문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53526137-8D1B-4D81-A9F8-67CA227F36D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048125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7.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개발 툴 및 참고문헌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제품 및 서비스개발만 해당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953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9_기본 디자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직사각형 15">
            <a:extLst>
              <a:ext uri="{FF2B5EF4-FFF2-40B4-BE49-F238E27FC236}">
                <a16:creationId xmlns:a16="http://schemas.microsoft.com/office/drawing/2014/main" id="{E289CBA3-FDDF-4113-9432-3D7B17F87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106363"/>
            <a:ext cx="32766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2026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년 서울시 빅데이터 활용 경진대회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서울 열린데이터광장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b="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B1AC150-33DE-4BB4-A40F-D7220710849A}"/>
              </a:ext>
            </a:extLst>
          </p:cNvPr>
          <p:cNvSpPr/>
          <p:nvPr/>
        </p:nvSpPr>
        <p:spPr>
          <a:xfrm>
            <a:off x="8337550" y="107950"/>
            <a:ext cx="50800" cy="244475"/>
          </a:xfrm>
          <a:prstGeom prst="rect">
            <a:avLst/>
          </a:prstGeom>
          <a:solidFill>
            <a:srgbClr val="E8E8E8"/>
          </a:solidFill>
          <a:ln w="25400">
            <a:solidFill>
              <a:srgbClr val="FEFFFE"/>
            </a:solidFill>
            <a:miter/>
          </a:ln>
          <a:effectLst/>
        </p:spPr>
        <p:txBody>
          <a:bodyPr lIns="0" tIns="0" rIns="0" bIns="0" anchor="ctr"/>
          <a:lstStyle/>
          <a:p>
            <a:pPr algn="ctr" defTabSz="1080135" eaLnBrk="1" hangingPunct="1">
              <a:defRPr/>
            </a:pPr>
            <a:endParaRPr lang="ko-KR" altLang="en-US" sz="2000" b="0" spc="5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2B798FB-19AC-429B-A127-D10754097EE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16700"/>
            <a:ext cx="12192000" cy="223838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01000"/>
              </a:lnSpc>
              <a:spcBef>
                <a:spcPct val="50000"/>
              </a:spcBef>
              <a:defRPr/>
            </a:pPr>
            <a:r>
              <a:rPr kumimoji="1" lang="en-US" altLang="ko-KR" sz="9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- </a:t>
            </a:r>
            <a:fld id="{9FA08651-405C-44B8-B710-91BD47940B55}" type="slidenum">
              <a:rPr kumimoji="1" lang="en-US" altLang="ko-KR" sz="900" b="0" smtClean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pPr algn="ctr">
                <a:lnSpc>
                  <a:spcPct val="101000"/>
                </a:lnSpc>
                <a:spcBef>
                  <a:spcPct val="50000"/>
                </a:spcBef>
                <a:defRPr/>
              </a:pPr>
              <a:t>‹#›</a:t>
            </a:fld>
            <a:r>
              <a:rPr kumimoji="1" lang="en-US" altLang="ko-KR" sz="9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-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0520E7-DD5B-455E-ACB3-9F2C14819AEE}"/>
              </a:ext>
            </a:extLst>
          </p:cNvPr>
          <p:cNvCxnSpPr/>
          <p:nvPr userDrawn="1"/>
        </p:nvCxnSpPr>
        <p:spPr>
          <a:xfrm>
            <a:off x="119063" y="476250"/>
            <a:ext cx="1195387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</a:ln>
          <a:effectLst/>
        </p:spPr>
      </p:cxnSp>
      <p:pic>
        <p:nvPicPr>
          <p:cNvPr id="2054" name="그림 6">
            <a:extLst>
              <a:ext uri="{FF2B5EF4-FFF2-40B4-BE49-F238E27FC236}">
                <a16:creationId xmlns:a16="http://schemas.microsoft.com/office/drawing/2014/main" id="{115E4D90-EBEE-4AE2-9826-D090C143135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120650"/>
            <a:ext cx="947738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5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Times New Roman"/>
          <a:ea typeface="+mn-ea"/>
        </a:defRPr>
      </a:lvl2pPr>
      <a:lvl3pPr marL="990600" indent="-762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Times New Roman"/>
          <a:ea typeface="+mn-ea"/>
        </a:defRPr>
      </a:lvl3pPr>
      <a:lvl4pPr marL="1438275" indent="-23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Times New Roman"/>
          <a:ea typeface="+mn-ea"/>
        </a:defRPr>
      </a:lvl4pPr>
      <a:lvl5pPr marL="1790700" indent="381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Times New Roman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hmynews.com/NWS_Web/View/at_pg.aspx?CNTN_CD=A0003105867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eoulshinbo.co.kr/wbase/contents/bbs/list.do#search" TargetMode="External"/><Relationship Id="rId5" Type="http://schemas.openxmlformats.org/officeDocument/2006/relationships/hyperlink" Target="https://www.munhwa.com/article/11514659" TargetMode="External"/><Relationship Id="rId4" Type="http://schemas.openxmlformats.org/officeDocument/2006/relationships/hyperlink" Target="https://mediahub.seoul.go.kr/archives/2016341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.daum.net/v/20250327030508187" TargetMode="External"/><Relationship Id="rId2" Type="http://schemas.openxmlformats.org/officeDocument/2006/relationships/hyperlink" Target="https://www.m-joongang.com/news/articleView.html?idxno=401934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www.sajangin.com/news/articleView.html?idxno=10677" TargetMode="External"/><Relationship Id="rId4" Type="http://schemas.openxmlformats.org/officeDocument/2006/relationships/hyperlink" Target="https://kidd.co.kr/news/211986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igisam.com/yeonnamdong-retail-trend-report/" TargetMode="External"/><Relationship Id="rId2" Type="http://schemas.openxmlformats.org/officeDocument/2006/relationships/hyperlink" Target="https://shareit.kr/story/543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agazine.hankyung.com/business/article/202102226669b" TargetMode="External"/><Relationship Id="rId5" Type="http://schemas.openxmlformats.org/officeDocument/2006/relationships/hyperlink" Target="https://www.sajangin.com/news/articleView.html?idxno=14287" TargetMode="External"/><Relationship Id="rId4" Type="http://schemas.openxmlformats.org/officeDocument/2006/relationships/hyperlink" Target="https://www.si.re.kr/sites/default/files/small%2022-01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mp.seoul.co.kr/news/society/2025/12/24/20251224500212?cp=en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oodnews.news/mobile/article.html?no=1531937" TargetMode="External"/><Relationship Id="rId4" Type="http://schemas.openxmlformats.org/officeDocument/2006/relationships/hyperlink" Target="https://www.yna.co.kr/view/AKR20251223144800004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oul.co.kr/news/society/2026/02/02/20260202500135" TargetMode="External"/><Relationship Id="rId2" Type="http://schemas.openxmlformats.org/officeDocument/2006/relationships/hyperlink" Target="https://v.daum.net/v/20251224161804302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hyperlink" Target="https://news.seoul.go.kr/economy/archives/56224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nkyung.com/article/2025110286751" TargetMode="External"/><Relationship Id="rId2" Type="http://schemas.openxmlformats.org/officeDocument/2006/relationships/hyperlink" Target="https://koreabizreview.com/detail.php?number=7271&amp;thread=26r05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arasallim.net/view3/1481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1.jpeg"/><Relationship Id="rId7" Type="http://schemas.openxmlformats.org/officeDocument/2006/relationships/image" Target="../media/image28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6.jpeg"/><Relationship Id="rId9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olmok.seoul.go.kr/owner/owner.do" TargetMode="Externa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91A70-A41C-804C-06CD-F6C665AE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28D69C-45BB-E7FC-9570-87F024E11C78}"/>
              </a:ext>
            </a:extLst>
          </p:cNvPr>
          <p:cNvSpPr txBox="1"/>
          <p:nvPr/>
        </p:nvSpPr>
        <p:spPr>
          <a:xfrm>
            <a:off x="206492" y="597007"/>
            <a:ext cx="11536680" cy="51828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인식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소상공인 창업 후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내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폐업률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약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60%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달하며 골목상권 쇠퇴가 가속화되고 있음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기사자료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1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폐업률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쇠퇴율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수치가 담긴 도표 넣기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3A4FF5-79EE-EDAF-293F-5E1A1C987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262" y="1871698"/>
            <a:ext cx="3329139" cy="1961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377E4D-3076-DA16-2A06-3AD37127D02F}"/>
              </a:ext>
            </a:extLst>
          </p:cNvPr>
          <p:cNvSpPr txBox="1"/>
          <p:nvPr/>
        </p:nvSpPr>
        <p:spPr>
          <a:xfrm>
            <a:off x="6940575" y="2707339"/>
            <a:ext cx="4802597" cy="169764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https://www.ohmynews.com/NWS_Web/View/at_pg.aspx?CNTN_CD=A0003105867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dirty="0">
                <a:hlinkClick r:id="rId4"/>
              </a:rPr>
              <a:t>창업준비 </a:t>
            </a:r>
            <a:r>
              <a:rPr lang="en-US" altLang="ko-KR" dirty="0">
                <a:hlinkClick r:id="rId4"/>
              </a:rPr>
              <a:t>1</a:t>
            </a:r>
            <a:r>
              <a:rPr lang="ko-KR" altLang="en-US" dirty="0" err="1">
                <a:hlinkClick r:id="rId4"/>
              </a:rPr>
              <a:t>년하고</a:t>
            </a:r>
            <a:r>
              <a:rPr lang="ko-KR" altLang="en-US" dirty="0">
                <a:hlinkClick r:id="rId4"/>
              </a:rPr>
              <a:t> </a:t>
            </a:r>
            <a:r>
              <a:rPr lang="en-US" altLang="ko-KR" dirty="0">
                <a:hlinkClick r:id="rId4"/>
              </a:rPr>
              <a:t>1</a:t>
            </a:r>
            <a:r>
              <a:rPr lang="ko-KR" altLang="en-US" dirty="0">
                <a:hlinkClick r:id="rId4"/>
              </a:rPr>
              <a:t>억 투자</a:t>
            </a:r>
            <a:r>
              <a:rPr lang="en-US" altLang="ko-KR" dirty="0">
                <a:hlinkClick r:id="rId4"/>
              </a:rPr>
              <a:t>…</a:t>
            </a:r>
            <a:r>
              <a:rPr lang="ko-KR" altLang="en-US" dirty="0">
                <a:hlinkClick r:id="rId4"/>
              </a:rPr>
              <a:t>소상공인 실태 분석 </a:t>
            </a:r>
            <a:r>
              <a:rPr lang="en-US" altLang="ko-KR" dirty="0">
                <a:hlinkClick r:id="rId4"/>
              </a:rPr>
              <a:t>'</a:t>
            </a:r>
            <a:r>
              <a:rPr lang="ko-KR" altLang="en-US" dirty="0">
                <a:hlinkClick r:id="rId4"/>
              </a:rPr>
              <a:t>백서</a:t>
            </a:r>
            <a:r>
              <a:rPr lang="en-US" altLang="ko-KR" dirty="0">
                <a:hlinkClick r:id="rId4"/>
              </a:rPr>
              <a:t>' </a:t>
            </a:r>
            <a:r>
              <a:rPr lang="ko-KR" altLang="en-US" dirty="0">
                <a:hlinkClick r:id="rId4"/>
              </a:rPr>
              <a:t>발간 </a:t>
            </a:r>
            <a:r>
              <a:rPr lang="en-US" altLang="ko-KR" dirty="0">
                <a:hlinkClick r:id="rId4"/>
              </a:rPr>
              <a:t>| </a:t>
            </a:r>
            <a:r>
              <a:rPr lang="ko-KR" altLang="en-US" dirty="0">
                <a:hlinkClick r:id="rId4"/>
              </a:rPr>
              <a:t>서울시 </a:t>
            </a:r>
            <a:r>
              <a:rPr lang="en-US" altLang="ko-KR" dirty="0">
                <a:hlinkClick r:id="rId4"/>
              </a:rPr>
              <a:t>- </a:t>
            </a:r>
            <a:r>
              <a:rPr lang="ko-KR" altLang="en-US" dirty="0">
                <a:hlinkClick r:id="rId4"/>
              </a:rPr>
              <a:t>내 손안에 서울</a:t>
            </a:r>
            <a:endParaRPr lang="en-US" altLang="ko-KR" dirty="0"/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https://www.munhwa.com/article/11514659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6"/>
              </a:rPr>
              <a:t>https://www.seoulshinbo.co.kr/wbase/contents/bbs/list.do#search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7A0C5B3-1358-3B19-75C1-81B40F6E69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492" y="1871698"/>
            <a:ext cx="3923046" cy="16712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281B7EA-AE1D-89CC-F902-20FAAEC49CDB}"/>
              </a:ext>
            </a:extLst>
          </p:cNvPr>
          <p:cNvSpPr txBox="1"/>
          <p:nvPr/>
        </p:nvSpPr>
        <p:spPr>
          <a:xfrm>
            <a:off x="317826" y="3784557"/>
            <a:ext cx="6005638" cy="620426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폐업의 주된 원인은 지역마다 다르지만 평균적으로 상권 쇠퇴가 주 원인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폐업을 고려하는 소상공인 비율이 매년 증가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(22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14.4%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20.2%)</a:t>
            </a: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특히 이러한 비율에서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2~4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미만이 제일 많으며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내 폐업을 하는 소상공인이 많음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7DE30C98-56D0-4286-BBFE-90E7282A2873}"/>
              </a:ext>
            </a:extLst>
          </p:cNvPr>
          <p:cNvSpPr/>
          <p:nvPr/>
        </p:nvSpPr>
        <p:spPr>
          <a:xfrm>
            <a:off x="9225023" y="239175"/>
            <a:ext cx="2858946" cy="2050344"/>
          </a:xfrm>
          <a:prstGeom prst="snip1Rect">
            <a:avLst/>
          </a:prstGeom>
          <a:solidFill>
            <a:srgbClr val="FFFF00"/>
          </a:solidFill>
          <a:ln w="3175">
            <a:noFill/>
            <a:miter/>
          </a:ln>
          <a:effectLst/>
        </p:spPr>
        <p:txBody>
          <a:bodyPr lIns="0" tIns="0" rIns="0" bIns="0" rtlCol="0" anchor="ctr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2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사진 </a:t>
            </a:r>
            <a:r>
              <a:rPr lang="en-US" altLang="ko-KR" sz="12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2</a:t>
            </a:r>
            <a:r>
              <a:rPr lang="ko-KR" altLang="en-US" sz="12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개 링크 출처 및 내용만 남기기</a:t>
            </a:r>
            <a:endParaRPr lang="en-US" altLang="ko-KR" sz="12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왼쪽 사진의 경우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상권 쇠퇴가 서울시 애로사항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위인데 부각이 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되서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따로 통계 시각화를 만들어야 하지 않을까 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574344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11A6-03E7-3F2E-E96E-73C878C20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5E6F2A-C031-9FC6-F60C-0D774186354E}"/>
              </a:ext>
            </a:extLst>
          </p:cNvPr>
          <p:cNvSpPr txBox="1"/>
          <p:nvPr/>
        </p:nvSpPr>
        <p:spPr>
          <a:xfrm>
            <a:off x="269336" y="609146"/>
            <a:ext cx="11536680" cy="79528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인식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그러나 계속 활성화 되는 상권이 존재함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유동인구 많은 상권의 특징은 개별 가게가 잘된 것이 아닌 상권 전체가 하나의 정체성과 브랜드로 움직임</a:t>
            </a:r>
            <a:b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유동인구 많은 상권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특징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ex)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힙지로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을지로 인쇄골목 상인들이 함께 문화 정체성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만들어냄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성수동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 가게가 아닌 성수동이라는 브랜드 자체가 소비 이유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9B61E8-2875-FB59-9E02-523D8F90E504}"/>
              </a:ext>
            </a:extLst>
          </p:cNvPr>
          <p:cNvSpPr txBox="1"/>
          <p:nvPr/>
        </p:nvSpPr>
        <p:spPr>
          <a:xfrm>
            <a:off x="700924" y="4982097"/>
            <a:ext cx="3946593" cy="148220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https://www.m-joongang.com/news/articleView.html?idxno=401934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https://v.daum.net/v/20250327030508187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https://kidd.co.kr/news/211986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https://www.sajangin.com/news/articleView.html?idxno=10677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04E405-3869-B525-D7E3-E80A5C7A63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" y="1741981"/>
            <a:ext cx="3986016" cy="27104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19A66E-CD78-1082-02E9-7477DE1D53A3}"/>
              </a:ext>
            </a:extLst>
          </p:cNvPr>
          <p:cNvSpPr txBox="1"/>
          <p:nvPr/>
        </p:nvSpPr>
        <p:spPr>
          <a:xfrm>
            <a:off x="269336" y="4555966"/>
            <a:ext cx="6005638" cy="189539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폐업율이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년마다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점점 증가하는 상황에서도 계속 유지되어 영업이익을 회복하는 상권들이 존재함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6D6DDC01-17DA-4F89-9E6B-D67505D5D2CB}"/>
              </a:ext>
            </a:extLst>
          </p:cNvPr>
          <p:cNvSpPr/>
          <p:nvPr/>
        </p:nvSpPr>
        <p:spPr>
          <a:xfrm>
            <a:off x="9225023" y="239175"/>
            <a:ext cx="2858946" cy="2050344"/>
          </a:xfrm>
          <a:prstGeom prst="snip1Rect">
            <a:avLst/>
          </a:prstGeom>
          <a:solidFill>
            <a:srgbClr val="FFFF00"/>
          </a:solidFill>
          <a:ln w="3175">
            <a:noFill/>
            <a:miter/>
          </a:ln>
          <a:effectLst/>
        </p:spPr>
        <p:txBody>
          <a:bodyPr lIns="0" tIns="0" rIns="0" bIns="0" rtlCol="0" anchor="ctr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2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사진 </a:t>
            </a:r>
            <a:r>
              <a:rPr lang="en-US" altLang="ko-KR" sz="12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2</a:t>
            </a:r>
            <a:r>
              <a:rPr lang="ko-KR" altLang="en-US" sz="12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개 링크 출처 및 내용만 남기기</a:t>
            </a:r>
            <a:endParaRPr lang="en-US" altLang="ko-KR" sz="12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왼쪽 사진의 경우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상권 쇠퇴가 서울시 애로사항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위인데 부각이 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되서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따로 통계 시각화를 만들어야 하지 않을까 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373710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E4DAC-4382-2680-F5FA-575F730C5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A7FDD3-A37A-7534-BD03-5863D219AA86}"/>
              </a:ext>
            </a:extLst>
          </p:cNvPr>
          <p:cNvSpPr txBox="1"/>
          <p:nvPr/>
        </p:nvSpPr>
        <p:spPr>
          <a:xfrm>
            <a:off x="203200" y="568960"/>
            <a:ext cx="11536680" cy="51828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인식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실제로 연남동 방문자의 방문 이유는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분위기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꼽았음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이거도 언급을 뒷받침해줄 수 있는 시각자료가 있으면 좋을 듯함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590B88-CEB0-2A3D-0127-3C31BC5B52D9}"/>
              </a:ext>
            </a:extLst>
          </p:cNvPr>
          <p:cNvSpPr/>
          <p:nvPr/>
        </p:nvSpPr>
        <p:spPr>
          <a:xfrm>
            <a:off x="10058400" y="182880"/>
            <a:ext cx="1930400" cy="772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/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400" dirty="0">
                <a:latin typeface="+mn-ea"/>
                <a:ea typeface="+mn-ea"/>
                <a:sym typeface="Gill Sans"/>
              </a:rPr>
              <a:t>5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latin typeface="+mn-ea"/>
                <a:ea typeface="+mn-ea"/>
                <a:sym typeface="Gill Sans"/>
              </a:rPr>
              <a:t>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DE4AC0-2272-D681-BEF7-419DCDD24F03}"/>
              </a:ext>
            </a:extLst>
          </p:cNvPr>
          <p:cNvSpPr txBox="1"/>
          <p:nvPr/>
        </p:nvSpPr>
        <p:spPr>
          <a:xfrm>
            <a:off x="1973547" y="3275763"/>
            <a:ext cx="3781484" cy="212853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https://shareit.kr/story/543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https://blog.igisam.com/yeonnamdong-retail-trend-report/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https://www.si.re.kr/sites/default/files/small%2022-01.pdf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https://www.sajangin.com/news/articleView.html?idxno=14287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6"/>
              </a:rPr>
              <a:t>https://magazine.hankyung.com/business/article/202102226669b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8F8BFE-0BC4-3052-3300-6FFC800CBB5F}"/>
              </a:ext>
            </a:extLst>
          </p:cNvPr>
          <p:cNvSpPr txBox="1"/>
          <p:nvPr/>
        </p:nvSpPr>
        <p:spPr>
          <a:xfrm>
            <a:off x="342164" y="1492321"/>
            <a:ext cx="6005638" cy="169764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마지막 링크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페이지에 연남동 상권을 이용하는 소비자들을 대상으로 설문조사를 실시한 결과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상권을 다른 상권에 비해 더 자주 방문하는 이유 중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상권의 분위기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＂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46%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가장 많은 비중을 차지하였다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연남동 상권 특유의 분위기를 조성하는 데 적지 않은 기여를 하는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경의선숲길공원이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해당 상권을 이용하는 소비자들로 하여금 상권을 자주 방문하는 이유로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상권의 분위기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＇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라는 응답을 가장 많이 고르게 한 것으로 생각된다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 latinLnBrk="0"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어떤 뉴스나 정확한 지표가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있는게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아니라 단순히 보고서에서 직접 설문조사로 찾은 내용이라 애매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858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71CFC-9A65-0425-B838-091FFCBF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A37E1E-85F9-FCC6-FD96-2897728BD1F1}"/>
              </a:ext>
            </a:extLst>
          </p:cNvPr>
          <p:cNvSpPr txBox="1"/>
          <p:nvPr/>
        </p:nvSpPr>
        <p:spPr>
          <a:xfrm>
            <a:off x="327660" y="691308"/>
            <a:ext cx="11536680" cy="51828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인식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로컬브랜드 육성사업 결과 브랜딩을 받은 상권은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비지원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상권보다 매출증가율이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2.9%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높았고 일부는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매출이 최대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29%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증가함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자료 필요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A0A9FA-A4B1-0A1C-2393-DD47CF05A751}"/>
              </a:ext>
            </a:extLst>
          </p:cNvPr>
          <p:cNvSpPr/>
          <p:nvPr/>
        </p:nvSpPr>
        <p:spPr>
          <a:xfrm>
            <a:off x="10058400" y="182880"/>
            <a:ext cx="1930400" cy="772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/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400" dirty="0">
                <a:latin typeface="+mn-ea"/>
                <a:ea typeface="+mn-ea"/>
                <a:sym typeface="Gill Sans"/>
              </a:rPr>
              <a:t>5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latin typeface="+mn-ea"/>
                <a:ea typeface="+mn-ea"/>
                <a:sym typeface="Gill Sans"/>
              </a:rPr>
              <a:t>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F32DDC-332D-9C04-9353-F004B526F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37" y="1420678"/>
            <a:ext cx="5241340" cy="2084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FFD8B6-CCFE-FB79-41D5-C5C62092B6EC}"/>
              </a:ext>
            </a:extLst>
          </p:cNvPr>
          <p:cNvSpPr txBox="1"/>
          <p:nvPr/>
        </p:nvSpPr>
        <p:spPr>
          <a:xfrm>
            <a:off x="6772124" y="4861802"/>
            <a:ext cx="4310475" cy="148220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https://amp.seoul.co.kr/news/society/2025/12/24/20251224500212?cp=en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https://www.yna.co.kr/view/AKR20251223144800004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https://www.foodnews.news/mobile/article.html?no=1531937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662BD5-C2BD-0255-FD25-EDA677B84900}"/>
              </a:ext>
            </a:extLst>
          </p:cNvPr>
          <p:cNvSpPr txBox="1"/>
          <p:nvPr/>
        </p:nvSpPr>
        <p:spPr>
          <a:xfrm>
            <a:off x="269336" y="4555966"/>
            <a:ext cx="6005638" cy="148220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 로컬 브랜드 상권 매출 분석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로컬브랜드 상권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육성사업이 진행된 상권은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매출이 최대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29%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증가한 것으로 나타남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정체성 확립과 이미지 개선이 매출 증대로 이어진 것으로 풀이됨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서울신용보증재단은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22~24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추진한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 로컬브랜드 상권인 양재천길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하늘길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선유로운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장춘단길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오류버들시장의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성과를 분석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로컬브랜드 상권 육성은 특색과 매력을 지닌 골목상권을 발굴해 지역 기반 로컬 콘텐츠와 연계해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머물고 싶은 상권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만드는 사업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005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E85A6-D59F-9729-A642-423EC001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9">
            <a:extLst>
              <a:ext uri="{FF2B5EF4-FFF2-40B4-BE49-F238E27FC236}">
                <a16:creationId xmlns:a16="http://schemas.microsoft.com/office/drawing/2014/main" id="{F8BB607E-A0C0-FC31-16C3-FF7C82728F93}"/>
              </a:ext>
            </a:extLst>
          </p:cNvPr>
          <p:cNvSpPr txBox="1"/>
          <p:nvPr/>
        </p:nvSpPr>
        <p:spPr>
          <a:xfrm>
            <a:off x="731824" y="1032108"/>
            <a:ext cx="8753820" cy="31162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상권 단위 실행 체계 부재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살아난 상권과 쇠퇴하는 상권의 차이는 개별 점포 역량만이 아님 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소상공인이 고립된 채 각자 경쟁하는 구조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전체를 함께 성장시키는 구조 없음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서울시 상권분석서비스의 한계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조회와 리포트 제공에 그침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점주가 무엇을 해야 할지 알 수 없음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내 점포 간 연결 구조 없음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개별 점포 분석에만 집중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단위 연결성 부재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5B3263A-BE70-BC0A-BD33-F2A4660B5C8C}"/>
              </a:ext>
            </a:extLst>
          </p:cNvPr>
          <p:cNvSpPr/>
          <p:nvPr/>
        </p:nvSpPr>
        <p:spPr>
          <a:xfrm>
            <a:off x="6214906" y="3801644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900" dirty="0">
                <a:latin typeface="+mn-ea"/>
                <a:ea typeface="+mn-ea"/>
              </a:rPr>
              <a:t>이 슬라이드에서 전달하고 싶은 것 </a:t>
            </a:r>
            <a:r>
              <a:rPr lang="en-US" altLang="ko-KR" sz="900" dirty="0">
                <a:latin typeface="+mn-ea"/>
                <a:ea typeface="+mn-ea"/>
              </a:rPr>
              <a:t>: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쇠퇴하는 상권의 근본 원인이 구조적 문제임을 보여주기 </a:t>
            </a:r>
            <a:endParaRPr lang="en-US" altLang="ko-KR" sz="900" b="0" dirty="0">
              <a:latin typeface="+mn-ea"/>
              <a:ea typeface="+mn-ea"/>
            </a:endParaRPr>
          </a:p>
          <a:p>
            <a:endParaRPr lang="en-US" altLang="ko-KR" sz="900" b="0" dirty="0">
              <a:latin typeface="+mn-ea"/>
              <a:ea typeface="+mn-ea"/>
            </a:endParaRPr>
          </a:p>
          <a:p>
            <a:r>
              <a:rPr lang="en-US" altLang="ko-KR" sz="900" dirty="0">
                <a:latin typeface="+mn-ea"/>
                <a:ea typeface="+mn-ea"/>
              </a:rPr>
              <a:t>① </a:t>
            </a:r>
            <a:r>
              <a:rPr lang="ko-KR" altLang="en-US" sz="900" dirty="0">
                <a:latin typeface="+mn-ea"/>
                <a:ea typeface="+mn-ea"/>
              </a:rPr>
              <a:t>상권 단위 실행 체계 부재</a:t>
            </a:r>
            <a:endParaRPr lang="en-US" altLang="ko-KR" sz="90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살아난 상권과 쇠퇴하는 상권의 차이는 개별 점포의 역량도 있지만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소상공인이 각자 고립되어 경쟁하는 구조 속에서 상권 전체를 하나의 브랜드로 묶어 함께 성장하는 실행 체계가 없다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endParaRPr lang="en-US" altLang="ko-KR" sz="900" b="0" dirty="0">
              <a:latin typeface="+mn-ea"/>
              <a:ea typeface="+mn-ea"/>
            </a:endParaRPr>
          </a:p>
          <a:p>
            <a:r>
              <a:rPr lang="en-US" altLang="ko-KR" sz="900" dirty="0">
                <a:latin typeface="+mn-ea"/>
                <a:ea typeface="+mn-ea"/>
              </a:rPr>
              <a:t>② </a:t>
            </a:r>
            <a:r>
              <a:rPr lang="ko-KR" altLang="en-US" sz="900" dirty="0">
                <a:latin typeface="+mn-ea"/>
                <a:ea typeface="+mn-ea"/>
              </a:rPr>
              <a:t>서울시 상권분석서비스의 한계 </a:t>
            </a:r>
            <a:endParaRPr lang="en-US" altLang="ko-KR" sz="90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유동인구 성별</a:t>
            </a:r>
            <a:r>
              <a:rPr lang="en-US" altLang="ko-KR" sz="900" b="0" dirty="0">
                <a:latin typeface="+mn-ea"/>
                <a:ea typeface="+mn-ea"/>
              </a:rPr>
              <a:t>·</a:t>
            </a:r>
            <a:r>
              <a:rPr lang="ko-KR" altLang="en-US" sz="900" b="0" dirty="0">
                <a:latin typeface="+mn-ea"/>
                <a:ea typeface="+mn-ea"/>
              </a:rPr>
              <a:t>연령대</a:t>
            </a:r>
            <a:r>
              <a:rPr lang="en-US" altLang="ko-KR" sz="900" b="0" dirty="0">
                <a:latin typeface="+mn-ea"/>
                <a:ea typeface="+mn-ea"/>
              </a:rPr>
              <a:t>·</a:t>
            </a:r>
            <a:r>
              <a:rPr lang="ko-KR" altLang="en-US" sz="900" b="0" dirty="0">
                <a:latin typeface="+mn-ea"/>
                <a:ea typeface="+mn-ea"/>
              </a:rPr>
              <a:t>시간대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매출 패턴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 err="1">
                <a:latin typeface="+mn-ea"/>
                <a:ea typeface="+mn-ea"/>
              </a:rPr>
              <a:t>폐업률</a:t>
            </a:r>
            <a:r>
              <a:rPr lang="ko-KR" altLang="en-US" sz="900" b="0" dirty="0">
                <a:latin typeface="+mn-ea"/>
                <a:ea typeface="+mn-ea"/>
              </a:rPr>
              <a:t> 등 공공데이터 기반 수치를 제공하지만 데이터 조회에서 끝난다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  <a:r>
              <a:rPr lang="ko-KR" altLang="en-US" sz="900" b="0" dirty="0">
                <a:latin typeface="+mn-ea"/>
                <a:ea typeface="+mn-ea"/>
              </a:rPr>
              <a:t>점주가 이 데이터를 보고 무엇을 해야 할지 알 수 없으며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상권 내 다른 점포들과 연결되는 구조도 없다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 algn="ctr" eaLnBrk="1" hangingPunct="1">
              <a:defRPr/>
            </a:pPr>
            <a:endParaRPr lang="ko-KR" altLang="en-US" sz="900" b="0" dirty="0">
              <a:solidFill>
                <a:srgbClr val="000000"/>
              </a:solidFill>
              <a:latin typeface="+mn-ea"/>
              <a:ea typeface="+mn-ea"/>
              <a:sym typeface="Gill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E1E71D-6139-F9F7-1E20-8B65EB2BEC5B}"/>
              </a:ext>
            </a:extLst>
          </p:cNvPr>
          <p:cNvSpPr txBox="1"/>
          <p:nvPr/>
        </p:nvSpPr>
        <p:spPr>
          <a:xfrm>
            <a:off x="616812" y="591037"/>
            <a:ext cx="6097424" cy="33361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20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문제 </a:t>
            </a:r>
            <a:r>
              <a:rPr lang="ko-KR" altLang="en-US"/>
              <a:t>발생 원인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07DAA5-5BC2-1C27-AE9B-56DB7EC57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291" y="4255800"/>
            <a:ext cx="4112442" cy="221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51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F472E-A7C2-0040-E7BA-CF633BA43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5B3248-C8B2-BAFB-E1B1-67470DC772C1}"/>
              </a:ext>
            </a:extLst>
          </p:cNvPr>
          <p:cNvSpPr/>
          <p:nvPr/>
        </p:nvSpPr>
        <p:spPr>
          <a:xfrm>
            <a:off x="6256337" y="5502508"/>
            <a:ext cx="5935663" cy="1259741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900" dirty="0">
                <a:latin typeface="+mn-ea"/>
                <a:ea typeface="+mn-ea"/>
              </a:rPr>
              <a:t>[</a:t>
            </a:r>
            <a:r>
              <a:rPr lang="ko-KR" altLang="en-US" sz="900" dirty="0">
                <a:latin typeface="+mn-ea"/>
                <a:ea typeface="+mn-ea"/>
              </a:rPr>
              <a:t>참고 자료</a:t>
            </a:r>
            <a:r>
              <a:rPr lang="en-US" altLang="ko-KR" sz="900" dirty="0">
                <a:latin typeface="+mn-ea"/>
                <a:ea typeface="+mn-ea"/>
              </a:rPr>
              <a:t>]</a:t>
            </a:r>
            <a:endParaRPr lang="ko-KR" altLang="en-US" sz="90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매출 증가 효과 그래프</a:t>
            </a:r>
            <a:r>
              <a:rPr lang="en-US" altLang="ko-KR" sz="900" b="0" dirty="0">
                <a:latin typeface="+mn-ea"/>
                <a:ea typeface="+mn-ea"/>
              </a:rPr>
              <a:t>: </a:t>
            </a:r>
            <a:r>
              <a:rPr lang="ko-KR" altLang="en-US" sz="900" b="0" dirty="0">
                <a:latin typeface="+mn-ea"/>
                <a:ea typeface="+mn-ea"/>
              </a:rPr>
              <a:t>서울신용보증재단 효과분석 보고서 </a:t>
            </a:r>
            <a:r>
              <a:rPr lang="en-US" altLang="ko-KR" sz="900" b="0" dirty="0">
                <a:latin typeface="+mn-ea"/>
                <a:ea typeface="+mn-ea"/>
              </a:rPr>
              <a:t>(2025.12) </a:t>
            </a:r>
            <a:r>
              <a:rPr lang="en-US" altLang="ko-KR" sz="900" b="0" dirty="0">
                <a:latin typeface="+mn-ea"/>
                <a:ea typeface="+mn-ea"/>
                <a:hlinkClick r:id="rId2"/>
              </a:rPr>
              <a:t>https://v.daum.net/v/20251224161804302</a:t>
            </a:r>
            <a:endParaRPr lang="ko-KR" altLang="en-US" sz="900" b="0" dirty="0">
              <a:latin typeface="+mn-ea"/>
              <a:ea typeface="+mn-ea"/>
            </a:endParaRPr>
          </a:p>
          <a:p>
            <a:r>
              <a:rPr lang="en-US" altLang="ko-KR" sz="900" b="0" dirty="0">
                <a:latin typeface="+mn-ea"/>
                <a:ea typeface="+mn-ea"/>
              </a:rPr>
              <a:t>2026</a:t>
            </a:r>
            <a:r>
              <a:rPr lang="ko-KR" altLang="en-US" sz="900" b="0" dirty="0">
                <a:latin typeface="+mn-ea"/>
                <a:ea typeface="+mn-ea"/>
              </a:rPr>
              <a:t>년 선정 현황</a:t>
            </a:r>
            <a:r>
              <a:rPr lang="en-US" altLang="ko-KR" sz="900" b="0" dirty="0">
                <a:latin typeface="+mn-ea"/>
                <a:ea typeface="+mn-ea"/>
              </a:rPr>
              <a:t>: </a:t>
            </a:r>
            <a:r>
              <a:rPr lang="ko-KR" altLang="en-US" sz="900" b="0" dirty="0">
                <a:latin typeface="+mn-ea"/>
                <a:ea typeface="+mn-ea"/>
              </a:rPr>
              <a:t>서울신문 </a:t>
            </a:r>
            <a:r>
              <a:rPr lang="en-US" altLang="ko-KR" sz="900" b="0" dirty="0">
                <a:latin typeface="+mn-ea"/>
                <a:ea typeface="+mn-ea"/>
              </a:rPr>
              <a:t>(2026.02) </a:t>
            </a:r>
            <a:r>
              <a:rPr lang="en-US" altLang="ko-KR" sz="900" b="0" dirty="0">
                <a:latin typeface="+mn-ea"/>
                <a:ea typeface="+mn-ea"/>
                <a:hlinkClick r:id="rId3"/>
              </a:rPr>
              <a:t>https://www.seoul.co.kr/news/society/2026/02/02/20260202500135</a:t>
            </a:r>
            <a:endParaRPr lang="ko-KR" altLang="en-US" sz="900" b="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로컬브랜드 육성상권 현황</a:t>
            </a:r>
            <a:r>
              <a:rPr lang="en-US" altLang="ko-KR" sz="900" b="0" dirty="0">
                <a:latin typeface="+mn-ea"/>
                <a:ea typeface="+mn-ea"/>
              </a:rPr>
              <a:t>: </a:t>
            </a:r>
            <a:r>
              <a:rPr lang="ko-KR" altLang="en-US" sz="900" b="0" dirty="0">
                <a:latin typeface="+mn-ea"/>
                <a:ea typeface="+mn-ea"/>
              </a:rPr>
              <a:t>서울시 공식 </a:t>
            </a:r>
            <a:r>
              <a:rPr lang="en-US" altLang="ko-KR" sz="900" b="0" dirty="0">
                <a:latin typeface="+mn-ea"/>
                <a:ea typeface="+mn-ea"/>
                <a:hlinkClick r:id="rId4"/>
              </a:rPr>
              <a:t>https://news.seoul.go.kr/economy/archives/562241</a:t>
            </a:r>
            <a:endParaRPr lang="ko-KR" altLang="en-US" sz="900" b="0" dirty="0">
              <a:latin typeface="+mn-ea"/>
              <a:ea typeface="+mn-ea"/>
            </a:endParaRPr>
          </a:p>
          <a:p>
            <a:pPr algn="ctr" eaLnBrk="1" hangingPunct="1">
              <a:defRPr/>
            </a:pPr>
            <a:endParaRPr lang="ko-KR" altLang="en-US" sz="900" b="0" dirty="0">
              <a:solidFill>
                <a:srgbClr val="000000"/>
              </a:solidFill>
              <a:latin typeface="+mn-ea"/>
              <a:ea typeface="+mn-ea"/>
              <a:sym typeface="Gill Sans"/>
            </a:endParaRP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6ED3F80F-E2A8-FCFE-2B50-A10EF0C9824F}"/>
              </a:ext>
            </a:extLst>
          </p:cNvPr>
          <p:cNvSpPr txBox="1"/>
          <p:nvPr/>
        </p:nvSpPr>
        <p:spPr>
          <a:xfrm>
            <a:off x="290265" y="819490"/>
            <a:ext cx="10024367" cy="270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상권 브랜딩 정책 본격 추진 중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로컬브랜드 상권 육성사업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(2022~) </a:t>
            </a:r>
          </a:p>
          <a:p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공모 선정 상권에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년간 최대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억원 투입 브랜딩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홍보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환경개선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상인 역량강화 종합 지원 → 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 지원 상권 외식업 매출 최대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29%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서울시 상권분석서비스 운영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유동인구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매출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폐업률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등 데이터 제공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Picture 2" descr="서울 로컬브랜드 상권 매출 분석 - 서울 로컬브랜드 상권 매출 분석  서울신용보증재단 제공">
            <a:extLst>
              <a:ext uri="{FF2B5EF4-FFF2-40B4-BE49-F238E27FC236}">
                <a16:creationId xmlns:a16="http://schemas.microsoft.com/office/drawing/2014/main" id="{1583766F-7D74-C04E-FF94-AF440E003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6" y="1575591"/>
            <a:ext cx="3447639" cy="137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E342B2-DF05-4CDD-85E3-AE9A4B74956F}"/>
              </a:ext>
            </a:extLst>
          </p:cNvPr>
          <p:cNvSpPr txBox="1"/>
          <p:nvPr/>
        </p:nvSpPr>
        <p:spPr>
          <a:xfrm>
            <a:off x="100413" y="3741564"/>
            <a:ext cx="6436039" cy="83099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그러나 정책의 한계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기준 총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자치구 신청 → 단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상권만 선정 선정된 소수 상권만 혜택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- &gt; </a:t>
            </a:r>
            <a:r>
              <a:rPr lang="ko-KR" altLang="en-US" sz="12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나머지 대다수 소상공인은 사각지대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087C6E-E705-1CD3-2107-3193CB5896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108" y="4602262"/>
            <a:ext cx="4235059" cy="1841619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E2CDD74-755C-A9D0-5299-B7413F28B9B8}"/>
              </a:ext>
            </a:extLst>
          </p:cNvPr>
          <p:cNvSpPr/>
          <p:nvPr/>
        </p:nvSpPr>
        <p:spPr>
          <a:xfrm>
            <a:off x="6256337" y="2637071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  <a:r>
              <a:rPr lang="en-US" altLang="ko-KR" sz="900" dirty="0">
                <a:latin typeface="+mn-ea"/>
                <a:ea typeface="+mn-ea"/>
              </a:rPr>
              <a:t>: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서울시가 상권 정책을 적극 추진하고 효과도 있지만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혜택이 선정된 소수 상권에 집중되어 대다수 소상공인이 사각지대에 있음을 보여줌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endParaRPr lang="en-US" altLang="ko-KR" sz="900" b="0" dirty="0">
              <a:latin typeface="+mn-ea"/>
              <a:ea typeface="+mn-ea"/>
            </a:endParaRPr>
          </a:p>
          <a:p>
            <a:r>
              <a:rPr lang="en-US" altLang="ko-KR" sz="900" dirty="0">
                <a:latin typeface="+mn-ea"/>
                <a:ea typeface="+mn-ea"/>
              </a:rPr>
              <a:t>① </a:t>
            </a:r>
            <a:r>
              <a:rPr lang="ko-KR" altLang="en-US" sz="900" dirty="0">
                <a:latin typeface="+mn-ea"/>
                <a:ea typeface="+mn-ea"/>
              </a:rPr>
              <a:t>상권 브랜딩 정책 본격 추진 </a:t>
            </a:r>
            <a:endParaRPr lang="en-US" altLang="ko-KR" sz="90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서울시는 </a:t>
            </a:r>
            <a:r>
              <a:rPr lang="en-US" altLang="ko-KR" sz="900" b="0" dirty="0">
                <a:latin typeface="+mn-ea"/>
                <a:ea typeface="+mn-ea"/>
              </a:rPr>
              <a:t>2022</a:t>
            </a:r>
            <a:r>
              <a:rPr lang="ko-KR" altLang="en-US" sz="900" b="0" dirty="0">
                <a:latin typeface="+mn-ea"/>
                <a:ea typeface="+mn-ea"/>
              </a:rPr>
              <a:t>년부터 로컬브랜드 상권 육성사업을 추진하며 </a:t>
            </a:r>
            <a:r>
              <a:rPr lang="en-US" altLang="ko-KR" sz="900" b="0" dirty="0">
                <a:latin typeface="+mn-ea"/>
                <a:ea typeface="+mn-ea"/>
              </a:rPr>
              <a:t>1</a:t>
            </a:r>
            <a:r>
              <a:rPr lang="ko-KR" altLang="en-US" sz="900" b="0" dirty="0">
                <a:latin typeface="+mn-ea"/>
                <a:ea typeface="+mn-ea"/>
              </a:rPr>
              <a:t>기 </a:t>
            </a:r>
            <a:r>
              <a:rPr lang="en-US" altLang="ko-KR" sz="900" b="0" dirty="0">
                <a:latin typeface="+mn-ea"/>
                <a:ea typeface="+mn-ea"/>
              </a:rPr>
              <a:t>5</a:t>
            </a:r>
            <a:r>
              <a:rPr lang="ko-KR" altLang="en-US" sz="900" b="0" dirty="0">
                <a:latin typeface="+mn-ea"/>
                <a:ea typeface="+mn-ea"/>
              </a:rPr>
              <a:t>개</a:t>
            </a:r>
            <a:r>
              <a:rPr lang="en-US" altLang="ko-KR" sz="900" b="0" dirty="0">
                <a:latin typeface="+mn-ea"/>
                <a:ea typeface="+mn-ea"/>
              </a:rPr>
              <a:t>, 2</a:t>
            </a:r>
            <a:r>
              <a:rPr lang="ko-KR" altLang="en-US" sz="900" b="0" dirty="0">
                <a:latin typeface="+mn-ea"/>
                <a:ea typeface="+mn-ea"/>
              </a:rPr>
              <a:t>기 </a:t>
            </a:r>
            <a:r>
              <a:rPr lang="en-US" altLang="ko-KR" sz="900" b="0" dirty="0">
                <a:latin typeface="+mn-ea"/>
                <a:ea typeface="+mn-ea"/>
              </a:rPr>
              <a:t>2</a:t>
            </a:r>
            <a:r>
              <a:rPr lang="ko-KR" altLang="en-US" sz="900" b="0" dirty="0">
                <a:latin typeface="+mn-ea"/>
                <a:ea typeface="+mn-ea"/>
              </a:rPr>
              <a:t>개</a:t>
            </a:r>
            <a:r>
              <a:rPr lang="en-US" altLang="ko-KR" sz="900" b="0" dirty="0">
                <a:latin typeface="+mn-ea"/>
                <a:ea typeface="+mn-ea"/>
              </a:rPr>
              <a:t>, 3</a:t>
            </a:r>
            <a:r>
              <a:rPr lang="ko-KR" altLang="en-US" sz="900" b="0" dirty="0">
                <a:latin typeface="+mn-ea"/>
                <a:ea typeface="+mn-ea"/>
              </a:rPr>
              <a:t>기 </a:t>
            </a:r>
            <a:r>
              <a:rPr lang="en-US" altLang="ko-KR" sz="900" b="0" dirty="0">
                <a:latin typeface="+mn-ea"/>
                <a:ea typeface="+mn-ea"/>
              </a:rPr>
              <a:t>2</a:t>
            </a:r>
            <a:r>
              <a:rPr lang="ko-KR" altLang="en-US" sz="900" b="0" dirty="0">
                <a:latin typeface="+mn-ea"/>
                <a:ea typeface="+mn-ea"/>
              </a:rPr>
              <a:t>개 등 현재까지 총 </a:t>
            </a:r>
            <a:r>
              <a:rPr lang="en-US" altLang="ko-KR" sz="900" b="0" dirty="0">
                <a:latin typeface="+mn-ea"/>
                <a:ea typeface="+mn-ea"/>
              </a:rPr>
              <a:t>9</a:t>
            </a:r>
            <a:r>
              <a:rPr lang="ko-KR" altLang="en-US" sz="900" b="0" dirty="0">
                <a:latin typeface="+mn-ea"/>
                <a:ea typeface="+mn-ea"/>
              </a:rPr>
              <a:t>개 상권을 지원했다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r>
              <a:rPr lang="en-US" altLang="ko-KR" sz="900" b="0" dirty="0">
                <a:latin typeface="+mn-ea"/>
                <a:ea typeface="+mn-ea"/>
              </a:rPr>
              <a:t>1</a:t>
            </a:r>
            <a:r>
              <a:rPr lang="ko-KR" altLang="en-US" sz="900" b="0" dirty="0">
                <a:latin typeface="+mn-ea"/>
                <a:ea typeface="+mn-ea"/>
              </a:rPr>
              <a:t>기 지원 상권의 외식업 매출이 최대 </a:t>
            </a:r>
            <a:r>
              <a:rPr lang="en-US" altLang="ko-KR" sz="900" b="0" dirty="0">
                <a:latin typeface="+mn-ea"/>
                <a:ea typeface="+mn-ea"/>
              </a:rPr>
              <a:t>29% </a:t>
            </a:r>
            <a:r>
              <a:rPr lang="ko-KR" altLang="en-US" sz="900" b="0" dirty="0">
                <a:latin typeface="+mn-ea"/>
                <a:ea typeface="+mn-ea"/>
              </a:rPr>
              <a:t>증가하는 등 효과는 입증됐다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endParaRPr lang="en-US" altLang="ko-KR" sz="900" b="0" dirty="0">
              <a:latin typeface="+mn-ea"/>
              <a:ea typeface="+mn-ea"/>
            </a:endParaRPr>
          </a:p>
          <a:p>
            <a:r>
              <a:rPr lang="en-US" altLang="ko-KR" sz="900" dirty="0">
                <a:latin typeface="+mn-ea"/>
                <a:ea typeface="+mn-ea"/>
              </a:rPr>
              <a:t>② </a:t>
            </a:r>
            <a:r>
              <a:rPr lang="ko-KR" altLang="en-US" sz="900" dirty="0">
                <a:latin typeface="+mn-ea"/>
                <a:ea typeface="+mn-ea"/>
              </a:rPr>
              <a:t>정책의 한계 </a:t>
            </a:r>
            <a:endParaRPr lang="en-US" altLang="ko-KR" sz="900" dirty="0">
              <a:latin typeface="+mn-ea"/>
              <a:ea typeface="+mn-ea"/>
            </a:endParaRPr>
          </a:p>
          <a:p>
            <a:r>
              <a:rPr lang="en-US" altLang="ko-KR" sz="900" b="0" dirty="0">
                <a:latin typeface="+mn-ea"/>
                <a:ea typeface="+mn-ea"/>
              </a:rPr>
              <a:t>2026</a:t>
            </a:r>
            <a:r>
              <a:rPr lang="ko-KR" altLang="en-US" sz="900" b="0" dirty="0">
                <a:latin typeface="+mn-ea"/>
                <a:ea typeface="+mn-ea"/>
              </a:rPr>
              <a:t>년 공모에 </a:t>
            </a:r>
            <a:r>
              <a:rPr lang="en-US" altLang="ko-KR" sz="900" b="0" dirty="0">
                <a:latin typeface="+mn-ea"/>
                <a:ea typeface="+mn-ea"/>
              </a:rPr>
              <a:t>9</a:t>
            </a:r>
            <a:r>
              <a:rPr lang="ko-KR" altLang="en-US" sz="900" b="0" dirty="0">
                <a:latin typeface="+mn-ea"/>
                <a:ea typeface="+mn-ea"/>
              </a:rPr>
              <a:t>개 자치구가 신청했지만 </a:t>
            </a:r>
            <a:r>
              <a:rPr lang="en-US" altLang="ko-KR" sz="900" b="0" dirty="0">
                <a:latin typeface="+mn-ea"/>
                <a:ea typeface="+mn-ea"/>
              </a:rPr>
              <a:t>3</a:t>
            </a:r>
            <a:r>
              <a:rPr lang="ko-KR" altLang="en-US" sz="900" b="0" dirty="0">
                <a:latin typeface="+mn-ea"/>
                <a:ea typeface="+mn-ea"/>
              </a:rPr>
              <a:t>개만 선정됐다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서울시 </a:t>
            </a:r>
            <a:r>
              <a:rPr lang="en-US" altLang="ko-KR" sz="900" b="0" dirty="0">
                <a:latin typeface="+mn-ea"/>
                <a:ea typeface="+mn-ea"/>
              </a:rPr>
              <a:t>25</a:t>
            </a:r>
            <a:r>
              <a:rPr lang="ko-KR" altLang="en-US" sz="900" b="0" dirty="0">
                <a:latin typeface="+mn-ea"/>
                <a:ea typeface="+mn-ea"/>
              </a:rPr>
              <a:t>개 자치구 기준으로 혜택을 받는 상권은 극소수다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선정되지 않은 대다수 소상공인은 서울시 상권분석서비스의 데이터 조회 외에는 활용할 수단이 없다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 algn="ctr" eaLnBrk="1" hangingPunct="1">
              <a:defRPr/>
            </a:pPr>
            <a:endParaRPr lang="ko-KR" altLang="en-US" sz="900" b="0" dirty="0">
              <a:solidFill>
                <a:srgbClr val="000000"/>
              </a:solidFill>
              <a:latin typeface="+mn-ea"/>
              <a:ea typeface="+mn-ea"/>
              <a:sym typeface="Gill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2C149-015D-3E9E-9734-B7741602C794}"/>
              </a:ext>
            </a:extLst>
          </p:cNvPr>
          <p:cNvSpPr txBox="1"/>
          <p:nvPr/>
        </p:nvSpPr>
        <p:spPr>
          <a:xfrm>
            <a:off x="158913" y="456172"/>
            <a:ext cx="6097424" cy="33361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서울시의 기존 정책</a:t>
            </a:r>
            <a:endParaRPr lang="en-US" altLang="ko-KR" sz="120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4691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275FE0-5149-ED68-05C8-CB0994C65B66}"/>
              </a:ext>
            </a:extLst>
          </p:cNvPr>
          <p:cNvSpPr txBox="1"/>
          <p:nvPr/>
        </p:nvSpPr>
        <p:spPr>
          <a:xfrm>
            <a:off x="330433" y="604358"/>
            <a:ext cx="6097424" cy="33361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20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제안 배경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530D09-0C1B-0039-ABE2-6F20AA95489B}"/>
              </a:ext>
            </a:extLst>
          </p:cNvPr>
          <p:cNvSpPr txBox="1"/>
          <p:nvPr/>
        </p:nvSpPr>
        <p:spPr>
          <a:xfrm>
            <a:off x="2186710" y="3085361"/>
            <a:ext cx="7818580" cy="33361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공공데이터와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기술로 개별 매장 분석에서 상권 전체 브랜딩까지 연결되는 플랫폼이 필요하다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8EFFCBE-3E5A-0453-583F-0A350FDC2ED4}"/>
              </a:ext>
            </a:extLst>
          </p:cNvPr>
          <p:cNvSpPr/>
          <p:nvPr/>
        </p:nvSpPr>
        <p:spPr>
          <a:xfrm>
            <a:off x="0" y="3755544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900" dirty="0">
                <a:latin typeface="+mn-ea"/>
                <a:ea typeface="+mn-ea"/>
              </a:rPr>
              <a:t>이 슬라이드에서 전달하고 싶은 것 </a:t>
            </a:r>
            <a:r>
              <a:rPr lang="en-US" altLang="ko-KR" sz="900" dirty="0">
                <a:latin typeface="+mn-ea"/>
                <a:ea typeface="+mn-ea"/>
              </a:rPr>
              <a:t>: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소상공인 폐업 문제가 단순한 개별 매장의 문제가 아니라 구조적 문제임을 수치로 보여주고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이를 해결하기 위한 서비스 기획의 필요성으로 연결하기위해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endParaRPr lang="en-US" altLang="ko-KR" sz="900" b="0" dirty="0">
              <a:latin typeface="+mn-ea"/>
              <a:ea typeface="+mn-ea"/>
            </a:endParaRPr>
          </a:p>
          <a:p>
            <a:r>
              <a:rPr lang="en-US" altLang="ko-KR" sz="900" b="0" dirty="0">
                <a:latin typeface="+mn-ea"/>
                <a:ea typeface="+mn-ea"/>
              </a:rPr>
              <a:t>2024</a:t>
            </a:r>
            <a:r>
              <a:rPr lang="ko-KR" altLang="en-US" sz="900" b="0" dirty="0">
                <a:latin typeface="+mn-ea"/>
                <a:ea typeface="+mn-ea"/>
              </a:rPr>
              <a:t>년 연간 폐업자가 처음으로 </a:t>
            </a:r>
            <a:r>
              <a:rPr lang="en-US" altLang="ko-KR" sz="900" b="0" dirty="0">
                <a:latin typeface="+mn-ea"/>
                <a:ea typeface="+mn-ea"/>
              </a:rPr>
              <a:t>100</a:t>
            </a:r>
            <a:r>
              <a:rPr lang="ko-KR" altLang="en-US" sz="900" b="0" dirty="0">
                <a:latin typeface="+mn-ea"/>
                <a:ea typeface="+mn-ea"/>
              </a:rPr>
              <a:t>만명을 돌파했다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자영업자의 </a:t>
            </a:r>
            <a:r>
              <a:rPr lang="en-US" altLang="ko-KR" sz="900" b="0" dirty="0">
                <a:latin typeface="+mn-ea"/>
                <a:ea typeface="+mn-ea"/>
              </a:rPr>
              <a:t>5</a:t>
            </a:r>
            <a:r>
              <a:rPr lang="ko-KR" altLang="en-US" sz="900" b="0" dirty="0">
                <a:latin typeface="+mn-ea"/>
                <a:ea typeface="+mn-ea"/>
              </a:rPr>
              <a:t>년 생존율은 </a:t>
            </a:r>
            <a:r>
              <a:rPr lang="en-US" altLang="ko-KR" sz="900" b="0" dirty="0">
                <a:latin typeface="+mn-ea"/>
                <a:ea typeface="+mn-ea"/>
              </a:rPr>
              <a:t>40.2%</a:t>
            </a:r>
            <a:r>
              <a:rPr lang="ko-KR" altLang="en-US" sz="900" b="0" dirty="0">
                <a:latin typeface="+mn-ea"/>
                <a:ea typeface="+mn-ea"/>
              </a:rPr>
              <a:t>에 불과하고 서울에서만 </a:t>
            </a:r>
            <a:r>
              <a:rPr lang="en-US" altLang="ko-KR" sz="900" b="0" dirty="0">
                <a:latin typeface="+mn-ea"/>
                <a:ea typeface="+mn-ea"/>
              </a:rPr>
              <a:t>2024</a:t>
            </a:r>
            <a:r>
              <a:rPr lang="ko-KR" altLang="en-US" sz="900" b="0" dirty="0">
                <a:latin typeface="+mn-ea"/>
                <a:ea typeface="+mn-ea"/>
              </a:rPr>
              <a:t>년 </a:t>
            </a:r>
            <a:r>
              <a:rPr lang="en-US" altLang="ko-KR" sz="900" b="0" dirty="0">
                <a:latin typeface="+mn-ea"/>
                <a:ea typeface="+mn-ea"/>
              </a:rPr>
              <a:t>1</a:t>
            </a:r>
            <a:r>
              <a:rPr lang="ko-KR" altLang="en-US" sz="900" b="0" dirty="0">
                <a:latin typeface="+mn-ea"/>
                <a:ea typeface="+mn-ea"/>
              </a:rPr>
              <a:t>분기에 외식 점포 </a:t>
            </a:r>
            <a:r>
              <a:rPr lang="en-US" altLang="ko-KR" sz="900" b="0" dirty="0">
                <a:latin typeface="+mn-ea"/>
                <a:ea typeface="+mn-ea"/>
              </a:rPr>
              <a:t>5,922</a:t>
            </a:r>
            <a:r>
              <a:rPr lang="ko-KR" altLang="en-US" sz="900" b="0" dirty="0">
                <a:latin typeface="+mn-ea"/>
                <a:ea typeface="+mn-ea"/>
              </a:rPr>
              <a:t>개가 폐업했다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  <a:r>
              <a:rPr lang="ko-KR" altLang="en-US" sz="900" b="0" dirty="0">
                <a:latin typeface="+mn-ea"/>
                <a:ea typeface="+mn-ea"/>
              </a:rPr>
              <a:t>문제는 이들이 각자 고립된 채 싸우고 있다는 것임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서울시 공공데이터와 </a:t>
            </a:r>
            <a:r>
              <a:rPr lang="en-US" altLang="ko-KR" sz="900" b="0" dirty="0">
                <a:latin typeface="+mn-ea"/>
                <a:ea typeface="+mn-ea"/>
              </a:rPr>
              <a:t>AI </a:t>
            </a:r>
            <a:r>
              <a:rPr lang="ko-KR" altLang="en-US" sz="900" b="0" dirty="0">
                <a:latin typeface="+mn-ea"/>
                <a:ea typeface="+mn-ea"/>
              </a:rPr>
              <a:t>기술을 활용해 개별 매장 분석에서 출발해 상권 전체의 브랜딩으로 연결되는 플랫폼의 필요성을 느꼈기에 이 서비스를 기획하게 되었다</a:t>
            </a:r>
            <a:r>
              <a:rPr lang="en-US" altLang="ko-KR" sz="900" b="0" dirty="0">
                <a:latin typeface="+mn-ea"/>
                <a:ea typeface="+mn-ea"/>
              </a:rPr>
              <a:t>!!</a:t>
            </a: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EFA6CEBC-2B33-20E2-2338-A2F05E23E0A5}"/>
              </a:ext>
            </a:extLst>
          </p:cNvPr>
          <p:cNvSpPr txBox="1"/>
          <p:nvPr/>
        </p:nvSpPr>
        <p:spPr>
          <a:xfrm>
            <a:off x="731824" y="1032108"/>
            <a:ext cx="8753820" cy="13619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소상공인 현황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연간 </a:t>
            </a:r>
            <a:r>
              <a:rPr lang="ko-KR" altLang="en-US" sz="11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폐업자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 명 돌파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역대 최초 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자영업자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생존율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40.2% -&gt; 10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곳 중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곳은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내 폐업 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 외식 점포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분기에만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5,922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폐업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F03F1D-3B93-6CC8-8F36-4F4247368B52}"/>
              </a:ext>
            </a:extLst>
          </p:cNvPr>
          <p:cNvSpPr/>
          <p:nvPr/>
        </p:nvSpPr>
        <p:spPr>
          <a:xfrm>
            <a:off x="6256337" y="5502508"/>
            <a:ext cx="5935663" cy="1259741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900" dirty="0">
                <a:latin typeface="+mn-ea"/>
                <a:ea typeface="+mn-ea"/>
              </a:rPr>
              <a:t>[</a:t>
            </a:r>
            <a:r>
              <a:rPr lang="ko-KR" altLang="en-US" sz="900" dirty="0">
                <a:latin typeface="+mn-ea"/>
                <a:ea typeface="+mn-ea"/>
              </a:rPr>
              <a:t>참고 기사 링크</a:t>
            </a:r>
            <a:r>
              <a:rPr lang="en-US" altLang="ko-KR" sz="900" dirty="0">
                <a:latin typeface="+mn-ea"/>
                <a:ea typeface="+mn-ea"/>
              </a:rPr>
              <a:t>]</a:t>
            </a:r>
            <a:endParaRPr lang="ko-KR" altLang="en-US" sz="90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연간 </a:t>
            </a:r>
            <a:r>
              <a:rPr lang="ko-KR" altLang="en-US" sz="900" b="0" dirty="0" err="1">
                <a:latin typeface="+mn-ea"/>
                <a:ea typeface="+mn-ea"/>
              </a:rPr>
              <a:t>폐업자</a:t>
            </a:r>
            <a:r>
              <a:rPr lang="ko-KR" altLang="en-US" sz="900" b="0" dirty="0">
                <a:latin typeface="+mn-ea"/>
                <a:ea typeface="+mn-ea"/>
              </a:rPr>
              <a:t> </a:t>
            </a:r>
            <a:r>
              <a:rPr lang="en-US" altLang="ko-KR" sz="900" b="0" dirty="0">
                <a:latin typeface="+mn-ea"/>
                <a:ea typeface="+mn-ea"/>
              </a:rPr>
              <a:t>100</a:t>
            </a:r>
            <a:r>
              <a:rPr lang="ko-KR" altLang="en-US" sz="900" b="0" dirty="0">
                <a:latin typeface="+mn-ea"/>
                <a:ea typeface="+mn-ea"/>
              </a:rPr>
              <a:t>만명 돌파 </a:t>
            </a:r>
            <a:r>
              <a:rPr lang="en-US" altLang="ko-KR" sz="900" b="0" dirty="0">
                <a:latin typeface="+mn-ea"/>
                <a:ea typeface="+mn-ea"/>
              </a:rPr>
              <a:t>(2025.11): </a:t>
            </a:r>
            <a:r>
              <a:rPr lang="en-US" altLang="ko-KR" sz="900" b="0" dirty="0">
                <a:latin typeface="+mn-ea"/>
                <a:ea typeface="+mn-ea"/>
                <a:hlinkClick r:id="rId2"/>
              </a:rPr>
              <a:t>https://koreabizreview.com/detail.php?number=7271&amp;thread=26r05</a:t>
            </a:r>
            <a:endParaRPr lang="ko-KR" altLang="en-US" sz="900" b="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자영업자 </a:t>
            </a:r>
            <a:r>
              <a:rPr lang="en-US" altLang="ko-KR" sz="900" b="0" dirty="0">
                <a:latin typeface="+mn-ea"/>
                <a:ea typeface="+mn-ea"/>
              </a:rPr>
              <a:t>5</a:t>
            </a:r>
            <a:r>
              <a:rPr lang="ko-KR" altLang="en-US" sz="900" b="0" dirty="0">
                <a:latin typeface="+mn-ea"/>
                <a:ea typeface="+mn-ea"/>
              </a:rPr>
              <a:t>년 생존율 </a:t>
            </a:r>
            <a:r>
              <a:rPr lang="en-US" altLang="ko-KR" sz="900" b="0" dirty="0">
                <a:latin typeface="+mn-ea"/>
                <a:ea typeface="+mn-ea"/>
              </a:rPr>
              <a:t>40.2% (</a:t>
            </a:r>
            <a:r>
              <a:rPr lang="ko-KR" altLang="en-US" sz="900" b="0" dirty="0">
                <a:latin typeface="+mn-ea"/>
                <a:ea typeface="+mn-ea"/>
              </a:rPr>
              <a:t>한국경제 </a:t>
            </a:r>
            <a:r>
              <a:rPr lang="en-US" altLang="ko-KR" sz="900" b="0" dirty="0">
                <a:latin typeface="+mn-ea"/>
                <a:ea typeface="+mn-ea"/>
              </a:rPr>
              <a:t>2025.11): </a:t>
            </a:r>
            <a:r>
              <a:rPr lang="en-US" altLang="ko-KR" sz="900" b="0" dirty="0">
                <a:latin typeface="+mn-ea"/>
                <a:ea typeface="+mn-ea"/>
                <a:hlinkClick r:id="rId3"/>
              </a:rPr>
              <a:t>https://www.hankyung.com/article/2025110286751</a:t>
            </a:r>
            <a:endParaRPr lang="ko-KR" altLang="en-US" sz="900" b="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서울 외식 점포 </a:t>
            </a:r>
            <a:r>
              <a:rPr lang="en-US" altLang="ko-KR" sz="900" b="0" dirty="0">
                <a:latin typeface="+mn-ea"/>
                <a:ea typeface="+mn-ea"/>
              </a:rPr>
              <a:t>1</a:t>
            </a:r>
            <a:r>
              <a:rPr lang="ko-KR" altLang="en-US" sz="900" b="0" dirty="0">
                <a:latin typeface="+mn-ea"/>
                <a:ea typeface="+mn-ea"/>
              </a:rPr>
              <a:t>분기 </a:t>
            </a:r>
            <a:r>
              <a:rPr lang="en-US" altLang="ko-KR" sz="900" b="0" dirty="0">
                <a:latin typeface="+mn-ea"/>
                <a:ea typeface="+mn-ea"/>
              </a:rPr>
              <a:t>5,922</a:t>
            </a:r>
            <a:r>
              <a:rPr lang="ko-KR" altLang="en-US" sz="900" b="0" dirty="0">
                <a:latin typeface="+mn-ea"/>
                <a:ea typeface="+mn-ea"/>
              </a:rPr>
              <a:t>개 폐업 </a:t>
            </a:r>
            <a:r>
              <a:rPr lang="en-US" altLang="ko-KR" sz="900" b="0" dirty="0">
                <a:latin typeface="+mn-ea"/>
                <a:ea typeface="+mn-ea"/>
              </a:rPr>
              <a:t>(2024): </a:t>
            </a:r>
            <a:r>
              <a:rPr lang="en-US" altLang="ko-KR" sz="900" b="0" dirty="0">
                <a:latin typeface="+mn-ea"/>
                <a:ea typeface="+mn-ea"/>
                <a:hlinkClick r:id="rId4"/>
              </a:rPr>
              <a:t>https://www.narasallim.net/view3/1481</a:t>
            </a:r>
            <a:endParaRPr lang="ko-KR" altLang="en-US" sz="9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8236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30E70-3D75-6F52-9244-9168E6174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3883CF-C109-622E-18A1-2B57FA50E327}"/>
              </a:ext>
            </a:extLst>
          </p:cNvPr>
          <p:cNvSpPr txBox="1"/>
          <p:nvPr/>
        </p:nvSpPr>
        <p:spPr>
          <a:xfrm>
            <a:off x="269336" y="552989"/>
            <a:ext cx="11536680" cy="51828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출품작 소개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어떤 사용자에게 어떤 가치를 제공하는지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가지 기능→ 통합 가치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줄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+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페르소나 넣으면 좋을 것 같음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130BF-F991-2DD9-E1D8-2C3ADEA22B1F}"/>
              </a:ext>
            </a:extLst>
          </p:cNvPr>
          <p:cNvSpPr txBox="1"/>
          <p:nvPr/>
        </p:nvSpPr>
        <p:spPr>
          <a:xfrm>
            <a:off x="269336" y="1088220"/>
            <a:ext cx="6005638" cy="3205749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01.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상권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 솔루션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 매장 →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파악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점주가 매장 정보를 입력하면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AI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상권 데이터를 분석하여 해당 매장의 상권 유형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(MBTI)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도출하고 유형에 맞는 운영 솔루션을 제안한다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"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손님이 없다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막연한 고민을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어느 시간대에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어떤 방식으로 운영을 바꿔야 하는가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라는 구체적인 실행 방향으로 바꿔준다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우리 상권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DNA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네이밍 솔루션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 →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DNA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정의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같은 상권 내 여러 매장 데이터를 통합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클러스터링하여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상권 고유의 성격과 특성을 담은 상권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DNA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이름을 도출한다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점주는 자신의 매장이 속한 상권이 어떤 구조와 맥락을 가진 곳인지를 한눈에 파악할 수 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03. DNA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 통합 솔루션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단위 → 공동 전략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단위로 파악된 공통 문제점을 바탕으로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상권에 실질적으로 필요한 가치창출 방향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가지를 제안한다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 점주를 넘어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전체가 함께 나아갈 수 있는 방향을 제시한다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 가치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가게 진단 → 우리 상권 정의 → 함께 성장하는 전략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 매장의 상권 유형을 진단하고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전체의 고유한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DNA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정의하여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매장 단위의 운영 개선에서 상권 공동의 성장 전략까지 하나로 연결한다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D8454-7A15-22F5-5E7F-8F8E53877BCF}"/>
              </a:ext>
            </a:extLst>
          </p:cNvPr>
          <p:cNvSpPr txBox="1"/>
          <p:nvPr/>
        </p:nvSpPr>
        <p:spPr>
          <a:xfrm>
            <a:off x="6186362" y="2528788"/>
            <a:ext cx="6005638" cy="342119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페르소나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공차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홍대서교점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(NFTG)</a:t>
            </a:r>
          </a:p>
          <a:p>
            <a:pPr algn="l" latinLnBrk="0"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유동인구가 많고 브랜드도 익숙하고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운영 시간도 길다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그러나 점주의 감각은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많이 보이는데 적게 산다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에이전트들은 이 매장을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NFTG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진단하고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유입이 아닌 전환이 문제임을 파악한다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솔루션의 핵심은 메뉴를 늘리는 것이 아니라 바로 사게 만드는 한방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첫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 안에 고르게 만드는 것입니다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 메뉴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개를 전면 노출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키오스크 첫 화면 단순화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야간 한정 세트 구성 등을 통해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 보여주기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＂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잘 팔릴 한 두개를 강하게 밀기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운영 방향을 전환합니다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솔루션은 단순 상권 분석이 아니라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운영의 병목을 찾는 서비스 입니다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 latinLnBrk="0"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내용은 우리가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구현한게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아니라 클러스터링을 어떻게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해야할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지 몰라서 혹시나 작성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진단은 공차 한 매장에서 끝나지 않습니다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홍대 서교동 상권 내 다른 매장들의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함께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클러스터링하면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상권이 공통적으로 드러나는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있습니다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유입은 풍부하지만 전환이 약한 통과형 감성 상권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“).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종합 분석 에이전트는 이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DNA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기반으로 상권 전체의 가치창출 방향을 설계합니다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 매장이 각자 전환율을 높이는 것을 넘어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차원에서 성장 전략을 제안합니다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작명 에이전트는 이 상권의 성격을 담은 고유한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DNA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이름을 부여하여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점주들이 자신의 매장이 어떤 상권 안에서 어떤 맥락으로 작동하는지 한눈에 파악할 수 있게 합니다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2FE27-F7AC-4E76-11C5-B0C8DECC48EE}"/>
              </a:ext>
            </a:extLst>
          </p:cNvPr>
          <p:cNvSpPr txBox="1"/>
          <p:nvPr/>
        </p:nvSpPr>
        <p:spPr>
          <a:xfrm>
            <a:off x="184438" y="4329212"/>
            <a:ext cx="6005638" cy="148220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페르소나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AI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설계사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점주가 입력한 매장 정보를 바탕으로 에이전트들이 상권 데이터를 분석하여 해당 매장의 상권 유형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(MBTI)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도출하고 유형에 맞는 운영 솔루션을 제안합니다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같은 상권 내 여러 매장 데이터를 통합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클러스터링하여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고유의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DNA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정의하고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이를 기반으로 상권 전체가 함께 나아갈 수 있는 가치창출 방향을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설계합니다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점주에게는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손님이 없다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＂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막연한 고민을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어느 시간대에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어떤 방식으로 바꿔야 하는가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라는 구체적 실행 방향으로 전환해주고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 매장의 문제를 넘어 상권 단위의 공동 성장 전략까지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연결합니다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0635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085BB-1322-C3C9-8FEE-8822211E5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A34547-5C6F-7714-DFA3-056FE79D96A7}"/>
              </a:ext>
            </a:extLst>
          </p:cNvPr>
          <p:cNvSpPr txBox="1"/>
          <p:nvPr/>
        </p:nvSpPr>
        <p:spPr>
          <a:xfrm>
            <a:off x="269336" y="552989"/>
            <a:ext cx="11536680" cy="79528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출품작 소개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공공데이터와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기술을 활용해 개별 매장 마켓 성향 진단에서 출발해 상권 전체의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마켓 성향을 도출하고 공동 브랜딩 솔루션을 제안하는 상권 활성화 플랫폼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나의 매장이 모여 상권의 이름이 되는 곳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파편화된 매장 데이터를 모아 숨겨진 상권의 가치를 더하고 지속 가능한 상생을 만듦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6750E71-1B98-1E12-AEBA-7E0E6B2F82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555370"/>
              </p:ext>
            </p:extLst>
          </p:nvPr>
        </p:nvGraphicFramePr>
        <p:xfrm>
          <a:off x="346923" y="1498600"/>
          <a:ext cx="9987279" cy="193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567">
                  <a:extLst>
                    <a:ext uri="{9D8B030D-6E8A-4147-A177-3AD203B41FA5}">
                      <a16:colId xmlns:a16="http://schemas.microsoft.com/office/drawing/2014/main" val="2868996428"/>
                    </a:ext>
                  </a:extLst>
                </a:gridCol>
                <a:gridCol w="4129356">
                  <a:extLst>
                    <a:ext uri="{9D8B030D-6E8A-4147-A177-3AD203B41FA5}">
                      <a16:colId xmlns:a16="http://schemas.microsoft.com/office/drawing/2014/main" val="1767183450"/>
                    </a:ext>
                  </a:extLst>
                </a:gridCol>
                <a:gridCol w="4129356">
                  <a:extLst>
                    <a:ext uri="{9D8B030D-6E8A-4147-A177-3AD203B41FA5}">
                      <a16:colId xmlns:a16="http://schemas.microsoft.com/office/drawing/2014/main" val="31740808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AS-IS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TO-BE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74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활용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개별 점포 분석 가능하지만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상권 전체 아우르는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통합 솔루션으로 연결성 부족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개별 매장 </a:t>
                      </a:r>
                      <a:r>
                        <a:rPr lang="en-US" altLang="ko-KR" sz="1000" dirty="0"/>
                        <a:t>MBTI </a:t>
                      </a:r>
                      <a:r>
                        <a:rPr lang="ko-KR" altLang="en-US" sz="1000" dirty="0"/>
                        <a:t>분석에서 상권 브랜딩까지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연결되는 통합 솔루션 제공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046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상권 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개별 점포 고립 경쟁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점주 간 연결 구조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상권 </a:t>
                      </a:r>
                      <a:r>
                        <a:rPr lang="en-US" altLang="ko-KR" sz="1000" dirty="0"/>
                        <a:t>MBTI </a:t>
                      </a:r>
                      <a:r>
                        <a:rPr lang="ko-KR" altLang="en-US" sz="1000" dirty="0"/>
                        <a:t>기반 공동 브랜딩 및 협력 구조로 전환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27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상권 정체성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자생적 이미지는 있으나 체계적으로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 err="1"/>
                        <a:t>관리〮활용되지</a:t>
                      </a:r>
                      <a:r>
                        <a:rPr lang="ko-KR" altLang="en-US" sz="1000" dirty="0"/>
                        <a:t> 못함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기반 상권 브랜딩으로 정체성을 구조화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및 지속적으로 고도화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309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상권 문제 대응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매출 </a:t>
                      </a:r>
                      <a:r>
                        <a:rPr lang="ko-KR" altLang="en-US" sz="1000" dirty="0" err="1"/>
                        <a:t>하락〮유동인구</a:t>
                      </a:r>
                      <a:r>
                        <a:rPr lang="ko-KR" altLang="en-US" sz="1000" dirty="0"/>
                        <a:t> 감소 등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문제 발생 시 개별 대응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개별〮상권</a:t>
                      </a:r>
                      <a:r>
                        <a:rPr lang="ko-KR" altLang="en-US" sz="1000" dirty="0"/>
                        <a:t> 단위로 문제를 동시에 파악하고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공동 솔루션으로 함께 대응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540231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0D3D42C-C0FD-4FA3-8030-CF57670075AC}"/>
              </a:ext>
            </a:extLst>
          </p:cNvPr>
          <p:cNvSpPr txBox="1"/>
          <p:nvPr/>
        </p:nvSpPr>
        <p:spPr>
          <a:xfrm>
            <a:off x="2551187" y="4654923"/>
            <a:ext cx="5864679" cy="28187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상권더하기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LLM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멀티 에이전트 기반 다면적 상권 분석 서비스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8474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B6058CA6-6C08-49AF-A9AB-2BEA52D5339B}"/>
              </a:ext>
            </a:extLst>
          </p:cNvPr>
          <p:cNvSpPr txBox="1"/>
          <p:nvPr/>
        </p:nvSpPr>
        <p:spPr>
          <a:xfrm>
            <a:off x="6096000" y="507863"/>
            <a:ext cx="5708650" cy="2860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서울시 상권분석서비스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점포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sz="105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전처리</a:t>
            </a: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서비스 업종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100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여개를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12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개 카테고리로 매핑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교육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생활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홈인테리어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생활서비스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식품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식재료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외식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/F&amp;B,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의료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건강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자동차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이동수단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패션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뷰티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전문서비스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오락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여가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숙박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부동산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전자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디지털</a:t>
            </a: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자치구 기준으로 매핑 추가</a:t>
            </a: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매핑한 카테고리 기준으로 지표 통합</a:t>
            </a: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최종 사용 데이터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점포 수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카테고리 점포 수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개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05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폐업율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프랜차이즈 점포 수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 총 점포 수</a:t>
            </a: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- (2025</a:t>
            </a:r>
            <a:r>
              <a:rPr lang="ko-KR" altLang="en-US" sz="105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년 </a:t>
            </a:r>
            <a:r>
              <a:rPr lang="en-US" altLang="ko-KR" sz="105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4</a:t>
            </a:r>
            <a:r>
              <a:rPr lang="ko-KR" altLang="en-US" sz="105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분기 단일 시점 기준</a:t>
            </a:r>
            <a:r>
              <a:rPr lang="en-US" altLang="ko-KR" sz="105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) </a:t>
            </a:r>
            <a:r>
              <a:rPr lang="ko-KR" altLang="en-US" sz="105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이건 굳이 </a:t>
            </a:r>
            <a:r>
              <a:rPr lang="ko-KR" altLang="en-US" sz="1050" dirty="0" err="1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안써도</a:t>
            </a:r>
            <a:r>
              <a:rPr lang="ko-KR" altLang="en-US" sz="105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050" dirty="0" err="1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될거같음</a:t>
            </a:r>
            <a:r>
              <a:rPr lang="en-US" altLang="ko-KR" sz="105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..?</a:t>
            </a:r>
          </a:p>
          <a:p>
            <a:pPr>
              <a:lnSpc>
                <a:spcPct val="200000"/>
              </a:lnSpc>
              <a:defRPr/>
            </a:pP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7DDB5-4E1D-45B7-8933-B8D7769EA924}"/>
              </a:ext>
            </a:extLst>
          </p:cNvPr>
          <p:cNvSpPr txBox="1"/>
          <p:nvPr/>
        </p:nvSpPr>
        <p:spPr>
          <a:xfrm>
            <a:off x="6096000" y="5291826"/>
            <a:ext cx="6546850" cy="127759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서울시 상권분석서비스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길단위인구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</a:rPr>
              <a:t>      -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</a:rPr>
              <a:t>자치구 기준으로 매핑 추가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      -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최종 사용 데이터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요일별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 유동인구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시간대별 유동인구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연령대별 유동인구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성별 유동인구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 - 2025</a:t>
            </a:r>
            <a:r>
              <a:rPr lang="ko-KR" altLang="en-US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년 </a:t>
            </a:r>
            <a:r>
              <a:rPr lang="en-US" altLang="ko-KR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4</a:t>
            </a:r>
            <a:r>
              <a:rPr lang="ko-KR" altLang="en-US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분기 단일 시점 기준</a:t>
            </a:r>
            <a:endParaRPr lang="en-US" altLang="ko-KR" dirty="0">
              <a:solidFill>
                <a:srgbClr val="FF000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9B46E-8735-4EEA-A177-B66A031C29D6}"/>
              </a:ext>
            </a:extLst>
          </p:cNvPr>
          <p:cNvSpPr txBox="1"/>
          <p:nvPr/>
        </p:nvSpPr>
        <p:spPr>
          <a:xfrm>
            <a:off x="3163660" y="4846407"/>
            <a:ext cx="3381375" cy="189314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서울교통공사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(1~8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호선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+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국가철도공단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9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호선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전처리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두 파일 통합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    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 환승역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중복된 데이터 제거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좌표 평균화 처리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최종 사용 데이터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호선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역명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위도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경도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C0F9D2-02A4-4D28-BCE7-309515B444FC}"/>
              </a:ext>
            </a:extLst>
          </p:cNvPr>
          <p:cNvSpPr txBox="1"/>
          <p:nvPr/>
        </p:nvSpPr>
        <p:spPr>
          <a:xfrm>
            <a:off x="6096000" y="3070225"/>
            <a:ext cx="5926667" cy="220092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서울시 상권분석서비스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추정매출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전처리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서비스 업종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100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여개를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12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개 카테고리로 매핑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</a:rPr>
              <a:t>자치구 기준으로 매핑 추가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매핑한 카테고리 기준으로 지표 통합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최종 사용 데이터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주중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주말 매출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요일별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 매출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시간대별 매출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연령대별 매출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성별 매출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     </a:t>
            </a:r>
            <a:r>
              <a:rPr lang="en-US" altLang="ko-KR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- 2025</a:t>
            </a:r>
            <a:r>
              <a:rPr lang="ko-KR" altLang="en-US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년 </a:t>
            </a:r>
            <a:r>
              <a:rPr lang="en-US" altLang="ko-KR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4</a:t>
            </a:r>
            <a:r>
              <a:rPr lang="ko-KR" altLang="en-US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분기 단일 시점 기준</a:t>
            </a:r>
            <a:endParaRPr lang="en-US" altLang="ko-KR" dirty="0">
              <a:solidFill>
                <a:srgbClr val="FF000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7853E3-959C-4BB7-B6CC-EE66AAFB7DB8}"/>
              </a:ext>
            </a:extLst>
          </p:cNvPr>
          <p:cNvSpPr txBox="1"/>
          <p:nvPr/>
        </p:nvSpPr>
        <p:spPr>
          <a:xfrm>
            <a:off x="231320" y="823044"/>
            <a:ext cx="5864679" cy="1359090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01.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 상권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솔루션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개별 매장 →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파악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02.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우리 상권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DNA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네이밍 솔루션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전체 →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DNA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정의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03. DNA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통합 솔루션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단위 → 공동 전략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>
              <a:lnSpc>
                <a:spcPct val="140000"/>
              </a:lnSpc>
            </a:pP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 세가지 기능을 구현하기 위해 사용자 입력 상점의 상권에 대해 정밀한 분석이 필요하며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이에 필요한 데이터는 다음과 같음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F7853E3-959C-4BB7-B6CC-EE66AAFB7DB8}"/>
              </a:ext>
            </a:extLst>
          </p:cNvPr>
          <p:cNvSpPr txBox="1"/>
          <p:nvPr/>
        </p:nvSpPr>
        <p:spPr>
          <a:xfrm>
            <a:off x="231321" y="641723"/>
            <a:ext cx="5864679" cy="28187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LLM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에이전트 소개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67953A7-56DF-4B16-93E7-014AED538D74}"/>
              </a:ext>
            </a:extLst>
          </p:cNvPr>
          <p:cNvSpPr/>
          <p:nvPr/>
        </p:nvSpPr>
        <p:spPr>
          <a:xfrm>
            <a:off x="9109075" y="497945"/>
            <a:ext cx="2782888" cy="3733799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DDB472E-67CD-4FD7-809A-22E5BCD6AAFA}"/>
              </a:ext>
            </a:extLst>
          </p:cNvPr>
          <p:cNvSpPr/>
          <p:nvPr/>
        </p:nvSpPr>
        <p:spPr>
          <a:xfrm>
            <a:off x="6156325" y="956732"/>
            <a:ext cx="2782888" cy="3733799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00728E62-41FE-4D32-AD90-7F1B0C69CBEC}"/>
              </a:ext>
            </a:extLst>
          </p:cNvPr>
          <p:cNvSpPr/>
          <p:nvPr/>
        </p:nvSpPr>
        <p:spPr>
          <a:xfrm>
            <a:off x="3201988" y="956732"/>
            <a:ext cx="2784475" cy="3733799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AA4829F-D7B0-48C0-BC63-898CC0B70900}"/>
              </a:ext>
            </a:extLst>
          </p:cNvPr>
          <p:cNvSpPr/>
          <p:nvPr/>
        </p:nvSpPr>
        <p:spPr>
          <a:xfrm>
            <a:off x="249238" y="956732"/>
            <a:ext cx="2784475" cy="3733799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C39DADC-0FCA-43C1-B47D-A73B5D41618E}"/>
              </a:ext>
            </a:extLst>
          </p:cNvPr>
          <p:cNvSpPr/>
          <p:nvPr/>
        </p:nvSpPr>
        <p:spPr>
          <a:xfrm>
            <a:off x="1100138" y="1282170"/>
            <a:ext cx="1082675" cy="1082675"/>
          </a:xfrm>
          <a:prstGeom prst="ellipse">
            <a:avLst/>
          </a:prstGeom>
          <a:solidFill>
            <a:srgbClr val="FFBF93"/>
          </a:solidFill>
          <a:ln w="3175">
            <a:solidFill>
              <a:srgbClr val="FFBF93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8686644E-0072-4BB4-A8FC-09A814015B4A}"/>
              </a:ext>
            </a:extLst>
          </p:cNvPr>
          <p:cNvSpPr/>
          <p:nvPr/>
        </p:nvSpPr>
        <p:spPr>
          <a:xfrm>
            <a:off x="7005638" y="1277407"/>
            <a:ext cx="1084262" cy="1084263"/>
          </a:xfrm>
          <a:prstGeom prst="ellipse">
            <a:avLst/>
          </a:prstGeom>
          <a:solidFill>
            <a:srgbClr val="FF6600"/>
          </a:solidFill>
          <a:ln w="3175">
            <a:solidFill>
              <a:srgbClr val="FF6600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874773D-55A4-484B-8FBC-ACC04C16CFB5}"/>
              </a:ext>
            </a:extLst>
          </p:cNvPr>
          <p:cNvSpPr/>
          <p:nvPr/>
        </p:nvSpPr>
        <p:spPr>
          <a:xfrm>
            <a:off x="4052888" y="1277407"/>
            <a:ext cx="1082675" cy="1084263"/>
          </a:xfrm>
          <a:prstGeom prst="ellipse">
            <a:avLst/>
          </a:prstGeom>
          <a:solidFill>
            <a:srgbClr val="CC00FF"/>
          </a:solidFill>
          <a:ln w="3175">
            <a:solidFill>
              <a:srgbClr val="CC00FF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D076C03-1161-4F99-BD40-E0CBC441869A}"/>
              </a:ext>
            </a:extLst>
          </p:cNvPr>
          <p:cNvSpPr/>
          <p:nvPr/>
        </p:nvSpPr>
        <p:spPr>
          <a:xfrm>
            <a:off x="9961563" y="823383"/>
            <a:ext cx="1082675" cy="1082675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3175">
            <a:solidFill>
              <a:srgbClr val="77933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C1E6FD83-0AC6-4E40-9BC4-745A94980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1426632"/>
            <a:ext cx="792163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E13D3EBD-9A6E-4F1F-9156-7C57F814A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1391707"/>
            <a:ext cx="8572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Box 26">
            <a:extLst>
              <a:ext uri="{FF2B5EF4-FFF2-40B4-BE49-F238E27FC236}">
                <a16:creationId xmlns:a16="http://schemas.microsoft.com/office/drawing/2014/main" id="{DDB4CDE4-D151-4B56-A1B4-837B4C2C1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2518832"/>
            <a:ext cx="1841851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에이전트</a:t>
            </a:r>
          </a:p>
        </p:txBody>
      </p:sp>
      <p:sp>
        <p:nvSpPr>
          <p:cNvPr id="43" name="TextBox 33">
            <a:extLst>
              <a:ext uri="{FF2B5EF4-FFF2-40B4-BE49-F238E27FC236}">
                <a16:creationId xmlns:a16="http://schemas.microsoft.com/office/drawing/2014/main" id="{973460CD-D9D0-4897-A202-E362FA107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8" y="2522007"/>
            <a:ext cx="1643079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에이전트</a:t>
            </a:r>
          </a:p>
        </p:txBody>
      </p:sp>
      <p:sp>
        <p:nvSpPr>
          <p:cNvPr id="45" name="TextBox 35">
            <a:extLst>
              <a:ext uri="{FF2B5EF4-FFF2-40B4-BE49-F238E27FC236}">
                <a16:creationId xmlns:a16="http://schemas.microsoft.com/office/drawing/2014/main" id="{4A463C56-0D6A-4B0B-A989-D876E3285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2522007"/>
            <a:ext cx="1695977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추천 에이전트</a:t>
            </a:r>
          </a:p>
        </p:txBody>
      </p:sp>
      <p:sp>
        <p:nvSpPr>
          <p:cNvPr id="47" name="TextBox 37">
            <a:extLst>
              <a:ext uri="{FF2B5EF4-FFF2-40B4-BE49-F238E27FC236}">
                <a16:creationId xmlns:a16="http://schemas.microsoft.com/office/drawing/2014/main" id="{3EC0E131-E5C3-4881-A905-A11425CF9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9450" y="2063220"/>
            <a:ext cx="1695977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분석 에이전트</a:t>
            </a:r>
          </a:p>
        </p:txBody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B49C5943-EDB4-497D-B6C0-39E5789CB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013" y="1469495"/>
            <a:ext cx="763587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TextBox 26">
            <a:extLst>
              <a:ext uri="{FF2B5EF4-FFF2-40B4-BE49-F238E27FC236}">
                <a16:creationId xmlns:a16="http://schemas.microsoft.com/office/drawing/2014/main" id="{00F891E0-1DCA-49D6-B646-C893C5B5C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035" y="2839682"/>
            <a:ext cx="2291292" cy="2040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역할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유동인구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패턴과 역세권 여부를 종합해 상권의 활성도를 분석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항목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시간대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연령대별 유동인구 분포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패턴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역까지 거리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분석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고객과 실제 데이터의 정합성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보고서 출력</a:t>
            </a:r>
          </a:p>
        </p:txBody>
      </p:sp>
      <p:sp>
        <p:nvSpPr>
          <p:cNvPr id="52" name="TextBox 26">
            <a:extLst>
              <a:ext uri="{FF2B5EF4-FFF2-40B4-BE49-F238E27FC236}">
                <a16:creationId xmlns:a16="http://schemas.microsoft.com/office/drawing/2014/main" id="{87641E17-ADFA-49CE-A173-69729C5F8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579" y="2839682"/>
            <a:ext cx="2291292" cy="1782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역할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자치구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 내 유사 업종 점포 수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비율을 분석하여 시장 내 경쟁 강도 평가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항목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 전체 대비 카테고리 비중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포화도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경쟁강도 분석 보고서 출력</a:t>
            </a:r>
          </a:p>
        </p:txBody>
      </p:sp>
      <p:sp>
        <p:nvSpPr>
          <p:cNvPr id="53" name="TextBox 26">
            <a:extLst>
              <a:ext uri="{FF2B5EF4-FFF2-40B4-BE49-F238E27FC236}">
                <a16:creationId xmlns:a16="http://schemas.microsoft.com/office/drawing/2014/main" id="{FB49A595-3E1D-4B54-9256-AF6AE091F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123" y="2839682"/>
            <a:ext cx="2291292" cy="1523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역할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자치구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 내 업종별 매출 순위를 기반으로 현재 업종의 경쟁력 분석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항목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업종 유지 전략과 수익성 제고 마케팅 인사이트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분석 보고서 출력</a:t>
            </a:r>
          </a:p>
        </p:txBody>
      </p:sp>
      <p:sp>
        <p:nvSpPr>
          <p:cNvPr id="54" name="TextBox 26">
            <a:extLst>
              <a:ext uri="{FF2B5EF4-FFF2-40B4-BE49-F238E27FC236}">
                <a16:creationId xmlns:a16="http://schemas.microsoft.com/office/drawing/2014/main" id="{0ACE7797-83A8-4AFD-B30C-41D298308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1792" y="2380895"/>
            <a:ext cx="2291292" cy="1523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역할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보고서를 통합하고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클러스터를 분석하여 사용자에게 구체적인 실행 전략과 상권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제공하는 컨설팅 보고서 생성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기능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단기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중기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 액션 플랜 구분 제시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A5436A96-6E0E-4F9C-BB55-B6A1A49BB1B2}"/>
              </a:ext>
            </a:extLst>
          </p:cNvPr>
          <p:cNvSpPr/>
          <p:nvPr/>
        </p:nvSpPr>
        <p:spPr>
          <a:xfrm>
            <a:off x="6452746" y="4388137"/>
            <a:ext cx="7017634" cy="2469863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08BCAA3C-0686-4A4E-B9B0-7FF735F44916}"/>
              </a:ext>
            </a:extLst>
          </p:cNvPr>
          <p:cNvSpPr/>
          <p:nvPr/>
        </p:nvSpPr>
        <p:spPr>
          <a:xfrm>
            <a:off x="9236427" y="4484991"/>
            <a:ext cx="1082675" cy="1082675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3175">
            <a:solidFill>
              <a:srgbClr val="77933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CB764506-3E9A-4123-B2D3-206D8E9D3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4314" y="5724828"/>
            <a:ext cx="1695977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에이전트</a:t>
            </a:r>
          </a:p>
        </p:txBody>
      </p:sp>
      <p:pic>
        <p:nvPicPr>
          <p:cNvPr id="58" name="Image 3" descr="preencoded.png">
            <a:extLst>
              <a:ext uri="{FF2B5EF4-FFF2-40B4-BE49-F238E27FC236}">
                <a16:creationId xmlns:a16="http://schemas.microsoft.com/office/drawing/2014/main" id="{61B572B6-5926-4485-8044-92A8899CA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9152" y="4716766"/>
            <a:ext cx="652462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26">
            <a:extLst>
              <a:ext uri="{FF2B5EF4-FFF2-40B4-BE49-F238E27FC236}">
                <a16:creationId xmlns:a16="http://schemas.microsoft.com/office/drawing/2014/main" id="{D09A35B9-4D5A-42CF-B2E6-D6C260BAE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623" y="6052476"/>
            <a:ext cx="5777972" cy="48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역할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기반 해당 상권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골목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특성을 대변하는 이름 후보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제안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상권의 이름을 고려하여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이름 현행 유지 및 최종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선택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0579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F7853E3-959C-4BB7-B6CC-EE66AAFB7DB8}"/>
              </a:ext>
            </a:extLst>
          </p:cNvPr>
          <p:cNvSpPr txBox="1"/>
          <p:nvPr/>
        </p:nvSpPr>
        <p:spPr>
          <a:xfrm>
            <a:off x="231321" y="641723"/>
            <a:ext cx="7822067" cy="28187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MBTI: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지역 상권을 분석하여 사용자 입력 상점에 대한 유형을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가지 축으로 정리하는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기능을 함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1CCF7B9-AF8F-41EF-9178-8347615BC12D}"/>
              </a:ext>
            </a:extLst>
          </p:cNvPr>
          <p:cNvSpPr/>
          <p:nvPr/>
        </p:nvSpPr>
        <p:spPr>
          <a:xfrm>
            <a:off x="863600" y="1909763"/>
            <a:ext cx="1677988" cy="1393825"/>
          </a:xfrm>
          <a:prstGeom prst="roundRect">
            <a:avLst/>
          </a:prstGeom>
          <a:solidFill>
            <a:srgbClr val="77FBD8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D/N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1B6566-FDDD-4964-AC2C-263E7E0FA051}"/>
              </a:ext>
            </a:extLst>
          </p:cNvPr>
          <p:cNvSpPr txBox="1"/>
          <p:nvPr/>
        </p:nvSpPr>
        <p:spPr>
          <a:xfrm>
            <a:off x="2986088" y="2274888"/>
            <a:ext cx="1016304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Day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Night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05C64E4A-51D2-47A3-A6C6-0EB26A7A5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1909763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solidFill>
                  <a:srgbClr val="77FB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주간형  </a:t>
            </a:r>
            <a:r>
              <a:rPr lang="en-US" altLang="ko-KR" sz="2000">
                <a:solidFill>
                  <a:srgbClr val="77FB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>
                <a:solidFill>
                  <a:srgbClr val="77FB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야간형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A39AE0-255A-4775-AE00-EEC7AB42B952}"/>
              </a:ext>
            </a:extLst>
          </p:cNvPr>
          <p:cNvSpPr txBox="1"/>
          <p:nvPr/>
        </p:nvSpPr>
        <p:spPr>
          <a:xfrm>
            <a:off x="2768600" y="2620963"/>
            <a:ext cx="2381250" cy="56673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매장의 핵심 소비가 집중되는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시간대 판별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0144B8B-B6F9-4284-9E43-1376DF81C9EA}"/>
              </a:ext>
            </a:extLst>
          </p:cNvPr>
          <p:cNvSpPr/>
          <p:nvPr/>
        </p:nvSpPr>
        <p:spPr>
          <a:xfrm>
            <a:off x="6142038" y="1909763"/>
            <a:ext cx="1677987" cy="1393825"/>
          </a:xfrm>
          <a:prstGeom prst="roundRect">
            <a:avLst/>
          </a:prstGeom>
          <a:solidFill>
            <a:srgbClr val="1F497D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U/F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56E094-8E75-4163-8FC9-C550BB0FCFBE}"/>
              </a:ext>
            </a:extLst>
          </p:cNvPr>
          <p:cNvSpPr txBox="1"/>
          <p:nvPr/>
        </p:nvSpPr>
        <p:spPr>
          <a:xfrm>
            <a:off x="8367713" y="2274888"/>
            <a:ext cx="1348126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Utility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Feeling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Box 27">
            <a:extLst>
              <a:ext uri="{FF2B5EF4-FFF2-40B4-BE49-F238E27FC236}">
                <a16:creationId xmlns:a16="http://schemas.microsoft.com/office/drawing/2014/main" id="{3AA14842-446B-4E68-BA02-8F26E9C69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388" y="1909763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solidFill>
                  <a:srgbClr val="1F497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실용형  </a:t>
            </a:r>
            <a:r>
              <a:rPr lang="en-US" altLang="ko-KR" sz="2000">
                <a:solidFill>
                  <a:srgbClr val="1F497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>
                <a:solidFill>
                  <a:srgbClr val="1F497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감성형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12C095-4247-4491-9119-08D8976E9E46}"/>
              </a:ext>
            </a:extLst>
          </p:cNvPr>
          <p:cNvSpPr txBox="1"/>
          <p:nvPr/>
        </p:nvSpPr>
        <p:spPr>
          <a:xfrm>
            <a:off x="8047038" y="2620963"/>
            <a:ext cx="2499082" cy="57137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고객의 방문 동기가 목적형 소비인지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경험 기반 소비인지 판별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8F55D6AF-69AF-4B88-B1F8-B47378A20FAC}"/>
              </a:ext>
            </a:extLst>
          </p:cNvPr>
          <p:cNvSpPr/>
          <p:nvPr/>
        </p:nvSpPr>
        <p:spPr>
          <a:xfrm>
            <a:off x="863600" y="4137025"/>
            <a:ext cx="1677988" cy="1381125"/>
          </a:xfrm>
          <a:prstGeom prst="roundRect">
            <a:avLst/>
          </a:prstGeom>
          <a:solidFill>
            <a:srgbClr val="B3A2C7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L/T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2D9772-199F-409F-A19B-7AE530B83462}"/>
              </a:ext>
            </a:extLst>
          </p:cNvPr>
          <p:cNvSpPr txBox="1"/>
          <p:nvPr/>
        </p:nvSpPr>
        <p:spPr>
          <a:xfrm>
            <a:off x="3157538" y="4502150"/>
            <a:ext cx="1285608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Local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Transit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TextBox 31">
            <a:extLst>
              <a:ext uri="{FF2B5EF4-FFF2-40B4-BE49-F238E27FC236}">
                <a16:creationId xmlns:a16="http://schemas.microsoft.com/office/drawing/2014/main" id="{677C1D4A-1797-4AAF-80F4-1C810A3C6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4137025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solidFill>
                  <a:srgbClr val="B3A2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로컬형  </a:t>
            </a:r>
            <a:r>
              <a:rPr lang="en-US" altLang="ko-KR" sz="2000">
                <a:solidFill>
                  <a:srgbClr val="B3A2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>
                <a:solidFill>
                  <a:srgbClr val="B3A2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통과형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0C2D2D-7D1E-4C42-BD1C-BD2AE83F01A9}"/>
              </a:ext>
            </a:extLst>
          </p:cNvPr>
          <p:cNvSpPr txBox="1"/>
          <p:nvPr/>
        </p:nvSpPr>
        <p:spPr>
          <a:xfrm>
            <a:off x="2768600" y="4848225"/>
            <a:ext cx="2042226" cy="57137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생활권 기반 재방문 중심인지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 기반 통과인지 판별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B50BC0B-AA42-4919-8D0A-D7138FBDABF6}"/>
              </a:ext>
            </a:extLst>
          </p:cNvPr>
          <p:cNvSpPr/>
          <p:nvPr/>
        </p:nvSpPr>
        <p:spPr>
          <a:xfrm>
            <a:off x="6142038" y="4137025"/>
            <a:ext cx="1677987" cy="1381125"/>
          </a:xfrm>
          <a:prstGeom prst="roundRect">
            <a:avLst/>
          </a:prstGeom>
          <a:solidFill>
            <a:srgbClr val="E46C0A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M/G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6B61F8-9248-4337-8C54-7A4A00945BDA}"/>
              </a:ext>
            </a:extLst>
          </p:cNvPr>
          <p:cNvSpPr txBox="1"/>
          <p:nvPr/>
        </p:nvSpPr>
        <p:spPr>
          <a:xfrm>
            <a:off x="8272260" y="4515787"/>
            <a:ext cx="1024319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Mass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Gap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TextBox 35">
            <a:extLst>
              <a:ext uri="{FF2B5EF4-FFF2-40B4-BE49-F238E27FC236}">
                <a16:creationId xmlns:a16="http://schemas.microsoft.com/office/drawing/2014/main" id="{8F9F6446-5B26-471C-A0F3-9812907A3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388" y="4137025"/>
            <a:ext cx="154048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solidFill>
                  <a:srgbClr val="E46C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대중형 </a:t>
            </a:r>
            <a:r>
              <a:rPr lang="en-US" altLang="ko-KR" sz="2000" dirty="0">
                <a:solidFill>
                  <a:srgbClr val="E46C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2000" dirty="0">
                <a:solidFill>
                  <a:srgbClr val="E46C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틈새형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0B4E02-A7AF-4120-9B0D-33E2F1B99E85}"/>
              </a:ext>
            </a:extLst>
          </p:cNvPr>
          <p:cNvSpPr txBox="1"/>
          <p:nvPr/>
        </p:nvSpPr>
        <p:spPr>
          <a:xfrm>
            <a:off x="8047038" y="4848225"/>
            <a:ext cx="2239396" cy="57137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기반 틈새 트렌드 소비인지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대중 트렌드 소비인지 판별</a:t>
            </a:r>
          </a:p>
        </p:txBody>
      </p:sp>
    </p:spTree>
    <p:extLst>
      <p:ext uri="{BB962C8B-B14F-4D97-AF65-F5344CB8AC3E}">
        <p14:creationId xmlns:p14="http://schemas.microsoft.com/office/powerpoint/2010/main" val="793674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DF4D07-CE84-4A8C-AA9F-A82699E59C34}"/>
              </a:ext>
            </a:extLst>
          </p:cNvPr>
          <p:cNvGrpSpPr/>
          <p:nvPr/>
        </p:nvGrpSpPr>
        <p:grpSpPr>
          <a:xfrm>
            <a:off x="3632199" y="805656"/>
            <a:ext cx="8021637" cy="3883989"/>
            <a:chOff x="1427163" y="1168400"/>
            <a:chExt cx="8021637" cy="3883989"/>
          </a:xfrm>
        </p:grpSpPr>
        <p:pic>
          <p:nvPicPr>
            <p:cNvPr id="25602" name="그림 3">
              <a:extLst>
                <a:ext uri="{FF2B5EF4-FFF2-40B4-BE49-F238E27FC236}">
                  <a16:creationId xmlns:a16="http://schemas.microsoft.com/office/drawing/2014/main" id="{49E84FA6-ED54-4967-926A-8B5C4BF26A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7163" y="1168400"/>
              <a:ext cx="8021637" cy="3883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03" name="그림 4">
              <a:extLst>
                <a:ext uri="{FF2B5EF4-FFF2-40B4-BE49-F238E27FC236}">
                  <a16:creationId xmlns:a16="http://schemas.microsoft.com/office/drawing/2014/main" id="{B8FD0138-8237-4EA6-A1BA-AFD502E133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1884" y="2230270"/>
              <a:ext cx="376237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E1D192E-7DCB-462F-A979-8348D9056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4" y="612943"/>
            <a:ext cx="3375025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서비스 전체 흐름 도식화</a:t>
            </a:r>
            <a:endParaRPr lang="ko-KR" altLang="en-US" sz="2000" dirty="0">
              <a:highlight>
                <a:srgbClr val="FFFF00"/>
              </a:highlight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18360D5-5DAA-48C1-B42D-3BEDE584A33C}"/>
              </a:ext>
            </a:extLst>
          </p:cNvPr>
          <p:cNvSpPr/>
          <p:nvPr/>
        </p:nvSpPr>
        <p:spPr>
          <a:xfrm>
            <a:off x="1" y="4612650"/>
            <a:ext cx="5156200" cy="22453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상권더하기의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분석 파이프라인은 세 단계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(Phase)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구성된다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입력에 맞춰  공공데이터를 검색하여 매장 맞춤 지표를 추출한다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2: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멀티에이전트가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이를 다각도로 심층 분석하여 보고서를 작성한다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3: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분석 보고서를 통합해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 도출과 상권 작명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 보고서를 제출한다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때 종합 분석 보고서는 클러스터링에 추가되며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결과는 기존 상권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참고하여 중복과 한 상권에 여러 이름을 짓는 것을 방지한다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defRPr/>
            </a:pP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출력 결과물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분석 보고서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결과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데이터베이스에 축적되어 클러스터와 상권 이름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갱신에 활용된다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그림 4">
            <a:extLst>
              <a:ext uri="{FF2B5EF4-FFF2-40B4-BE49-F238E27FC236}">
                <a16:creationId xmlns:a16="http://schemas.microsoft.com/office/drawing/2014/main" id="{736A105E-43BF-4D4F-8437-AB885F943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13" y="2660650"/>
            <a:ext cx="61595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Box 5">
            <a:extLst>
              <a:ext uri="{FF2B5EF4-FFF2-40B4-BE49-F238E27FC236}">
                <a16:creationId xmlns:a16="http://schemas.microsoft.com/office/drawing/2014/main" id="{77C8C9BD-ADEF-4F90-8B81-CE4A25B85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3443288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Phase 1.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사용자 기반 데이터 융합</a:t>
            </a:r>
          </a:p>
        </p:txBody>
      </p:sp>
      <p:pic>
        <p:nvPicPr>
          <p:cNvPr id="26628" name="그림 7">
            <a:extLst>
              <a:ext uri="{FF2B5EF4-FFF2-40B4-BE49-F238E27FC236}">
                <a16:creationId xmlns:a16="http://schemas.microsoft.com/office/drawing/2014/main" id="{1516AB22-7868-40A5-B3CB-372BC0211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763" y="639763"/>
            <a:ext cx="4310062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A609D21-8464-443A-AF89-9C6BCB2DF1C3}"/>
              </a:ext>
            </a:extLst>
          </p:cNvPr>
          <p:cNvSpPr/>
          <p:nvPr/>
        </p:nvSpPr>
        <p:spPr>
          <a:xfrm>
            <a:off x="7500938" y="1547813"/>
            <a:ext cx="4433887" cy="1114425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67402A6-3DA2-4FCB-A37D-C6E8511421E4}"/>
              </a:ext>
            </a:extLst>
          </p:cNvPr>
          <p:cNvSpPr/>
          <p:nvPr/>
        </p:nvSpPr>
        <p:spPr>
          <a:xfrm>
            <a:off x="9880600" y="1295400"/>
            <a:ext cx="2054225" cy="261938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6631" name="TextBox 12">
            <a:extLst>
              <a:ext uri="{FF2B5EF4-FFF2-40B4-BE49-F238E27FC236}">
                <a16:creationId xmlns:a16="http://schemas.microsoft.com/office/drawing/2014/main" id="{D38E23F1-3147-4887-A2CE-C76BF43E4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3276600"/>
            <a:ext cx="18891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사용자 데이터 입력</a:t>
            </a:r>
          </a:p>
        </p:txBody>
      </p:sp>
      <p:sp>
        <p:nvSpPr>
          <p:cNvPr id="26632" name="TextBox 13">
            <a:extLst>
              <a:ext uri="{FF2B5EF4-FFF2-40B4-BE49-F238E27FC236}">
                <a16:creationId xmlns:a16="http://schemas.microsoft.com/office/drawing/2014/main" id="{C6144814-7267-40CF-A32C-CF00A409F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25" y="3743325"/>
            <a:ext cx="1330325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상호명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운영 요일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오픈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마감시간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시그니쳐 상품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가게 분위기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고민 사항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주고객 연령층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성별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33" name="화살표: 오른쪽 14">
            <a:extLst>
              <a:ext uri="{FF2B5EF4-FFF2-40B4-BE49-F238E27FC236}">
                <a16:creationId xmlns:a16="http://schemas.microsoft.com/office/drawing/2014/main" id="{3904A5DB-659F-4DDE-B8C0-CE0AD8079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3743325"/>
            <a:ext cx="836612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pic>
        <p:nvPicPr>
          <p:cNvPr id="26634" name="그림 20">
            <a:extLst>
              <a:ext uri="{FF2B5EF4-FFF2-40B4-BE49-F238E27FC236}">
                <a16:creationId xmlns:a16="http://schemas.microsoft.com/office/drawing/2014/main" id="{BD83B92A-C3B5-4F6B-8559-D099CDF5E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3619500"/>
            <a:ext cx="5318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5" name="그림 22">
            <a:extLst>
              <a:ext uri="{FF2B5EF4-FFF2-40B4-BE49-F238E27FC236}">
                <a16:creationId xmlns:a16="http://schemas.microsoft.com/office/drawing/2014/main" id="{AA5E81B1-0834-40DC-B2A6-035246D20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4246563"/>
            <a:ext cx="5588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6" name="TextBox 23">
            <a:extLst>
              <a:ext uri="{FF2B5EF4-FFF2-40B4-BE49-F238E27FC236}">
                <a16:creationId xmlns:a16="http://schemas.microsoft.com/office/drawing/2014/main" id="{3F59141E-0BCF-48BF-BDD0-89C6372DD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186113"/>
            <a:ext cx="2389187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사용자 맞춤 데이터 검색</a:t>
            </a:r>
          </a:p>
        </p:txBody>
      </p:sp>
      <p:pic>
        <p:nvPicPr>
          <p:cNvPr id="26637" name="그림 24">
            <a:extLst>
              <a:ext uri="{FF2B5EF4-FFF2-40B4-BE49-F238E27FC236}">
                <a16:creationId xmlns:a16="http://schemas.microsoft.com/office/drawing/2014/main" id="{A2C1F10A-707F-4DD5-A324-732A7E2D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4754563"/>
            <a:ext cx="5588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8" name="그림 25">
            <a:extLst>
              <a:ext uri="{FF2B5EF4-FFF2-40B4-BE49-F238E27FC236}">
                <a16:creationId xmlns:a16="http://schemas.microsoft.com/office/drawing/2014/main" id="{1C0CE500-BEA7-4583-9F51-90684553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5264150"/>
            <a:ext cx="5588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9" name="TextBox 26">
            <a:extLst>
              <a:ext uri="{FF2B5EF4-FFF2-40B4-BE49-F238E27FC236}">
                <a16:creationId xmlns:a16="http://schemas.microsoft.com/office/drawing/2014/main" id="{7ECF8912-6BD3-4A9C-B5AE-20265AB4F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3783013"/>
            <a:ext cx="9842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카카오 지도 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API</a:t>
            </a:r>
          </a:p>
        </p:txBody>
      </p:sp>
      <p:sp>
        <p:nvSpPr>
          <p:cNvPr id="26640" name="TextBox 27">
            <a:extLst>
              <a:ext uri="{FF2B5EF4-FFF2-40B4-BE49-F238E27FC236}">
                <a16:creationId xmlns:a16="http://schemas.microsoft.com/office/drawing/2014/main" id="{C78C7CB9-2819-43F2-8911-120F0EBBE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4330700"/>
            <a:ext cx="185737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 유동인구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41" name="TextBox 28">
            <a:extLst>
              <a:ext uri="{FF2B5EF4-FFF2-40B4-BE49-F238E27FC236}">
                <a16:creationId xmlns:a16="http://schemas.microsoft.com/office/drawing/2014/main" id="{1D634CF8-49F6-4498-8E20-D58D02D80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4829175"/>
            <a:ext cx="206057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 점포 수 변화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42" name="TextBox 29">
            <a:extLst>
              <a:ext uri="{FF2B5EF4-FFF2-40B4-BE49-F238E27FC236}">
                <a16:creationId xmlns:a16="http://schemas.microsoft.com/office/drawing/2014/main" id="{A6BDCC6F-32E3-425B-986D-8C4EA2879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5380038"/>
            <a:ext cx="18923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 추정 매출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26643" name="그림 30">
            <a:extLst>
              <a:ext uri="{FF2B5EF4-FFF2-40B4-BE49-F238E27FC236}">
                <a16:creationId xmlns:a16="http://schemas.microsoft.com/office/drawing/2014/main" id="{17DB401D-76D4-4E21-B976-5AEB27F0D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5702300"/>
            <a:ext cx="55880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44" name="TextBox 31">
            <a:extLst>
              <a:ext uri="{FF2B5EF4-FFF2-40B4-BE49-F238E27FC236}">
                <a16:creationId xmlns:a16="http://schemas.microsoft.com/office/drawing/2014/main" id="{0CE0BE6E-E395-4438-A790-B2489E3A4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5818188"/>
            <a:ext cx="200977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서울시 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1~9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호선 역사 좌표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45" name="화살표: 오른쪽 32">
            <a:extLst>
              <a:ext uri="{FF2B5EF4-FFF2-40B4-BE49-F238E27FC236}">
                <a16:creationId xmlns:a16="http://schemas.microsoft.com/office/drawing/2014/main" id="{F80EBCF4-0A45-4325-BD2B-6794CB6BA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3743325"/>
            <a:ext cx="835025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6646" name="TextBox 37">
            <a:extLst>
              <a:ext uri="{FF2B5EF4-FFF2-40B4-BE49-F238E27FC236}">
                <a16:creationId xmlns:a16="http://schemas.microsoft.com/office/drawing/2014/main" id="{2E9DFF75-FC8F-42D3-BABC-19A174895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525" y="3276600"/>
            <a:ext cx="16668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타겟 데이터 출력</a:t>
            </a:r>
          </a:p>
        </p:txBody>
      </p:sp>
      <p:sp>
        <p:nvSpPr>
          <p:cNvPr id="26647" name="TextBox 38">
            <a:extLst>
              <a:ext uri="{FF2B5EF4-FFF2-40B4-BE49-F238E27FC236}">
                <a16:creationId xmlns:a16="http://schemas.microsoft.com/office/drawing/2014/main" id="{0522A145-7248-4888-83F4-4FE31A6A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9338" y="3854450"/>
            <a:ext cx="241300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개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폐업률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프랜차이즈 점포 수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가장 가까운 역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역까지 거리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시간대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성별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연령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최저 매출 시간대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타겟 연령대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성별 유동인구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매출 순위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457CC647-EF85-4396-87ED-5C79D7C99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1027605-10A5-45E0-B16E-461671C0B796}"/>
              </a:ext>
            </a:extLst>
          </p:cNvPr>
          <p:cNvSpPr/>
          <p:nvPr/>
        </p:nvSpPr>
        <p:spPr>
          <a:xfrm>
            <a:off x="1937015" y="427832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점주가 입력한 정보와 공공데이터를 결합하여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이후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분석에 필요한 매장 맞춤 지표를 생성하는 단계다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점주는 상호명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자치구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요일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오픈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마감 시간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시그니처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상품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분위기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고민 사항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 고객 연령층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성별을 입력한다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입력값은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단순 소개 정보가 아니라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매장의 운영 구조와 점주의 주관적 상황을 반영할 수 있도록 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입력된 위치 정보를 기준으로 카카오 지도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활용하여 매장 좌표를 특정하고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자치구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행정동에 대응하는 공공데이터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점포 수 변화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검색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매핑한다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서울시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1~9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역사 좌표 데이터를 통해 가장 가까운 역과 거리도 계산된다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단계의 최종 출력은 업종 카테고리별 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점포 수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역까지의 거리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최저 유동인구 시간대 및 성별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연령 분포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최저 매출 시간대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점주가 지정한 타겟 연령대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성별의 유동인구 및 매출 순위 등이다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지표들이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입력값이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그림 4">
            <a:extLst>
              <a:ext uri="{FF2B5EF4-FFF2-40B4-BE49-F238E27FC236}">
                <a16:creationId xmlns:a16="http://schemas.microsoft.com/office/drawing/2014/main" id="{4437B190-ECEC-47AE-8407-81080AC41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13" y="2146300"/>
            <a:ext cx="61595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extBox 5">
            <a:extLst>
              <a:ext uri="{FF2B5EF4-FFF2-40B4-BE49-F238E27FC236}">
                <a16:creationId xmlns:a16="http://schemas.microsoft.com/office/drawing/2014/main" id="{5679DFD8-3FE9-4A7E-8978-732794BF1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325755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</a:rPr>
              <a:t>Phase</a:t>
            </a: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</a:rPr>
              <a:t>2.</a:t>
            </a: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 다면적 상권 심층 분석</a:t>
            </a:r>
          </a:p>
        </p:txBody>
      </p:sp>
      <p:pic>
        <p:nvPicPr>
          <p:cNvPr id="27652" name="그림 7">
            <a:extLst>
              <a:ext uri="{FF2B5EF4-FFF2-40B4-BE49-F238E27FC236}">
                <a16:creationId xmlns:a16="http://schemas.microsoft.com/office/drawing/2014/main" id="{5ECCE73E-94B6-44DD-9B10-CA3C1647D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763" y="639763"/>
            <a:ext cx="4310062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A94DD86-023E-4297-B8AB-C38B6919CDE9}"/>
              </a:ext>
            </a:extLst>
          </p:cNvPr>
          <p:cNvSpPr/>
          <p:nvPr/>
        </p:nvSpPr>
        <p:spPr>
          <a:xfrm>
            <a:off x="7500938" y="639763"/>
            <a:ext cx="2379662" cy="917575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3A1340-724E-447A-852F-093A4DED5CDF}"/>
              </a:ext>
            </a:extLst>
          </p:cNvPr>
          <p:cNvSpPr/>
          <p:nvPr/>
        </p:nvSpPr>
        <p:spPr>
          <a:xfrm>
            <a:off x="9880600" y="1287463"/>
            <a:ext cx="2054225" cy="1430337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18439" name="TextBox 12">
            <a:extLst>
              <a:ext uri="{FF2B5EF4-FFF2-40B4-BE49-F238E27FC236}">
                <a16:creationId xmlns:a16="http://schemas.microsoft.com/office/drawing/2014/main" id="{C7E4017F-C72A-4773-82FC-EBF770F20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2762250"/>
            <a:ext cx="2617788" cy="3857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  <a:defRPr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사용자 입력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+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타겟 데이터</a:t>
            </a:r>
          </a:p>
        </p:txBody>
      </p:sp>
      <p:sp>
        <p:nvSpPr>
          <p:cNvPr id="18440" name="TextBox 13">
            <a:extLst>
              <a:ext uri="{FF2B5EF4-FFF2-40B4-BE49-F238E27FC236}">
                <a16:creationId xmlns:a16="http://schemas.microsoft.com/office/drawing/2014/main" id="{32EDEC82-1108-4839-8AE8-84482E0BE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538" y="3130550"/>
            <a:ext cx="2413000" cy="3305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상호명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운영 요일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오픈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마감시간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시그니쳐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 상품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가게 분위기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고민 사항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주고객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 연령층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성별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개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 err="1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폐업률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프랜차이즈 점포 수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가장 가까운 역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역까지 거리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시간대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성별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연령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최저 매출 시간대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타겟 연령대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성별 유동인구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매출 순위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57" name="화살표: 오른쪽 14">
            <a:extLst>
              <a:ext uri="{FF2B5EF4-FFF2-40B4-BE49-F238E27FC236}">
                <a16:creationId xmlns:a16="http://schemas.microsoft.com/office/drawing/2014/main" id="{1D76ADDF-8DE2-4E1B-B4BE-6F0CDE8B0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3743325"/>
            <a:ext cx="836612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7658" name="TextBox 23">
            <a:extLst>
              <a:ext uri="{FF2B5EF4-FFF2-40B4-BE49-F238E27FC236}">
                <a16:creationId xmlns:a16="http://schemas.microsoft.com/office/drawing/2014/main" id="{EA8D195D-C546-4F4B-996E-EF5CF35C3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2767013"/>
            <a:ext cx="38989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</a:rPr>
              <a:t>LLM </a:t>
            </a: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멀티에이전트 기반 상권 심층 분석</a:t>
            </a:r>
          </a:p>
        </p:txBody>
      </p:sp>
      <p:sp>
        <p:nvSpPr>
          <p:cNvPr id="27659" name="화살표: 오른쪽 32">
            <a:extLst>
              <a:ext uri="{FF2B5EF4-FFF2-40B4-BE49-F238E27FC236}">
                <a16:creationId xmlns:a16="http://schemas.microsoft.com/office/drawing/2014/main" id="{3B1B6D6B-AA75-4C33-9344-86096418B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988" y="3743325"/>
            <a:ext cx="835025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46FC263-66A2-4A25-B183-2C9AB3F6363D}"/>
              </a:ext>
            </a:extLst>
          </p:cNvPr>
          <p:cNvSpPr/>
          <p:nvPr/>
        </p:nvSpPr>
        <p:spPr>
          <a:xfrm>
            <a:off x="4643438" y="3635375"/>
            <a:ext cx="2033587" cy="449263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7661" name="그림 42">
            <a:extLst>
              <a:ext uri="{FF2B5EF4-FFF2-40B4-BE49-F238E27FC236}">
                <a16:creationId xmlns:a16="http://schemas.microsoft.com/office/drawing/2014/main" id="{2DF5C889-73A5-4D26-A426-62D05BF5E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3668713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7391C34-5EB4-43E9-83FF-020563D4817B}"/>
              </a:ext>
            </a:extLst>
          </p:cNvPr>
          <p:cNvSpPr/>
          <p:nvPr/>
        </p:nvSpPr>
        <p:spPr>
          <a:xfrm>
            <a:off x="4643438" y="4178300"/>
            <a:ext cx="2033587" cy="449263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7663" name="그림 44">
            <a:extLst>
              <a:ext uri="{FF2B5EF4-FFF2-40B4-BE49-F238E27FC236}">
                <a16:creationId xmlns:a16="http://schemas.microsoft.com/office/drawing/2014/main" id="{4228FD58-8331-487E-AEEA-BB4A55131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421322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4" name="TextBox 45">
            <a:extLst>
              <a:ext uri="{FF2B5EF4-FFF2-40B4-BE49-F238E27FC236}">
                <a16:creationId xmlns:a16="http://schemas.microsoft.com/office/drawing/2014/main" id="{416EDCD6-FE41-404F-9AD7-1E647F233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3" y="4275138"/>
            <a:ext cx="17129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경쟁환경 분석 에이전트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5B187A4-17BE-4AC6-99B9-80C9DC7EC62F}"/>
              </a:ext>
            </a:extLst>
          </p:cNvPr>
          <p:cNvSpPr/>
          <p:nvPr/>
        </p:nvSpPr>
        <p:spPr>
          <a:xfrm>
            <a:off x="4643438" y="4706938"/>
            <a:ext cx="2033587" cy="449262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7666" name="그림 47">
            <a:extLst>
              <a:ext uri="{FF2B5EF4-FFF2-40B4-BE49-F238E27FC236}">
                <a16:creationId xmlns:a16="http://schemas.microsoft.com/office/drawing/2014/main" id="{A5506E94-AC06-4DC8-95B7-A90BFFA38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474027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7" name="TextBox 48">
            <a:extLst>
              <a:ext uri="{FF2B5EF4-FFF2-40B4-BE49-F238E27FC236}">
                <a16:creationId xmlns:a16="http://schemas.microsoft.com/office/drawing/2014/main" id="{A2015238-124A-4533-8CB3-69BAEE7B3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3" y="4802188"/>
            <a:ext cx="17129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업종 추천 에이전트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68" name="TextBox 49">
            <a:extLst>
              <a:ext uri="{FF2B5EF4-FFF2-40B4-BE49-F238E27FC236}">
                <a16:creationId xmlns:a16="http://schemas.microsoft.com/office/drawing/2014/main" id="{50923C7B-8316-4DF3-9A66-A7C664CEB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8088" y="3730625"/>
            <a:ext cx="17129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상권활성도 분석 에이전트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69" name="TextBox 50">
            <a:extLst>
              <a:ext uri="{FF2B5EF4-FFF2-40B4-BE49-F238E27FC236}">
                <a16:creationId xmlns:a16="http://schemas.microsoft.com/office/drawing/2014/main" id="{2E1AEEF5-959B-43AC-9128-8F43D8417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5413" y="2767013"/>
            <a:ext cx="216852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상권 분석 보고서 출력</a:t>
            </a:r>
          </a:p>
        </p:txBody>
      </p:sp>
      <p:pic>
        <p:nvPicPr>
          <p:cNvPr id="27670" name="그림 2">
            <a:extLst>
              <a:ext uri="{FF2B5EF4-FFF2-40B4-BE49-F238E27FC236}">
                <a16:creationId xmlns:a16="http://schemas.microsoft.com/office/drawing/2014/main" id="{940F748A-C334-40DA-8669-DB69AD006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3" y="3560763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1" name="그림 51">
            <a:extLst>
              <a:ext uri="{FF2B5EF4-FFF2-40B4-BE49-F238E27FC236}">
                <a16:creationId xmlns:a16="http://schemas.microsoft.com/office/drawing/2014/main" id="{60461FC1-A8AF-46A6-8F7F-5C0CC624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3" y="4060825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2" name="그림 52">
            <a:extLst>
              <a:ext uri="{FF2B5EF4-FFF2-40B4-BE49-F238E27FC236}">
                <a16:creationId xmlns:a16="http://schemas.microsoft.com/office/drawing/2014/main" id="{49A42229-700A-45BF-B4A1-86B7DFC7B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3" y="4573588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3" name="TextBox 53">
            <a:extLst>
              <a:ext uri="{FF2B5EF4-FFF2-40B4-BE49-F238E27FC236}">
                <a16:creationId xmlns:a16="http://schemas.microsoft.com/office/drawing/2014/main" id="{5AA16A4D-3518-40CF-94C1-7F87EEB47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613" y="4706938"/>
            <a:ext cx="1711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업종 추천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74" name="TextBox 54">
            <a:extLst>
              <a:ext uri="{FF2B5EF4-FFF2-40B4-BE49-F238E27FC236}">
                <a16:creationId xmlns:a16="http://schemas.microsoft.com/office/drawing/2014/main" id="{4A25B7CF-3551-4F16-9F52-1B6ACBD78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613" y="4184650"/>
            <a:ext cx="17113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경쟁환경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75" name="TextBox 55">
            <a:extLst>
              <a:ext uri="{FF2B5EF4-FFF2-40B4-BE49-F238E27FC236}">
                <a16:creationId xmlns:a16="http://schemas.microsoft.com/office/drawing/2014/main" id="{73C284A6-37EF-471C-9E90-94C05DECE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613" y="3705225"/>
            <a:ext cx="17113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상권활성도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60D2FF56-6A12-4E53-9C23-B748A7A70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B062461-E7CE-44E5-8906-F917163D19B5}"/>
              </a:ext>
            </a:extLst>
          </p:cNvPr>
          <p:cNvSpPr/>
          <p:nvPr/>
        </p:nvSpPr>
        <p:spPr>
          <a:xfrm>
            <a:off x="6811962" y="3743590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생성된 사용자 입력과 타겟 데이터를 결합하여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LLM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멀티에이전트가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매장의 상황을 다각도로 심층 분석하는 단계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개의 전문 에이전트가 병렬적으로 독립 분석을 수행한다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분석 에이전트는 동일 업종 카테고리의 점포 수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비율을 바탕으로 상권 내 경쟁 구조와 시장 성장성을 평가하고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 강도를 종합 판정한다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추천 에이전트는 해당 행정동의 업종별 매출 순위와 현재 운영 업종의 포지셔닝을 비교하여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업종 유지 여부 또는 마케팅 운영 방향 대한 인사이트를 도출한다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에이전트는 유동인구 시간대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 분포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여부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시간대 패턴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점주의 타겟 고객과 실제 유동인구 간의 정합성을 평가하여 상권 활성도를 종합 진단한다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에이전트의 분석 결과는 독립된 보고서 형태로 출력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보고서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추천 보고서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보고서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세 보고서가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통합 분석 및 브랜딩의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입력값으로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전달된다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1CF2935-8047-47DB-8C5F-BC013279A21E}"/>
              </a:ext>
            </a:extLst>
          </p:cNvPr>
          <p:cNvSpPr/>
          <p:nvPr/>
        </p:nvSpPr>
        <p:spPr>
          <a:xfrm>
            <a:off x="9759950" y="4349750"/>
            <a:ext cx="2147888" cy="9302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675" name="TextBox 5">
            <a:extLst>
              <a:ext uri="{FF2B5EF4-FFF2-40B4-BE49-F238E27FC236}">
                <a16:creationId xmlns:a16="http://schemas.microsoft.com/office/drawing/2014/main" id="{F196DA19-F01A-4103-8AAD-481209385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3043238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Phase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3.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통합 분석 및 브랜딩</a:t>
            </a:r>
          </a:p>
        </p:txBody>
      </p:sp>
      <p:pic>
        <p:nvPicPr>
          <p:cNvPr id="28676" name="그림 7">
            <a:extLst>
              <a:ext uri="{FF2B5EF4-FFF2-40B4-BE49-F238E27FC236}">
                <a16:creationId xmlns:a16="http://schemas.microsoft.com/office/drawing/2014/main" id="{90F3DF9A-6FDD-4346-BF45-3E05EF15A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763" y="639763"/>
            <a:ext cx="4310062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D2D1E86-EC79-4205-813C-7AF908C04511}"/>
              </a:ext>
            </a:extLst>
          </p:cNvPr>
          <p:cNvSpPr/>
          <p:nvPr/>
        </p:nvSpPr>
        <p:spPr>
          <a:xfrm>
            <a:off x="7500938" y="639763"/>
            <a:ext cx="2379662" cy="2078037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28678" name="화살표: 오른쪽 14">
            <a:extLst>
              <a:ext uri="{FF2B5EF4-FFF2-40B4-BE49-F238E27FC236}">
                <a16:creationId xmlns:a16="http://schemas.microsoft.com/office/drawing/2014/main" id="{8509668E-D283-46C1-A893-56C78EE33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5" y="3941763"/>
            <a:ext cx="836613" cy="10112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8679" name="TextBox 23">
            <a:extLst>
              <a:ext uri="{FF2B5EF4-FFF2-40B4-BE49-F238E27FC236}">
                <a16:creationId xmlns:a16="http://schemas.microsoft.com/office/drawing/2014/main" id="{E64C1E54-7375-43B5-9067-900E06F09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7363" y="2790825"/>
            <a:ext cx="2205037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en-US" altLang="ko-KR" sz="1800">
                <a:latin typeface="Pretendard" panose="02000503000000020004" pitchFamily="50" charset="-127"/>
                <a:ea typeface="Pretendard" panose="02000503000000020004" pitchFamily="50" charset="-127"/>
              </a:rPr>
              <a:t>LLM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멀티에이전트 기반 </a:t>
            </a:r>
            <a:endParaRPr lang="en-US" altLang="ko-KR" sz="18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>
              <a:lnSpc>
                <a:spcPct val="140000"/>
              </a:lnSpc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및 종합 분석</a:t>
            </a:r>
          </a:p>
        </p:txBody>
      </p:sp>
      <p:sp>
        <p:nvSpPr>
          <p:cNvPr id="28680" name="화살표: 오른쪽 32">
            <a:extLst>
              <a:ext uri="{FF2B5EF4-FFF2-40B4-BE49-F238E27FC236}">
                <a16:creationId xmlns:a16="http://schemas.microsoft.com/office/drawing/2014/main" id="{8DB0E611-27D8-4FFC-A0C4-1D56FCC34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450" y="3941763"/>
            <a:ext cx="835025" cy="10112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B12B402-FF01-47C2-9E7B-368A004F0ACB}"/>
              </a:ext>
            </a:extLst>
          </p:cNvPr>
          <p:cNvSpPr/>
          <p:nvPr/>
        </p:nvSpPr>
        <p:spPr>
          <a:xfrm>
            <a:off x="3113088" y="4014788"/>
            <a:ext cx="2033587" cy="449262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8682" name="그림 42">
            <a:extLst>
              <a:ext uri="{FF2B5EF4-FFF2-40B4-BE49-F238E27FC236}">
                <a16:creationId xmlns:a16="http://schemas.microsoft.com/office/drawing/2014/main" id="{D46E85F5-CB30-419A-934F-BA06CF8A7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8" y="404812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F9F241B-5C85-46FD-8B4A-EB69A7464302}"/>
              </a:ext>
            </a:extLst>
          </p:cNvPr>
          <p:cNvSpPr/>
          <p:nvPr/>
        </p:nvSpPr>
        <p:spPr>
          <a:xfrm>
            <a:off x="3113088" y="4557713"/>
            <a:ext cx="2033587" cy="450850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8684" name="그림 44">
            <a:extLst>
              <a:ext uri="{FF2B5EF4-FFF2-40B4-BE49-F238E27FC236}">
                <a16:creationId xmlns:a16="http://schemas.microsoft.com/office/drawing/2014/main" id="{1258A364-0CE3-4057-BA0B-9B1A27B1C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8" y="4592638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5" name="TextBox 45">
            <a:extLst>
              <a:ext uri="{FF2B5EF4-FFF2-40B4-BE49-F238E27FC236}">
                <a16:creationId xmlns:a16="http://schemas.microsoft.com/office/drawing/2014/main" id="{067F6684-004C-4B88-B446-9B22500B9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963" y="4654550"/>
            <a:ext cx="17129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에이전트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86" name="TextBox 49">
            <a:extLst>
              <a:ext uri="{FF2B5EF4-FFF2-40B4-BE49-F238E27FC236}">
                <a16:creationId xmlns:a16="http://schemas.microsoft.com/office/drawing/2014/main" id="{1D85F373-F6AE-415A-9EA4-0351AA461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7738" y="4110038"/>
            <a:ext cx="17129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종합 분석 에이전트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87" name="TextBox 50">
            <a:extLst>
              <a:ext uri="{FF2B5EF4-FFF2-40B4-BE49-F238E27FC236}">
                <a16:creationId xmlns:a16="http://schemas.microsoft.com/office/drawing/2014/main" id="{A8C54AC0-C6D5-443F-8FAD-0AA89D017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2790825"/>
            <a:ext cx="174942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종합 보고서 및 </a:t>
            </a:r>
            <a:endParaRPr lang="en-US" altLang="ko-KR" sz="18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>
              <a:lnSpc>
                <a:spcPct val="140000"/>
              </a:lnSpc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결과 출력</a:t>
            </a:r>
          </a:p>
        </p:txBody>
      </p:sp>
      <p:pic>
        <p:nvPicPr>
          <p:cNvPr id="28688" name="그림 2">
            <a:extLst>
              <a:ext uri="{FF2B5EF4-FFF2-40B4-BE49-F238E27FC236}">
                <a16:creationId xmlns:a16="http://schemas.microsoft.com/office/drawing/2014/main" id="{A213BE9D-B049-4ED3-ACAB-2B2BABB11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5" y="3941763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9" name="그림 51">
            <a:extLst>
              <a:ext uri="{FF2B5EF4-FFF2-40B4-BE49-F238E27FC236}">
                <a16:creationId xmlns:a16="http://schemas.microsoft.com/office/drawing/2014/main" id="{D10E87C5-59B3-4E3A-AC60-D90BF6F5C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5" y="4443413"/>
            <a:ext cx="5080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0" name="TextBox 54">
            <a:extLst>
              <a:ext uri="{FF2B5EF4-FFF2-40B4-BE49-F238E27FC236}">
                <a16:creationId xmlns:a16="http://schemas.microsoft.com/office/drawing/2014/main" id="{C123DFA9-0FBD-4B85-A4E5-B62D85AD9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075" y="4565650"/>
            <a:ext cx="171291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결과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1" name="TextBox 55">
            <a:extLst>
              <a:ext uri="{FF2B5EF4-FFF2-40B4-BE49-F238E27FC236}">
                <a16:creationId xmlns:a16="http://schemas.microsoft.com/office/drawing/2014/main" id="{DAF48DAD-9389-4280-BBE9-3DD78A0D0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075" y="4087813"/>
            <a:ext cx="17129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종합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2" name="TextBox 36">
            <a:extLst>
              <a:ext uri="{FF2B5EF4-FFF2-40B4-BE49-F238E27FC236}">
                <a16:creationId xmlns:a16="http://schemas.microsoft.com/office/drawing/2014/main" id="{03D8793C-1439-4A4C-9655-20A2F1A43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" y="2798763"/>
            <a:ext cx="19478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</a:rPr>
              <a:t>상권 분석 보고서 입력</a:t>
            </a:r>
          </a:p>
        </p:txBody>
      </p:sp>
      <p:pic>
        <p:nvPicPr>
          <p:cNvPr id="28693" name="그림 37">
            <a:extLst>
              <a:ext uri="{FF2B5EF4-FFF2-40B4-BE49-F238E27FC236}">
                <a16:creationId xmlns:a16="http://schemas.microsoft.com/office/drawing/2014/main" id="{F373C60D-7037-45D2-9502-F1684B0FA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7592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4" name="그림 38">
            <a:extLst>
              <a:ext uri="{FF2B5EF4-FFF2-40B4-BE49-F238E27FC236}">
                <a16:creationId xmlns:a16="http://schemas.microsoft.com/office/drawing/2014/main" id="{BCEBB54B-EE59-4622-ACEE-530A73F6C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4259263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5" name="그림 39">
            <a:extLst>
              <a:ext uri="{FF2B5EF4-FFF2-40B4-BE49-F238E27FC236}">
                <a16:creationId xmlns:a16="http://schemas.microsoft.com/office/drawing/2014/main" id="{74143C26-5A9D-4D9D-8FC3-EAC22E57A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4772025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6" name="TextBox 40">
            <a:extLst>
              <a:ext uri="{FF2B5EF4-FFF2-40B4-BE49-F238E27FC236}">
                <a16:creationId xmlns:a16="http://schemas.microsoft.com/office/drawing/2014/main" id="{B070E48C-2001-4DDC-AC99-30CD5DD19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4905375"/>
            <a:ext cx="17113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업종 추천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7" name="TextBox 56">
            <a:extLst>
              <a:ext uri="{FF2B5EF4-FFF2-40B4-BE49-F238E27FC236}">
                <a16:creationId xmlns:a16="http://schemas.microsoft.com/office/drawing/2014/main" id="{1E2B18E8-BD88-4596-97A1-FA40F64C9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4383088"/>
            <a:ext cx="17113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경쟁환경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8" name="TextBox 57">
            <a:extLst>
              <a:ext uri="{FF2B5EF4-FFF2-40B4-BE49-F238E27FC236}">
                <a16:creationId xmlns:a16="http://schemas.microsoft.com/office/drawing/2014/main" id="{0AEA38A7-F0F4-4712-B640-6D39BD2C0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3903663"/>
            <a:ext cx="1711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상권활성도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9" name="화살표: 오른쪽 58">
            <a:extLst>
              <a:ext uri="{FF2B5EF4-FFF2-40B4-BE49-F238E27FC236}">
                <a16:creationId xmlns:a16="http://schemas.microsoft.com/office/drawing/2014/main" id="{EEEAF8BD-80FD-4EE3-899E-C4B0D3D44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2675" y="3941763"/>
            <a:ext cx="835025" cy="10112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8700" name="TextBox 59">
            <a:extLst>
              <a:ext uri="{FF2B5EF4-FFF2-40B4-BE49-F238E27FC236}">
                <a16:creationId xmlns:a16="http://schemas.microsoft.com/office/drawing/2014/main" id="{A3A02EE8-1AB4-48AA-A20E-F32290070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6413" y="2781300"/>
            <a:ext cx="2706687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종합 분석 결과 클러스터링 및 데이터베이스 갱신</a:t>
            </a:r>
            <a:endParaRPr lang="en-US" altLang="ko-KR" sz="18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28701" name="그림 60">
            <a:extLst>
              <a:ext uri="{FF2B5EF4-FFF2-40B4-BE49-F238E27FC236}">
                <a16:creationId xmlns:a16="http://schemas.microsoft.com/office/drawing/2014/main" id="{10A0DFB5-8FB8-4B02-9EA9-10900E72D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963" y="4429125"/>
            <a:ext cx="404812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02" name="그림 61">
            <a:extLst>
              <a:ext uri="{FF2B5EF4-FFF2-40B4-BE49-F238E27FC236}">
                <a16:creationId xmlns:a16="http://schemas.microsoft.com/office/drawing/2014/main" id="{80C2611C-C4A5-4735-AA63-5CA43E84C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338" y="4429125"/>
            <a:ext cx="557212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703" name="TextBox 62">
            <a:extLst>
              <a:ext uri="{FF2B5EF4-FFF2-40B4-BE49-F238E27FC236}">
                <a16:creationId xmlns:a16="http://schemas.microsoft.com/office/drawing/2014/main" id="{7A700CBA-98A2-4C13-8DD7-EFF8AF323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9950" y="4897438"/>
            <a:ext cx="11128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사용자</a:t>
            </a:r>
            <a:r>
              <a:rPr lang="en-US" altLang="ko-KR" sz="110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클러스터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704" name="TextBox 63">
            <a:extLst>
              <a:ext uri="{FF2B5EF4-FFF2-40B4-BE49-F238E27FC236}">
                <a16:creationId xmlns:a16="http://schemas.microsoft.com/office/drawing/2014/main" id="{FD3413CE-DFA1-46E4-A573-B6ABE87F9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4525" y="4899025"/>
            <a:ext cx="11128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</a:t>
            </a:r>
            <a:r>
              <a:rPr lang="en-US" altLang="ko-KR" sz="1100">
                <a:latin typeface="Pretendard" panose="02000503000000020004" pitchFamily="50" charset="-127"/>
                <a:ea typeface="Pretendard" panose="02000503000000020004" pitchFamily="50" charset="-127"/>
              </a:rPr>
              <a:t>DB</a:t>
            </a:r>
          </a:p>
        </p:txBody>
      </p:sp>
      <p:pic>
        <p:nvPicPr>
          <p:cNvPr id="28705" name="그림 3">
            <a:extLst>
              <a:ext uri="{FF2B5EF4-FFF2-40B4-BE49-F238E27FC236}">
                <a16:creationId xmlns:a16="http://schemas.microsoft.com/office/drawing/2014/main" id="{A7D15E92-EDBD-4190-BDF1-07F0A5A44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663" y="3697288"/>
            <a:ext cx="574675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5">
            <a:extLst>
              <a:ext uri="{FF2B5EF4-FFF2-40B4-BE49-F238E27FC236}">
                <a16:creationId xmlns:a16="http://schemas.microsoft.com/office/drawing/2014/main" id="{7B6D9442-0012-4F59-9806-C001E7DA0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3290479-EAEF-452F-96F6-094D298173F1}"/>
              </a:ext>
            </a:extLst>
          </p:cNvPr>
          <p:cNvSpPr/>
          <p:nvPr/>
        </p:nvSpPr>
        <p:spPr>
          <a:xfrm>
            <a:off x="6256337" y="266701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출력된 세 개의 보고서를 입력으로 받아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 판정과 상권 작명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그리고 클러스터 배정까지 완결하는 단계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분석 에이전트는 경쟁환경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업종추천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보고서를 종합하여 매장의 운영 특성을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네 축으로 판별하고 최종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유형을 확정한다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유형에 따른 핵심 인사이트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 실행 전략이 종합 보고서로 출력된다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때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MBTI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 알파벳과 함께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0-100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사이의 수치로 도출할 수 있도록 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에이전트는 분석된 상권의 핵심 특성인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 패턴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고객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 구조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지역 정체성을 반영하여 해당 상권을 대표하는 이름 후보를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생성하고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상권 작명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있는 결과와 종합하여 그중 하나를 채택한다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작명 결과는 점주 간 공유 자산으로 상권 브랜딩에 활용된다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분석 결과는 데이터베이스에 저장되어 두 가지 방향으로 활용된다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첫째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동일하거나 유사한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유형의 매장들을 자동으로 클러스터로 묶어 사용자 클러스터를 구성한다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둘째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결과가 누적되어 상권 작명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형성하고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이후 신규 매장의 분석 정확도와 작명 품질을 지속적으로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고도화하는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피드백 루프로 작동한다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6" name="그림 7">
            <a:extLst>
              <a:ext uri="{FF2B5EF4-FFF2-40B4-BE49-F238E27FC236}">
                <a16:creationId xmlns:a16="http://schemas.microsoft.com/office/drawing/2014/main" id="{5311E4D6-B196-4188-B980-2F26E87E1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0"/>
          <a:stretch>
            <a:fillRect/>
          </a:stretch>
        </p:blipFill>
        <p:spPr bwMode="auto">
          <a:xfrm>
            <a:off x="2815941" y="1926964"/>
            <a:ext cx="1821411" cy="3620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그림 10">
            <a:extLst>
              <a:ext uri="{FF2B5EF4-FFF2-40B4-BE49-F238E27FC236}">
                <a16:creationId xmlns:a16="http://schemas.microsoft.com/office/drawing/2014/main" id="{CD58CA02-2B89-40CB-840B-0BA89D924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2660386" y="1866639"/>
            <a:ext cx="2145772" cy="3809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그림 8">
            <a:extLst>
              <a:ext uri="{FF2B5EF4-FFF2-40B4-BE49-F238E27FC236}">
                <a16:creationId xmlns:a16="http://schemas.microsoft.com/office/drawing/2014/main" id="{19758574-90E0-436F-B554-D93EC8F0C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2"/>
          <a:stretch>
            <a:fillRect/>
          </a:stretch>
        </p:blipFill>
        <p:spPr bwMode="auto">
          <a:xfrm>
            <a:off x="5091114" y="1934732"/>
            <a:ext cx="1819296" cy="361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그림 9">
            <a:extLst>
              <a:ext uri="{FF2B5EF4-FFF2-40B4-BE49-F238E27FC236}">
                <a16:creationId xmlns:a16="http://schemas.microsoft.com/office/drawing/2014/main" id="{FC3DF6F3-3F22-4094-BE41-484FDCE18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4937125" y="1845833"/>
            <a:ext cx="2145772" cy="380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3CEE416D-2E21-4712-AECC-E0A1E07AC2AF}"/>
              </a:ext>
            </a:extLst>
          </p:cNvPr>
          <p:cNvSpPr/>
          <p:nvPr/>
        </p:nvSpPr>
        <p:spPr>
          <a:xfrm>
            <a:off x="1557338" y="1201738"/>
            <a:ext cx="8229600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서비스 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UI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및 기능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소개</a:t>
            </a:r>
            <a:endParaRPr lang="en-US" sz="16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2531" name="Shape 1">
            <a:extLst>
              <a:ext uri="{FF2B5EF4-FFF2-40B4-BE49-F238E27FC236}">
                <a16:creationId xmlns:a16="http://schemas.microsoft.com/office/drawing/2014/main" id="{8259D027-D9B6-4976-A8A0-7BE8CDC0F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704975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A07B685-7F27-4EC8-878D-5F4537AF29EC}"/>
              </a:ext>
            </a:extLst>
          </p:cNvPr>
          <p:cNvSpPr/>
          <p:nvPr/>
        </p:nvSpPr>
        <p:spPr>
          <a:xfrm>
            <a:off x="8286750" y="3327930"/>
            <a:ext cx="2560638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1.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사용자 정보 입력 화면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C788C5F-3962-48A4-8B96-2C3D3EF3DF5A}"/>
              </a:ext>
            </a:extLst>
          </p:cNvPr>
          <p:cNvSpPr/>
          <p:nvPr/>
        </p:nvSpPr>
        <p:spPr>
          <a:xfrm>
            <a:off x="8286750" y="3620030"/>
            <a:ext cx="2560638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가게 기본 정보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가게 분위기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점주의 고민 사항 등 입력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6BA219F-A6B7-4668-B7CF-23263855623F}"/>
              </a:ext>
            </a:extLst>
          </p:cNvPr>
          <p:cNvSpPr/>
          <p:nvPr/>
        </p:nvSpPr>
        <p:spPr>
          <a:xfrm>
            <a:off x="160337" y="5636230"/>
            <a:ext cx="5935663" cy="11402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기능 소개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b="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로그인 화면이 없어도 될까요</a:t>
            </a:r>
            <a:r>
              <a:rPr lang="en-US" altLang="ko-KR" sz="1200" b="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3">
            <a:extLst>
              <a:ext uri="{FF2B5EF4-FFF2-40B4-BE49-F238E27FC236}">
                <a16:creationId xmlns:a16="http://schemas.microsoft.com/office/drawing/2014/main" id="{43ABF7D0-9789-4CFA-BD65-DEB8AE427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022" y="1906326"/>
            <a:ext cx="1666715" cy="3620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D113E34-1D21-4BD9-AEFF-15340BC8D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6010010" y="1841238"/>
            <a:ext cx="2145771" cy="3809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그림 11">
            <a:extLst>
              <a:ext uri="{FF2B5EF4-FFF2-40B4-BE49-F238E27FC236}">
                <a16:creationId xmlns:a16="http://schemas.microsoft.com/office/drawing/2014/main" id="{CC371BE1-D17E-4AE3-AD8E-8B730B392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4385" y="1915415"/>
            <a:ext cx="1666716" cy="3620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9">
            <a:extLst>
              <a:ext uri="{FF2B5EF4-FFF2-40B4-BE49-F238E27FC236}">
                <a16:creationId xmlns:a16="http://schemas.microsoft.com/office/drawing/2014/main" id="{FD5085C4-E782-4422-857C-FBF3FE719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26" b="66"/>
          <a:stretch>
            <a:fillRect/>
          </a:stretch>
        </p:blipFill>
        <p:spPr bwMode="auto">
          <a:xfrm>
            <a:off x="1684730" y="1940815"/>
            <a:ext cx="1656736" cy="3620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그림 10">
            <a:extLst>
              <a:ext uri="{FF2B5EF4-FFF2-40B4-BE49-F238E27FC236}">
                <a16:creationId xmlns:a16="http://schemas.microsoft.com/office/drawing/2014/main" id="{CD58CA02-2B89-40CB-840B-0BA89D924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1458118" y="1866639"/>
            <a:ext cx="2145772" cy="3809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그림 9">
            <a:extLst>
              <a:ext uri="{FF2B5EF4-FFF2-40B4-BE49-F238E27FC236}">
                <a16:creationId xmlns:a16="http://schemas.microsoft.com/office/drawing/2014/main" id="{FC3DF6F3-3F22-4094-BE41-484FDCE18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3734857" y="1845833"/>
            <a:ext cx="2145772" cy="380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3CEE416D-2E21-4712-AECC-E0A1E07AC2AF}"/>
              </a:ext>
            </a:extLst>
          </p:cNvPr>
          <p:cNvSpPr/>
          <p:nvPr/>
        </p:nvSpPr>
        <p:spPr>
          <a:xfrm>
            <a:off x="1557338" y="1201738"/>
            <a:ext cx="8229600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서비스 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UI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및 기능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소개</a:t>
            </a:r>
            <a:endParaRPr lang="en-US" sz="16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2531" name="Shape 1">
            <a:extLst>
              <a:ext uri="{FF2B5EF4-FFF2-40B4-BE49-F238E27FC236}">
                <a16:creationId xmlns:a16="http://schemas.microsoft.com/office/drawing/2014/main" id="{8259D027-D9B6-4976-A8A0-7BE8CDC0F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704975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A07B685-7F27-4EC8-878D-5F4537AF29EC}"/>
              </a:ext>
            </a:extLst>
          </p:cNvPr>
          <p:cNvSpPr/>
          <p:nvPr/>
        </p:nvSpPr>
        <p:spPr>
          <a:xfrm>
            <a:off x="8286750" y="3327930"/>
            <a:ext cx="2560638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2.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사용자 상점 분석 결과 화면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C788C5F-3962-48A4-8B96-2C3D3EF3DF5A}"/>
              </a:ext>
            </a:extLst>
          </p:cNvPr>
          <p:cNvSpPr/>
          <p:nvPr/>
        </p:nvSpPr>
        <p:spPr>
          <a:xfrm>
            <a:off x="8286750" y="3620030"/>
            <a:ext cx="2560638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사용자 입력 상점의 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MBTI,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인사이트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가게 상태 등 종합 </a:t>
            </a:r>
            <a:endParaRPr lang="en-US" altLang="ko-KR" sz="800" dirty="0">
              <a:solidFill>
                <a:srgbClr val="6B728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보고서 출력 화면</a:t>
            </a:r>
            <a:endParaRPr lang="en-US" altLang="ko-KR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0E56C4A-BD2F-4B64-ACC4-748468F103FD}"/>
              </a:ext>
            </a:extLst>
          </p:cNvPr>
          <p:cNvSpPr/>
          <p:nvPr/>
        </p:nvSpPr>
        <p:spPr>
          <a:xfrm>
            <a:off x="160337" y="5636230"/>
            <a:ext cx="5935663" cy="11402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기능 소개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5427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13">
            <a:extLst>
              <a:ext uri="{FF2B5EF4-FFF2-40B4-BE49-F238E27FC236}">
                <a16:creationId xmlns:a16="http://schemas.microsoft.com/office/drawing/2014/main" id="{B58CCB67-5206-4FBB-A700-3AE7025CA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707" y="1851325"/>
            <a:ext cx="1687210" cy="3673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그림 14">
            <a:extLst>
              <a:ext uri="{FF2B5EF4-FFF2-40B4-BE49-F238E27FC236}">
                <a16:creationId xmlns:a16="http://schemas.microsoft.com/office/drawing/2014/main" id="{EC19A73F-2B29-4D2C-8A0D-658E0F967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3422426" y="1792085"/>
            <a:ext cx="2145772" cy="3803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그림 9">
            <a:extLst>
              <a:ext uri="{FF2B5EF4-FFF2-40B4-BE49-F238E27FC236}">
                <a16:creationId xmlns:a16="http://schemas.microsoft.com/office/drawing/2014/main" id="{4D77B887-E711-4C6B-94ED-88950D67B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388" y="1860415"/>
            <a:ext cx="1684717" cy="3666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그림 10">
            <a:extLst>
              <a:ext uri="{FF2B5EF4-FFF2-40B4-BE49-F238E27FC236}">
                <a16:creationId xmlns:a16="http://schemas.microsoft.com/office/drawing/2014/main" id="{6EA26073-6246-4CF7-918D-70CA41F5E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1368200" y="1792085"/>
            <a:ext cx="2143279" cy="3803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그림 11">
            <a:extLst>
              <a:ext uri="{FF2B5EF4-FFF2-40B4-BE49-F238E27FC236}">
                <a16:creationId xmlns:a16="http://schemas.microsoft.com/office/drawing/2014/main" id="{8F8B062C-9877-438F-99B9-D6F995514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3"/>
          <a:stretch>
            <a:fillRect/>
          </a:stretch>
        </p:blipFill>
        <p:spPr bwMode="auto">
          <a:xfrm>
            <a:off x="5732070" y="1870555"/>
            <a:ext cx="1727085" cy="36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그림 12">
            <a:extLst>
              <a:ext uri="{FF2B5EF4-FFF2-40B4-BE49-F238E27FC236}">
                <a16:creationId xmlns:a16="http://schemas.microsoft.com/office/drawing/2014/main" id="{39C25877-05A3-42EF-877E-A4D329D85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5524444" y="1796849"/>
            <a:ext cx="2145772" cy="3803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3CEE416D-2E21-4712-AECC-E0A1E07AC2AF}"/>
              </a:ext>
            </a:extLst>
          </p:cNvPr>
          <p:cNvSpPr/>
          <p:nvPr/>
        </p:nvSpPr>
        <p:spPr>
          <a:xfrm>
            <a:off x="1557338" y="1201738"/>
            <a:ext cx="8229600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서비스 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UI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및 기능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소개</a:t>
            </a:r>
            <a:endParaRPr lang="en-US" sz="16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2531" name="Shape 1">
            <a:extLst>
              <a:ext uri="{FF2B5EF4-FFF2-40B4-BE49-F238E27FC236}">
                <a16:creationId xmlns:a16="http://schemas.microsoft.com/office/drawing/2014/main" id="{8259D027-D9B6-4976-A8A0-7BE8CDC0F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704975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A07B685-7F27-4EC8-878D-5F4537AF29EC}"/>
              </a:ext>
            </a:extLst>
          </p:cNvPr>
          <p:cNvSpPr/>
          <p:nvPr/>
        </p:nvSpPr>
        <p:spPr>
          <a:xfrm>
            <a:off x="8286750" y="3327930"/>
            <a:ext cx="2560638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3.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지역 상권 분석 화면 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C788C5F-3962-48A4-8B96-2C3D3EF3DF5A}"/>
              </a:ext>
            </a:extLst>
          </p:cNvPr>
          <p:cNvSpPr/>
          <p:nvPr/>
        </p:nvSpPr>
        <p:spPr>
          <a:xfrm>
            <a:off x="7775046" y="3704247"/>
            <a:ext cx="4023783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내 유사 유형 매장 군집화 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·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지도</a:t>
            </a:r>
          </a:p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내 공통 문제 도출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·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함께 실행하는 협업 솔루션을 통해 참여를 통해 상권 브랜딩 방법 논의 및 강화</a:t>
            </a:r>
            <a:endParaRPr lang="en-US" altLang="ko-KR" sz="800" dirty="0">
              <a:solidFill>
                <a:srgbClr val="6B728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0E56C4A-BD2F-4B64-ACC4-748468F103FD}"/>
              </a:ext>
            </a:extLst>
          </p:cNvPr>
          <p:cNvSpPr/>
          <p:nvPr/>
        </p:nvSpPr>
        <p:spPr>
          <a:xfrm>
            <a:off x="160337" y="5636230"/>
            <a:ext cx="5935663" cy="11402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기능 소개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2446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1">
            <a:extLst>
              <a:ext uri="{FF2B5EF4-FFF2-40B4-BE49-F238E27FC236}">
                <a16:creationId xmlns:a16="http://schemas.microsoft.com/office/drawing/2014/main" id="{8F8B062C-9877-438F-99B9-D6F995514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3"/>
          <a:stretch>
            <a:fillRect/>
          </a:stretch>
        </p:blipFill>
        <p:spPr bwMode="auto">
          <a:xfrm>
            <a:off x="3708536" y="1819753"/>
            <a:ext cx="1727085" cy="36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그림 12">
            <a:extLst>
              <a:ext uri="{FF2B5EF4-FFF2-40B4-BE49-F238E27FC236}">
                <a16:creationId xmlns:a16="http://schemas.microsoft.com/office/drawing/2014/main" id="{39C25877-05A3-42EF-877E-A4D329D85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3500910" y="1746047"/>
            <a:ext cx="2145772" cy="3803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3CEE416D-2E21-4712-AECC-E0A1E07AC2AF}"/>
              </a:ext>
            </a:extLst>
          </p:cNvPr>
          <p:cNvSpPr/>
          <p:nvPr/>
        </p:nvSpPr>
        <p:spPr>
          <a:xfrm>
            <a:off x="1557338" y="1201738"/>
            <a:ext cx="8229600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서비스 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UI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및 기능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소개</a:t>
            </a:r>
            <a:endParaRPr lang="en-US" sz="16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2531" name="Shape 1">
            <a:extLst>
              <a:ext uri="{FF2B5EF4-FFF2-40B4-BE49-F238E27FC236}">
                <a16:creationId xmlns:a16="http://schemas.microsoft.com/office/drawing/2014/main" id="{8259D027-D9B6-4976-A8A0-7BE8CDC0F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704975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A07B685-7F27-4EC8-878D-5F4537AF29EC}"/>
              </a:ext>
            </a:extLst>
          </p:cNvPr>
          <p:cNvSpPr/>
          <p:nvPr/>
        </p:nvSpPr>
        <p:spPr>
          <a:xfrm>
            <a:off x="8286750" y="3327930"/>
            <a:ext cx="2560638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4.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부가서비스</a:t>
            </a:r>
            <a:r>
              <a:rPr lang="en-US" altLang="ko-KR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: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솔루션 마켓 화면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C788C5F-3962-48A4-8B96-2C3D3EF3DF5A}"/>
              </a:ext>
            </a:extLst>
          </p:cNvPr>
          <p:cNvSpPr/>
          <p:nvPr/>
        </p:nvSpPr>
        <p:spPr>
          <a:xfrm>
            <a:off x="8286750" y="3620030"/>
            <a:ext cx="2560638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고민 유형별 맞춤 솔루션 추천하여 컨설팅 지원 및 업체 연결</a:t>
            </a:r>
            <a:endParaRPr lang="en-US" altLang="ko-KR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0E56C4A-BD2F-4B64-ACC4-748468F103FD}"/>
              </a:ext>
            </a:extLst>
          </p:cNvPr>
          <p:cNvSpPr/>
          <p:nvPr/>
        </p:nvSpPr>
        <p:spPr>
          <a:xfrm>
            <a:off x="160337" y="5636230"/>
            <a:ext cx="5935663" cy="11402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기능 소개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0816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7">
            <a:extLst>
              <a:ext uri="{FF2B5EF4-FFF2-40B4-BE49-F238E27FC236}">
                <a16:creationId xmlns:a16="http://schemas.microsoft.com/office/drawing/2014/main" id="{3A12FCC8-3EBB-4141-A97E-F67451D19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9194" y="2049463"/>
            <a:ext cx="1180306" cy="347662"/>
          </a:xfrm>
          <a:prstGeom prst="roundRect">
            <a:avLst>
              <a:gd name="adj" fmla="val 15787"/>
            </a:avLst>
          </a:prstGeom>
          <a:solidFill>
            <a:srgbClr val="1118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C531F41E-E7FC-4470-BC50-254A677D7536}"/>
              </a:ext>
            </a:extLst>
          </p:cNvPr>
          <p:cNvSpPr/>
          <p:nvPr/>
        </p:nvSpPr>
        <p:spPr>
          <a:xfrm>
            <a:off x="1657350" y="1409700"/>
            <a:ext cx="8229600" cy="5032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서비스 시나리오</a:t>
            </a:r>
            <a:endParaRPr lang="en-US" sz="16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83" name="Shape 1">
            <a:extLst>
              <a:ext uri="{FF2B5EF4-FFF2-40B4-BE49-F238E27FC236}">
                <a16:creationId xmlns:a16="http://schemas.microsoft.com/office/drawing/2014/main" id="{C7565F02-1B3C-4DD9-8A0E-DA581BDFB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275" y="2049463"/>
            <a:ext cx="2697163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endParaRPr lang="ko-KR" altLang="en-US" dirty="0">
              <a:latin typeface="Pretendard" panose="02000503000000020004" pitchFamily="50" charset="-127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1555B1A5-A667-4FC8-B0D2-A5BC44797DFB}"/>
              </a:ext>
            </a:extLst>
          </p:cNvPr>
          <p:cNvSpPr/>
          <p:nvPr/>
        </p:nvSpPr>
        <p:spPr>
          <a:xfrm>
            <a:off x="1565275" y="2049463"/>
            <a:ext cx="2697163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점주 입력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8EE90A3-657E-4AEA-A748-924C259675A6}"/>
              </a:ext>
            </a:extLst>
          </p:cNvPr>
          <p:cNvSpPr/>
          <p:nvPr/>
        </p:nvSpPr>
        <p:spPr>
          <a:xfrm>
            <a:off x="4281488" y="2068513"/>
            <a:ext cx="136525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89" name="Shape 7">
            <a:extLst>
              <a:ext uri="{FF2B5EF4-FFF2-40B4-BE49-F238E27FC236}">
                <a16:creationId xmlns:a16="http://schemas.microsoft.com/office/drawing/2014/main" id="{526FBB6D-B89B-4F77-BD21-42FCEF657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063" y="2049463"/>
            <a:ext cx="4120197" cy="347662"/>
          </a:xfrm>
          <a:prstGeom prst="roundRect">
            <a:avLst>
              <a:gd name="adj" fmla="val 15787"/>
            </a:avLst>
          </a:prstGeom>
          <a:solidFill>
            <a:srgbClr val="1118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3DCC239-2CF5-47DE-BA2B-4627823FAFB4}"/>
              </a:ext>
            </a:extLst>
          </p:cNvPr>
          <p:cNvSpPr/>
          <p:nvPr/>
        </p:nvSpPr>
        <p:spPr>
          <a:xfrm>
            <a:off x="4437063" y="2049463"/>
            <a:ext cx="4120197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분석 결과 확인 </a:t>
            </a:r>
            <a:r>
              <a:rPr lang="en-US" altLang="ko-KR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(</a:t>
            </a: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나의 상권은 따로 둘까 </a:t>
            </a:r>
            <a:r>
              <a:rPr lang="ko-KR" altLang="en-US" dirty="0" err="1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생각중</a:t>
            </a:r>
            <a:r>
              <a:rPr lang="en-US" altLang="ko-KR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)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0124E593-E3D1-4EC8-8D0F-5056A29DD5B8}"/>
              </a:ext>
            </a:extLst>
          </p:cNvPr>
          <p:cNvSpPr/>
          <p:nvPr/>
        </p:nvSpPr>
        <p:spPr>
          <a:xfrm>
            <a:off x="7151688" y="2068513"/>
            <a:ext cx="138112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pic>
        <p:nvPicPr>
          <p:cNvPr id="20500" name="그림 25">
            <a:extLst>
              <a:ext uri="{FF2B5EF4-FFF2-40B4-BE49-F238E27FC236}">
                <a16:creationId xmlns:a16="http://schemas.microsoft.com/office/drawing/2014/main" id="{B566FDE2-0B51-4B14-A0C2-1FD3B7C00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763" y="2868613"/>
            <a:ext cx="1058862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1" name="그림 26">
            <a:extLst>
              <a:ext uri="{FF2B5EF4-FFF2-40B4-BE49-F238E27FC236}">
                <a16:creationId xmlns:a16="http://schemas.microsoft.com/office/drawing/2014/main" id="{BACE64B6-267C-481B-A55D-352BE6389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0"/>
          <a:stretch>
            <a:fillRect/>
          </a:stretch>
        </p:blipFill>
        <p:spPr bwMode="auto">
          <a:xfrm>
            <a:off x="1627188" y="2868613"/>
            <a:ext cx="1158875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2" name="그림 27">
            <a:extLst>
              <a:ext uri="{FF2B5EF4-FFF2-40B4-BE49-F238E27FC236}">
                <a16:creationId xmlns:a16="http://schemas.microsoft.com/office/drawing/2014/main" id="{B358F943-DCDB-4AA8-A206-84DEAB6D4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26" b="66"/>
          <a:stretch>
            <a:fillRect/>
          </a:stretch>
        </p:blipFill>
        <p:spPr bwMode="auto">
          <a:xfrm>
            <a:off x="4538663" y="2868613"/>
            <a:ext cx="1052512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3" name="그림 28">
            <a:extLst>
              <a:ext uri="{FF2B5EF4-FFF2-40B4-BE49-F238E27FC236}">
                <a16:creationId xmlns:a16="http://schemas.microsoft.com/office/drawing/2014/main" id="{73D6C23B-A86E-4DFC-899D-15D42D389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4383088" y="2808288"/>
            <a:ext cx="1365250" cy="24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4" name="그림 29">
            <a:extLst>
              <a:ext uri="{FF2B5EF4-FFF2-40B4-BE49-F238E27FC236}">
                <a16:creationId xmlns:a16="http://schemas.microsoft.com/office/drawing/2014/main" id="{A52ED0C3-89F2-47BA-8A3E-8AA6D50AE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2"/>
          <a:stretch>
            <a:fillRect/>
          </a:stretch>
        </p:blipFill>
        <p:spPr bwMode="auto">
          <a:xfrm>
            <a:off x="3071813" y="2868613"/>
            <a:ext cx="1158875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5" name="그림 30">
            <a:extLst>
              <a:ext uri="{FF2B5EF4-FFF2-40B4-BE49-F238E27FC236}">
                <a16:creationId xmlns:a16="http://schemas.microsoft.com/office/drawing/2014/main" id="{ED7FCBA1-7B40-4DC8-B449-8297C6FDA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2968625" y="2779713"/>
            <a:ext cx="136525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6" name="그림 31">
            <a:extLst>
              <a:ext uri="{FF2B5EF4-FFF2-40B4-BE49-F238E27FC236}">
                <a16:creationId xmlns:a16="http://schemas.microsoft.com/office/drawing/2014/main" id="{55A54455-D9DB-41C6-B054-888509F31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1530350" y="2808288"/>
            <a:ext cx="1365250" cy="24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7" name="그림 32">
            <a:extLst>
              <a:ext uri="{FF2B5EF4-FFF2-40B4-BE49-F238E27FC236}">
                <a16:creationId xmlns:a16="http://schemas.microsoft.com/office/drawing/2014/main" id="{6134B22A-B42C-4B33-93C2-E22D07DAD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5821363" y="2803525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8" name="그림 33">
            <a:extLst>
              <a:ext uri="{FF2B5EF4-FFF2-40B4-BE49-F238E27FC236}">
                <a16:creationId xmlns:a16="http://schemas.microsoft.com/office/drawing/2014/main" id="{FD6EAB90-F99A-4272-B6DF-8CC9F6EC5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913" y="2862263"/>
            <a:ext cx="107315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9" name="그림 34">
            <a:extLst>
              <a:ext uri="{FF2B5EF4-FFF2-40B4-BE49-F238E27FC236}">
                <a16:creationId xmlns:a16="http://schemas.microsoft.com/office/drawing/2014/main" id="{02C650E6-17F4-4BCE-B951-550AED2D5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7273925" y="2809875"/>
            <a:ext cx="136525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0" name="그림 35">
            <a:extLst>
              <a:ext uri="{FF2B5EF4-FFF2-40B4-BE49-F238E27FC236}">
                <a16:creationId xmlns:a16="http://schemas.microsoft.com/office/drawing/2014/main" id="{3F72AA65-04F9-4F20-BACE-2F62A19ED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3"/>
          <a:stretch>
            <a:fillRect/>
          </a:stretch>
        </p:blipFill>
        <p:spPr bwMode="auto">
          <a:xfrm>
            <a:off x="8824913" y="2862263"/>
            <a:ext cx="1100137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1" name="그림 36">
            <a:extLst>
              <a:ext uri="{FF2B5EF4-FFF2-40B4-BE49-F238E27FC236}">
                <a16:creationId xmlns:a16="http://schemas.microsoft.com/office/drawing/2014/main" id="{22772DE2-EAF7-4DD1-A532-670D22681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8682038" y="2803525"/>
            <a:ext cx="1366837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30F7DF6-7F47-4FA5-B0D0-60D8AA8E9D89}"/>
              </a:ext>
            </a:extLst>
          </p:cNvPr>
          <p:cNvSpPr/>
          <p:nvPr/>
        </p:nvSpPr>
        <p:spPr>
          <a:xfrm>
            <a:off x="2853531" y="5415492"/>
            <a:ext cx="6256602" cy="653521"/>
          </a:xfrm>
          <a:prstGeom prst="roundRect">
            <a:avLst>
              <a:gd name="adj" fmla="val 4656"/>
            </a:avLst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시나리오가 </a:t>
            </a:r>
            <a:r>
              <a:rPr lang="en-US" altLang="ko-KR" sz="900" dirty="0">
                <a:latin typeface="+mn-ea"/>
                <a:ea typeface="+mn-ea"/>
              </a:rPr>
              <a:t>UI </a:t>
            </a:r>
            <a:r>
              <a:rPr lang="ko-KR" altLang="en-US" sz="900" dirty="0">
                <a:latin typeface="+mn-ea"/>
                <a:ea typeface="+mn-ea"/>
              </a:rPr>
              <a:t>뒤에 오는게 </a:t>
            </a:r>
            <a:r>
              <a:rPr lang="ko-KR" altLang="en-US" sz="900" dirty="0" err="1">
                <a:latin typeface="+mn-ea"/>
                <a:ea typeface="+mn-ea"/>
              </a:rPr>
              <a:t>맞을것</a:t>
            </a:r>
            <a:r>
              <a:rPr lang="ko-KR" altLang="en-US" sz="900" dirty="0">
                <a:latin typeface="+mn-ea"/>
                <a:ea typeface="+mn-ea"/>
              </a:rPr>
              <a:t> 같아서 여기에 배치했습니다</a:t>
            </a:r>
            <a:r>
              <a:rPr lang="en-US" altLang="ko-KR" sz="900" dirty="0">
                <a:latin typeface="+mn-ea"/>
                <a:ea typeface="+mn-ea"/>
              </a:rPr>
              <a:t>!)</a:t>
            </a:r>
          </a:p>
        </p:txBody>
      </p:sp>
      <p:pic>
        <p:nvPicPr>
          <p:cNvPr id="33" name="그림 2">
            <a:extLst>
              <a:ext uri="{FF2B5EF4-FFF2-40B4-BE49-F238E27FC236}">
                <a16:creationId xmlns:a16="http://schemas.microsoft.com/office/drawing/2014/main" id="{17280268-7C55-4563-912E-5128B5CA7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025" y="1665288"/>
            <a:ext cx="1258888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말풍선: 모서리가 둥근 사각형 33">
            <a:extLst>
              <a:ext uri="{FF2B5EF4-FFF2-40B4-BE49-F238E27FC236}">
                <a16:creationId xmlns:a16="http://schemas.microsoft.com/office/drawing/2014/main" id="{10BD2ED6-F4C2-4A7F-B7E5-316B1B3838DD}"/>
              </a:ext>
            </a:extLst>
          </p:cNvPr>
          <p:cNvSpPr/>
          <p:nvPr/>
        </p:nvSpPr>
        <p:spPr>
          <a:xfrm>
            <a:off x="650875" y="723900"/>
            <a:ext cx="1979613" cy="785813"/>
          </a:xfrm>
          <a:prstGeom prst="wedgeRoundRectCallout">
            <a:avLst>
              <a:gd name="adj1" fmla="val -43186"/>
              <a:gd name="adj2" fmla="val 72250"/>
              <a:gd name="adj3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요즘 제 점포가 </a:t>
            </a:r>
            <a:r>
              <a:rPr lang="ko-KR" altLang="en-US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속해있는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endParaRPr lang="en-US" altLang="ko-KR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상권의 분위기가 궁금해요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lang="ko-KR" altLang="en-US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5687B553-39EA-4D11-9532-F6D40349CBDD}"/>
              </a:ext>
            </a:extLst>
          </p:cNvPr>
          <p:cNvSpPr/>
          <p:nvPr/>
        </p:nvSpPr>
        <p:spPr>
          <a:xfrm>
            <a:off x="8746172" y="2049463"/>
            <a:ext cx="1257618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ko-KR" altLang="en-US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부가서비스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0B5F2C69-8294-4E18-B163-09C41907BC66}"/>
              </a:ext>
            </a:extLst>
          </p:cNvPr>
          <p:cNvSpPr/>
          <p:nvPr/>
        </p:nvSpPr>
        <p:spPr>
          <a:xfrm>
            <a:off x="8594250" y="2068513"/>
            <a:ext cx="136525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2">
            <a:extLst>
              <a:ext uri="{FF2B5EF4-FFF2-40B4-BE49-F238E27FC236}">
                <a16:creationId xmlns:a16="http://schemas.microsoft.com/office/drawing/2014/main" id="{F055483A-5290-470D-8F89-E36D6961D5F1}"/>
              </a:ext>
            </a:extLst>
          </p:cNvPr>
          <p:cNvSpPr/>
          <p:nvPr/>
        </p:nvSpPr>
        <p:spPr>
          <a:xfrm>
            <a:off x="6387092" y="1365842"/>
            <a:ext cx="1234440" cy="347472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75" name="Text 3">
            <a:extLst>
              <a:ext uri="{FF2B5EF4-FFF2-40B4-BE49-F238E27FC236}">
                <a16:creationId xmlns:a16="http://schemas.microsoft.com/office/drawing/2014/main" id="{E26284EB-DAF8-4610-A764-4BBB5F354650}"/>
              </a:ext>
            </a:extLst>
          </p:cNvPr>
          <p:cNvSpPr/>
          <p:nvPr/>
        </p:nvSpPr>
        <p:spPr>
          <a:xfrm>
            <a:off x="6387092" y="136584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소요 시간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32.09 sec</a:t>
            </a:r>
          </a:p>
        </p:txBody>
      </p:sp>
      <p:sp>
        <p:nvSpPr>
          <p:cNvPr id="376" name="Shape 4">
            <a:extLst>
              <a:ext uri="{FF2B5EF4-FFF2-40B4-BE49-F238E27FC236}">
                <a16:creationId xmlns:a16="http://schemas.microsoft.com/office/drawing/2014/main" id="{7A96393B-95C0-4620-87D0-D23FA2575D6D}"/>
              </a:ext>
            </a:extLst>
          </p:cNvPr>
          <p:cNvSpPr/>
          <p:nvPr/>
        </p:nvSpPr>
        <p:spPr>
          <a:xfrm>
            <a:off x="7712972" y="1365842"/>
            <a:ext cx="1234440" cy="347472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77" name="Text 5">
            <a:extLst>
              <a:ext uri="{FF2B5EF4-FFF2-40B4-BE49-F238E27FC236}">
                <a16:creationId xmlns:a16="http://schemas.microsoft.com/office/drawing/2014/main" id="{69CA36A7-442C-4945-B19E-C5E8293C72E9}"/>
              </a:ext>
            </a:extLst>
          </p:cNvPr>
          <p:cNvSpPr/>
          <p:nvPr/>
        </p:nvSpPr>
        <p:spPr>
          <a:xfrm>
            <a:off x="7712972" y="136584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gpt-4o-mini</a:t>
            </a:r>
          </a:p>
        </p:txBody>
      </p:sp>
      <p:sp>
        <p:nvSpPr>
          <p:cNvPr id="378" name="Shape 6">
            <a:extLst>
              <a:ext uri="{FF2B5EF4-FFF2-40B4-BE49-F238E27FC236}">
                <a16:creationId xmlns:a16="http://schemas.microsoft.com/office/drawing/2014/main" id="{88C2ECF5-5B20-4B4E-8982-FF1F7E64C230}"/>
              </a:ext>
            </a:extLst>
          </p:cNvPr>
          <p:cNvSpPr/>
          <p:nvPr/>
        </p:nvSpPr>
        <p:spPr>
          <a:xfrm>
            <a:off x="179330" y="1795610"/>
            <a:ext cx="3200400" cy="4342046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79" name="Shape 7">
            <a:extLst>
              <a:ext uri="{FF2B5EF4-FFF2-40B4-BE49-F238E27FC236}">
                <a16:creationId xmlns:a16="http://schemas.microsoft.com/office/drawing/2014/main" id="{7A96BC6D-BD89-45F1-AFFF-20638F12C8BB}"/>
              </a:ext>
            </a:extLst>
          </p:cNvPr>
          <p:cNvSpPr/>
          <p:nvPr/>
        </p:nvSpPr>
        <p:spPr>
          <a:xfrm>
            <a:off x="179330" y="1795610"/>
            <a:ext cx="3200400" cy="2926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80" name="Text 8">
            <a:extLst>
              <a:ext uri="{FF2B5EF4-FFF2-40B4-BE49-F238E27FC236}">
                <a16:creationId xmlns:a16="http://schemas.microsoft.com/office/drawing/2014/main" id="{B820873C-5ED0-4F9B-A74D-2EDA1245817C}"/>
              </a:ext>
            </a:extLst>
          </p:cNvPr>
          <p:cNvSpPr/>
          <p:nvPr/>
        </p:nvSpPr>
        <p:spPr>
          <a:xfrm>
            <a:off x="179330" y="179561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DataLoader — input_data (JSON 발췌)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1" name="Shape 9">
            <a:extLst>
              <a:ext uri="{FF2B5EF4-FFF2-40B4-BE49-F238E27FC236}">
                <a16:creationId xmlns:a16="http://schemas.microsoft.com/office/drawing/2014/main" id="{F93D6BAD-03D5-4AFF-8675-BA52585C549F}"/>
              </a:ext>
            </a:extLst>
          </p:cNvPr>
          <p:cNvSpPr/>
          <p:nvPr/>
        </p:nvSpPr>
        <p:spPr>
          <a:xfrm>
            <a:off x="252482" y="2152226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82" name="Text 10">
            <a:extLst>
              <a:ext uri="{FF2B5EF4-FFF2-40B4-BE49-F238E27FC236}">
                <a16:creationId xmlns:a16="http://schemas.microsoft.com/office/drawing/2014/main" id="{228D32C9-020F-46B7-B322-BA1AEF59B4DC}"/>
              </a:ext>
            </a:extLst>
          </p:cNvPr>
          <p:cNvSpPr/>
          <p:nvPr/>
        </p:nvSpPr>
        <p:spPr>
          <a:xfrm>
            <a:off x="298202" y="2152226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가장_가까운_역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3" name="Text 11">
            <a:extLst>
              <a:ext uri="{FF2B5EF4-FFF2-40B4-BE49-F238E27FC236}">
                <a16:creationId xmlns:a16="http://schemas.microsoft.com/office/drawing/2014/main" id="{0BC5DAC6-E646-40F7-BBC0-C6233745A2F5}"/>
              </a:ext>
            </a:extLst>
          </p:cNvPr>
          <p:cNvSpPr/>
          <p:nvPr/>
        </p:nvSpPr>
        <p:spPr>
          <a:xfrm>
            <a:off x="2026418" y="215222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"상수역"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4" name="Shape 12">
            <a:extLst>
              <a:ext uri="{FF2B5EF4-FFF2-40B4-BE49-F238E27FC236}">
                <a16:creationId xmlns:a16="http://schemas.microsoft.com/office/drawing/2014/main" id="{BDF8EEE5-74D1-4378-B3C5-46C72C029073}"/>
              </a:ext>
            </a:extLst>
          </p:cNvPr>
          <p:cNvSpPr/>
          <p:nvPr/>
        </p:nvSpPr>
        <p:spPr>
          <a:xfrm>
            <a:off x="252482" y="2476838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85" name="Text 13">
            <a:extLst>
              <a:ext uri="{FF2B5EF4-FFF2-40B4-BE49-F238E27FC236}">
                <a16:creationId xmlns:a16="http://schemas.microsoft.com/office/drawing/2014/main" id="{6AF9D594-7B61-4340-9CCA-F4792F3D4D4E}"/>
              </a:ext>
            </a:extLst>
          </p:cNvPr>
          <p:cNvSpPr/>
          <p:nvPr/>
        </p:nvSpPr>
        <p:spPr>
          <a:xfrm>
            <a:off x="298202" y="247683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역까지_거리_m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6" name="Text 14">
            <a:extLst>
              <a:ext uri="{FF2B5EF4-FFF2-40B4-BE49-F238E27FC236}">
                <a16:creationId xmlns:a16="http://schemas.microsoft.com/office/drawing/2014/main" id="{0E1B183D-01D6-416A-BFF6-9A92BFDB0EE5}"/>
              </a:ext>
            </a:extLst>
          </p:cNvPr>
          <p:cNvSpPr/>
          <p:nvPr/>
        </p:nvSpPr>
        <p:spPr>
          <a:xfrm>
            <a:off x="2026418" y="247683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288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7" name="Shape 15">
            <a:extLst>
              <a:ext uri="{FF2B5EF4-FFF2-40B4-BE49-F238E27FC236}">
                <a16:creationId xmlns:a16="http://schemas.microsoft.com/office/drawing/2014/main" id="{C5BA1746-F274-4A5E-B2A6-E6D26D72DB6A}"/>
              </a:ext>
            </a:extLst>
          </p:cNvPr>
          <p:cNvSpPr/>
          <p:nvPr/>
        </p:nvSpPr>
        <p:spPr>
          <a:xfrm>
            <a:off x="252482" y="2801450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88" name="Text 16">
            <a:extLst>
              <a:ext uri="{FF2B5EF4-FFF2-40B4-BE49-F238E27FC236}">
                <a16:creationId xmlns:a16="http://schemas.microsoft.com/office/drawing/2014/main" id="{75409835-13E7-4096-97F7-89ABDD540591}"/>
              </a:ext>
            </a:extLst>
          </p:cNvPr>
          <p:cNvSpPr/>
          <p:nvPr/>
        </p:nvSpPr>
        <p:spPr>
          <a:xfrm>
            <a:off x="298202" y="280145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반경_유사업종_점포수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9" name="Text 17">
            <a:extLst>
              <a:ext uri="{FF2B5EF4-FFF2-40B4-BE49-F238E27FC236}">
                <a16:creationId xmlns:a16="http://schemas.microsoft.com/office/drawing/2014/main" id="{DD6ED164-1CB3-483B-AF4C-BA154340BE57}"/>
              </a:ext>
            </a:extLst>
          </p:cNvPr>
          <p:cNvSpPr/>
          <p:nvPr/>
        </p:nvSpPr>
        <p:spPr>
          <a:xfrm>
            <a:off x="2026418" y="280145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2,684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0" name="Shape 18">
            <a:extLst>
              <a:ext uri="{FF2B5EF4-FFF2-40B4-BE49-F238E27FC236}">
                <a16:creationId xmlns:a16="http://schemas.microsoft.com/office/drawing/2014/main" id="{2B255914-D95D-4919-B292-1BE9EA66F49E}"/>
              </a:ext>
            </a:extLst>
          </p:cNvPr>
          <p:cNvSpPr/>
          <p:nvPr/>
        </p:nvSpPr>
        <p:spPr>
          <a:xfrm>
            <a:off x="252482" y="3126062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91" name="Text 19">
            <a:extLst>
              <a:ext uri="{FF2B5EF4-FFF2-40B4-BE49-F238E27FC236}">
                <a16:creationId xmlns:a16="http://schemas.microsoft.com/office/drawing/2014/main" id="{847254BC-9C9A-4F10-AED4-916DC7C68AFA}"/>
              </a:ext>
            </a:extLst>
          </p:cNvPr>
          <p:cNvSpPr/>
          <p:nvPr/>
        </p:nvSpPr>
        <p:spPr>
          <a:xfrm>
            <a:off x="298202" y="312606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카테고리_개업률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2" name="Text 20">
            <a:extLst>
              <a:ext uri="{FF2B5EF4-FFF2-40B4-BE49-F238E27FC236}">
                <a16:creationId xmlns:a16="http://schemas.microsoft.com/office/drawing/2014/main" id="{4B17930C-67A7-4D19-97F1-41A0F4B0FEB5}"/>
              </a:ext>
            </a:extLst>
          </p:cNvPr>
          <p:cNvSpPr/>
          <p:nvPr/>
        </p:nvSpPr>
        <p:spPr>
          <a:xfrm>
            <a:off x="2026418" y="312606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E5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3.5 %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3" name="Shape 21">
            <a:extLst>
              <a:ext uri="{FF2B5EF4-FFF2-40B4-BE49-F238E27FC236}">
                <a16:creationId xmlns:a16="http://schemas.microsoft.com/office/drawing/2014/main" id="{2BF64C56-D744-41E6-9B65-F1481AAB2BBB}"/>
              </a:ext>
            </a:extLst>
          </p:cNvPr>
          <p:cNvSpPr/>
          <p:nvPr/>
        </p:nvSpPr>
        <p:spPr>
          <a:xfrm>
            <a:off x="252482" y="3450674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94" name="Text 22">
            <a:extLst>
              <a:ext uri="{FF2B5EF4-FFF2-40B4-BE49-F238E27FC236}">
                <a16:creationId xmlns:a16="http://schemas.microsoft.com/office/drawing/2014/main" id="{1A685FA0-9C20-41F7-8613-7E6A94AE1F6A}"/>
              </a:ext>
            </a:extLst>
          </p:cNvPr>
          <p:cNvSpPr/>
          <p:nvPr/>
        </p:nvSpPr>
        <p:spPr>
          <a:xfrm>
            <a:off x="298202" y="3450674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카테고리_폐업률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5" name="Text 23">
            <a:extLst>
              <a:ext uri="{FF2B5EF4-FFF2-40B4-BE49-F238E27FC236}">
                <a16:creationId xmlns:a16="http://schemas.microsoft.com/office/drawing/2014/main" id="{C5532D45-E0EE-4B7D-9960-D5EFAFED6A17}"/>
              </a:ext>
            </a:extLst>
          </p:cNvPr>
          <p:cNvSpPr/>
          <p:nvPr/>
        </p:nvSpPr>
        <p:spPr>
          <a:xfrm>
            <a:off x="2026418" y="345067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4D6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5.1 %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6" name="Shape 24">
            <a:extLst>
              <a:ext uri="{FF2B5EF4-FFF2-40B4-BE49-F238E27FC236}">
                <a16:creationId xmlns:a16="http://schemas.microsoft.com/office/drawing/2014/main" id="{B6B442D4-1B4D-4605-A7D0-82F9D3CD20D8}"/>
              </a:ext>
            </a:extLst>
          </p:cNvPr>
          <p:cNvSpPr/>
          <p:nvPr/>
        </p:nvSpPr>
        <p:spPr>
          <a:xfrm>
            <a:off x="252482" y="3775286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97" name="Text 25">
            <a:extLst>
              <a:ext uri="{FF2B5EF4-FFF2-40B4-BE49-F238E27FC236}">
                <a16:creationId xmlns:a16="http://schemas.microsoft.com/office/drawing/2014/main" id="{EF2D8CFC-E830-4CF4-AC78-096F33E06C27}"/>
              </a:ext>
            </a:extLst>
          </p:cNvPr>
          <p:cNvSpPr/>
          <p:nvPr/>
        </p:nvSpPr>
        <p:spPr>
          <a:xfrm>
            <a:off x="298202" y="3775286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카테고리_프랜차이즈_점포수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8" name="Text 26">
            <a:extLst>
              <a:ext uri="{FF2B5EF4-FFF2-40B4-BE49-F238E27FC236}">
                <a16:creationId xmlns:a16="http://schemas.microsoft.com/office/drawing/2014/main" id="{80D60893-2705-44A5-8A07-57F56DD65D77}"/>
              </a:ext>
            </a:extLst>
          </p:cNvPr>
          <p:cNvSpPr/>
          <p:nvPr/>
        </p:nvSpPr>
        <p:spPr>
          <a:xfrm>
            <a:off x="2026418" y="377528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424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9" name="Shape 27">
            <a:extLst>
              <a:ext uri="{FF2B5EF4-FFF2-40B4-BE49-F238E27FC236}">
                <a16:creationId xmlns:a16="http://schemas.microsoft.com/office/drawing/2014/main" id="{FDB565AE-4631-4736-ABBD-BFFECB6F8D37}"/>
              </a:ext>
            </a:extLst>
          </p:cNvPr>
          <p:cNvSpPr/>
          <p:nvPr/>
        </p:nvSpPr>
        <p:spPr>
          <a:xfrm>
            <a:off x="252482" y="4099898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00" name="Text 28">
            <a:extLst>
              <a:ext uri="{FF2B5EF4-FFF2-40B4-BE49-F238E27FC236}">
                <a16:creationId xmlns:a16="http://schemas.microsoft.com/office/drawing/2014/main" id="{085FC047-87E7-4E2A-A05B-798596623510}"/>
              </a:ext>
            </a:extLst>
          </p:cNvPr>
          <p:cNvSpPr/>
          <p:nvPr/>
        </p:nvSpPr>
        <p:spPr>
          <a:xfrm>
            <a:off x="298202" y="409989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최다_유동인구_시간대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1" name="Text 29">
            <a:extLst>
              <a:ext uri="{FF2B5EF4-FFF2-40B4-BE49-F238E27FC236}">
                <a16:creationId xmlns:a16="http://schemas.microsoft.com/office/drawing/2014/main" id="{561664B7-5ECF-4416-BF85-E70D8C97B844}"/>
              </a:ext>
            </a:extLst>
          </p:cNvPr>
          <p:cNvSpPr/>
          <p:nvPr/>
        </p:nvSpPr>
        <p:spPr>
          <a:xfrm>
            <a:off x="2026418" y="409989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"17~21시"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2" name="Shape 30">
            <a:extLst>
              <a:ext uri="{FF2B5EF4-FFF2-40B4-BE49-F238E27FC236}">
                <a16:creationId xmlns:a16="http://schemas.microsoft.com/office/drawing/2014/main" id="{BF8E2499-F71A-4839-B791-AEBB23630C38}"/>
              </a:ext>
            </a:extLst>
          </p:cNvPr>
          <p:cNvSpPr/>
          <p:nvPr/>
        </p:nvSpPr>
        <p:spPr>
          <a:xfrm>
            <a:off x="252482" y="4424510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03" name="Text 31">
            <a:extLst>
              <a:ext uri="{FF2B5EF4-FFF2-40B4-BE49-F238E27FC236}">
                <a16:creationId xmlns:a16="http://schemas.microsoft.com/office/drawing/2014/main" id="{74F6A03D-E161-4C1B-8109-1C16FBD46034}"/>
              </a:ext>
            </a:extLst>
          </p:cNvPr>
          <p:cNvSpPr/>
          <p:nvPr/>
        </p:nvSpPr>
        <p:spPr>
          <a:xfrm>
            <a:off x="298202" y="442451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유동인구_성별_우세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4" name="Text 32">
            <a:extLst>
              <a:ext uri="{FF2B5EF4-FFF2-40B4-BE49-F238E27FC236}">
                <a16:creationId xmlns:a16="http://schemas.microsoft.com/office/drawing/2014/main" id="{10FCD69A-96FD-40CD-8F6F-88A01F7006AF}"/>
              </a:ext>
            </a:extLst>
          </p:cNvPr>
          <p:cNvSpPr/>
          <p:nvPr/>
        </p:nvSpPr>
        <p:spPr>
          <a:xfrm>
            <a:off x="2026418" y="442451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"여성"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5" name="Shape 33">
            <a:extLst>
              <a:ext uri="{FF2B5EF4-FFF2-40B4-BE49-F238E27FC236}">
                <a16:creationId xmlns:a16="http://schemas.microsoft.com/office/drawing/2014/main" id="{A17946E9-B475-4CFC-9767-70253D75AB73}"/>
              </a:ext>
            </a:extLst>
          </p:cNvPr>
          <p:cNvSpPr/>
          <p:nvPr/>
        </p:nvSpPr>
        <p:spPr>
          <a:xfrm>
            <a:off x="252482" y="4749122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06" name="Text 34">
            <a:extLst>
              <a:ext uri="{FF2B5EF4-FFF2-40B4-BE49-F238E27FC236}">
                <a16:creationId xmlns:a16="http://schemas.microsoft.com/office/drawing/2014/main" id="{FB574665-1A41-42CC-909C-4736A637B36E}"/>
              </a:ext>
            </a:extLst>
          </p:cNvPr>
          <p:cNvSpPr/>
          <p:nvPr/>
        </p:nvSpPr>
        <p:spPr>
          <a:xfrm>
            <a:off x="298202" y="474912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유동인구_연령대_1위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7" name="Text 35">
            <a:extLst>
              <a:ext uri="{FF2B5EF4-FFF2-40B4-BE49-F238E27FC236}">
                <a16:creationId xmlns:a16="http://schemas.microsoft.com/office/drawing/2014/main" id="{8D1ABAFF-43C0-4145-ACA9-CFA1BEACED39}"/>
              </a:ext>
            </a:extLst>
          </p:cNvPr>
          <p:cNvSpPr/>
          <p:nvPr/>
        </p:nvSpPr>
        <p:spPr>
          <a:xfrm>
            <a:off x="2026418" y="474912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"20대"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8" name="Shape 36">
            <a:extLst>
              <a:ext uri="{FF2B5EF4-FFF2-40B4-BE49-F238E27FC236}">
                <a16:creationId xmlns:a16="http://schemas.microsoft.com/office/drawing/2014/main" id="{BD098352-517A-4D02-AD07-776879CCE45C}"/>
              </a:ext>
            </a:extLst>
          </p:cNvPr>
          <p:cNvSpPr/>
          <p:nvPr/>
        </p:nvSpPr>
        <p:spPr>
          <a:xfrm>
            <a:off x="252482" y="5073734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09" name="Text 37">
            <a:extLst>
              <a:ext uri="{FF2B5EF4-FFF2-40B4-BE49-F238E27FC236}">
                <a16:creationId xmlns:a16="http://schemas.microsoft.com/office/drawing/2014/main" id="{DC5B2C0B-4FFF-4E3B-8D95-DC8E8EF55F62}"/>
              </a:ext>
            </a:extLst>
          </p:cNvPr>
          <p:cNvSpPr/>
          <p:nvPr/>
        </p:nvSpPr>
        <p:spPr>
          <a:xfrm>
            <a:off x="298202" y="5073734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최다_매출_시간대_금액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0" name="Text 38">
            <a:extLst>
              <a:ext uri="{FF2B5EF4-FFF2-40B4-BE49-F238E27FC236}">
                <a16:creationId xmlns:a16="http://schemas.microsoft.com/office/drawing/2014/main" id="{0AA4BBD6-6156-4E07-A0BC-A5827CFC5413}"/>
              </a:ext>
            </a:extLst>
          </p:cNvPr>
          <p:cNvSpPr/>
          <p:nvPr/>
        </p:nvSpPr>
        <p:spPr>
          <a:xfrm>
            <a:off x="2026418" y="507373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61,321,791,437원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1" name="Shape 39">
            <a:extLst>
              <a:ext uri="{FF2B5EF4-FFF2-40B4-BE49-F238E27FC236}">
                <a16:creationId xmlns:a16="http://schemas.microsoft.com/office/drawing/2014/main" id="{DDCD766A-80AB-405D-A79C-5378D290E3D6}"/>
              </a:ext>
            </a:extLst>
          </p:cNvPr>
          <p:cNvSpPr/>
          <p:nvPr/>
        </p:nvSpPr>
        <p:spPr>
          <a:xfrm>
            <a:off x="252482" y="5398346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12" name="Text 40">
            <a:extLst>
              <a:ext uri="{FF2B5EF4-FFF2-40B4-BE49-F238E27FC236}">
                <a16:creationId xmlns:a16="http://schemas.microsoft.com/office/drawing/2014/main" id="{6DC1C017-043C-4F97-8F8B-4D89129B3397}"/>
              </a:ext>
            </a:extLst>
          </p:cNvPr>
          <p:cNvSpPr/>
          <p:nvPr/>
        </p:nvSpPr>
        <p:spPr>
          <a:xfrm>
            <a:off x="298202" y="5398346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타겟_연령대_유동인구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3" name="Text 41">
            <a:extLst>
              <a:ext uri="{FF2B5EF4-FFF2-40B4-BE49-F238E27FC236}">
                <a16:creationId xmlns:a16="http://schemas.microsoft.com/office/drawing/2014/main" id="{5BABD205-B045-411E-A8AA-91C68017D894}"/>
              </a:ext>
            </a:extLst>
          </p:cNvPr>
          <p:cNvSpPr/>
          <p:nvPr/>
        </p:nvSpPr>
        <p:spPr>
          <a:xfrm>
            <a:off x="2026418" y="539834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5,790,726명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4" name="Shape 42">
            <a:extLst>
              <a:ext uri="{FF2B5EF4-FFF2-40B4-BE49-F238E27FC236}">
                <a16:creationId xmlns:a16="http://schemas.microsoft.com/office/drawing/2014/main" id="{FC5E634A-0DFE-4336-9DE8-C092BDBA6AED}"/>
              </a:ext>
            </a:extLst>
          </p:cNvPr>
          <p:cNvSpPr/>
          <p:nvPr/>
        </p:nvSpPr>
        <p:spPr>
          <a:xfrm>
            <a:off x="252482" y="5722958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15" name="Text 43">
            <a:extLst>
              <a:ext uri="{FF2B5EF4-FFF2-40B4-BE49-F238E27FC236}">
                <a16:creationId xmlns:a16="http://schemas.microsoft.com/office/drawing/2014/main" id="{3EBDC5A6-006B-4EFC-A009-886D75283C9F}"/>
              </a:ext>
            </a:extLst>
          </p:cNvPr>
          <p:cNvSpPr/>
          <p:nvPr/>
        </p:nvSpPr>
        <p:spPr>
          <a:xfrm>
            <a:off x="298202" y="572295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동_카테고리_매출_최대_업종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6" name="Text 44">
            <a:extLst>
              <a:ext uri="{FF2B5EF4-FFF2-40B4-BE49-F238E27FC236}">
                <a16:creationId xmlns:a16="http://schemas.microsoft.com/office/drawing/2014/main" id="{07E36DAF-D0D6-4625-8C03-174FF310A516}"/>
              </a:ext>
            </a:extLst>
          </p:cNvPr>
          <p:cNvSpPr/>
          <p:nvPr/>
        </p:nvSpPr>
        <p:spPr>
          <a:xfrm>
            <a:off x="2026418" y="572295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E5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"외식/F&amp;B"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7" name="Shape 45">
            <a:extLst>
              <a:ext uri="{FF2B5EF4-FFF2-40B4-BE49-F238E27FC236}">
                <a16:creationId xmlns:a16="http://schemas.microsoft.com/office/drawing/2014/main" id="{A74FFE2F-0367-4D37-8962-60E4C04F665B}"/>
              </a:ext>
            </a:extLst>
          </p:cNvPr>
          <p:cNvSpPr/>
          <p:nvPr/>
        </p:nvSpPr>
        <p:spPr>
          <a:xfrm>
            <a:off x="3516890" y="1795610"/>
            <a:ext cx="2743200" cy="4342046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18" name="Shape 46">
            <a:extLst>
              <a:ext uri="{FF2B5EF4-FFF2-40B4-BE49-F238E27FC236}">
                <a16:creationId xmlns:a16="http://schemas.microsoft.com/office/drawing/2014/main" id="{F7D43EB0-7AF3-44C8-AE34-4F75294419B0}"/>
              </a:ext>
            </a:extLst>
          </p:cNvPr>
          <p:cNvSpPr/>
          <p:nvPr/>
        </p:nvSpPr>
        <p:spPr>
          <a:xfrm>
            <a:off x="3516890" y="1795610"/>
            <a:ext cx="2743200" cy="2926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19" name="Text 47">
            <a:extLst>
              <a:ext uri="{FF2B5EF4-FFF2-40B4-BE49-F238E27FC236}">
                <a16:creationId xmlns:a16="http://schemas.microsoft.com/office/drawing/2014/main" id="{241A1FDB-D2F4-40C5-B6C8-C163DD2ECC76}"/>
              </a:ext>
            </a:extLst>
          </p:cNvPr>
          <p:cNvSpPr/>
          <p:nvPr/>
        </p:nvSpPr>
        <p:spPr>
          <a:xfrm>
            <a:off x="3516890" y="179561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reports — 에이전트 핵심 진단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0" name="Text 48">
            <a:extLst>
              <a:ext uri="{FF2B5EF4-FFF2-40B4-BE49-F238E27FC236}">
                <a16:creationId xmlns:a16="http://schemas.microsoft.com/office/drawing/2014/main" id="{E36A0020-C011-4231-A11D-9624E5CA4C3F}"/>
              </a:ext>
            </a:extLst>
          </p:cNvPr>
          <p:cNvSpPr/>
          <p:nvPr/>
        </p:nvSpPr>
        <p:spPr>
          <a:xfrm>
            <a:off x="3590042" y="215222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상권활성도_보고서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1" name="Shape 49">
            <a:extLst>
              <a:ext uri="{FF2B5EF4-FFF2-40B4-BE49-F238E27FC236}">
                <a16:creationId xmlns:a16="http://schemas.microsoft.com/office/drawing/2014/main" id="{1D441502-90E1-4938-8244-556D57BC3E5E}"/>
              </a:ext>
            </a:extLst>
          </p:cNvPr>
          <p:cNvSpPr/>
          <p:nvPr/>
        </p:nvSpPr>
        <p:spPr>
          <a:xfrm>
            <a:off x="3590042" y="2362538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22" name="Text 50">
            <a:extLst>
              <a:ext uri="{FF2B5EF4-FFF2-40B4-BE49-F238E27FC236}">
                <a16:creationId xmlns:a16="http://schemas.microsoft.com/office/drawing/2014/main" id="{A42CC938-B2BC-4C2A-9CA3-41EB5D80200C}"/>
              </a:ext>
            </a:extLst>
          </p:cNvPr>
          <p:cNvSpPr/>
          <p:nvPr/>
        </p:nvSpPr>
        <p:spPr>
          <a:xfrm>
            <a:off x="3635762" y="236253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해당 (288m)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3" name="Shape 51">
            <a:extLst>
              <a:ext uri="{FF2B5EF4-FFF2-40B4-BE49-F238E27FC236}">
                <a16:creationId xmlns:a16="http://schemas.microsoft.com/office/drawing/2014/main" id="{F4925D1F-8AD9-46C8-BCB3-8D787947D794}"/>
              </a:ext>
            </a:extLst>
          </p:cNvPr>
          <p:cNvSpPr/>
          <p:nvPr/>
        </p:nvSpPr>
        <p:spPr>
          <a:xfrm>
            <a:off x="3590042" y="2609426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24" name="Text 52">
            <a:extLst>
              <a:ext uri="{FF2B5EF4-FFF2-40B4-BE49-F238E27FC236}">
                <a16:creationId xmlns:a16="http://schemas.microsoft.com/office/drawing/2014/main" id="{E2F492BD-CD4C-4EB0-ABA8-DD45531737BA}"/>
              </a:ext>
            </a:extLst>
          </p:cNvPr>
          <p:cNvSpPr/>
          <p:nvPr/>
        </p:nvSpPr>
        <p:spPr>
          <a:xfrm>
            <a:off x="3635762" y="2609426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피크 17~21시, 3.9M명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5" name="Shape 53">
            <a:extLst>
              <a:ext uri="{FF2B5EF4-FFF2-40B4-BE49-F238E27FC236}">
                <a16:creationId xmlns:a16="http://schemas.microsoft.com/office/drawing/2014/main" id="{DC3D6478-A307-49B3-9FFE-C00C61A7CE7D}"/>
              </a:ext>
            </a:extLst>
          </p:cNvPr>
          <p:cNvSpPr/>
          <p:nvPr/>
        </p:nvSpPr>
        <p:spPr>
          <a:xfrm>
            <a:off x="3590042" y="2856314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26" name="Text 54">
            <a:extLst>
              <a:ext uri="{FF2B5EF4-FFF2-40B4-BE49-F238E27FC236}">
                <a16:creationId xmlns:a16="http://schemas.microsoft.com/office/drawing/2014/main" id="{65C761A8-4DEC-4987-960A-7ABB8FC3F830}"/>
              </a:ext>
            </a:extLst>
          </p:cNvPr>
          <p:cNvSpPr/>
          <p:nvPr/>
        </p:nvSpPr>
        <p:spPr>
          <a:xfrm>
            <a:off x="3635762" y="2856314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20대·여성 타겟 정합 ✓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7" name="Shape 55">
            <a:extLst>
              <a:ext uri="{FF2B5EF4-FFF2-40B4-BE49-F238E27FC236}">
                <a16:creationId xmlns:a16="http://schemas.microsoft.com/office/drawing/2014/main" id="{70B25CF4-01C1-4AF5-B911-BB704BFB0F0E}"/>
              </a:ext>
            </a:extLst>
          </p:cNvPr>
          <p:cNvSpPr/>
          <p:nvPr/>
        </p:nvSpPr>
        <p:spPr>
          <a:xfrm>
            <a:off x="3590042" y="3103202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28" name="Text 56">
            <a:extLst>
              <a:ext uri="{FF2B5EF4-FFF2-40B4-BE49-F238E27FC236}">
                <a16:creationId xmlns:a16="http://schemas.microsoft.com/office/drawing/2014/main" id="{37D6BC83-2C42-4AAD-94AF-C3F3D5629711}"/>
              </a:ext>
            </a:extLst>
          </p:cNvPr>
          <p:cNvSpPr/>
          <p:nvPr/>
        </p:nvSpPr>
        <p:spPr>
          <a:xfrm>
            <a:off x="3635762" y="3103202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종합: 저조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9" name="Shape 57">
            <a:extLst>
              <a:ext uri="{FF2B5EF4-FFF2-40B4-BE49-F238E27FC236}">
                <a16:creationId xmlns:a16="http://schemas.microsoft.com/office/drawing/2014/main" id="{BA97B4BC-7FF7-4670-86E6-6E16A2D7BE90}"/>
              </a:ext>
            </a:extLst>
          </p:cNvPr>
          <p:cNvSpPr/>
          <p:nvPr/>
        </p:nvSpPr>
        <p:spPr>
          <a:xfrm>
            <a:off x="3590042" y="3350090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30" name="Text 58">
            <a:extLst>
              <a:ext uri="{FF2B5EF4-FFF2-40B4-BE49-F238E27FC236}">
                <a16:creationId xmlns:a16="http://schemas.microsoft.com/office/drawing/2014/main" id="{E9EEE07F-7619-48FD-8DE4-4CE4625F849F}"/>
              </a:ext>
            </a:extLst>
          </p:cNvPr>
          <p:cNvSpPr/>
          <p:nvPr/>
        </p:nvSpPr>
        <p:spPr>
          <a:xfrm>
            <a:off x="3635762" y="335009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구매 전환 전략 필요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1" name="Text 59">
            <a:extLst>
              <a:ext uri="{FF2B5EF4-FFF2-40B4-BE49-F238E27FC236}">
                <a16:creationId xmlns:a16="http://schemas.microsoft.com/office/drawing/2014/main" id="{24640757-7D15-44C7-B2D7-C3922F370EA1}"/>
              </a:ext>
            </a:extLst>
          </p:cNvPr>
          <p:cNvSpPr/>
          <p:nvPr/>
        </p:nvSpPr>
        <p:spPr>
          <a:xfrm>
            <a:off x="3590042" y="366098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D6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경쟁환경_보고서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2" name="Shape 60">
            <a:extLst>
              <a:ext uri="{FF2B5EF4-FFF2-40B4-BE49-F238E27FC236}">
                <a16:creationId xmlns:a16="http://schemas.microsoft.com/office/drawing/2014/main" id="{4521D485-3DDA-480D-93ED-5F3574E25D0F}"/>
              </a:ext>
            </a:extLst>
          </p:cNvPr>
          <p:cNvSpPr/>
          <p:nvPr/>
        </p:nvSpPr>
        <p:spPr>
          <a:xfrm>
            <a:off x="3590042" y="3871298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33" name="Text 61">
            <a:extLst>
              <a:ext uri="{FF2B5EF4-FFF2-40B4-BE49-F238E27FC236}">
                <a16:creationId xmlns:a16="http://schemas.microsoft.com/office/drawing/2014/main" id="{5C01B212-6496-4BF2-A730-0494FC8DE29C}"/>
              </a:ext>
            </a:extLst>
          </p:cNvPr>
          <p:cNvSpPr/>
          <p:nvPr/>
        </p:nvSpPr>
        <p:spPr>
          <a:xfrm>
            <a:off x="3635762" y="387129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F&amp;B 점포 34.6% 점유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4" name="Shape 62">
            <a:extLst>
              <a:ext uri="{FF2B5EF4-FFF2-40B4-BE49-F238E27FC236}">
                <a16:creationId xmlns:a16="http://schemas.microsoft.com/office/drawing/2014/main" id="{A963CA48-ACCB-4930-B6F1-E62CA95E1BAA}"/>
              </a:ext>
            </a:extLst>
          </p:cNvPr>
          <p:cNvSpPr/>
          <p:nvPr/>
        </p:nvSpPr>
        <p:spPr>
          <a:xfrm>
            <a:off x="3590042" y="4118186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35" name="Text 63">
            <a:extLst>
              <a:ext uri="{FF2B5EF4-FFF2-40B4-BE49-F238E27FC236}">
                <a16:creationId xmlns:a16="http://schemas.microsoft.com/office/drawing/2014/main" id="{B3FB1730-64ED-4841-AA3A-30B2FD1A643E}"/>
              </a:ext>
            </a:extLst>
          </p:cNvPr>
          <p:cNvSpPr/>
          <p:nvPr/>
        </p:nvSpPr>
        <p:spPr>
          <a:xfrm>
            <a:off x="3635762" y="4118186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 5.1% &gt; 개업률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6" name="Shape 64">
            <a:extLst>
              <a:ext uri="{FF2B5EF4-FFF2-40B4-BE49-F238E27FC236}">
                <a16:creationId xmlns:a16="http://schemas.microsoft.com/office/drawing/2014/main" id="{D14AEFC0-63C5-45B6-8671-45D0EE15BCBA}"/>
              </a:ext>
            </a:extLst>
          </p:cNvPr>
          <p:cNvSpPr/>
          <p:nvPr/>
        </p:nvSpPr>
        <p:spPr>
          <a:xfrm>
            <a:off x="3590042" y="4365074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37" name="Text 65">
            <a:extLst>
              <a:ext uri="{FF2B5EF4-FFF2-40B4-BE49-F238E27FC236}">
                <a16:creationId xmlns:a16="http://schemas.microsoft.com/office/drawing/2014/main" id="{7927EBAB-AB5F-49FF-8423-057B43493896}"/>
              </a:ext>
            </a:extLst>
          </p:cNvPr>
          <p:cNvSpPr/>
          <p:nvPr/>
        </p:nvSpPr>
        <p:spPr>
          <a:xfrm>
            <a:off x="3635762" y="4365074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15.8%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8" name="Shape 66">
            <a:extLst>
              <a:ext uri="{FF2B5EF4-FFF2-40B4-BE49-F238E27FC236}">
                <a16:creationId xmlns:a16="http://schemas.microsoft.com/office/drawing/2014/main" id="{9B7F6A60-0371-43BF-B75B-46B9B07BA464}"/>
              </a:ext>
            </a:extLst>
          </p:cNvPr>
          <p:cNvSpPr/>
          <p:nvPr/>
        </p:nvSpPr>
        <p:spPr>
          <a:xfrm>
            <a:off x="3590042" y="4611962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39" name="Text 67">
            <a:extLst>
              <a:ext uri="{FF2B5EF4-FFF2-40B4-BE49-F238E27FC236}">
                <a16:creationId xmlns:a16="http://schemas.microsoft.com/office/drawing/2014/main" id="{911B5025-5FF5-45F3-A218-38371E748FD1}"/>
              </a:ext>
            </a:extLst>
          </p:cNvPr>
          <p:cNvSpPr/>
          <p:nvPr/>
        </p:nvSpPr>
        <p:spPr>
          <a:xfrm>
            <a:off x="3635762" y="4611962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D6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경쟁 강도: 매우 치열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0" name="Text 68">
            <a:extLst>
              <a:ext uri="{FF2B5EF4-FFF2-40B4-BE49-F238E27FC236}">
                <a16:creationId xmlns:a16="http://schemas.microsoft.com/office/drawing/2014/main" id="{C8F9E830-5368-4047-9722-39B559F6E41A}"/>
              </a:ext>
            </a:extLst>
          </p:cNvPr>
          <p:cNvSpPr/>
          <p:nvPr/>
        </p:nvSpPr>
        <p:spPr>
          <a:xfrm>
            <a:off x="3590042" y="4922858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업종추천_보고서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1" name="Shape 69">
            <a:extLst>
              <a:ext uri="{FF2B5EF4-FFF2-40B4-BE49-F238E27FC236}">
                <a16:creationId xmlns:a16="http://schemas.microsoft.com/office/drawing/2014/main" id="{862BE704-7380-4924-8F13-2E84F67032A1}"/>
              </a:ext>
            </a:extLst>
          </p:cNvPr>
          <p:cNvSpPr/>
          <p:nvPr/>
        </p:nvSpPr>
        <p:spPr>
          <a:xfrm>
            <a:off x="3590042" y="5133170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42" name="Text 70">
            <a:extLst>
              <a:ext uri="{FF2B5EF4-FFF2-40B4-BE49-F238E27FC236}">
                <a16:creationId xmlns:a16="http://schemas.microsoft.com/office/drawing/2014/main" id="{89A67AC6-199F-4F4F-97A4-EAD123C4A708}"/>
              </a:ext>
            </a:extLst>
          </p:cNvPr>
          <p:cNvSpPr/>
          <p:nvPr/>
        </p:nvSpPr>
        <p:spPr>
          <a:xfrm>
            <a:off x="3635762" y="513317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F&amp;B 동내 매출 1위 (188억)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3" name="Shape 71">
            <a:extLst>
              <a:ext uri="{FF2B5EF4-FFF2-40B4-BE49-F238E27FC236}">
                <a16:creationId xmlns:a16="http://schemas.microsoft.com/office/drawing/2014/main" id="{2EE72314-DB52-4645-BB3F-CBA81F22A55F}"/>
              </a:ext>
            </a:extLst>
          </p:cNvPr>
          <p:cNvSpPr/>
          <p:nvPr/>
        </p:nvSpPr>
        <p:spPr>
          <a:xfrm>
            <a:off x="3590042" y="5380058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44" name="Text 72">
            <a:extLst>
              <a:ext uri="{FF2B5EF4-FFF2-40B4-BE49-F238E27FC236}">
                <a16:creationId xmlns:a16="http://schemas.microsoft.com/office/drawing/2014/main" id="{A6E5BB58-860A-4F15-8655-945C3C0D0C7D}"/>
              </a:ext>
            </a:extLst>
          </p:cNvPr>
          <p:cNvSpPr/>
          <p:nvPr/>
        </p:nvSpPr>
        <p:spPr>
          <a:xfrm>
            <a:off x="3635762" y="538005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 업종 포지션 유지 권장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5" name="Shape 73">
            <a:extLst>
              <a:ext uri="{FF2B5EF4-FFF2-40B4-BE49-F238E27FC236}">
                <a16:creationId xmlns:a16="http://schemas.microsoft.com/office/drawing/2014/main" id="{9F7C80EF-A587-40F6-970C-26503404BEB8}"/>
              </a:ext>
            </a:extLst>
          </p:cNvPr>
          <p:cNvSpPr/>
          <p:nvPr/>
        </p:nvSpPr>
        <p:spPr>
          <a:xfrm>
            <a:off x="3590042" y="5626946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46" name="Text 74">
            <a:extLst>
              <a:ext uri="{FF2B5EF4-FFF2-40B4-BE49-F238E27FC236}">
                <a16:creationId xmlns:a16="http://schemas.microsoft.com/office/drawing/2014/main" id="{80FB4EAC-06CC-43FC-8587-04C149B9B0DE}"/>
              </a:ext>
            </a:extLst>
          </p:cNvPr>
          <p:cNvSpPr/>
          <p:nvPr/>
        </p:nvSpPr>
        <p:spPr>
          <a:xfrm>
            <a:off x="3635762" y="5626946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포토존·SNS 노출 강화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7" name="Shape 75">
            <a:extLst>
              <a:ext uri="{FF2B5EF4-FFF2-40B4-BE49-F238E27FC236}">
                <a16:creationId xmlns:a16="http://schemas.microsoft.com/office/drawing/2014/main" id="{865799AB-5808-4F5C-8078-C372CB9FA24C}"/>
              </a:ext>
            </a:extLst>
          </p:cNvPr>
          <p:cNvSpPr/>
          <p:nvPr/>
        </p:nvSpPr>
        <p:spPr>
          <a:xfrm>
            <a:off x="3590042" y="5873834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48" name="Text 76">
            <a:extLst>
              <a:ext uri="{FF2B5EF4-FFF2-40B4-BE49-F238E27FC236}">
                <a16:creationId xmlns:a16="http://schemas.microsoft.com/office/drawing/2014/main" id="{4266B24C-1E5F-4BBA-9FB0-56BD1120681C}"/>
              </a:ext>
            </a:extLst>
          </p:cNvPr>
          <p:cNvSpPr/>
          <p:nvPr/>
        </p:nvSpPr>
        <p:spPr>
          <a:xfrm>
            <a:off x="3635762" y="5873834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시간대 1+1 프로모션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9" name="Shape 77">
            <a:extLst>
              <a:ext uri="{FF2B5EF4-FFF2-40B4-BE49-F238E27FC236}">
                <a16:creationId xmlns:a16="http://schemas.microsoft.com/office/drawing/2014/main" id="{9DC8E7EB-0328-40E4-92B1-29C1268F1084}"/>
              </a:ext>
            </a:extLst>
          </p:cNvPr>
          <p:cNvSpPr/>
          <p:nvPr/>
        </p:nvSpPr>
        <p:spPr>
          <a:xfrm>
            <a:off x="6397250" y="1795610"/>
            <a:ext cx="2560320" cy="4342046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50" name="Shape 78">
            <a:extLst>
              <a:ext uri="{FF2B5EF4-FFF2-40B4-BE49-F238E27FC236}">
                <a16:creationId xmlns:a16="http://schemas.microsoft.com/office/drawing/2014/main" id="{4C8E7738-F22D-4B9E-B40E-0F5E5D6ED7DF}"/>
              </a:ext>
            </a:extLst>
          </p:cNvPr>
          <p:cNvSpPr/>
          <p:nvPr/>
        </p:nvSpPr>
        <p:spPr>
          <a:xfrm>
            <a:off x="6397250" y="1795610"/>
            <a:ext cx="2560320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51" name="Text 79">
            <a:extLst>
              <a:ext uri="{FF2B5EF4-FFF2-40B4-BE49-F238E27FC236}">
                <a16:creationId xmlns:a16="http://schemas.microsoft.com/office/drawing/2014/main" id="{24D4C9F8-B8D9-40B5-BA8A-A3BF74793B77}"/>
              </a:ext>
            </a:extLst>
          </p:cNvPr>
          <p:cNvSpPr/>
          <p:nvPr/>
        </p:nvSpPr>
        <p:spPr>
          <a:xfrm>
            <a:off x="6397250" y="179561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분석 output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2" name="Text 80">
            <a:extLst>
              <a:ext uri="{FF2B5EF4-FFF2-40B4-BE49-F238E27FC236}">
                <a16:creationId xmlns:a16="http://schemas.microsoft.com/office/drawing/2014/main" id="{DF02F5B6-2739-41A6-8638-2599996091C3}"/>
              </a:ext>
            </a:extLst>
          </p:cNvPr>
          <p:cNvSpPr/>
          <p:nvPr/>
        </p:nvSpPr>
        <p:spPr>
          <a:xfrm>
            <a:off x="6397250" y="215222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MBTI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3" name="Text 81">
            <a:extLst>
              <a:ext uri="{FF2B5EF4-FFF2-40B4-BE49-F238E27FC236}">
                <a16:creationId xmlns:a16="http://schemas.microsoft.com/office/drawing/2014/main" id="{747AAF27-0990-4C28-9F79-81BB099A4C6E}"/>
              </a:ext>
            </a:extLst>
          </p:cNvPr>
          <p:cNvSpPr/>
          <p:nvPr/>
        </p:nvSpPr>
        <p:spPr>
          <a:xfrm>
            <a:off x="6397250" y="235339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3800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NFTG</a:t>
            </a:r>
            <a:endParaRPr lang="en-US" sz="3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4" name="Text 82">
            <a:extLst>
              <a:ext uri="{FF2B5EF4-FFF2-40B4-BE49-F238E27FC236}">
                <a16:creationId xmlns:a16="http://schemas.microsoft.com/office/drawing/2014/main" id="{A00C615F-E587-4089-9A11-B5CF42F95455}"/>
              </a:ext>
            </a:extLst>
          </p:cNvPr>
          <p:cNvSpPr/>
          <p:nvPr/>
        </p:nvSpPr>
        <p:spPr>
          <a:xfrm>
            <a:off x="6442970" y="287460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 </a:t>
            </a:r>
            <a:r>
              <a:rPr lang="ko-KR" alt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주간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5" name="Text 83">
            <a:extLst>
              <a:ext uri="{FF2B5EF4-FFF2-40B4-BE49-F238E27FC236}">
                <a16:creationId xmlns:a16="http://schemas.microsoft.com/office/drawing/2014/main" id="{40089D14-F5BE-4D20-8177-87900F8AE797}"/>
              </a:ext>
            </a:extLst>
          </p:cNvPr>
          <p:cNvSpPr/>
          <p:nvPr/>
        </p:nvSpPr>
        <p:spPr>
          <a:xfrm>
            <a:off x="7494530" y="287460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 </a:t>
            </a:r>
            <a:r>
              <a:rPr lang="ko-KR" alt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야간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6" name="Shape 84">
            <a:extLst>
              <a:ext uri="{FF2B5EF4-FFF2-40B4-BE49-F238E27FC236}">
                <a16:creationId xmlns:a16="http://schemas.microsoft.com/office/drawing/2014/main" id="{1C42F78E-EEE3-4E30-AAB9-79462BE4C0FE}"/>
              </a:ext>
            </a:extLst>
          </p:cNvPr>
          <p:cNvSpPr/>
          <p:nvPr/>
        </p:nvSpPr>
        <p:spPr>
          <a:xfrm>
            <a:off x="6488690" y="3048338"/>
            <a:ext cx="2286000" cy="731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57" name="Shape 85">
            <a:extLst>
              <a:ext uri="{FF2B5EF4-FFF2-40B4-BE49-F238E27FC236}">
                <a16:creationId xmlns:a16="http://schemas.microsoft.com/office/drawing/2014/main" id="{785645FA-DDF3-4BC8-9B70-83750EB93D36}"/>
              </a:ext>
            </a:extLst>
          </p:cNvPr>
          <p:cNvSpPr/>
          <p:nvPr/>
        </p:nvSpPr>
        <p:spPr>
          <a:xfrm>
            <a:off x="6488690" y="3048338"/>
            <a:ext cx="14859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58" name="Text 86">
            <a:extLst>
              <a:ext uri="{FF2B5EF4-FFF2-40B4-BE49-F238E27FC236}">
                <a16:creationId xmlns:a16="http://schemas.microsoft.com/office/drawing/2014/main" id="{AA268E31-10E6-4D5A-8CCB-99D0349DD029}"/>
              </a:ext>
            </a:extLst>
          </p:cNvPr>
          <p:cNvSpPr/>
          <p:nvPr/>
        </p:nvSpPr>
        <p:spPr>
          <a:xfrm>
            <a:off x="6442970" y="329522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 </a:t>
            </a:r>
            <a:r>
              <a:rPr lang="ko-KR" alt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실용형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9" name="Text 87">
            <a:extLst>
              <a:ext uri="{FF2B5EF4-FFF2-40B4-BE49-F238E27FC236}">
                <a16:creationId xmlns:a16="http://schemas.microsoft.com/office/drawing/2014/main" id="{D1229525-9C19-4409-AEB6-C71A3EE274F3}"/>
              </a:ext>
            </a:extLst>
          </p:cNvPr>
          <p:cNvSpPr/>
          <p:nvPr/>
        </p:nvSpPr>
        <p:spPr>
          <a:xfrm>
            <a:off x="7494530" y="3295226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 </a:t>
            </a:r>
            <a:r>
              <a:rPr lang="ko-KR" alt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감성형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0" name="Shape 88">
            <a:extLst>
              <a:ext uri="{FF2B5EF4-FFF2-40B4-BE49-F238E27FC236}">
                <a16:creationId xmlns:a16="http://schemas.microsoft.com/office/drawing/2014/main" id="{AB3688E5-0095-4E30-9EB2-588D253B1642}"/>
              </a:ext>
            </a:extLst>
          </p:cNvPr>
          <p:cNvSpPr/>
          <p:nvPr/>
        </p:nvSpPr>
        <p:spPr>
          <a:xfrm>
            <a:off x="6488690" y="3468962"/>
            <a:ext cx="2286000" cy="731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61" name="Shape 89">
            <a:extLst>
              <a:ext uri="{FF2B5EF4-FFF2-40B4-BE49-F238E27FC236}">
                <a16:creationId xmlns:a16="http://schemas.microsoft.com/office/drawing/2014/main" id="{63C5B106-8226-4356-86E0-9D4059ED6037}"/>
              </a:ext>
            </a:extLst>
          </p:cNvPr>
          <p:cNvSpPr/>
          <p:nvPr/>
        </p:nvSpPr>
        <p:spPr>
          <a:xfrm>
            <a:off x="6488690" y="3468962"/>
            <a:ext cx="1257300" cy="7315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62" name="Text 90">
            <a:extLst>
              <a:ext uri="{FF2B5EF4-FFF2-40B4-BE49-F238E27FC236}">
                <a16:creationId xmlns:a16="http://schemas.microsoft.com/office/drawing/2014/main" id="{A82B2CD9-927E-4942-A7B9-0A8FA8DD13E6}"/>
              </a:ext>
            </a:extLst>
          </p:cNvPr>
          <p:cNvSpPr/>
          <p:nvPr/>
        </p:nvSpPr>
        <p:spPr>
          <a:xfrm>
            <a:off x="6442970" y="371585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 </a:t>
            </a:r>
            <a:r>
              <a:rPr lang="ko-KR" alt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로컬형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3" name="Text 91">
            <a:extLst>
              <a:ext uri="{FF2B5EF4-FFF2-40B4-BE49-F238E27FC236}">
                <a16:creationId xmlns:a16="http://schemas.microsoft.com/office/drawing/2014/main" id="{08D9ECF9-B19E-4914-9CD1-3D997EB0D42A}"/>
              </a:ext>
            </a:extLst>
          </p:cNvPr>
          <p:cNvSpPr/>
          <p:nvPr/>
        </p:nvSpPr>
        <p:spPr>
          <a:xfrm>
            <a:off x="7494530" y="371585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 </a:t>
            </a:r>
            <a:r>
              <a:rPr lang="ko-KR" alt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통과형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4" name="Shape 92">
            <a:extLst>
              <a:ext uri="{FF2B5EF4-FFF2-40B4-BE49-F238E27FC236}">
                <a16:creationId xmlns:a16="http://schemas.microsoft.com/office/drawing/2014/main" id="{A02DC7C1-DEFB-4DBE-9F8A-3ABBDC3E61E2}"/>
              </a:ext>
            </a:extLst>
          </p:cNvPr>
          <p:cNvSpPr/>
          <p:nvPr/>
        </p:nvSpPr>
        <p:spPr>
          <a:xfrm>
            <a:off x="6488690" y="3889586"/>
            <a:ext cx="2286000" cy="731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65" name="Shape 93">
            <a:extLst>
              <a:ext uri="{FF2B5EF4-FFF2-40B4-BE49-F238E27FC236}">
                <a16:creationId xmlns:a16="http://schemas.microsoft.com/office/drawing/2014/main" id="{83C453B7-9CC8-406C-90E7-D7BB57AF923D}"/>
              </a:ext>
            </a:extLst>
          </p:cNvPr>
          <p:cNvSpPr/>
          <p:nvPr/>
        </p:nvSpPr>
        <p:spPr>
          <a:xfrm>
            <a:off x="6488690" y="3889586"/>
            <a:ext cx="1600200" cy="7315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66" name="Text 94">
            <a:extLst>
              <a:ext uri="{FF2B5EF4-FFF2-40B4-BE49-F238E27FC236}">
                <a16:creationId xmlns:a16="http://schemas.microsoft.com/office/drawing/2014/main" id="{A44AFCDE-95B0-4811-A033-10029013D9AE}"/>
              </a:ext>
            </a:extLst>
          </p:cNvPr>
          <p:cNvSpPr/>
          <p:nvPr/>
        </p:nvSpPr>
        <p:spPr>
          <a:xfrm>
            <a:off x="6442970" y="413647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</a:t>
            </a:r>
            <a:r>
              <a:rPr lang="ko-KR" alt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대중형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7" name="Text 95">
            <a:extLst>
              <a:ext uri="{FF2B5EF4-FFF2-40B4-BE49-F238E27FC236}">
                <a16:creationId xmlns:a16="http://schemas.microsoft.com/office/drawing/2014/main" id="{6A0A9630-38DA-4D03-A149-A5EC91D70DAD}"/>
              </a:ext>
            </a:extLst>
          </p:cNvPr>
          <p:cNvSpPr/>
          <p:nvPr/>
        </p:nvSpPr>
        <p:spPr>
          <a:xfrm>
            <a:off x="7494530" y="413647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 </a:t>
            </a:r>
            <a:r>
              <a:rPr lang="ko-KR" alt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틈새형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8" name="Shape 96">
            <a:extLst>
              <a:ext uri="{FF2B5EF4-FFF2-40B4-BE49-F238E27FC236}">
                <a16:creationId xmlns:a16="http://schemas.microsoft.com/office/drawing/2014/main" id="{1EEFB8BA-B7F3-4EFE-8926-DB4AB8D80597}"/>
              </a:ext>
            </a:extLst>
          </p:cNvPr>
          <p:cNvSpPr/>
          <p:nvPr/>
        </p:nvSpPr>
        <p:spPr>
          <a:xfrm>
            <a:off x="6488690" y="4310210"/>
            <a:ext cx="2286000" cy="731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69" name="Shape 97">
            <a:extLst>
              <a:ext uri="{FF2B5EF4-FFF2-40B4-BE49-F238E27FC236}">
                <a16:creationId xmlns:a16="http://schemas.microsoft.com/office/drawing/2014/main" id="{83825A99-5B1A-4291-B6B1-01A6B96F4CC5}"/>
              </a:ext>
            </a:extLst>
          </p:cNvPr>
          <p:cNvSpPr/>
          <p:nvPr/>
        </p:nvSpPr>
        <p:spPr>
          <a:xfrm>
            <a:off x="6488690" y="4310210"/>
            <a:ext cx="1371600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70" name="Shape 98">
            <a:extLst>
              <a:ext uri="{FF2B5EF4-FFF2-40B4-BE49-F238E27FC236}">
                <a16:creationId xmlns:a16="http://schemas.microsoft.com/office/drawing/2014/main" id="{859A5E9A-D58E-47D6-965C-0BA14C530C4D}"/>
              </a:ext>
            </a:extLst>
          </p:cNvPr>
          <p:cNvSpPr/>
          <p:nvPr/>
        </p:nvSpPr>
        <p:spPr>
          <a:xfrm>
            <a:off x="6442970" y="4749122"/>
            <a:ext cx="2468880" cy="320040"/>
          </a:xfrm>
          <a:prstGeom prst="rect">
            <a:avLst/>
          </a:prstGeom>
          <a:solidFill>
            <a:srgbClr val="162030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471" name="Text 99">
            <a:extLst>
              <a:ext uri="{FF2B5EF4-FFF2-40B4-BE49-F238E27FC236}">
                <a16:creationId xmlns:a16="http://schemas.microsoft.com/office/drawing/2014/main" id="{34F11C8C-5FB7-4793-8D77-268B0353E16A}"/>
              </a:ext>
            </a:extLst>
          </p:cNvPr>
          <p:cNvSpPr/>
          <p:nvPr/>
        </p:nvSpPr>
        <p:spPr>
          <a:xfrm>
            <a:off x="6488690" y="4758266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추천: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2" name="Text 100">
            <a:extLst>
              <a:ext uri="{FF2B5EF4-FFF2-40B4-BE49-F238E27FC236}">
                <a16:creationId xmlns:a16="http://schemas.microsoft.com/office/drawing/2014/main" id="{D7892434-A57B-4EA4-9F8C-DD95A3141B3C}"/>
              </a:ext>
            </a:extLst>
          </p:cNvPr>
          <p:cNvSpPr/>
          <p:nvPr/>
        </p:nvSpPr>
        <p:spPr>
          <a:xfrm>
            <a:off x="6488690" y="4895426"/>
            <a:ext cx="23774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"서교 핫스팟"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3" name="Shape 101">
            <a:extLst>
              <a:ext uri="{FF2B5EF4-FFF2-40B4-BE49-F238E27FC236}">
                <a16:creationId xmlns:a16="http://schemas.microsoft.com/office/drawing/2014/main" id="{D10CE6DE-BA31-4C05-BACB-53BDC85FFA52}"/>
              </a:ext>
            </a:extLst>
          </p:cNvPr>
          <p:cNvSpPr/>
          <p:nvPr/>
        </p:nvSpPr>
        <p:spPr>
          <a:xfrm>
            <a:off x="6442970" y="5133170"/>
            <a:ext cx="329184" cy="2286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74" name="Text 102">
            <a:extLst>
              <a:ext uri="{FF2B5EF4-FFF2-40B4-BE49-F238E27FC236}">
                <a16:creationId xmlns:a16="http://schemas.microsoft.com/office/drawing/2014/main" id="{969955EE-B50F-404E-9F15-4D4525BA86E7}"/>
              </a:ext>
            </a:extLst>
          </p:cNvPr>
          <p:cNvSpPr/>
          <p:nvPr/>
        </p:nvSpPr>
        <p:spPr>
          <a:xfrm>
            <a:off x="6442970" y="513317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단기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5" name="Shape 103">
            <a:extLst>
              <a:ext uri="{FF2B5EF4-FFF2-40B4-BE49-F238E27FC236}">
                <a16:creationId xmlns:a16="http://schemas.microsoft.com/office/drawing/2014/main" id="{9DA60F59-1976-4591-A817-F4A518BC2E37}"/>
              </a:ext>
            </a:extLst>
          </p:cNvPr>
          <p:cNvSpPr/>
          <p:nvPr/>
        </p:nvSpPr>
        <p:spPr>
          <a:xfrm>
            <a:off x="6799586" y="5133170"/>
            <a:ext cx="2112264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76" name="Text 104">
            <a:extLst>
              <a:ext uri="{FF2B5EF4-FFF2-40B4-BE49-F238E27FC236}">
                <a16:creationId xmlns:a16="http://schemas.microsoft.com/office/drawing/2014/main" id="{0C063128-EB6D-453C-94FC-A1E3D8E85490}"/>
              </a:ext>
            </a:extLst>
          </p:cNvPr>
          <p:cNvSpPr/>
          <p:nvPr/>
        </p:nvSpPr>
        <p:spPr>
          <a:xfrm>
            <a:off x="6836162" y="513317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17~21시 1+1 + SNS 포토존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7" name="Shape 105">
            <a:extLst>
              <a:ext uri="{FF2B5EF4-FFF2-40B4-BE49-F238E27FC236}">
                <a16:creationId xmlns:a16="http://schemas.microsoft.com/office/drawing/2014/main" id="{0D7F9C1B-D642-42D3-8FD3-A63223C833C2}"/>
              </a:ext>
            </a:extLst>
          </p:cNvPr>
          <p:cNvSpPr/>
          <p:nvPr/>
        </p:nvSpPr>
        <p:spPr>
          <a:xfrm>
            <a:off x="6442970" y="5407490"/>
            <a:ext cx="329184" cy="2286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78" name="Text 106">
            <a:extLst>
              <a:ext uri="{FF2B5EF4-FFF2-40B4-BE49-F238E27FC236}">
                <a16:creationId xmlns:a16="http://schemas.microsoft.com/office/drawing/2014/main" id="{3B09B392-DC4D-4DBF-BFAD-72F49C3EF878}"/>
              </a:ext>
            </a:extLst>
          </p:cNvPr>
          <p:cNvSpPr/>
          <p:nvPr/>
        </p:nvSpPr>
        <p:spPr>
          <a:xfrm>
            <a:off x="6442970" y="540749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중기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9" name="Shape 107">
            <a:extLst>
              <a:ext uri="{FF2B5EF4-FFF2-40B4-BE49-F238E27FC236}">
                <a16:creationId xmlns:a16="http://schemas.microsoft.com/office/drawing/2014/main" id="{5B1CC3D5-8EBF-4701-AB75-1F6E456BAE9D}"/>
              </a:ext>
            </a:extLst>
          </p:cNvPr>
          <p:cNvSpPr/>
          <p:nvPr/>
        </p:nvSpPr>
        <p:spPr>
          <a:xfrm>
            <a:off x="6799586" y="5407490"/>
            <a:ext cx="2112264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80" name="Text 108">
            <a:extLst>
              <a:ext uri="{FF2B5EF4-FFF2-40B4-BE49-F238E27FC236}">
                <a16:creationId xmlns:a16="http://schemas.microsoft.com/office/drawing/2014/main" id="{87AD0FE2-2F0E-4D6C-B739-28BAF20CA916}"/>
              </a:ext>
            </a:extLst>
          </p:cNvPr>
          <p:cNvSpPr/>
          <p:nvPr/>
        </p:nvSpPr>
        <p:spPr>
          <a:xfrm>
            <a:off x="6836162" y="540749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체험 코너 + 맞춤 쿠폰 배포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1" name="Shape 109">
            <a:extLst>
              <a:ext uri="{FF2B5EF4-FFF2-40B4-BE49-F238E27FC236}">
                <a16:creationId xmlns:a16="http://schemas.microsoft.com/office/drawing/2014/main" id="{78907F53-C575-4E1A-AC1F-571335696FFA}"/>
              </a:ext>
            </a:extLst>
          </p:cNvPr>
          <p:cNvSpPr/>
          <p:nvPr/>
        </p:nvSpPr>
        <p:spPr>
          <a:xfrm>
            <a:off x="6442970" y="5681810"/>
            <a:ext cx="329184" cy="2286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82" name="Text 110">
            <a:extLst>
              <a:ext uri="{FF2B5EF4-FFF2-40B4-BE49-F238E27FC236}">
                <a16:creationId xmlns:a16="http://schemas.microsoft.com/office/drawing/2014/main" id="{914E8B24-23D4-4DD0-993F-5657EB506124}"/>
              </a:ext>
            </a:extLst>
          </p:cNvPr>
          <p:cNvSpPr/>
          <p:nvPr/>
        </p:nvSpPr>
        <p:spPr>
          <a:xfrm>
            <a:off x="6442970" y="568181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3" name="Shape 111">
            <a:extLst>
              <a:ext uri="{FF2B5EF4-FFF2-40B4-BE49-F238E27FC236}">
                <a16:creationId xmlns:a16="http://schemas.microsoft.com/office/drawing/2014/main" id="{3CA3D4FB-99DF-414B-B38E-CE0E14643932}"/>
              </a:ext>
            </a:extLst>
          </p:cNvPr>
          <p:cNvSpPr/>
          <p:nvPr/>
        </p:nvSpPr>
        <p:spPr>
          <a:xfrm>
            <a:off x="6799586" y="5681810"/>
            <a:ext cx="2112264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84" name="Text 112">
            <a:extLst>
              <a:ext uri="{FF2B5EF4-FFF2-40B4-BE49-F238E27FC236}">
                <a16:creationId xmlns:a16="http://schemas.microsoft.com/office/drawing/2014/main" id="{F493CD6B-7B9A-456D-B6E3-B57135A9F5A0}"/>
              </a:ext>
            </a:extLst>
          </p:cNvPr>
          <p:cNvSpPr/>
          <p:nvPr/>
        </p:nvSpPr>
        <p:spPr>
          <a:xfrm>
            <a:off x="6836162" y="568181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리워드 프로그램 구축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5" name="TextBox 5">
            <a:extLst>
              <a:ext uri="{FF2B5EF4-FFF2-40B4-BE49-F238E27FC236}">
                <a16:creationId xmlns:a16="http://schemas.microsoft.com/office/drawing/2014/main" id="{86AD5D68-236D-44F8-8160-DC3FE8309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4" y="612943"/>
            <a:ext cx="2689225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실현가능성 측면 검증</a:t>
            </a:r>
          </a:p>
        </p:txBody>
      </p:sp>
      <p:sp>
        <p:nvSpPr>
          <p:cNvPr id="486" name="TextBox 5">
            <a:extLst>
              <a:ext uri="{FF2B5EF4-FFF2-40B4-BE49-F238E27FC236}">
                <a16:creationId xmlns:a16="http://schemas.microsoft.com/office/drawing/2014/main" id="{C5EF61F3-E7BA-455D-80ED-D0236B8DA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30" y="1058065"/>
            <a:ext cx="521296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>
              <a:buNone/>
            </a:pP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):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공차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홍대서교점</a:t>
            </a:r>
            <a:endParaRPr lang="en-US" altLang="ko-KR" sz="20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C1C9BD2-B1B8-43DF-BF8D-694597D09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164" y="3098344"/>
            <a:ext cx="2689703" cy="507439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FDE4981-4213-4C68-B8CE-B6515D7EFA9B}"/>
              </a:ext>
            </a:extLst>
          </p:cNvPr>
          <p:cNvCxnSpPr/>
          <p:nvPr/>
        </p:nvCxnSpPr>
        <p:spPr>
          <a:xfrm flipH="1" flipV="1">
            <a:off x="8957570" y="1795610"/>
            <a:ext cx="451594" cy="11430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54EEC99-8511-42D1-B6A0-E58C14E5AC06}"/>
              </a:ext>
            </a:extLst>
          </p:cNvPr>
          <p:cNvCxnSpPr/>
          <p:nvPr/>
        </p:nvCxnSpPr>
        <p:spPr>
          <a:xfrm flipH="1">
            <a:off x="8957570" y="3660986"/>
            <a:ext cx="451594" cy="247667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630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F59263-2D63-18A8-3C1E-C0D88F0853B4}"/>
              </a:ext>
            </a:extLst>
          </p:cNvPr>
          <p:cNvSpPr txBox="1"/>
          <p:nvPr/>
        </p:nvSpPr>
        <p:spPr>
          <a:xfrm>
            <a:off x="3046326" y="882054"/>
            <a:ext cx="6526898" cy="126496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기존 무료 상권 분석 서비스의 대표격인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나는 사장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’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은 점포 주변의 매출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유동인구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점포수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생존율 등 풍부한 데이터를 시각화 리포트 형태로 제공한다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그러나 분석 단위가 개별 점포에 머물러 있고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해석과 실행은 점주의 몫으로 남는다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b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b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endParaRPr kumimoji="1"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D9D9A1-5D98-E62E-70C0-68D8588C4BF7}"/>
              </a:ext>
            </a:extLst>
          </p:cNvPr>
          <p:cNvSpPr/>
          <p:nvPr/>
        </p:nvSpPr>
        <p:spPr>
          <a:xfrm>
            <a:off x="10134600" y="495974"/>
            <a:ext cx="1930400" cy="772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/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400" dirty="0">
                <a:latin typeface="+mn-ea"/>
                <a:ea typeface="+mn-ea"/>
                <a:sym typeface="Gill Sans"/>
              </a:rPr>
              <a:t>2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latin typeface="+mn-ea"/>
                <a:ea typeface="+mn-ea"/>
                <a:sym typeface="Gill Sans"/>
              </a:rPr>
              <a:t>장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8251D6-AC5B-9774-B5FC-A521D12C3916}"/>
              </a:ext>
            </a:extLst>
          </p:cNvPr>
          <p:cNvGraphicFramePr>
            <a:graphicFrameLocks noGrp="1"/>
          </p:cNvGraphicFramePr>
          <p:nvPr/>
        </p:nvGraphicFramePr>
        <p:xfrm>
          <a:off x="2639290" y="1833649"/>
          <a:ext cx="7340970" cy="3754092"/>
        </p:xfrm>
        <a:graphic>
          <a:graphicData uri="http://schemas.openxmlformats.org/drawingml/2006/table">
            <a:tbl>
              <a:tblPr/>
              <a:tblGrid>
                <a:gridCol w="1794280">
                  <a:extLst>
                    <a:ext uri="{9D8B030D-6E8A-4147-A177-3AD203B41FA5}">
                      <a16:colId xmlns:a16="http://schemas.microsoft.com/office/drawing/2014/main" val="2941622072"/>
                    </a:ext>
                  </a:extLst>
                </a:gridCol>
                <a:gridCol w="2773345">
                  <a:extLst>
                    <a:ext uri="{9D8B030D-6E8A-4147-A177-3AD203B41FA5}">
                      <a16:colId xmlns:a16="http://schemas.microsoft.com/office/drawing/2014/main" val="1319618768"/>
                    </a:ext>
                  </a:extLst>
                </a:gridCol>
                <a:gridCol w="2773345">
                  <a:extLst>
                    <a:ext uri="{9D8B030D-6E8A-4147-A177-3AD203B41FA5}">
                      <a16:colId xmlns:a16="http://schemas.microsoft.com/office/drawing/2014/main" val="52687397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구분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나는 사장 </a:t>
                      </a:r>
                      <a:r>
                        <a:rPr lang="en-US" altLang="ko-KR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무료</a:t>
                      </a:r>
                      <a:r>
                        <a:rPr lang="en-US" altLang="ko-KR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상권 더하기 </a:t>
                      </a:r>
                      <a:r>
                        <a:rPr lang="en-US" altLang="ko-KR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제안</a:t>
                      </a:r>
                      <a:r>
                        <a:rPr lang="en-US" altLang="ko-KR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A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649419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운영 주체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서울특별시</a:t>
                      </a:r>
                      <a:endParaRPr lang="en-US" altLang="ko-KR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—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645778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분석 단위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개별 점포 </a:t>
                      </a: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반경</a:t>
                      </a: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다각형</a:t>
                      </a: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개별 점포 → 상권 전체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125990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데이터 강점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공공 데이터 기반 인구</a:t>
                      </a: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·</a:t>
                      </a: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점포</a:t>
                      </a: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·</a:t>
                      </a: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매출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점주 입력 </a:t>
                      </a:r>
                      <a:r>
                        <a:rPr lang="en-US" altLang="ko-KR" sz="1400" b="1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 </a:t>
                      </a:r>
                      <a:r>
                        <a:rPr lang="ko-KR" altLang="en-US" sz="1400" b="1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공공데이터 결합</a:t>
                      </a:r>
                      <a:endParaRPr lang="ko-KR" altLang="en-US" sz="14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116356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결과 형태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데이터 시각화 리포트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MBTI </a:t>
                      </a:r>
                      <a:r>
                        <a:rPr lang="ko-KR" alt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진단 </a:t>
                      </a:r>
                      <a:r>
                        <a:rPr lang="en-US" altLang="ko-KR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 </a:t>
                      </a:r>
                      <a:r>
                        <a:rPr lang="ko-KR" alt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공동 브랜딩 솔루션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283324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활용 방식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점주가 직접 해석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AI</a:t>
                      </a:r>
                      <a:r>
                        <a:rPr lang="ko-KR" alt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가 해석 </a:t>
                      </a:r>
                      <a:r>
                        <a:rPr lang="en-US" altLang="ko-KR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 </a:t>
                      </a:r>
                      <a:r>
                        <a:rPr lang="ko-KR" alt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실행 솔루션 제안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92460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상권 단위 분석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5464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점주 간 연결</a:t>
                      </a:r>
                      <a:r>
                        <a:rPr lang="en-US" altLang="ko-KR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·</a:t>
                      </a: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06052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3C9A2E4-DB89-AAF9-AA12-DCED27A31CEF}"/>
              </a:ext>
            </a:extLst>
          </p:cNvPr>
          <p:cNvSpPr txBox="1"/>
          <p:nvPr/>
        </p:nvSpPr>
        <p:spPr>
          <a:xfrm>
            <a:off x="3260101" y="5708339"/>
            <a:ext cx="6099348" cy="83099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나는 사장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은 데이터를 보여주는 데 그친다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점주는 리포트를 받아도 자신의 매장 맥락에 맞춰 해석하고 실행 방안을 도출해야 한다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무엇보다 분석이 개별 점포 단위에서 끝나기 때문에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같은 상권에 속한 매장들이 함께 움직일 수 있는 구조는 부재한다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b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상권 더하기는 이 빈 공간을 상권 단위 분석과 공동 브랜딩 솔루션으로 메운다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B8E0FE-2183-7783-83D9-44AE51FBA74D}"/>
              </a:ext>
            </a:extLst>
          </p:cNvPr>
          <p:cNvSpPr txBox="1"/>
          <p:nvPr/>
        </p:nvSpPr>
        <p:spPr>
          <a:xfrm>
            <a:off x="8719456" y="6457890"/>
            <a:ext cx="3472544" cy="400110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*출처</a:t>
            </a:r>
            <a:b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나는 사장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  <a:hlinkClick r:id="rId2"/>
              </a:rPr>
              <a:t>https://golmok.seoul.go.kr/owner/owner.do</a:t>
            </a:r>
            <a:endParaRPr lang="ko-KR" altLang="en-US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8748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3103-CFA8-3520-D4E9-34E16B3A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8D0949E-4897-3469-226F-CAD384ED5228}"/>
              </a:ext>
            </a:extLst>
          </p:cNvPr>
          <p:cNvSpPr/>
          <p:nvPr/>
        </p:nvSpPr>
        <p:spPr>
          <a:xfrm>
            <a:off x="10134600" y="495974"/>
            <a:ext cx="1930400" cy="772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/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400" dirty="0">
                <a:latin typeface="+mn-ea"/>
                <a:ea typeface="+mn-ea"/>
                <a:sym typeface="Gill Sans"/>
              </a:rPr>
              <a:t>2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latin typeface="+mn-ea"/>
                <a:ea typeface="+mn-ea"/>
                <a:sym typeface="Gill Sans"/>
              </a:rPr>
              <a:t>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C7CCCA-3460-236B-F18D-13894024906A}"/>
              </a:ext>
            </a:extLst>
          </p:cNvPr>
          <p:cNvSpPr/>
          <p:nvPr/>
        </p:nvSpPr>
        <p:spPr>
          <a:xfrm>
            <a:off x="127000" y="0"/>
            <a:ext cx="3436536" cy="4959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latin typeface="+mn-ea"/>
              <a:ea typeface="+mn-ea"/>
              <a:sym typeface="Gill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9A7CE-68AF-101B-C810-49983AEF7EE8}"/>
              </a:ext>
            </a:extLst>
          </p:cNvPr>
          <p:cNvSpPr txBox="1"/>
          <p:nvPr/>
        </p:nvSpPr>
        <p:spPr>
          <a:xfrm>
            <a:off x="3593400" y="96343"/>
            <a:ext cx="3255667" cy="30328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kumimoji="1"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kumimoji="1"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기존서비스와의 차별성 </a:t>
            </a:r>
            <a:r>
              <a:rPr kumimoji="1"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독창성</a:t>
            </a:r>
            <a:r>
              <a:rPr kumimoji="1"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F5E2BB-C281-690E-3A67-4DBEB5C2D1E5}"/>
              </a:ext>
            </a:extLst>
          </p:cNvPr>
          <p:cNvSpPr txBox="1"/>
          <p:nvPr/>
        </p:nvSpPr>
        <p:spPr>
          <a:xfrm>
            <a:off x="2283486" y="1638016"/>
            <a:ext cx="7625023" cy="378565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차별점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1.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매장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MBTI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메커니즘</a:t>
            </a: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buNone/>
            </a:pP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기존 서비스는 매출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유동인구 같은 원천 데이터를 점주가 직접 해석해야 했다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상권 더하기는 매장의 운영 정보를 </a:t>
            </a:r>
            <a:r>
              <a:rPr lang="ko-KR" altLang="en-US" sz="1200"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입력받아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DUTM 4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 축 기반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 유형의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MBTI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로 매장 정체성을 진단한다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점주는 복잡한 데이터를 읽지 않아도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내 매장이 어떤 매장인지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직관적으로 파악할 수 있다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buNone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데이터를 정체성으로 번역하는 진단 메커니즘</a:t>
            </a:r>
          </a:p>
          <a:p>
            <a:pPr>
              <a:buNone/>
            </a:pPr>
            <a:b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buNone/>
            </a:pPr>
            <a:r>
              <a:rPr lang="ko-KR" alt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차별점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2.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상권 단위 클러스터링</a:t>
            </a: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buNone/>
            </a:pP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같은 상권에 속한 매장들의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MBTI</a:t>
            </a:r>
            <a:r>
              <a:rPr lang="ko-KR" altLang="en-US" sz="1200"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를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200"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클러스터링하여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상권 전체의 정체성을 데이터 기반으로 도출한다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기존 서비스가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 점포의 매출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을 보여주는 데 그쳤다면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상권 더하기는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 상권이 어떤 상권인지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1200"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를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정의한다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buNone/>
            </a:pP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 클러스터링 결과가 곧 공동 브랜딩의 기반이 된다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같은 상권 내 점주들이 흩어진 개인이 아니라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하나의 정체성을 공유하는 공동체로 묶이는 것이다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buNone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점포 단위 분석을 상권 단위 브랜딩으로 확장하는 기반 기술</a:t>
            </a:r>
          </a:p>
          <a:p>
            <a:pPr>
              <a:buNone/>
            </a:pPr>
            <a:b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buNone/>
            </a:pPr>
            <a:r>
              <a:rPr lang="ko-KR" alt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차별점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3. </a:t>
            </a:r>
            <a:r>
              <a:rPr lang="ko-KR" alt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멀티에이전트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시스템</a:t>
            </a: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buNone/>
            </a:pP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단일 모델이 모든 답을 내놓는 방식이 아니다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역할이 분화된 다수의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AI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에이전트가 매장 진단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상권 해석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공동 고민 도출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솔루션 제안을 분업하여 처리한다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각 에이전트가 자신의 영역을 깊이 있게 다루기 때문에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단일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LLM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호출보다 정밀하고 맥락에 맞는 결과를 생성할 수 있다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buNone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분업 구조로 분석 깊이와 정밀도를 동시에 확보하는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AI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아키텍처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715D77-6B0C-BAED-F224-2CD7D80AE7A1}"/>
              </a:ext>
            </a:extLst>
          </p:cNvPr>
          <p:cNvSpPr txBox="1"/>
          <p:nvPr/>
        </p:nvSpPr>
        <p:spPr>
          <a:xfrm>
            <a:off x="3046324" y="957886"/>
            <a:ext cx="6099348" cy="3385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상권 더하기는 시장의 공백을 세 가지 기술적 차별점으로 메운다</a:t>
            </a:r>
            <a:r>
              <a:rPr lang="en-US" altLang="ko-KR" sz="16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ko-KR" altLang="en-US" sz="16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0A4CB-CF5E-7B1F-8803-2247AC7C13E3}"/>
              </a:ext>
            </a:extLst>
          </p:cNvPr>
          <p:cNvSpPr txBox="1"/>
          <p:nvPr/>
        </p:nvSpPr>
        <p:spPr>
          <a:xfrm>
            <a:off x="2664906" y="5765245"/>
            <a:ext cx="6862185" cy="46166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r>
              <a:rPr lang="ko-KR" alt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한줄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요약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매장을 진단하고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(MBTI),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상권을 묶고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클러스터링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),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정밀하게 해석하는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멀티에이전트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) </a:t>
            </a:r>
          </a:p>
          <a:p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—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세 기술의 결합으로 시장에 부재했던 공동 브랜딩이라는 가치를 만든다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6317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A1CB3E2-8B6B-43F6-BEB0-C2D6CD2D5BC4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flipH="1">
            <a:off x="10445750" y="2321985"/>
            <a:ext cx="0" cy="1730375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2BFCA53-3070-40B4-9E49-602A46E112E2}"/>
              </a:ext>
            </a:extLst>
          </p:cNvPr>
          <p:cNvCxnSpPr>
            <a:cxnSpLocks/>
            <a:stCxn id="10" idx="2"/>
            <a:endCxn id="18" idx="2"/>
          </p:cNvCxnSpPr>
          <p:nvPr/>
        </p:nvCxnSpPr>
        <p:spPr>
          <a:xfrm flipH="1">
            <a:off x="7537451" y="2321985"/>
            <a:ext cx="793" cy="2840038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27F5D09-E0D8-4A61-90B2-2160B54F6638}"/>
              </a:ext>
            </a:extLst>
          </p:cNvPr>
          <p:cNvCxnSpPr>
            <a:cxnSpLocks/>
            <a:stCxn id="9" idx="2"/>
            <a:endCxn id="20" idx="2"/>
          </p:cNvCxnSpPr>
          <p:nvPr/>
        </p:nvCxnSpPr>
        <p:spPr>
          <a:xfrm flipH="1">
            <a:off x="4624908" y="2321985"/>
            <a:ext cx="4242" cy="3544888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E9BF304-807A-4E9B-9E0E-3CC503F97C4F}"/>
              </a:ext>
            </a:extLst>
          </p:cNvPr>
          <p:cNvCxnSpPr>
            <a:stCxn id="8" idx="2"/>
            <a:endCxn id="25" idx="2"/>
          </p:cNvCxnSpPr>
          <p:nvPr/>
        </p:nvCxnSpPr>
        <p:spPr>
          <a:xfrm flipH="1">
            <a:off x="1720850" y="2321985"/>
            <a:ext cx="0" cy="2135188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EC751FF-C8FA-4460-B547-0BF617900AC0}"/>
              </a:ext>
            </a:extLst>
          </p:cNvPr>
          <p:cNvSpPr/>
          <p:nvPr/>
        </p:nvSpPr>
        <p:spPr>
          <a:xfrm>
            <a:off x="706438" y="1915585"/>
            <a:ext cx="2027237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홈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2F5491A-68E3-45E7-AD7F-DA0529569DE8}"/>
              </a:ext>
            </a:extLst>
          </p:cNvPr>
          <p:cNvSpPr/>
          <p:nvPr/>
        </p:nvSpPr>
        <p:spPr>
          <a:xfrm>
            <a:off x="3616325" y="1915585"/>
            <a:ext cx="2025650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+</a:t>
            </a:r>
            <a:endParaRPr lang="ko-KR" altLang="en-US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E16AA7-D93D-4D8C-9E32-E019D4494A75}"/>
              </a:ext>
            </a:extLst>
          </p:cNvPr>
          <p:cNvSpPr/>
          <p:nvPr/>
        </p:nvSpPr>
        <p:spPr>
          <a:xfrm>
            <a:off x="6524625" y="1915585"/>
            <a:ext cx="2027238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</a:t>
            </a:r>
            <a:r>
              <a:rPr lang="en-US" altLang="ko-KR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+</a:t>
            </a:r>
            <a:endParaRPr lang="ko-KR" altLang="en-US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767D155-C38E-4476-AFCE-03D8AE617BED}"/>
              </a:ext>
            </a:extLst>
          </p:cNvPr>
          <p:cNvSpPr/>
          <p:nvPr/>
        </p:nvSpPr>
        <p:spPr>
          <a:xfrm>
            <a:off x="9432925" y="1915585"/>
            <a:ext cx="2027238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활동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B3EFB44-A441-4F51-B6DA-5D0A1DC2FCE4}"/>
              </a:ext>
            </a:extLst>
          </p:cNvPr>
          <p:cNvSpPr/>
          <p:nvPr/>
        </p:nvSpPr>
        <p:spPr>
          <a:xfrm>
            <a:off x="985838" y="264266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현황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6EED377-A429-40B5-87C9-C6C299B75C6F}"/>
              </a:ext>
            </a:extLst>
          </p:cNvPr>
          <p:cNvSpPr/>
          <p:nvPr/>
        </p:nvSpPr>
        <p:spPr>
          <a:xfrm>
            <a:off x="3894138" y="264266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분석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4BB707-9D32-4AA8-ACC5-A90B902FCDCA}"/>
              </a:ext>
            </a:extLst>
          </p:cNvPr>
          <p:cNvSpPr/>
          <p:nvPr/>
        </p:nvSpPr>
        <p:spPr>
          <a:xfrm>
            <a:off x="6802438" y="264266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결과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54FDC50-12C5-44B1-A490-5EF27CC8576E}"/>
              </a:ext>
            </a:extLst>
          </p:cNvPr>
          <p:cNvSpPr/>
          <p:nvPr/>
        </p:nvSpPr>
        <p:spPr>
          <a:xfrm>
            <a:off x="9710738" y="2642660"/>
            <a:ext cx="1471612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정보 관리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7CF1A55-6466-43C3-963E-C832F51D7FA5}"/>
              </a:ext>
            </a:extLst>
          </p:cNvPr>
          <p:cNvSpPr/>
          <p:nvPr/>
        </p:nvSpPr>
        <p:spPr>
          <a:xfrm>
            <a:off x="985838" y="334751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가게 상태 요약</a:t>
            </a:r>
            <a:endParaRPr lang="en-US" altLang="ko-KR" sz="14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96986AE-BFEE-417F-ACBC-F11849A96A64}"/>
              </a:ext>
            </a:extLst>
          </p:cNvPr>
          <p:cNvSpPr/>
          <p:nvPr/>
        </p:nvSpPr>
        <p:spPr>
          <a:xfrm>
            <a:off x="3894138" y="334751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결과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08C40E6-ACCE-4AF4-BA72-251570BD36AD}"/>
              </a:ext>
            </a:extLst>
          </p:cNvPr>
          <p:cNvSpPr/>
          <p:nvPr/>
        </p:nvSpPr>
        <p:spPr>
          <a:xfrm>
            <a:off x="6802438" y="475721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함께 더하기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2C03A4A-0F61-421E-BB7B-8C355F1D841C}"/>
              </a:ext>
            </a:extLst>
          </p:cNvPr>
          <p:cNvSpPr/>
          <p:nvPr/>
        </p:nvSpPr>
        <p:spPr>
          <a:xfrm>
            <a:off x="3894138" y="405236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</a:p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솔루션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70968DC-BD57-48BB-AF8F-33F9D92CBC1B}"/>
              </a:ext>
            </a:extLst>
          </p:cNvPr>
          <p:cNvSpPr/>
          <p:nvPr/>
        </p:nvSpPr>
        <p:spPr>
          <a:xfrm>
            <a:off x="3889895" y="5462060"/>
            <a:ext cx="1470025" cy="404813"/>
          </a:xfrm>
          <a:prstGeom prst="roundRect">
            <a:avLst/>
          </a:prstGeom>
          <a:solidFill>
            <a:srgbClr val="FEB45D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솔루션  마켓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412F8A0-0FB1-4008-B36B-609E247C0028}"/>
              </a:ext>
            </a:extLst>
          </p:cNvPr>
          <p:cNvSpPr/>
          <p:nvPr/>
        </p:nvSpPr>
        <p:spPr>
          <a:xfrm>
            <a:off x="9710738" y="3347510"/>
            <a:ext cx="1471612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진단 보관함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9518B24-694F-4683-B650-63C5FC684769}"/>
              </a:ext>
            </a:extLst>
          </p:cNvPr>
          <p:cNvSpPr/>
          <p:nvPr/>
        </p:nvSpPr>
        <p:spPr>
          <a:xfrm>
            <a:off x="3878263" y="475721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</a:p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재분석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2FF6B86-A5FA-497D-A967-C0DD7C822E92}"/>
              </a:ext>
            </a:extLst>
          </p:cNvPr>
          <p:cNvSpPr/>
          <p:nvPr/>
        </p:nvSpPr>
        <p:spPr>
          <a:xfrm>
            <a:off x="9710738" y="4052360"/>
            <a:ext cx="1471612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활동 배지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8FF3BE5-D6DD-494E-BF06-5F8B5A5DB306}"/>
              </a:ext>
            </a:extLst>
          </p:cNvPr>
          <p:cNvSpPr/>
          <p:nvPr/>
        </p:nvSpPr>
        <p:spPr>
          <a:xfrm>
            <a:off x="6802438" y="334751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클러스터 맵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BDC9621-5B62-4EDF-B5B5-E6DE9C1A3C50}"/>
              </a:ext>
            </a:extLst>
          </p:cNvPr>
          <p:cNvSpPr/>
          <p:nvPr/>
        </p:nvSpPr>
        <p:spPr>
          <a:xfrm>
            <a:off x="985838" y="405236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성공 상권  사례</a:t>
            </a:r>
            <a:endParaRPr lang="en-US" altLang="ko-KR" sz="14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29721" name="TextBox 25">
            <a:extLst>
              <a:ext uri="{FF2B5EF4-FFF2-40B4-BE49-F238E27FC236}">
                <a16:creationId xmlns:a16="http://schemas.microsoft.com/office/drawing/2014/main" id="{D2FA1197-FC2F-4367-8A5D-684BFF6A1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863" y="2642660"/>
            <a:ext cx="1227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우리 상권 이름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참여율</a:t>
            </a:r>
          </a:p>
        </p:txBody>
      </p:sp>
      <p:sp>
        <p:nvSpPr>
          <p:cNvPr id="29722" name="TextBox 26">
            <a:extLst>
              <a:ext uri="{FF2B5EF4-FFF2-40B4-BE49-F238E27FC236}">
                <a16:creationId xmlns:a16="http://schemas.microsoft.com/office/drawing/2014/main" id="{FBA3BDB0-866D-4E20-AF7E-7184BF338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325" y="3320523"/>
            <a:ext cx="10334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MBTI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요약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문제 한 줄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55FF0E1-75AB-4014-8F11-F09EDB5B5043}"/>
              </a:ext>
            </a:extLst>
          </p:cNvPr>
          <p:cNvSpPr/>
          <p:nvPr/>
        </p:nvSpPr>
        <p:spPr>
          <a:xfrm>
            <a:off x="6802438" y="405236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고민</a:t>
            </a:r>
          </a:p>
        </p:txBody>
      </p:sp>
      <p:sp>
        <p:nvSpPr>
          <p:cNvPr id="29724" name="TextBox 28">
            <a:extLst>
              <a:ext uri="{FF2B5EF4-FFF2-40B4-BE49-F238E27FC236}">
                <a16:creationId xmlns:a16="http://schemas.microsoft.com/office/drawing/2014/main" id="{E58E4165-EA5E-4F18-86C5-77191ABCD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288" y="5432429"/>
            <a:ext cx="2455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솔루션 도와줄 수 있는 마켓 제안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B2B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중개 수수료</a:t>
            </a:r>
          </a:p>
        </p:txBody>
      </p:sp>
      <p:sp>
        <p:nvSpPr>
          <p:cNvPr id="29725" name="TextBox 29">
            <a:extLst>
              <a:ext uri="{FF2B5EF4-FFF2-40B4-BE49-F238E27FC236}">
                <a16:creationId xmlns:a16="http://schemas.microsoft.com/office/drawing/2014/main" id="{4C69DD6F-FB47-4B09-B04C-C69C9995B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8200" y="4547660"/>
            <a:ext cx="1863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내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다른 가게 사장님 </a:t>
            </a:r>
            <a:b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</a:b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유입 시킬 경우 배지 증정</a:t>
            </a:r>
          </a:p>
        </p:txBody>
      </p:sp>
      <p:sp>
        <p:nvSpPr>
          <p:cNvPr id="29727" name="TextBox 31">
            <a:extLst>
              <a:ext uri="{FF2B5EF4-FFF2-40B4-BE49-F238E27FC236}">
                <a16:creationId xmlns:a16="http://schemas.microsoft.com/office/drawing/2014/main" id="{403E748D-4F8B-45AE-B1EC-CEA90BD0C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38" y="864660"/>
            <a:ext cx="72231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나의 매장이 모여 우리 상권의 이름이 되는 곳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더하기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[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더하기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]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는 파편화된 매장의 데이터를 모아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숨겨진 상권의 가치를 더하고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지속 가능한 상생의 내일을 만듭니다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lang="ko-KR" altLang="en-US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71BB4BBC-558A-4FCE-9087-F8BB0F945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4079" y="-369179"/>
            <a:ext cx="4420656" cy="2947104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520AA98-E506-4B32-85EB-C462771E6D6E}"/>
              </a:ext>
            </a:extLst>
          </p:cNvPr>
          <p:cNvSpPr/>
          <p:nvPr/>
        </p:nvSpPr>
        <p:spPr>
          <a:xfrm>
            <a:off x="9301145" y="5032114"/>
            <a:ext cx="2455863" cy="653521"/>
          </a:xfrm>
          <a:prstGeom prst="roundRect">
            <a:avLst>
              <a:gd name="adj" fmla="val 4656"/>
            </a:avLst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solidFill>
                  <a:srgbClr val="FF0000"/>
                </a:solidFill>
                <a:latin typeface="+mn-ea"/>
                <a:ea typeface="+mn-ea"/>
              </a:rPr>
              <a:t>내 활동 페이지 예시가 없어도 괜찮을까요</a:t>
            </a:r>
            <a:r>
              <a:rPr lang="en-US" altLang="ko-KR" sz="900" dirty="0">
                <a:solidFill>
                  <a:srgbClr val="FF0000"/>
                </a:solidFill>
                <a:latin typeface="+mn-ea"/>
                <a:ea typeface="+mn-ea"/>
              </a:rPr>
              <a:t>..?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22AD9C-BAFC-6F43-9AE5-A6EB5267654F}"/>
              </a:ext>
            </a:extLst>
          </p:cNvPr>
          <p:cNvSpPr txBox="1"/>
          <p:nvPr/>
        </p:nvSpPr>
        <p:spPr>
          <a:xfrm>
            <a:off x="452120" y="843280"/>
            <a:ext cx="11287760" cy="569970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 algn="l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시장성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포지셔닝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상권 분석 시장은 크게 두가지 유형으로 나뉨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첫째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무료 서비스로 데이터 시각화에 치중되어 실제 운영 판단을 사용자가 직접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수행해야함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둘째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민간 서비스의 경우 고비용 또는 개별 점포 분석에 한정되어 있음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전체를 하나의 브랜드로 상생하는 서비스는 현재 시장에서 존재하지 않음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타겟 고객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타겟 고객은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서울시 내 골목상권 소상공인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솔루션 마켓 통해 소상공인에게 서비스 제공하려는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B2B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파트너사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3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데이터 축적 이후 상권 활성화 정책 수립을 필요로 하는 서울시 및 자치구 지자체로 확장 가능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브랜딩 실증 효과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로컬브랜드 상권 브랜딩 실증 결과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비지원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대비 매출 증가율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+2.9%,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일부 상권 최대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29%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증가로 시장 수요 검증 완료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정책 연계 가능성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로컬브랜드 상권 육성사업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3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상권별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년간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억 원 투입으로 공공 예산이 이미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집행중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골목상권 활성화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자치구별 상권 맞춤형 사업 등 상권 브랜딩 관련 정책 수요 지속 확대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상권 분석 서비스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고도화 사업과 방향성 정합으로 공공 협력 가능성 보유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더하기가 축적한 데이터 지자체 정책 수립의 근거 자료로 활용 가능한 공공 자산으로 발전 가능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검증된 수요와 명백한 공백 속에서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더하기는 소상공인부터 지자체까지 연결되는 상권 브랜딩 플랫폼으로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서울시 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1,090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개 골목상권을 실질적으로 공략할 수 있는 시장성을 보유하고 있음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C8A45C7-0C04-2157-9C25-F43A0A847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880" y="746271"/>
            <a:ext cx="2580640" cy="205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218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23287-8DBC-AF01-016D-16844FF7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80ED46-48DE-1195-F96A-F6FC26F409CA}"/>
              </a:ext>
            </a:extLst>
          </p:cNvPr>
          <p:cNvSpPr txBox="1"/>
          <p:nvPr/>
        </p:nvSpPr>
        <p:spPr>
          <a:xfrm>
            <a:off x="452120" y="700062"/>
            <a:ext cx="11287760" cy="3889976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 algn="l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사업화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비즈니스 모델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더하기의 핵심 운영 구조는 가게가 하나씩 합류할수록 상권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업데이트되고 브랜딩이 진화하는 살아있는 플랫폼에 있음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진단 무료 제공으로 점주 유입 → 플랫폼 내 광고 수익 발생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솔루션 마켓 내 파트너사 노출 및 정보 제공으로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리스팅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피 수취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축적 이후 지자체 대상 상권 분석 리포트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B2G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납푸으로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수익 확장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진입 구조와 확산 구조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무료 진단으로 진입 장벽을 최소화하여 초기 점주 유입을 자연스럽게 유도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명의 점주가 합류하면 같은 상권 점주들이 자연스럽게 합류하는 네트워크 효과 작동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정교해질수록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점주들의 이탈 동기가 낮아지는 자연스러운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락인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효과 형성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진입 장벽이 낮고 확산 구조가 내재된 비즈니스 모델로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초기 투자 대비 빠르게 시장을 확보할 수 있으며 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플랫폼 가치가 높아지는 구조로 지속 가능한 사업화 기반을 갖춤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182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9A113-443E-8EC5-7131-11FE4608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0DEDB8-D03C-EDD8-6B0D-2DA9AE11DA54}"/>
              </a:ext>
            </a:extLst>
          </p:cNvPr>
          <p:cNvSpPr txBox="1"/>
          <p:nvPr/>
        </p:nvSpPr>
        <p:spPr>
          <a:xfrm>
            <a:off x="452120" y="700062"/>
            <a:ext cx="11287760" cy="4407040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 algn="l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매출 발생 및 투자 가능성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매출 발생 구조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수익원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광고 및 파트너사 노출 수수료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B2G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납품 본격화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경쟁 우위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상권 브랜딩은 해당 상권 점주들의 참여로만 만들어지기 때문에 타 서비스가 복제할 수 없는 고유 데이터 자산 지속 축적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참여 점주 증가는 데이터 축적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브랜딩 고도화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점주 유입의 구조로 후발 진입자가 따라오기 어려운 선점 효과 지님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 공동 브랜딩이 점주 간 협력 문화를 형성하고 지역 상생으로 이어지는 사회적 가치 실현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발전 가능성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데이터가 쌓일수록 플랫폼 가치가 높아지는 구조로 선점한 플랫폼이 절대적으로 유리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공공 정책과 방향성이 일치하여 지자체 납품으로의 자연스러운 수익 확장 경로 확보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장기적으로 상권 침체를 사전에 예측하고 선제 대응하는 서울시 상권 조기경보 시스템으로 발전 가능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초기 광고 수익부터 장기 지자체 납품 까지 명확한 수익 경로를 보유하고 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소상공인 생존율 향상과 지역 상생이라는 사회적 가치를 동시에 실현하는 서비스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4178934"/>
      </p:ext>
    </p:extLst>
  </p:cSld>
  <p:clrMapOvr>
    <a:masterClrMapping/>
  </p:clrMapOvr>
</p:sld>
</file>

<file path=ppt/theme/theme1.xml><?xml version="1.0" encoding="utf-8"?>
<a:theme xmlns:a="http://schemas.openxmlformats.org/drawingml/2006/main" name="2_내지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85000"/>
            </a:schemeClr>
          </a:solidFill>
          <a:miter/>
        </a:ln>
        <a:effectLst/>
      </a:spPr>
      <a:bodyPr lIns="0" tIns="0" rIns="0" bIns="0" rtlCol="0" anchor="ctr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0" sz="8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latin typeface="+mn-ea"/>
            <a:ea typeface="+mn-ea"/>
            <a:sym typeface="Gill Sans"/>
          </a:defRPr>
        </a:defPPr>
      </a:lstStyle>
    </a:spDef>
    <a:lnDef>
      <a:spPr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</a:ln>
        <a:effectLst/>
      </a:spPr>
      <a:bodyPr/>
      <a:lstStyle/>
    </a:lnDef>
    <a:txDef>
      <a:spPr>
        <a:noFill/>
        <a:ln w="9525" algn="ctr">
          <a:noFill/>
          <a:miter/>
        </a:ln>
        <a:effectLst/>
      </a:spPr>
      <a:bodyPr wrap="none" lIns="0" tIns="0" rIns="0" bIns="0" rtlCol="0">
        <a:spAutoFit/>
      </a:bodyPr>
      <a:lstStyle>
        <a:defPPr algn="l" latinLnBrk="0">
          <a:lnSpc>
            <a:spcPct val="140000"/>
          </a:lnSpc>
          <a:defRPr b="0" dirty="0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33790</TotalTime>
  <Words>4955</Words>
  <Application>Microsoft Office PowerPoint</Application>
  <PresentationFormat>와이드스크린</PresentationFormat>
  <Paragraphs>551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Pretendard</vt:lpstr>
      <vt:lpstr>NanumGothic</vt:lpstr>
      <vt:lpstr>맑은 고딕</vt:lpstr>
      <vt:lpstr>Arial</vt:lpstr>
      <vt:lpstr>Optima</vt:lpstr>
      <vt:lpstr>Times New Roman</vt:lpstr>
      <vt:lpstr>Wingdings</vt:lpstr>
      <vt:lpstr>2_내지1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YTJ</Manager>
  <Company>SAC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제목 없음</dc:title>
  <dc:subject>작성 표준 양식</dc:subject>
  <dc:creator>mano</dc:creator>
  <cp:lastModifiedBy>이승건(대학원생-비즈니스IT전공)</cp:lastModifiedBy>
  <cp:revision>23461</cp:revision>
  <cp:lastPrinted>2021-04-20T06:28:29Z</cp:lastPrinted>
  <dcterms:created xsi:type="dcterms:W3CDTF">2000-07-20T05:38:02Z</dcterms:created>
  <dcterms:modified xsi:type="dcterms:W3CDTF">2026-05-06T15:05:50Z</dcterms:modified>
</cp:coreProperties>
</file>