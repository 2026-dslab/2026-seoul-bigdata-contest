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9BED"/>
    <a:srgbClr val="FFCC66"/>
    <a:srgbClr val="5683D0"/>
    <a:srgbClr val="F6F5F7"/>
    <a:srgbClr val="A3CD89"/>
    <a:srgbClr val="73AB52"/>
    <a:srgbClr val="71A850"/>
    <a:srgbClr val="75AC53"/>
    <a:srgbClr val="D92FF5"/>
    <a:srgbClr val="FF4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18" autoAdjust="0"/>
  </p:normalViewPr>
  <p:slideViewPr>
    <p:cSldViewPr snapToGrid="0">
      <p:cViewPr varScale="1">
        <p:scale>
          <a:sx n="87" d="100"/>
          <a:sy n="87" d="100"/>
        </p:scale>
        <p:origin x="120" y="6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7E46F-B36E-448D-82D2-486DFE961E56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E9D14-385B-41A2-965B-658AACE65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90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C1BD8-D3B0-4FA8-996A-A69A4AF79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DDE1A5-3920-49F7-AC27-44DC6807E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49E0C1-EFFC-4EF6-B13C-607E6CC7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CAEA4-32B3-4B52-9FD1-17C49126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B3605F-BF0B-4DA6-B413-16BC8108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50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9C818-B8B6-4329-A5A3-98991D0A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3B36D-4F86-4DF3-9451-CFDF2F8F2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FD594-2330-43E3-9240-B5E89D54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9CE391-BB84-4DB6-8253-A462CCAB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DFBE29-6FE7-4990-BCFE-C45A68ED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9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A203E-B311-4F5D-B7CA-3704D0F4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71001-1C4D-4536-9EF1-63FB42AF5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75BE52-6B39-44F5-944C-383FE74C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008FA-EBE0-40E2-B2B3-5084E098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CEB1B4-9E88-492D-B0D9-3F4D39FA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96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6369E-2A9E-4137-8D9D-55128B10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A234D-F8EB-4E6F-BA19-E3EAB9A2A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7692ED-800B-4171-A803-D894A2258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E580D-007D-4E2F-A72F-3797F46E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3E7018-856C-48B6-8FCD-3BE0AE4FD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E32B3B-2A61-434F-8268-D28743E32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01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93D98-3693-402B-B2B9-549A3476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F415E-2EBA-4BE2-BDD4-031FECC78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38A6C4-3B19-4DDD-A896-99A9F956D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E54ACD-FD57-4FB3-AE0C-F52A4DEDA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830E84-7E35-4681-8C61-AC4EEEF0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C0ABDC-F3F3-4017-811A-F18D5650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B1A38-15E4-452B-A15C-82CB1DFC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C07C97-88A9-4D98-848F-662DB353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44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12149-45D7-42C8-A653-20EFB1BB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05F860-88C6-457F-85AD-21701920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0AEDBE-90FB-4C30-906F-4658EBE1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538AEA-4B33-4E67-8B71-8084530B3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72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32F29D-00D2-4431-80FC-234CDD7B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D49235-B6FF-49F1-9C0D-5AEED9AE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DD80AD-D159-4523-9088-04A84767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4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0C416-056F-4909-B7B8-0D0084526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4B75A-A3DD-4E24-A83D-36D705649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C143FB-C3C1-4CE2-8311-F0BAFA3A8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6702CC-82A5-49A5-AAB5-2E37C79B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2BC999-B2E7-4395-BBAB-BE26BC17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96779D-919F-49A0-BC3A-D4EA551A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809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8157A-46F0-46DA-B984-08F4C9D5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04EF59-AAD5-4AAB-A9CF-C6D836B86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44DD30-E4A3-4FC7-B03A-C5BFAD746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4A2684-078F-4DB8-9801-8A00D069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EB7945-BC62-4ECE-8446-C891EA91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BC1D1F-A9BC-4260-A2E0-E0C50B59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031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D348BA-241C-4DE7-99D6-5706BB7B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E95844-E198-4CC4-AE9D-8556B1CE7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24EE95-3B1C-4A38-AF84-8EE5CA566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71D2D-0D9E-4E55-B076-6FFF79EC7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B13991-5154-4568-869D-B1B0E284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033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A6E1DA-E622-4D58-8CE1-2AA51A60B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2441C7-29D9-43F0-A0CD-8932A0A7E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64A368-39BD-407C-B8FA-E7DCC805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46EC99-141C-4F55-A780-6DE04BBC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A95C99-AA86-4B84-ABCB-6770FD34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2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525EE2-88E5-4037-A515-750E07D9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5D4255-1582-4FA5-B9B9-B59DE8549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A7E36-3D81-49AA-B9B9-3ECDC178B1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A7197-8235-4E7A-BCE4-33C09BF0AC50}" type="datetimeFigureOut">
              <a:rPr lang="ko-KR" altLang="en-US" smtClean="0"/>
              <a:t>2026-04-19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4A4FB0-D075-4395-AD35-ADEB93002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6792CE-7935-4C32-84C8-9BE41F615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3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문서 6">
            <a:extLst>
              <a:ext uri="{FF2B5EF4-FFF2-40B4-BE49-F238E27FC236}">
                <a16:creationId xmlns:a16="http://schemas.microsoft.com/office/drawing/2014/main" id="{1D5FA811-B9CE-4A68-81BF-559D2F683197}"/>
              </a:ext>
            </a:extLst>
          </p:cNvPr>
          <p:cNvSpPr/>
          <p:nvPr/>
        </p:nvSpPr>
        <p:spPr>
          <a:xfrm>
            <a:off x="2422683" y="2219318"/>
            <a:ext cx="980793" cy="521208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User Input</a:t>
            </a:r>
            <a:endParaRPr lang="ko-KR" altLang="en-US" sz="12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4B30D98-C498-4BAB-84D1-31A3E7063DE7}"/>
              </a:ext>
            </a:extLst>
          </p:cNvPr>
          <p:cNvSpPr/>
          <p:nvPr/>
        </p:nvSpPr>
        <p:spPr>
          <a:xfrm>
            <a:off x="3771592" y="2230334"/>
            <a:ext cx="950308" cy="498276"/>
          </a:xfrm>
          <a:prstGeom prst="round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Enrich Data </a:t>
            </a:r>
          </a:p>
        </p:txBody>
      </p:sp>
      <p:sp>
        <p:nvSpPr>
          <p:cNvPr id="12" name="순서도: 문서 11">
            <a:extLst>
              <a:ext uri="{FF2B5EF4-FFF2-40B4-BE49-F238E27FC236}">
                <a16:creationId xmlns:a16="http://schemas.microsoft.com/office/drawing/2014/main" id="{81BFC99E-71A5-496B-854C-0A6BAED7D61D}"/>
              </a:ext>
            </a:extLst>
          </p:cNvPr>
          <p:cNvSpPr/>
          <p:nvPr/>
        </p:nvSpPr>
        <p:spPr>
          <a:xfrm>
            <a:off x="5086312" y="2188064"/>
            <a:ext cx="1109206" cy="582376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Enriched Data </a:t>
            </a:r>
            <a:r>
              <a:rPr lang="en-US" altLang="ko-KR" sz="11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Dict</a:t>
            </a:r>
            <a:r>
              <a:rPr lang="en-US" altLang="ko-KR" sz="11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(json)</a:t>
            </a:r>
            <a:endParaRPr lang="ko-KR" altLang="en-US" sz="11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순서도: 자기 디스크 25">
            <a:extLst>
              <a:ext uri="{FF2B5EF4-FFF2-40B4-BE49-F238E27FC236}">
                <a16:creationId xmlns:a16="http://schemas.microsoft.com/office/drawing/2014/main" id="{E6B8FA6A-5EE4-49AC-9758-1470308B94B9}"/>
              </a:ext>
            </a:extLst>
          </p:cNvPr>
          <p:cNvSpPr/>
          <p:nvPr/>
        </p:nvSpPr>
        <p:spPr>
          <a:xfrm>
            <a:off x="2250073" y="1077921"/>
            <a:ext cx="937982" cy="703077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카카오</a:t>
            </a:r>
            <a:r>
              <a:rPr lang="ko-KR" altLang="en-US" sz="1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API</a:t>
            </a:r>
            <a:endParaRPr lang="ko-KR" altLang="en-US" sz="1000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BDD1BB6-9938-4C58-8618-5C8602735FC2}"/>
              </a:ext>
            </a:extLst>
          </p:cNvPr>
          <p:cNvSpPr/>
          <p:nvPr/>
        </p:nvSpPr>
        <p:spPr>
          <a:xfrm>
            <a:off x="1252969" y="3391657"/>
            <a:ext cx="6057559" cy="2887960"/>
          </a:xfrm>
          <a:prstGeom prst="roundRect">
            <a:avLst/>
          </a:prstGeom>
          <a:noFill/>
          <a:ln>
            <a:solidFill>
              <a:srgbClr val="73AB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C2B08194-CEC0-409C-994E-8B3DC4F5DEE7}"/>
              </a:ext>
            </a:extLst>
          </p:cNvPr>
          <p:cNvSpPr/>
          <p:nvPr/>
        </p:nvSpPr>
        <p:spPr>
          <a:xfrm>
            <a:off x="1174133" y="678830"/>
            <a:ext cx="6057559" cy="2390303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2FA6D7-6BB2-4EE1-A13B-CF006F488F92}"/>
              </a:ext>
            </a:extLst>
          </p:cNvPr>
          <p:cNvSpPr txBox="1"/>
          <p:nvPr/>
        </p:nvSpPr>
        <p:spPr>
          <a:xfrm>
            <a:off x="2621499" y="714515"/>
            <a:ext cx="32504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Phase 1. </a:t>
            </a:r>
            <a:r>
              <a:rPr lang="ko-KR" altLang="en-US" sz="1100" b="1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사용자 </a:t>
            </a:r>
            <a:r>
              <a:rPr lang="ko-KR" altLang="en-US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입력 기반 데이터 융합</a:t>
            </a:r>
            <a:endParaRPr lang="en-US" altLang="ko-KR" sz="1100" b="1" dirty="0">
              <a:latin typeface="Arial Rounded MT Bold" panose="020F0704030504030204" pitchFamily="34" charset="0"/>
              <a:ea typeface="나눔고딕" panose="020D0604000000000000" pitchFamily="50" charset="-127"/>
            </a:endParaRPr>
          </a:p>
        </p:txBody>
      </p:sp>
      <p:sp>
        <p:nvSpPr>
          <p:cNvPr id="82" name="순서도: 자기 디스크 81">
            <a:extLst>
              <a:ext uri="{FF2B5EF4-FFF2-40B4-BE49-F238E27FC236}">
                <a16:creationId xmlns:a16="http://schemas.microsoft.com/office/drawing/2014/main" id="{2EA36000-79CB-4596-B940-EAE4BE743715}"/>
              </a:ext>
            </a:extLst>
          </p:cNvPr>
          <p:cNvSpPr/>
          <p:nvPr/>
        </p:nvSpPr>
        <p:spPr>
          <a:xfrm>
            <a:off x="3283445" y="1077920"/>
            <a:ext cx="937982" cy="703077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길단위인구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행정동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순서도: 자기 디스크 82">
            <a:extLst>
              <a:ext uri="{FF2B5EF4-FFF2-40B4-BE49-F238E27FC236}">
                <a16:creationId xmlns:a16="http://schemas.microsoft.com/office/drawing/2014/main" id="{B5A490D9-D879-4590-B37A-E7FD99D1FB73}"/>
              </a:ext>
            </a:extLst>
          </p:cNvPr>
          <p:cNvSpPr/>
          <p:nvPr/>
        </p:nvSpPr>
        <p:spPr>
          <a:xfrm>
            <a:off x="4309838" y="1077920"/>
            <a:ext cx="937982" cy="703077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점포 수 변화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행정동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5" name="순서도: 자기 디스크 84">
            <a:extLst>
              <a:ext uri="{FF2B5EF4-FFF2-40B4-BE49-F238E27FC236}">
                <a16:creationId xmlns:a16="http://schemas.microsoft.com/office/drawing/2014/main" id="{67DBBDC0-192C-4C98-93FB-D4089ACE3252}"/>
              </a:ext>
            </a:extLst>
          </p:cNvPr>
          <p:cNvSpPr/>
          <p:nvPr/>
        </p:nvSpPr>
        <p:spPr>
          <a:xfrm>
            <a:off x="5336231" y="1077920"/>
            <a:ext cx="937982" cy="703077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추정 매출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행정동</a:t>
            </a:r>
            <a:r>
              <a:rPr lang="en-US" altLang="ko-KR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7D26BE3-E8E6-4612-A9E8-A6BCF986FB3A}"/>
              </a:ext>
            </a:extLst>
          </p:cNvPr>
          <p:cNvSpPr/>
          <p:nvPr/>
        </p:nvSpPr>
        <p:spPr>
          <a:xfrm>
            <a:off x="2130700" y="1000725"/>
            <a:ext cx="4222798" cy="8812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B54CD7E-10FC-4A48-979B-44FA18C4FBBD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3403476" y="2479472"/>
            <a:ext cx="368116" cy="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B3986567-B59B-4242-AF9F-F0BDDC8FA430}"/>
              </a:ext>
            </a:extLst>
          </p:cNvPr>
          <p:cNvSpPr/>
          <p:nvPr/>
        </p:nvSpPr>
        <p:spPr>
          <a:xfrm>
            <a:off x="3454265" y="4120674"/>
            <a:ext cx="2033883" cy="449375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251DFF3-B11B-428E-828B-11EE545873A5}"/>
              </a:ext>
            </a:extLst>
          </p:cNvPr>
          <p:cNvSpPr txBox="1"/>
          <p:nvPr/>
        </p:nvSpPr>
        <p:spPr>
          <a:xfrm>
            <a:off x="2845959" y="3396607"/>
            <a:ext cx="32504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Phase 2. </a:t>
            </a:r>
            <a:r>
              <a:rPr lang="ko-KR" altLang="en-US" sz="1100" b="1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다면적 상권 심층 분석</a:t>
            </a:r>
            <a:endParaRPr lang="en-US" altLang="ko-KR" sz="1100" b="1" dirty="0">
              <a:latin typeface="Arial Rounded MT Bold" panose="020F0704030504030204" pitchFamily="34" charset="0"/>
              <a:ea typeface="나눔고딕" panose="020D0604000000000000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7673AA92-D857-4C76-8443-8F5BA5A45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816" y="4154986"/>
            <a:ext cx="333227" cy="333227"/>
          </a:xfrm>
          <a:prstGeom prst="rect">
            <a:avLst/>
          </a:prstGeom>
        </p:spPr>
      </p:pic>
      <p:sp>
        <p:nvSpPr>
          <p:cNvPr id="122" name="순서도: 문서 121">
            <a:extLst>
              <a:ext uri="{FF2B5EF4-FFF2-40B4-BE49-F238E27FC236}">
                <a16:creationId xmlns:a16="http://schemas.microsoft.com/office/drawing/2014/main" id="{F9B0FCB8-B229-48B4-B813-B4102E427E1A}"/>
              </a:ext>
            </a:extLst>
          </p:cNvPr>
          <p:cNvSpPr/>
          <p:nvPr/>
        </p:nvSpPr>
        <p:spPr>
          <a:xfrm>
            <a:off x="1749274" y="3929762"/>
            <a:ext cx="1434600" cy="351470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역세권</a:t>
            </a:r>
          </a:p>
        </p:txBody>
      </p:sp>
      <p:sp>
        <p:nvSpPr>
          <p:cNvPr id="123" name="순서도: 문서 122">
            <a:extLst>
              <a:ext uri="{FF2B5EF4-FFF2-40B4-BE49-F238E27FC236}">
                <a16:creationId xmlns:a16="http://schemas.microsoft.com/office/drawing/2014/main" id="{4B2F1BA4-7F20-49A5-A815-18C843B98B63}"/>
              </a:ext>
            </a:extLst>
          </p:cNvPr>
          <p:cNvSpPr/>
          <p:nvPr/>
        </p:nvSpPr>
        <p:spPr>
          <a:xfrm>
            <a:off x="1749273" y="4317732"/>
            <a:ext cx="1434600" cy="351470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시간대별 유동인구</a:t>
            </a:r>
            <a:r>
              <a:rPr lang="en-US" altLang="ko-KR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매출</a:t>
            </a:r>
            <a:r>
              <a:rPr lang="en-US" altLang="ko-KR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,</a:t>
            </a:r>
          </a:p>
          <a:p>
            <a:pPr algn="ctr"/>
            <a:r>
              <a:rPr lang="ko-KR" altLang="en-US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성별</a:t>
            </a:r>
            <a:r>
              <a:rPr lang="en-US" altLang="ko-KR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연령 분포</a:t>
            </a:r>
          </a:p>
        </p:txBody>
      </p:sp>
      <p:sp>
        <p:nvSpPr>
          <p:cNvPr id="129" name="순서도: 문서 128">
            <a:extLst>
              <a:ext uri="{FF2B5EF4-FFF2-40B4-BE49-F238E27FC236}">
                <a16:creationId xmlns:a16="http://schemas.microsoft.com/office/drawing/2014/main" id="{0AE395C5-6359-4F7F-8FB4-4B473A935E58}"/>
              </a:ext>
            </a:extLst>
          </p:cNvPr>
          <p:cNvSpPr/>
          <p:nvPr/>
        </p:nvSpPr>
        <p:spPr>
          <a:xfrm>
            <a:off x="5780071" y="4120674"/>
            <a:ext cx="1333583" cy="449375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상권활성도 보고서</a:t>
            </a:r>
          </a:p>
        </p:txBody>
      </p:sp>
      <p:sp>
        <p:nvSpPr>
          <p:cNvPr id="130" name="순서도: 문서 129">
            <a:extLst>
              <a:ext uri="{FF2B5EF4-FFF2-40B4-BE49-F238E27FC236}">
                <a16:creationId xmlns:a16="http://schemas.microsoft.com/office/drawing/2014/main" id="{34BCFE24-D2E6-4183-8171-2A1C7EF4BBD9}"/>
              </a:ext>
            </a:extLst>
          </p:cNvPr>
          <p:cNvSpPr/>
          <p:nvPr/>
        </p:nvSpPr>
        <p:spPr>
          <a:xfrm>
            <a:off x="1749272" y="4718586"/>
            <a:ext cx="1434602" cy="351470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반경 내 유사점포 수</a:t>
            </a:r>
            <a:r>
              <a:rPr lang="en-US" altLang="ko-KR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,</a:t>
            </a:r>
          </a:p>
          <a:p>
            <a:pPr algn="ctr"/>
            <a:r>
              <a:rPr lang="ko-KR" altLang="en-US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개</a:t>
            </a:r>
            <a:r>
              <a:rPr lang="en-US" altLang="ko-KR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/</a:t>
            </a:r>
            <a:r>
              <a:rPr lang="ko-KR" altLang="en-US" sz="8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폐업률</a:t>
            </a:r>
            <a:r>
              <a:rPr lang="en-US" altLang="ko-KR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프랜차이즈 비율</a:t>
            </a:r>
          </a:p>
        </p:txBody>
      </p:sp>
      <p:sp>
        <p:nvSpPr>
          <p:cNvPr id="131" name="순서도: 문서 130">
            <a:extLst>
              <a:ext uri="{FF2B5EF4-FFF2-40B4-BE49-F238E27FC236}">
                <a16:creationId xmlns:a16="http://schemas.microsoft.com/office/drawing/2014/main" id="{AE71268B-5696-4985-9A87-8E94CF405C9B}"/>
              </a:ext>
            </a:extLst>
          </p:cNvPr>
          <p:cNvSpPr/>
          <p:nvPr/>
        </p:nvSpPr>
        <p:spPr>
          <a:xfrm>
            <a:off x="1749272" y="5123569"/>
            <a:ext cx="1434602" cy="351470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동 내 업종별 매출 순위</a:t>
            </a:r>
          </a:p>
        </p:txBody>
      </p:sp>
      <p:sp>
        <p:nvSpPr>
          <p:cNvPr id="133" name="순서도: 문서 132">
            <a:extLst>
              <a:ext uri="{FF2B5EF4-FFF2-40B4-BE49-F238E27FC236}">
                <a16:creationId xmlns:a16="http://schemas.microsoft.com/office/drawing/2014/main" id="{F1C82194-ADBD-42B1-8BD2-3F4CEB198054}"/>
              </a:ext>
            </a:extLst>
          </p:cNvPr>
          <p:cNvSpPr/>
          <p:nvPr/>
        </p:nvSpPr>
        <p:spPr>
          <a:xfrm>
            <a:off x="1749272" y="5510196"/>
            <a:ext cx="1434602" cy="351470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최대</a:t>
            </a:r>
            <a:r>
              <a:rPr lang="en-US" altLang="ko-KR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최소 매출 업종</a:t>
            </a: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1E4734EA-F8A8-435E-AA6A-B2BCAE2649FA}"/>
              </a:ext>
            </a:extLst>
          </p:cNvPr>
          <p:cNvSpPr/>
          <p:nvPr/>
        </p:nvSpPr>
        <p:spPr>
          <a:xfrm>
            <a:off x="3454265" y="4664733"/>
            <a:ext cx="2033883" cy="449375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pic>
        <p:nvPicPr>
          <p:cNvPr id="135" name="그림 134">
            <a:extLst>
              <a:ext uri="{FF2B5EF4-FFF2-40B4-BE49-F238E27FC236}">
                <a16:creationId xmlns:a16="http://schemas.microsoft.com/office/drawing/2014/main" id="{8482A4D3-1212-4167-BC4C-5BCD33642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816" y="4699045"/>
            <a:ext cx="333227" cy="333227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D95004AF-1ECE-4917-A2DA-991275EF0BDB}"/>
              </a:ext>
            </a:extLst>
          </p:cNvPr>
          <p:cNvSpPr txBox="1"/>
          <p:nvPr/>
        </p:nvSpPr>
        <p:spPr>
          <a:xfrm>
            <a:off x="3851773" y="4760999"/>
            <a:ext cx="1712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경쟁환경 분석 에이전트</a:t>
            </a:r>
            <a:endParaRPr lang="en-US" altLang="ko-KR" sz="1100" b="1" dirty="0">
              <a:latin typeface="Arial Rounded MT Bold" panose="020F0704030504030204" pitchFamily="34" charset="0"/>
              <a:ea typeface="나눔고딕" panose="020D0604000000000000" pitchFamily="50" charset="-127"/>
            </a:endParaRP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B65EA292-12D1-4730-89C8-47AB0F6319C9}"/>
              </a:ext>
            </a:extLst>
          </p:cNvPr>
          <p:cNvSpPr/>
          <p:nvPr/>
        </p:nvSpPr>
        <p:spPr>
          <a:xfrm>
            <a:off x="3454265" y="5192408"/>
            <a:ext cx="2033883" cy="449375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pic>
        <p:nvPicPr>
          <p:cNvPr id="138" name="그림 137">
            <a:extLst>
              <a:ext uri="{FF2B5EF4-FFF2-40B4-BE49-F238E27FC236}">
                <a16:creationId xmlns:a16="http://schemas.microsoft.com/office/drawing/2014/main" id="{DFA8781D-DAAA-497B-8E34-73282D340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816" y="5226720"/>
            <a:ext cx="333227" cy="333227"/>
          </a:xfrm>
          <a:prstGeom prst="rect">
            <a:avLst/>
          </a:prstGeom>
        </p:spPr>
      </p:pic>
      <p:sp>
        <p:nvSpPr>
          <p:cNvPr id="139" name="TextBox 138">
            <a:extLst>
              <a:ext uri="{FF2B5EF4-FFF2-40B4-BE49-F238E27FC236}">
                <a16:creationId xmlns:a16="http://schemas.microsoft.com/office/drawing/2014/main" id="{21EBEDC6-8D54-4A15-8758-0254EB4D940B}"/>
              </a:ext>
            </a:extLst>
          </p:cNvPr>
          <p:cNvSpPr txBox="1"/>
          <p:nvPr/>
        </p:nvSpPr>
        <p:spPr>
          <a:xfrm>
            <a:off x="3851773" y="5288674"/>
            <a:ext cx="1712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업종 추천 에이전트</a:t>
            </a:r>
            <a:endParaRPr lang="en-US" altLang="ko-KR" sz="1100" b="1" dirty="0">
              <a:latin typeface="Arial Rounded MT Bold" panose="020F0704030504030204" pitchFamily="34" charset="0"/>
              <a:ea typeface="나눔고딕" panose="020D0604000000000000" pitchFamily="50" charset="-127"/>
            </a:endParaRPr>
          </a:p>
        </p:txBody>
      </p:sp>
      <p:sp>
        <p:nvSpPr>
          <p:cNvPr id="140" name="순서도: 문서 139">
            <a:extLst>
              <a:ext uri="{FF2B5EF4-FFF2-40B4-BE49-F238E27FC236}">
                <a16:creationId xmlns:a16="http://schemas.microsoft.com/office/drawing/2014/main" id="{54A6AFDA-1A6B-41C3-9452-F49F2D3E760B}"/>
              </a:ext>
            </a:extLst>
          </p:cNvPr>
          <p:cNvSpPr/>
          <p:nvPr/>
        </p:nvSpPr>
        <p:spPr>
          <a:xfrm>
            <a:off x="5780071" y="4664733"/>
            <a:ext cx="1333583" cy="449375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경쟁환경 보고서</a:t>
            </a:r>
          </a:p>
        </p:txBody>
      </p:sp>
      <p:sp>
        <p:nvSpPr>
          <p:cNvPr id="141" name="순서도: 문서 140">
            <a:extLst>
              <a:ext uri="{FF2B5EF4-FFF2-40B4-BE49-F238E27FC236}">
                <a16:creationId xmlns:a16="http://schemas.microsoft.com/office/drawing/2014/main" id="{4B89DB5C-1BFA-42CF-9020-5C46BF690192}"/>
              </a:ext>
            </a:extLst>
          </p:cNvPr>
          <p:cNvSpPr/>
          <p:nvPr/>
        </p:nvSpPr>
        <p:spPr>
          <a:xfrm>
            <a:off x="5780071" y="5202341"/>
            <a:ext cx="1333583" cy="449375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업종 추천 보고서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519CA6C9-4721-4139-B990-35B28421A31B}"/>
              </a:ext>
            </a:extLst>
          </p:cNvPr>
          <p:cNvSpPr/>
          <p:nvPr/>
        </p:nvSpPr>
        <p:spPr>
          <a:xfrm>
            <a:off x="1684410" y="3866078"/>
            <a:ext cx="1561963" cy="20286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3744BAAC-B616-4839-8E51-D7618DAD5B49}"/>
              </a:ext>
            </a:extLst>
          </p:cNvPr>
          <p:cNvCxnSpPr>
            <a:cxnSpLocks/>
            <a:stCxn id="12" idx="2"/>
            <a:endCxn id="143" idx="1"/>
          </p:cNvCxnSpPr>
          <p:nvPr/>
        </p:nvCxnSpPr>
        <p:spPr>
          <a:xfrm rot="5400000">
            <a:off x="2588433" y="1827916"/>
            <a:ext cx="2148460" cy="3956505"/>
          </a:xfrm>
          <a:prstGeom prst="bentConnector4">
            <a:avLst>
              <a:gd name="adj1" fmla="val 23960"/>
              <a:gd name="adj2" fmla="val 10577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F445B3DB-3C76-4EEC-B6D9-C68E957560EC}"/>
              </a:ext>
            </a:extLst>
          </p:cNvPr>
          <p:cNvCxnSpPr>
            <a:stCxn id="8" idx="3"/>
            <a:endCxn id="12" idx="1"/>
          </p:cNvCxnSpPr>
          <p:nvPr/>
        </p:nvCxnSpPr>
        <p:spPr>
          <a:xfrm flipV="1">
            <a:off x="4721900" y="2479252"/>
            <a:ext cx="364412" cy="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2FED6C8C-5EA9-45C8-9DAC-20199CFE8D05}"/>
              </a:ext>
            </a:extLst>
          </p:cNvPr>
          <p:cNvCxnSpPr>
            <a:stCxn id="122" idx="3"/>
            <a:endCxn id="118" idx="1"/>
          </p:cNvCxnSpPr>
          <p:nvPr/>
        </p:nvCxnSpPr>
        <p:spPr>
          <a:xfrm>
            <a:off x="3183874" y="4105497"/>
            <a:ext cx="270391" cy="2398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5F2DFFAB-CA80-4EB1-8FE0-8DFB143F396C}"/>
              </a:ext>
            </a:extLst>
          </p:cNvPr>
          <p:cNvCxnSpPr>
            <a:stCxn id="123" idx="3"/>
            <a:endCxn id="118" idx="1"/>
          </p:cNvCxnSpPr>
          <p:nvPr/>
        </p:nvCxnSpPr>
        <p:spPr>
          <a:xfrm flipV="1">
            <a:off x="3183873" y="4345362"/>
            <a:ext cx="270392" cy="14810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865CFB14-45C0-451A-8283-75700A70BAB4}"/>
              </a:ext>
            </a:extLst>
          </p:cNvPr>
          <p:cNvCxnSpPr>
            <a:stCxn id="131" idx="3"/>
            <a:endCxn id="137" idx="1"/>
          </p:cNvCxnSpPr>
          <p:nvPr/>
        </p:nvCxnSpPr>
        <p:spPr>
          <a:xfrm>
            <a:off x="3183874" y="5299304"/>
            <a:ext cx="270391" cy="11779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D00CE300-1BF0-48E4-9759-D5F9209D0D97}"/>
              </a:ext>
            </a:extLst>
          </p:cNvPr>
          <p:cNvCxnSpPr>
            <a:stCxn id="133" idx="3"/>
            <a:endCxn id="137" idx="1"/>
          </p:cNvCxnSpPr>
          <p:nvPr/>
        </p:nvCxnSpPr>
        <p:spPr>
          <a:xfrm flipV="1">
            <a:off x="3183874" y="5417096"/>
            <a:ext cx="270391" cy="2688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4E6F2F20-95A0-4CF7-ACB0-5B1C8BE6AD28}"/>
              </a:ext>
            </a:extLst>
          </p:cNvPr>
          <p:cNvCxnSpPr>
            <a:stCxn id="130" idx="3"/>
            <a:endCxn id="134" idx="1"/>
          </p:cNvCxnSpPr>
          <p:nvPr/>
        </p:nvCxnSpPr>
        <p:spPr>
          <a:xfrm flipV="1">
            <a:off x="3183874" y="4889421"/>
            <a:ext cx="270391" cy="4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CC3F4204-3E8D-4E7D-9A07-75606587C795}"/>
              </a:ext>
            </a:extLst>
          </p:cNvPr>
          <p:cNvCxnSpPr>
            <a:cxnSpLocks/>
            <a:stCxn id="118" idx="3"/>
            <a:endCxn id="129" idx="1"/>
          </p:cNvCxnSpPr>
          <p:nvPr/>
        </p:nvCxnSpPr>
        <p:spPr>
          <a:xfrm>
            <a:off x="5488148" y="4345362"/>
            <a:ext cx="2919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A5668CDF-8ED9-4E45-B483-61E3ACF8E8FB}"/>
              </a:ext>
            </a:extLst>
          </p:cNvPr>
          <p:cNvSpPr txBox="1"/>
          <p:nvPr/>
        </p:nvSpPr>
        <p:spPr>
          <a:xfrm>
            <a:off x="3829739" y="4216253"/>
            <a:ext cx="1712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상권활성도 분석 에이전트</a:t>
            </a:r>
            <a:endParaRPr lang="en-US" altLang="ko-KR" sz="1100" b="1" dirty="0">
              <a:latin typeface="Arial Rounded MT Bold" panose="020F0704030504030204" pitchFamily="34" charset="0"/>
              <a:ea typeface="나눔고딕" panose="020D0604000000000000" pitchFamily="50" charset="-127"/>
            </a:endParaRPr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58A3021B-6BE2-487B-AA21-16C5203451CB}"/>
              </a:ext>
            </a:extLst>
          </p:cNvPr>
          <p:cNvCxnSpPr>
            <a:cxnSpLocks/>
          </p:cNvCxnSpPr>
          <p:nvPr/>
        </p:nvCxnSpPr>
        <p:spPr>
          <a:xfrm>
            <a:off x="5488148" y="4881391"/>
            <a:ext cx="2919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B9C0FFDF-1B85-4727-8C04-32D38C16CFFB}"/>
              </a:ext>
            </a:extLst>
          </p:cNvPr>
          <p:cNvCxnSpPr>
            <a:cxnSpLocks/>
          </p:cNvCxnSpPr>
          <p:nvPr/>
        </p:nvCxnSpPr>
        <p:spPr>
          <a:xfrm>
            <a:off x="5488148" y="5405268"/>
            <a:ext cx="2919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359796D7-6F80-46E1-9EC4-91D88C5951B2}"/>
              </a:ext>
            </a:extLst>
          </p:cNvPr>
          <p:cNvSpPr/>
          <p:nvPr/>
        </p:nvSpPr>
        <p:spPr>
          <a:xfrm>
            <a:off x="7504730" y="3391657"/>
            <a:ext cx="3896033" cy="2887960"/>
          </a:xfrm>
          <a:prstGeom prst="roundRect">
            <a:avLst/>
          </a:prstGeom>
          <a:noFill/>
          <a:ln>
            <a:solidFill>
              <a:srgbClr val="CE9B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D9A663A-7F8E-4DC0-875C-0B1E4D9A11F5}"/>
              </a:ext>
            </a:extLst>
          </p:cNvPr>
          <p:cNvSpPr txBox="1"/>
          <p:nvPr/>
        </p:nvSpPr>
        <p:spPr>
          <a:xfrm>
            <a:off x="8313272" y="3396607"/>
            <a:ext cx="2152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Phase 3. </a:t>
            </a:r>
            <a:r>
              <a:rPr lang="ko-KR" altLang="en-US" sz="1100" b="1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통합 분석 및 브랜딩</a:t>
            </a:r>
            <a:endParaRPr lang="en-US" altLang="ko-KR" sz="1100" b="1" dirty="0">
              <a:latin typeface="Arial Rounded MT Bold" panose="020F0704030504030204" pitchFamily="34" charset="0"/>
              <a:ea typeface="나눔고딕" panose="020D0604000000000000" pitchFamily="50" charset="-127"/>
            </a:endParaRP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5D6AD347-12BD-4D27-8E9D-E024A8A411F8}"/>
              </a:ext>
            </a:extLst>
          </p:cNvPr>
          <p:cNvSpPr/>
          <p:nvPr/>
        </p:nvSpPr>
        <p:spPr>
          <a:xfrm>
            <a:off x="7643241" y="3918208"/>
            <a:ext cx="2033883" cy="449375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pic>
        <p:nvPicPr>
          <p:cNvPr id="191" name="그림 190">
            <a:extLst>
              <a:ext uri="{FF2B5EF4-FFF2-40B4-BE49-F238E27FC236}">
                <a16:creationId xmlns:a16="http://schemas.microsoft.com/office/drawing/2014/main" id="{0535AB93-28F6-4217-96B7-B21F80B7B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792" y="3952520"/>
            <a:ext cx="333227" cy="333227"/>
          </a:xfrm>
          <a:prstGeom prst="rect">
            <a:avLst/>
          </a:prstGeom>
        </p:spPr>
      </p:pic>
      <p:sp>
        <p:nvSpPr>
          <p:cNvPr id="192" name="TextBox 191">
            <a:extLst>
              <a:ext uri="{FF2B5EF4-FFF2-40B4-BE49-F238E27FC236}">
                <a16:creationId xmlns:a16="http://schemas.microsoft.com/office/drawing/2014/main" id="{3E5A75DA-F7E8-4F79-AAC8-C59229A85376}"/>
              </a:ext>
            </a:extLst>
          </p:cNvPr>
          <p:cNvSpPr txBox="1"/>
          <p:nvPr/>
        </p:nvSpPr>
        <p:spPr>
          <a:xfrm>
            <a:off x="8040749" y="4014474"/>
            <a:ext cx="14564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dirty="0">
                <a:latin typeface="Arial Rounded MT Bold" panose="020F0704030504030204" pitchFamily="34" charset="0"/>
                <a:ea typeface="나눔고딕" panose="020D0604000000000000" pitchFamily="50" charset="-127"/>
              </a:rPr>
              <a:t>종합 분석 에이전트</a:t>
            </a:r>
            <a:endParaRPr lang="en-US" altLang="ko-KR" sz="1100" b="1" dirty="0">
              <a:latin typeface="Arial Rounded MT Bold" panose="020F0704030504030204" pitchFamily="34" charset="0"/>
              <a:ea typeface="나눔고딕" panose="020D0604000000000000" pitchFamily="50" charset="-127"/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E0E24190-AE09-41F5-A68F-619245A4CF5A}"/>
              </a:ext>
            </a:extLst>
          </p:cNvPr>
          <p:cNvSpPr/>
          <p:nvPr/>
        </p:nvSpPr>
        <p:spPr>
          <a:xfrm>
            <a:off x="5640915" y="3866078"/>
            <a:ext cx="1561963" cy="20286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68EA0F01-3F4C-45BB-AFC1-2300FE65060D}"/>
              </a:ext>
            </a:extLst>
          </p:cNvPr>
          <p:cNvSpPr/>
          <p:nvPr/>
        </p:nvSpPr>
        <p:spPr>
          <a:xfrm>
            <a:off x="7643241" y="4653716"/>
            <a:ext cx="2033883" cy="449375"/>
          </a:xfrm>
          <a:prstGeom prst="roundRect">
            <a:avLst/>
          </a:prstGeom>
          <a:noFill/>
          <a:ln>
            <a:solidFill>
              <a:srgbClr val="5683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71A850"/>
                </a:solidFill>
              </a:ln>
            </a:endParaRPr>
          </a:p>
        </p:txBody>
      </p:sp>
      <p:pic>
        <p:nvPicPr>
          <p:cNvPr id="199" name="그림 198">
            <a:extLst>
              <a:ext uri="{FF2B5EF4-FFF2-40B4-BE49-F238E27FC236}">
                <a16:creationId xmlns:a16="http://schemas.microsoft.com/office/drawing/2014/main" id="{11080745-97E6-4A7F-A3E4-33B2455B7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792" y="4688028"/>
            <a:ext cx="333227" cy="333227"/>
          </a:xfrm>
          <a:prstGeom prst="rect">
            <a:avLst/>
          </a:prstGeom>
        </p:spPr>
      </p:pic>
      <p:sp>
        <p:nvSpPr>
          <p:cNvPr id="208" name="TextBox 207">
            <a:extLst>
              <a:ext uri="{FF2B5EF4-FFF2-40B4-BE49-F238E27FC236}">
                <a16:creationId xmlns:a16="http://schemas.microsoft.com/office/drawing/2014/main" id="{AE6FFBE0-1362-4879-9EB8-7A9EF1553BDC}"/>
              </a:ext>
            </a:extLst>
          </p:cNvPr>
          <p:cNvSpPr txBox="1"/>
          <p:nvPr/>
        </p:nvSpPr>
        <p:spPr>
          <a:xfrm>
            <a:off x="8040749" y="4749982"/>
            <a:ext cx="13487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>
                <a:latin typeface="Arial Rounded MT Bold" panose="020F0704030504030204" pitchFamily="34" charset="0"/>
                <a:ea typeface="나눔고딕" panose="020D0604000000000000" pitchFamily="50" charset="-127"/>
              </a:rPr>
              <a:t>상권 작명 에이전트</a:t>
            </a:r>
            <a:endParaRPr lang="en-US" altLang="ko-KR" sz="1100" b="1" dirty="0">
              <a:latin typeface="Arial Rounded MT Bold" panose="020F0704030504030204" pitchFamily="34" charset="0"/>
              <a:ea typeface="나눔고딕" panose="020D0604000000000000" pitchFamily="50" charset="-127"/>
            </a:endParaRPr>
          </a:p>
        </p:txBody>
      </p:sp>
      <p:sp>
        <p:nvSpPr>
          <p:cNvPr id="209" name="순서도: 자기 디스크 208">
            <a:extLst>
              <a:ext uri="{FF2B5EF4-FFF2-40B4-BE49-F238E27FC236}">
                <a16:creationId xmlns:a16="http://schemas.microsoft.com/office/drawing/2014/main" id="{AAC29BF8-4C94-4F44-9C64-91D271D5EFA4}"/>
              </a:ext>
            </a:extLst>
          </p:cNvPr>
          <p:cNvSpPr/>
          <p:nvPr/>
        </p:nvSpPr>
        <p:spPr>
          <a:xfrm>
            <a:off x="8190478" y="5528235"/>
            <a:ext cx="937982" cy="703077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사용자 </a:t>
            </a:r>
            <a:endParaRPr lang="en-US" altLang="ko-KR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클러스터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65" name="연결선: 꺾임 164">
            <a:extLst>
              <a:ext uri="{FF2B5EF4-FFF2-40B4-BE49-F238E27FC236}">
                <a16:creationId xmlns:a16="http://schemas.microsoft.com/office/drawing/2014/main" id="{A589F15E-A6CA-42C5-9736-1BCD27B9D993}"/>
              </a:ext>
            </a:extLst>
          </p:cNvPr>
          <p:cNvCxnSpPr>
            <a:cxnSpLocks/>
            <a:stCxn id="196" idx="3"/>
            <a:endCxn id="190" idx="1"/>
          </p:cNvCxnSpPr>
          <p:nvPr/>
        </p:nvCxnSpPr>
        <p:spPr>
          <a:xfrm flipV="1">
            <a:off x="7202878" y="4142896"/>
            <a:ext cx="440363" cy="7375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5" name="순서도: 문서 214">
            <a:extLst>
              <a:ext uri="{FF2B5EF4-FFF2-40B4-BE49-F238E27FC236}">
                <a16:creationId xmlns:a16="http://schemas.microsoft.com/office/drawing/2014/main" id="{BB85AF5B-436E-40FC-8A2E-625B7B75FED6}"/>
              </a:ext>
            </a:extLst>
          </p:cNvPr>
          <p:cNvSpPr/>
          <p:nvPr/>
        </p:nvSpPr>
        <p:spPr>
          <a:xfrm>
            <a:off x="9871326" y="3918208"/>
            <a:ext cx="1333583" cy="449375"/>
          </a:xfrm>
          <a:prstGeom prst="flowChartDocumen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종합 분석 보고서</a:t>
            </a:r>
            <a:endParaRPr lang="ko-KR" altLang="en-US" sz="11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6" name="순서도: 문서 215">
            <a:extLst>
              <a:ext uri="{FF2B5EF4-FFF2-40B4-BE49-F238E27FC236}">
                <a16:creationId xmlns:a16="http://schemas.microsoft.com/office/drawing/2014/main" id="{080C3733-EDE0-47F6-B885-701CBE5516AA}"/>
              </a:ext>
            </a:extLst>
          </p:cNvPr>
          <p:cNvSpPr/>
          <p:nvPr/>
        </p:nvSpPr>
        <p:spPr>
          <a:xfrm>
            <a:off x="9871326" y="4660507"/>
            <a:ext cx="1333583" cy="449375"/>
          </a:xfrm>
          <a:prstGeom prst="flowChartDocumen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상권 작명 결과</a:t>
            </a:r>
          </a:p>
        </p:txBody>
      </p: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045605E7-686B-4B89-9508-5BB17C4963F9}"/>
              </a:ext>
            </a:extLst>
          </p:cNvPr>
          <p:cNvCxnSpPr>
            <a:stCxn id="190" idx="3"/>
            <a:endCxn id="215" idx="1"/>
          </p:cNvCxnSpPr>
          <p:nvPr/>
        </p:nvCxnSpPr>
        <p:spPr>
          <a:xfrm>
            <a:off x="9677124" y="4142896"/>
            <a:ext cx="1942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7E7782F1-C34D-41AD-8F32-38E38C3AD5B7}"/>
              </a:ext>
            </a:extLst>
          </p:cNvPr>
          <p:cNvCxnSpPr>
            <a:stCxn id="197" idx="3"/>
            <a:endCxn id="216" idx="1"/>
          </p:cNvCxnSpPr>
          <p:nvPr/>
        </p:nvCxnSpPr>
        <p:spPr>
          <a:xfrm>
            <a:off x="9677124" y="4878404"/>
            <a:ext cx="194202" cy="6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7CF45FD6-8C3F-4811-88D3-5A767459BBFA}"/>
              </a:ext>
            </a:extLst>
          </p:cNvPr>
          <p:cNvCxnSpPr>
            <a:stCxn id="29" idx="2"/>
            <a:endCxn id="8" idx="0"/>
          </p:cNvCxnSpPr>
          <p:nvPr/>
        </p:nvCxnSpPr>
        <p:spPr>
          <a:xfrm>
            <a:off x="4242099" y="1881959"/>
            <a:ext cx="4647" cy="348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8" name="직선 화살표 연결선 227">
            <a:extLst>
              <a:ext uri="{FF2B5EF4-FFF2-40B4-BE49-F238E27FC236}">
                <a16:creationId xmlns:a16="http://schemas.microsoft.com/office/drawing/2014/main" id="{F905FA90-D8D3-44DE-932D-B32A89DE0E3B}"/>
              </a:ext>
            </a:extLst>
          </p:cNvPr>
          <p:cNvCxnSpPr>
            <a:stCxn id="196" idx="3"/>
            <a:endCxn id="197" idx="1"/>
          </p:cNvCxnSpPr>
          <p:nvPr/>
        </p:nvCxnSpPr>
        <p:spPr>
          <a:xfrm flipV="1">
            <a:off x="7202878" y="4878404"/>
            <a:ext cx="440363" cy="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직선 화살표 연결선 230">
            <a:extLst>
              <a:ext uri="{FF2B5EF4-FFF2-40B4-BE49-F238E27FC236}">
                <a16:creationId xmlns:a16="http://schemas.microsoft.com/office/drawing/2014/main" id="{162FBFDE-9323-4AC4-B459-F96A6D464EFA}"/>
              </a:ext>
            </a:extLst>
          </p:cNvPr>
          <p:cNvCxnSpPr>
            <a:stCxn id="209" idx="1"/>
            <a:endCxn id="197" idx="2"/>
          </p:cNvCxnSpPr>
          <p:nvPr/>
        </p:nvCxnSpPr>
        <p:spPr>
          <a:xfrm flipV="1">
            <a:off x="8659469" y="5103091"/>
            <a:ext cx="714" cy="42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연결선: 꺾임 232">
            <a:extLst>
              <a:ext uri="{FF2B5EF4-FFF2-40B4-BE49-F238E27FC236}">
                <a16:creationId xmlns:a16="http://schemas.microsoft.com/office/drawing/2014/main" id="{5F15522C-05F0-4E9D-A79C-400537A0500B}"/>
              </a:ext>
            </a:extLst>
          </p:cNvPr>
          <p:cNvCxnSpPr>
            <a:stCxn id="215" idx="3"/>
            <a:endCxn id="209" idx="4"/>
          </p:cNvCxnSpPr>
          <p:nvPr/>
        </p:nvCxnSpPr>
        <p:spPr>
          <a:xfrm flipH="1">
            <a:off x="9128460" y="4142896"/>
            <a:ext cx="2076449" cy="1736878"/>
          </a:xfrm>
          <a:prstGeom prst="bentConnector3">
            <a:avLst>
              <a:gd name="adj1" fmla="val -5703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95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1212</TotalTime>
  <Words>110</Words>
  <Application>Microsoft Office PowerPoint</Application>
  <PresentationFormat>와이드스크린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나눔고딕</vt:lpstr>
      <vt:lpstr>맑은 고딕</vt:lpstr>
      <vt:lpstr>Arial</vt:lpstr>
      <vt:lpstr>Arial Rounded MT Bold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승건 이</dc:creator>
  <cp:lastModifiedBy>이승건(대학원생-비즈니스IT전공)</cp:lastModifiedBy>
  <cp:revision>46</cp:revision>
  <dcterms:created xsi:type="dcterms:W3CDTF">2025-04-16T05:57:00Z</dcterms:created>
  <dcterms:modified xsi:type="dcterms:W3CDTF">2026-04-19T15:37:41Z</dcterms:modified>
</cp:coreProperties>
</file>