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60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BE5D6"/>
    <a:srgbClr val="F47492"/>
    <a:srgbClr val="CE9BED"/>
    <a:srgbClr val="FFCC66"/>
    <a:srgbClr val="5683D0"/>
    <a:srgbClr val="F6F5F7"/>
    <a:srgbClr val="A3CD89"/>
    <a:srgbClr val="73AB52"/>
    <a:srgbClr val="71A850"/>
    <a:srgbClr val="75AC5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6318" autoAdjust="0"/>
  </p:normalViewPr>
  <p:slideViewPr>
    <p:cSldViewPr snapToGrid="0">
      <p:cViewPr varScale="1">
        <p:scale>
          <a:sx n="113" d="100"/>
          <a:sy n="113" d="100"/>
        </p:scale>
        <p:origin x="474" y="9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D07E46F-B36E-448D-82D2-486DFE961E56}" type="datetimeFigureOut">
              <a:rPr lang="ko-KR" altLang="en-US" smtClean="0"/>
              <a:t>2026-04-20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E2E9D14-385B-41A2-965B-658AACE6583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179059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3C1BD8-D3B0-4FA8-996A-A69A4AF798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2DDE1A5-3920-49F7-AC27-44DC6807EF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849E0C1-EFFC-4EF6-B13C-607E6CC79F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A7197-8235-4E7A-BCE4-33C09BF0AC50}" type="datetimeFigureOut">
              <a:rPr lang="ko-KR" altLang="en-US" smtClean="0"/>
              <a:t>2026-04-20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56CAEA4-32B3-4B52-9FD1-17C4912657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DB3605F-BF0B-4DA6-B413-16BC81086D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A4ED3F-6F9F-447B-9ECD-4E87855B75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165023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AE9C818-B8B6-4329-A5A3-98991D0A08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B23B36D-4F86-4DF3-9451-CFDF2F8F24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49FD594-2330-43E3-9240-B5E89D5425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A7197-8235-4E7A-BCE4-33C09BF0AC50}" type="datetimeFigureOut">
              <a:rPr lang="ko-KR" altLang="en-US" smtClean="0"/>
              <a:t>2026-04-20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C9CE391-BB84-4DB6-8253-A462CCABF6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EDFBE29-6FE7-4990-BCFE-C45A68ED6D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A4ED3F-6F9F-447B-9ECD-4E87855B75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358929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C1A203E-B311-4F5D-B7CA-3704D0F405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4271001-1C4D-4536-9EF1-63FB42AF52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075BE52-6B39-44F5-944C-383FE74C7D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A7197-8235-4E7A-BCE4-33C09BF0AC50}" type="datetimeFigureOut">
              <a:rPr lang="ko-KR" altLang="en-US" smtClean="0"/>
              <a:t>2026-04-20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A4008FA-EBE0-40E2-B2B3-5084E098E0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4CEB1B4-9E88-492D-B0D9-3F4D39FACD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A4ED3F-6F9F-447B-9ECD-4E87855B75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219694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0A6369E-2A9E-4137-8D9D-55128B109E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CEA234D-F8EB-4E6F-BA19-E3EAB9A2A9E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07692ED-800B-4171-A803-D894A22585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17E580D-007D-4E2F-A72F-3797F46EBD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A7197-8235-4E7A-BCE4-33C09BF0AC50}" type="datetimeFigureOut">
              <a:rPr lang="ko-KR" altLang="en-US" smtClean="0"/>
              <a:t>2026-04-20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E3E7018-856C-48B6-8FCD-3BE0AE4FD4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0E32B3B-2A61-434F-8268-D28743E32C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A4ED3F-6F9F-447B-9ECD-4E87855B75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970158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093D98-3693-402B-B2B9-549A347600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A0F415E-2EBA-4BE2-BDD4-031FECC782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F38A6C4-3B19-4DDD-A896-99A9F956DA3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4AE54ACD-FD57-4FB3-AE0C-F52A4DEDABC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CD830E84-7E35-4681-8C61-AC4EEEF05B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D8C0ABDC-F3F3-4017-811A-F18D56502D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A7197-8235-4E7A-BCE4-33C09BF0AC50}" type="datetimeFigureOut">
              <a:rPr lang="ko-KR" altLang="en-US" smtClean="0"/>
              <a:t>2026-04-20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236B1A38-15E4-452B-A15C-82CB1DFC38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6C07C97-88A9-4D98-848F-662DB353C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A4ED3F-6F9F-447B-9ECD-4E87855B75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284444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E12149-45D7-42C8-A653-20EFB1BBB9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8805F860-88C6-457F-85AD-217019209F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A7197-8235-4E7A-BCE4-33C09BF0AC50}" type="datetimeFigureOut">
              <a:rPr lang="ko-KR" altLang="en-US" smtClean="0"/>
              <a:t>2026-04-20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30AEDBE-90FB-4C30-906F-4658EBE178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D538AEA-4B33-4E67-8B71-8084530B3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A4ED3F-6F9F-447B-9ECD-4E87855B75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367227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0732F29D-00D2-4431-80FC-234CDD7BAA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A7197-8235-4E7A-BCE4-33C09BF0AC50}" type="datetimeFigureOut">
              <a:rPr lang="ko-KR" altLang="en-US" smtClean="0"/>
              <a:t>2026-04-20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4BD49235-B6FF-49F1-9C0D-5AEED9AE6F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CDD80AD-D159-4523-9088-04A8476738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A4ED3F-6F9F-447B-9ECD-4E87855B75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18415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CC0C416-056F-4909-B7B8-0D0084526D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8D4B75A-A3DD-4E24-A83D-36D705649A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7C143FB-C3C1-4CE2-8311-F0BAFA3A84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76702CC-82A5-49A5-AAB5-2E37C79BCC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A7197-8235-4E7A-BCE4-33C09BF0AC50}" type="datetimeFigureOut">
              <a:rPr lang="ko-KR" altLang="en-US" smtClean="0"/>
              <a:t>2026-04-20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62BC999-B2E7-4395-BBAB-BE26BC173F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E96779D-919F-49A0-BC3A-D4EA551AFB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A4ED3F-6F9F-447B-9ECD-4E87855B75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68092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838157A-46F0-46DA-B984-08F4C9D525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8104EF59-AAD5-4AAB-A9CF-C6D836B86A5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744DD30-E4A3-4FC7-B03A-C5BFAD7463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44A2684-078F-4DB8-9801-8A00D069A2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A7197-8235-4E7A-BCE4-33C09BF0AC50}" type="datetimeFigureOut">
              <a:rPr lang="ko-KR" altLang="en-US" smtClean="0"/>
              <a:t>2026-04-20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9EB7945-BC62-4ECE-8446-C891EA9184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5BC1D1F-A9BC-4260-A2E0-E0C50B59C3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A4ED3F-6F9F-447B-9ECD-4E87855B75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620319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2D348BA-241C-4DE7-99D6-5706BB7BA2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FE95844-E198-4CC4-AE9D-8556B1CE729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824EE95-3B1C-4A38-AF84-8EE5CA566B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A7197-8235-4E7A-BCE4-33C09BF0AC50}" type="datetimeFigureOut">
              <a:rPr lang="ko-KR" altLang="en-US" smtClean="0"/>
              <a:t>2026-04-20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0771D2D-0D9E-4E55-B076-6FFF79EC72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3B13991-5154-4568-869D-B1B0E28470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A4ED3F-6F9F-447B-9ECD-4E87855B75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20333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CAA6E1DA-E622-4D58-8CE1-2AA51A60B79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72441C7-29D9-43F0-A0CD-8932A0A7E5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164A368-39BD-407C-B8FA-E7DCC805AA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A7197-8235-4E7A-BCE4-33C09BF0AC50}" type="datetimeFigureOut">
              <a:rPr lang="ko-KR" altLang="en-US" smtClean="0"/>
              <a:t>2026-04-20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146EC99-141C-4F55-A780-6DE04BBC58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7A95C99-AA86-4B84-ABCB-6770FD34CD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A4ED3F-6F9F-447B-9ECD-4E87855B75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08229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15525EE2-88E5-4037-A515-750E07D9C3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35D4255-1582-4FA5-B9B9-B59DE85499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71A7E36-3D81-49AA-B9B9-3ECDC178B1C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CA7197-8235-4E7A-BCE4-33C09BF0AC50}" type="datetimeFigureOut">
              <a:rPr lang="ko-KR" altLang="en-US" smtClean="0"/>
              <a:t>2026-04-20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84A4FB0-D075-4395-AD35-ADEB9300264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A6792CE-7935-4C32-84C8-9BE41F6154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A4ED3F-6F9F-447B-9ECD-4E87855B75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100326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순서도: 문서 6">
            <a:extLst>
              <a:ext uri="{FF2B5EF4-FFF2-40B4-BE49-F238E27FC236}">
                <a16:creationId xmlns:a16="http://schemas.microsoft.com/office/drawing/2014/main" id="{1D5FA811-B9CE-4A68-81BF-559D2F683197}"/>
              </a:ext>
            </a:extLst>
          </p:cNvPr>
          <p:cNvSpPr/>
          <p:nvPr/>
        </p:nvSpPr>
        <p:spPr>
          <a:xfrm>
            <a:off x="1381283" y="2176985"/>
            <a:ext cx="980793" cy="521208"/>
          </a:xfrm>
          <a:prstGeom prst="flowChartDocumen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User Input</a:t>
            </a:r>
            <a:endParaRPr lang="ko-KR" altLang="en-US" sz="1200" dirty="0">
              <a:solidFill>
                <a:schemeClr val="tx1"/>
              </a:solidFill>
              <a:latin typeface="Arial Rounded MT Bold" panose="020F0704030504030204" pitchFamily="34" charset="0"/>
            </a:endParaRP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C4B30D98-C498-4BAB-84D1-31A3E7063DE7}"/>
              </a:ext>
            </a:extLst>
          </p:cNvPr>
          <p:cNvSpPr/>
          <p:nvPr/>
        </p:nvSpPr>
        <p:spPr>
          <a:xfrm>
            <a:off x="2730192" y="2188001"/>
            <a:ext cx="950308" cy="49827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Enrich Data </a:t>
            </a:r>
          </a:p>
        </p:txBody>
      </p:sp>
      <p:sp>
        <p:nvSpPr>
          <p:cNvPr id="12" name="순서도: 문서 11">
            <a:extLst>
              <a:ext uri="{FF2B5EF4-FFF2-40B4-BE49-F238E27FC236}">
                <a16:creationId xmlns:a16="http://schemas.microsoft.com/office/drawing/2014/main" id="{81BFC99E-71A5-496B-854C-0A6BAED7D61D}"/>
              </a:ext>
            </a:extLst>
          </p:cNvPr>
          <p:cNvSpPr/>
          <p:nvPr/>
        </p:nvSpPr>
        <p:spPr>
          <a:xfrm>
            <a:off x="4044912" y="2145731"/>
            <a:ext cx="1109206" cy="582376"/>
          </a:xfrm>
          <a:prstGeom prst="flowChartDocumen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Enriched Data </a:t>
            </a:r>
            <a:r>
              <a:rPr lang="en-US" altLang="ko-KR" sz="1100" dirty="0" err="1">
                <a:solidFill>
                  <a:schemeClr val="tx1"/>
                </a:solidFill>
                <a:latin typeface="Arial Rounded MT Bold" panose="020F0704030504030204" pitchFamily="34" charset="0"/>
              </a:rPr>
              <a:t>Dict</a:t>
            </a:r>
            <a:r>
              <a:rPr lang="en-US" altLang="ko-KR" sz="11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 (json)</a:t>
            </a:r>
            <a:endParaRPr lang="ko-KR" altLang="en-US" sz="1100" dirty="0">
              <a:solidFill>
                <a:schemeClr val="tx1"/>
              </a:solidFill>
              <a:latin typeface="Arial Rounded MT Bold" panose="020F0704030504030204" pitchFamily="34" charset="0"/>
            </a:endParaRPr>
          </a:p>
        </p:txBody>
      </p:sp>
      <p:sp>
        <p:nvSpPr>
          <p:cNvPr id="26" name="순서도: 자기 디스크 25">
            <a:extLst>
              <a:ext uri="{FF2B5EF4-FFF2-40B4-BE49-F238E27FC236}">
                <a16:creationId xmlns:a16="http://schemas.microsoft.com/office/drawing/2014/main" id="{E6B8FA6A-5EE4-49AC-9758-1470308B94B9}"/>
              </a:ext>
            </a:extLst>
          </p:cNvPr>
          <p:cNvSpPr/>
          <p:nvPr/>
        </p:nvSpPr>
        <p:spPr>
          <a:xfrm>
            <a:off x="1208673" y="1035588"/>
            <a:ext cx="937982" cy="703077"/>
          </a:xfrm>
          <a:prstGeom prst="flowChartMagneticDisk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카카오</a:t>
            </a:r>
            <a:r>
              <a:rPr lang="ko-KR" altLang="en-US" sz="10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 </a:t>
            </a:r>
            <a:r>
              <a:rPr lang="en-US" altLang="ko-KR" sz="10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API</a:t>
            </a:r>
            <a:endParaRPr lang="ko-KR" altLang="en-US" sz="1000" dirty="0"/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EBDD1BB6-9938-4C58-8618-5C8602735FC2}"/>
              </a:ext>
            </a:extLst>
          </p:cNvPr>
          <p:cNvSpPr/>
          <p:nvPr/>
        </p:nvSpPr>
        <p:spPr>
          <a:xfrm>
            <a:off x="211569" y="3349324"/>
            <a:ext cx="6057559" cy="2887960"/>
          </a:xfrm>
          <a:prstGeom prst="roundRect">
            <a:avLst/>
          </a:prstGeom>
          <a:noFill/>
          <a:ln>
            <a:solidFill>
              <a:srgbClr val="73AB5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rgbClr val="71A850"/>
                </a:solidFill>
              </a:ln>
            </a:endParaRPr>
          </a:p>
        </p:txBody>
      </p:sp>
      <p:sp>
        <p:nvSpPr>
          <p:cNvPr id="84" name="사각형: 둥근 모서리 83">
            <a:extLst>
              <a:ext uri="{FF2B5EF4-FFF2-40B4-BE49-F238E27FC236}">
                <a16:creationId xmlns:a16="http://schemas.microsoft.com/office/drawing/2014/main" id="{C2B08194-CEC0-409C-994E-8B3DC4F5DEE7}"/>
              </a:ext>
            </a:extLst>
          </p:cNvPr>
          <p:cNvSpPr/>
          <p:nvPr/>
        </p:nvSpPr>
        <p:spPr>
          <a:xfrm>
            <a:off x="132733" y="636497"/>
            <a:ext cx="6057559" cy="2390303"/>
          </a:xfrm>
          <a:prstGeom prst="roundRect">
            <a:avLst/>
          </a:prstGeom>
          <a:noFill/>
          <a:ln>
            <a:solidFill>
              <a:srgbClr val="5683D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rgbClr val="71A850"/>
                </a:solidFill>
              </a:ln>
            </a:endParaRP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CE2FA6D7-6BB2-4EE1-A13B-CF006F488F92}"/>
              </a:ext>
            </a:extLst>
          </p:cNvPr>
          <p:cNvSpPr txBox="1"/>
          <p:nvPr/>
        </p:nvSpPr>
        <p:spPr>
          <a:xfrm>
            <a:off x="1580099" y="672182"/>
            <a:ext cx="325049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100" dirty="0">
                <a:latin typeface="Arial Rounded MT Bold" panose="020F0704030504030204" pitchFamily="34" charset="0"/>
                <a:ea typeface="나눔고딕" panose="020D0604000000000000" pitchFamily="50" charset="-127"/>
              </a:rPr>
              <a:t>Phase 1. </a:t>
            </a:r>
            <a:r>
              <a:rPr lang="ko-KR" altLang="en-US" sz="1100" b="1" dirty="0">
                <a:latin typeface="Arial Rounded MT Bold" panose="020F0704030504030204" pitchFamily="34" charset="0"/>
                <a:ea typeface="나눔고딕" panose="020D0604000000000000" pitchFamily="50" charset="-127"/>
              </a:rPr>
              <a:t>사용자 </a:t>
            </a:r>
            <a:r>
              <a:rPr lang="ko-KR" altLang="en-US" sz="1100" b="1" dirty="0">
                <a:latin typeface="나눔고딕" panose="020D0604000000000000" pitchFamily="50" charset="-127"/>
                <a:ea typeface="나눔고딕" panose="020D0604000000000000" pitchFamily="50" charset="-127"/>
              </a:rPr>
              <a:t>입력 기반 데이터 융합</a:t>
            </a:r>
            <a:endParaRPr lang="en-US" altLang="ko-KR" sz="1100" b="1" dirty="0">
              <a:latin typeface="Arial Rounded MT Bold" panose="020F0704030504030204" pitchFamily="34" charset="0"/>
              <a:ea typeface="나눔고딕" panose="020D0604000000000000" pitchFamily="50" charset="-127"/>
            </a:endParaRPr>
          </a:p>
        </p:txBody>
      </p:sp>
      <p:sp>
        <p:nvSpPr>
          <p:cNvPr id="82" name="순서도: 자기 디스크 81">
            <a:extLst>
              <a:ext uri="{FF2B5EF4-FFF2-40B4-BE49-F238E27FC236}">
                <a16:creationId xmlns:a16="http://schemas.microsoft.com/office/drawing/2014/main" id="{2EA36000-79CB-4596-B940-EAE4BE743715}"/>
              </a:ext>
            </a:extLst>
          </p:cNvPr>
          <p:cNvSpPr/>
          <p:nvPr/>
        </p:nvSpPr>
        <p:spPr>
          <a:xfrm>
            <a:off x="2242045" y="1035587"/>
            <a:ext cx="937982" cy="703077"/>
          </a:xfrm>
          <a:prstGeom prst="flowChartMagneticDisk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길단위인구</a:t>
            </a:r>
            <a:endParaRPr lang="en-US" altLang="ko-KR" sz="1000" b="1" dirty="0">
              <a:solidFill>
                <a:schemeClr val="tx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 algn="ctr"/>
            <a:r>
              <a:rPr lang="en-US" altLang="ko-KR" sz="1000" b="1" dirty="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(</a:t>
            </a:r>
            <a:r>
              <a:rPr lang="ko-KR" altLang="en-US" sz="1000" b="1" dirty="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행정동</a:t>
            </a:r>
            <a:r>
              <a:rPr lang="en-US" altLang="ko-KR" sz="1000" b="1" dirty="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)</a:t>
            </a:r>
            <a:endParaRPr lang="ko-KR" altLang="en-US" sz="1000" b="1" dirty="0">
              <a:solidFill>
                <a:schemeClr val="tx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83" name="순서도: 자기 디스크 82">
            <a:extLst>
              <a:ext uri="{FF2B5EF4-FFF2-40B4-BE49-F238E27FC236}">
                <a16:creationId xmlns:a16="http://schemas.microsoft.com/office/drawing/2014/main" id="{B5A490D9-D879-4590-B37A-E7FD99D1FB73}"/>
              </a:ext>
            </a:extLst>
          </p:cNvPr>
          <p:cNvSpPr/>
          <p:nvPr/>
        </p:nvSpPr>
        <p:spPr>
          <a:xfrm>
            <a:off x="3268438" y="1035587"/>
            <a:ext cx="937982" cy="703077"/>
          </a:xfrm>
          <a:prstGeom prst="flowChartMagneticDisk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점포 수 변화</a:t>
            </a:r>
            <a:endParaRPr lang="en-US" altLang="ko-KR" sz="1000" b="1" dirty="0">
              <a:solidFill>
                <a:schemeClr val="tx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 algn="ctr"/>
            <a:r>
              <a:rPr lang="en-US" altLang="ko-KR" sz="1000" b="1" dirty="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(</a:t>
            </a:r>
            <a:r>
              <a:rPr lang="ko-KR" altLang="en-US" sz="1000" b="1" dirty="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행정동</a:t>
            </a:r>
            <a:r>
              <a:rPr lang="en-US" altLang="ko-KR" sz="1000" b="1" dirty="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)</a:t>
            </a:r>
            <a:endParaRPr lang="ko-KR" altLang="en-US" sz="1000" b="1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85" name="순서도: 자기 디스크 84">
            <a:extLst>
              <a:ext uri="{FF2B5EF4-FFF2-40B4-BE49-F238E27FC236}">
                <a16:creationId xmlns:a16="http://schemas.microsoft.com/office/drawing/2014/main" id="{67DBBDC0-192C-4C98-93FB-D4089ACE3252}"/>
              </a:ext>
            </a:extLst>
          </p:cNvPr>
          <p:cNvSpPr/>
          <p:nvPr/>
        </p:nvSpPr>
        <p:spPr>
          <a:xfrm>
            <a:off x="4294831" y="1035587"/>
            <a:ext cx="937982" cy="703077"/>
          </a:xfrm>
          <a:prstGeom prst="flowChartMagneticDisk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추정 매출</a:t>
            </a:r>
            <a:endParaRPr lang="en-US" altLang="ko-KR" sz="1000" b="1" dirty="0">
              <a:solidFill>
                <a:schemeClr val="tx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 algn="ctr"/>
            <a:r>
              <a:rPr lang="en-US" altLang="ko-KR" sz="1000" b="1" dirty="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(</a:t>
            </a:r>
            <a:r>
              <a:rPr lang="ko-KR" altLang="en-US" sz="1000" b="1" dirty="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행정동</a:t>
            </a:r>
            <a:r>
              <a:rPr lang="en-US" altLang="ko-KR" sz="1000" b="1" dirty="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)</a:t>
            </a:r>
            <a:endParaRPr lang="ko-KR" altLang="en-US" sz="1000" b="1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17D26BE3-E8E6-4612-A9E8-A6BCF986FB3A}"/>
              </a:ext>
            </a:extLst>
          </p:cNvPr>
          <p:cNvSpPr/>
          <p:nvPr/>
        </p:nvSpPr>
        <p:spPr>
          <a:xfrm>
            <a:off x="1089300" y="958392"/>
            <a:ext cx="4222798" cy="881234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9B54CD7E-10FC-4A48-979B-44FA18C4FBBD}"/>
              </a:ext>
            </a:extLst>
          </p:cNvPr>
          <p:cNvCxnSpPr>
            <a:stCxn id="7" idx="3"/>
            <a:endCxn id="8" idx="1"/>
          </p:cNvCxnSpPr>
          <p:nvPr/>
        </p:nvCxnSpPr>
        <p:spPr>
          <a:xfrm flipV="1">
            <a:off x="2362076" y="2437139"/>
            <a:ext cx="368116" cy="4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8" name="사각형: 둥근 모서리 117">
            <a:extLst>
              <a:ext uri="{FF2B5EF4-FFF2-40B4-BE49-F238E27FC236}">
                <a16:creationId xmlns:a16="http://schemas.microsoft.com/office/drawing/2014/main" id="{B3986567-B59B-4242-AF9F-F0BDDC8FA430}"/>
              </a:ext>
            </a:extLst>
          </p:cNvPr>
          <p:cNvSpPr/>
          <p:nvPr/>
        </p:nvSpPr>
        <p:spPr>
          <a:xfrm>
            <a:off x="2412865" y="4078341"/>
            <a:ext cx="2033883" cy="449375"/>
          </a:xfrm>
          <a:prstGeom prst="roundRect">
            <a:avLst/>
          </a:prstGeom>
          <a:noFill/>
          <a:ln>
            <a:solidFill>
              <a:srgbClr val="F4749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rgbClr val="71A850"/>
                </a:solidFill>
              </a:ln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1251DFF3-B11B-428E-828B-11EE545873A5}"/>
              </a:ext>
            </a:extLst>
          </p:cNvPr>
          <p:cNvSpPr txBox="1"/>
          <p:nvPr/>
        </p:nvSpPr>
        <p:spPr>
          <a:xfrm>
            <a:off x="1804559" y="3354274"/>
            <a:ext cx="325049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100" dirty="0">
                <a:latin typeface="Arial Rounded MT Bold" panose="020F0704030504030204" pitchFamily="34" charset="0"/>
                <a:ea typeface="나눔고딕" panose="020D0604000000000000" pitchFamily="50" charset="-127"/>
              </a:rPr>
              <a:t>Phase 2. </a:t>
            </a:r>
            <a:r>
              <a:rPr lang="ko-KR" altLang="en-US" sz="1100" b="1" dirty="0">
                <a:latin typeface="Arial Rounded MT Bold" panose="020F0704030504030204" pitchFamily="34" charset="0"/>
                <a:ea typeface="나눔고딕" panose="020D0604000000000000" pitchFamily="50" charset="-127"/>
              </a:rPr>
              <a:t>다면적 상권 심층 분석</a:t>
            </a:r>
            <a:endParaRPr lang="en-US" altLang="ko-KR" sz="1100" b="1" dirty="0">
              <a:latin typeface="Arial Rounded MT Bold" panose="020F0704030504030204" pitchFamily="34" charset="0"/>
              <a:ea typeface="나눔고딕" panose="020D0604000000000000" pitchFamily="50" charset="-127"/>
            </a:endParaRPr>
          </a:p>
        </p:txBody>
      </p:sp>
      <p:pic>
        <p:nvPicPr>
          <p:cNvPr id="49" name="그림 48">
            <a:extLst>
              <a:ext uri="{FF2B5EF4-FFF2-40B4-BE49-F238E27FC236}">
                <a16:creationId xmlns:a16="http://schemas.microsoft.com/office/drawing/2014/main" id="{7673AA92-D857-4C76-8443-8F5BA5A458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6416" y="4112653"/>
            <a:ext cx="333227" cy="333227"/>
          </a:xfrm>
          <a:prstGeom prst="rect">
            <a:avLst/>
          </a:prstGeom>
        </p:spPr>
      </p:pic>
      <p:sp>
        <p:nvSpPr>
          <p:cNvPr id="122" name="순서도: 문서 121">
            <a:extLst>
              <a:ext uri="{FF2B5EF4-FFF2-40B4-BE49-F238E27FC236}">
                <a16:creationId xmlns:a16="http://schemas.microsoft.com/office/drawing/2014/main" id="{F9B0FCB8-B229-48B4-B813-B4102E427E1A}"/>
              </a:ext>
            </a:extLst>
          </p:cNvPr>
          <p:cNvSpPr/>
          <p:nvPr/>
        </p:nvSpPr>
        <p:spPr>
          <a:xfrm>
            <a:off x="707874" y="3887429"/>
            <a:ext cx="1434600" cy="351470"/>
          </a:xfrm>
          <a:prstGeom prst="flowChartDocumen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역세권</a:t>
            </a:r>
          </a:p>
        </p:txBody>
      </p:sp>
      <p:sp>
        <p:nvSpPr>
          <p:cNvPr id="123" name="순서도: 문서 122">
            <a:extLst>
              <a:ext uri="{FF2B5EF4-FFF2-40B4-BE49-F238E27FC236}">
                <a16:creationId xmlns:a16="http://schemas.microsoft.com/office/drawing/2014/main" id="{4B2F1BA4-7F20-49A5-A815-18C843B98B63}"/>
              </a:ext>
            </a:extLst>
          </p:cNvPr>
          <p:cNvSpPr/>
          <p:nvPr/>
        </p:nvSpPr>
        <p:spPr>
          <a:xfrm>
            <a:off x="707873" y="4275399"/>
            <a:ext cx="1434600" cy="351470"/>
          </a:xfrm>
          <a:prstGeom prst="flowChartDocumen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시간대별 유동인구</a:t>
            </a:r>
            <a:r>
              <a:rPr lang="en-US" altLang="ko-KR" sz="8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, </a:t>
            </a:r>
            <a:r>
              <a:rPr lang="ko-KR" altLang="en-US" sz="8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매출</a:t>
            </a:r>
            <a:r>
              <a:rPr lang="en-US" altLang="ko-KR" sz="8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,</a:t>
            </a:r>
          </a:p>
          <a:p>
            <a:pPr algn="ctr"/>
            <a:r>
              <a:rPr lang="ko-KR" altLang="en-US" sz="8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성별</a:t>
            </a:r>
            <a:r>
              <a:rPr lang="en-US" altLang="ko-KR" sz="8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, </a:t>
            </a:r>
            <a:r>
              <a:rPr lang="ko-KR" altLang="en-US" sz="8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연령 분포</a:t>
            </a:r>
          </a:p>
        </p:txBody>
      </p:sp>
      <p:sp>
        <p:nvSpPr>
          <p:cNvPr id="129" name="순서도: 문서 128">
            <a:extLst>
              <a:ext uri="{FF2B5EF4-FFF2-40B4-BE49-F238E27FC236}">
                <a16:creationId xmlns:a16="http://schemas.microsoft.com/office/drawing/2014/main" id="{0AE395C5-6359-4F7F-8FB4-4B473A935E58}"/>
              </a:ext>
            </a:extLst>
          </p:cNvPr>
          <p:cNvSpPr/>
          <p:nvPr/>
        </p:nvSpPr>
        <p:spPr>
          <a:xfrm>
            <a:off x="4738671" y="4078341"/>
            <a:ext cx="1333583" cy="449375"/>
          </a:xfrm>
          <a:prstGeom prst="flowChartDocumen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b="1" dirty="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상권활성도 보고서</a:t>
            </a:r>
          </a:p>
        </p:txBody>
      </p:sp>
      <p:sp>
        <p:nvSpPr>
          <p:cNvPr id="130" name="순서도: 문서 129">
            <a:extLst>
              <a:ext uri="{FF2B5EF4-FFF2-40B4-BE49-F238E27FC236}">
                <a16:creationId xmlns:a16="http://schemas.microsoft.com/office/drawing/2014/main" id="{34BCFE24-D2E6-4183-8171-2A1C7EF4BBD9}"/>
              </a:ext>
            </a:extLst>
          </p:cNvPr>
          <p:cNvSpPr/>
          <p:nvPr/>
        </p:nvSpPr>
        <p:spPr>
          <a:xfrm>
            <a:off x="707872" y="4676253"/>
            <a:ext cx="1434602" cy="351470"/>
          </a:xfrm>
          <a:prstGeom prst="flowChartDocumen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반경 내 유사점포 수</a:t>
            </a:r>
            <a:r>
              <a:rPr lang="en-US" altLang="ko-KR" sz="8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,</a:t>
            </a:r>
          </a:p>
          <a:p>
            <a:pPr algn="ctr"/>
            <a:r>
              <a:rPr lang="ko-KR" altLang="en-US" sz="8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개</a:t>
            </a:r>
            <a:r>
              <a:rPr lang="en-US" altLang="ko-KR" sz="8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/</a:t>
            </a:r>
            <a:r>
              <a:rPr lang="ko-KR" altLang="en-US" sz="800" dirty="0" err="1">
                <a:solidFill>
                  <a:schemeClr val="tx1"/>
                </a:solidFill>
                <a:latin typeface="Arial Rounded MT Bold" panose="020F0704030504030204" pitchFamily="34" charset="0"/>
              </a:rPr>
              <a:t>폐업률</a:t>
            </a:r>
            <a:r>
              <a:rPr lang="en-US" altLang="ko-KR" sz="8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, </a:t>
            </a:r>
            <a:r>
              <a:rPr lang="ko-KR" altLang="en-US" sz="8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프랜차이즈 비율</a:t>
            </a:r>
          </a:p>
        </p:txBody>
      </p:sp>
      <p:sp>
        <p:nvSpPr>
          <p:cNvPr id="131" name="순서도: 문서 130">
            <a:extLst>
              <a:ext uri="{FF2B5EF4-FFF2-40B4-BE49-F238E27FC236}">
                <a16:creationId xmlns:a16="http://schemas.microsoft.com/office/drawing/2014/main" id="{AE71268B-5696-4985-9A87-8E94CF405C9B}"/>
              </a:ext>
            </a:extLst>
          </p:cNvPr>
          <p:cNvSpPr/>
          <p:nvPr/>
        </p:nvSpPr>
        <p:spPr>
          <a:xfrm>
            <a:off x="707872" y="5081236"/>
            <a:ext cx="1434602" cy="351470"/>
          </a:xfrm>
          <a:prstGeom prst="flowChartDocumen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동 내 업종별 매출 순위</a:t>
            </a:r>
          </a:p>
        </p:txBody>
      </p:sp>
      <p:sp>
        <p:nvSpPr>
          <p:cNvPr id="133" name="순서도: 문서 132">
            <a:extLst>
              <a:ext uri="{FF2B5EF4-FFF2-40B4-BE49-F238E27FC236}">
                <a16:creationId xmlns:a16="http://schemas.microsoft.com/office/drawing/2014/main" id="{F1C82194-ADBD-42B1-8BD2-3F4CEB198054}"/>
              </a:ext>
            </a:extLst>
          </p:cNvPr>
          <p:cNvSpPr/>
          <p:nvPr/>
        </p:nvSpPr>
        <p:spPr>
          <a:xfrm>
            <a:off x="707872" y="5467863"/>
            <a:ext cx="1434602" cy="351470"/>
          </a:xfrm>
          <a:prstGeom prst="flowChartDocumen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최대</a:t>
            </a:r>
            <a:r>
              <a:rPr lang="en-US" altLang="ko-KR" sz="8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/</a:t>
            </a:r>
            <a:r>
              <a:rPr lang="ko-KR" altLang="en-US" sz="8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최소 매출 업종</a:t>
            </a:r>
          </a:p>
        </p:txBody>
      </p:sp>
      <p:sp>
        <p:nvSpPr>
          <p:cNvPr id="134" name="사각형: 둥근 모서리 133">
            <a:extLst>
              <a:ext uri="{FF2B5EF4-FFF2-40B4-BE49-F238E27FC236}">
                <a16:creationId xmlns:a16="http://schemas.microsoft.com/office/drawing/2014/main" id="{1E4734EA-F8A8-435E-AA6A-B2BCAE2649FA}"/>
              </a:ext>
            </a:extLst>
          </p:cNvPr>
          <p:cNvSpPr/>
          <p:nvPr/>
        </p:nvSpPr>
        <p:spPr>
          <a:xfrm>
            <a:off x="2412865" y="4622400"/>
            <a:ext cx="2033883" cy="449375"/>
          </a:xfrm>
          <a:prstGeom prst="roundRect">
            <a:avLst/>
          </a:prstGeom>
          <a:noFill/>
          <a:ln>
            <a:solidFill>
              <a:srgbClr val="F4749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rgbClr val="71A850"/>
                </a:solidFill>
              </a:ln>
            </a:endParaRPr>
          </a:p>
        </p:txBody>
      </p:sp>
      <p:pic>
        <p:nvPicPr>
          <p:cNvPr id="135" name="그림 134">
            <a:extLst>
              <a:ext uri="{FF2B5EF4-FFF2-40B4-BE49-F238E27FC236}">
                <a16:creationId xmlns:a16="http://schemas.microsoft.com/office/drawing/2014/main" id="{8482A4D3-1212-4167-BC4C-5BCD336428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6416" y="4656712"/>
            <a:ext cx="333227" cy="333227"/>
          </a:xfrm>
          <a:prstGeom prst="rect">
            <a:avLst/>
          </a:prstGeom>
        </p:spPr>
      </p:pic>
      <p:sp>
        <p:nvSpPr>
          <p:cNvPr id="136" name="TextBox 135">
            <a:extLst>
              <a:ext uri="{FF2B5EF4-FFF2-40B4-BE49-F238E27FC236}">
                <a16:creationId xmlns:a16="http://schemas.microsoft.com/office/drawing/2014/main" id="{D95004AF-1ECE-4917-A2DA-991275EF0BDB}"/>
              </a:ext>
            </a:extLst>
          </p:cNvPr>
          <p:cNvSpPr txBox="1"/>
          <p:nvPr/>
        </p:nvSpPr>
        <p:spPr>
          <a:xfrm>
            <a:off x="2810373" y="4718666"/>
            <a:ext cx="171225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b="1" dirty="0">
                <a:latin typeface="Arial Rounded MT Bold" panose="020F0704030504030204" pitchFamily="34" charset="0"/>
                <a:ea typeface="나눔고딕" panose="020D0604000000000000" pitchFamily="50" charset="-127"/>
              </a:rPr>
              <a:t>경쟁환경 분석 에이전트</a:t>
            </a:r>
            <a:endParaRPr lang="en-US" altLang="ko-KR" sz="1100" b="1" dirty="0">
              <a:latin typeface="Arial Rounded MT Bold" panose="020F0704030504030204" pitchFamily="34" charset="0"/>
              <a:ea typeface="나눔고딕" panose="020D0604000000000000" pitchFamily="50" charset="-127"/>
            </a:endParaRPr>
          </a:p>
        </p:txBody>
      </p:sp>
      <p:sp>
        <p:nvSpPr>
          <p:cNvPr id="137" name="사각형: 둥근 모서리 136">
            <a:extLst>
              <a:ext uri="{FF2B5EF4-FFF2-40B4-BE49-F238E27FC236}">
                <a16:creationId xmlns:a16="http://schemas.microsoft.com/office/drawing/2014/main" id="{B65EA292-12D1-4730-89C8-47AB0F6319C9}"/>
              </a:ext>
            </a:extLst>
          </p:cNvPr>
          <p:cNvSpPr/>
          <p:nvPr/>
        </p:nvSpPr>
        <p:spPr>
          <a:xfrm>
            <a:off x="2412865" y="5150075"/>
            <a:ext cx="2033883" cy="449375"/>
          </a:xfrm>
          <a:prstGeom prst="roundRect">
            <a:avLst/>
          </a:prstGeom>
          <a:noFill/>
          <a:ln>
            <a:solidFill>
              <a:srgbClr val="F4749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rgbClr val="71A850"/>
                </a:solidFill>
              </a:ln>
            </a:endParaRPr>
          </a:p>
        </p:txBody>
      </p:sp>
      <p:pic>
        <p:nvPicPr>
          <p:cNvPr id="138" name="그림 137">
            <a:extLst>
              <a:ext uri="{FF2B5EF4-FFF2-40B4-BE49-F238E27FC236}">
                <a16:creationId xmlns:a16="http://schemas.microsoft.com/office/drawing/2014/main" id="{DFA8781D-DAAA-497B-8E34-73282D340F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6416" y="5184387"/>
            <a:ext cx="333227" cy="333227"/>
          </a:xfrm>
          <a:prstGeom prst="rect">
            <a:avLst/>
          </a:prstGeom>
        </p:spPr>
      </p:pic>
      <p:sp>
        <p:nvSpPr>
          <p:cNvPr id="139" name="TextBox 138">
            <a:extLst>
              <a:ext uri="{FF2B5EF4-FFF2-40B4-BE49-F238E27FC236}">
                <a16:creationId xmlns:a16="http://schemas.microsoft.com/office/drawing/2014/main" id="{21EBEDC6-8D54-4A15-8758-0254EB4D940B}"/>
              </a:ext>
            </a:extLst>
          </p:cNvPr>
          <p:cNvSpPr txBox="1"/>
          <p:nvPr/>
        </p:nvSpPr>
        <p:spPr>
          <a:xfrm>
            <a:off x="2810373" y="5246341"/>
            <a:ext cx="171225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b="1" dirty="0">
                <a:latin typeface="Arial Rounded MT Bold" panose="020F0704030504030204" pitchFamily="34" charset="0"/>
                <a:ea typeface="나눔고딕" panose="020D0604000000000000" pitchFamily="50" charset="-127"/>
              </a:rPr>
              <a:t>업종 추천 에이전트</a:t>
            </a:r>
            <a:endParaRPr lang="en-US" altLang="ko-KR" sz="1100" b="1" dirty="0">
              <a:latin typeface="Arial Rounded MT Bold" panose="020F0704030504030204" pitchFamily="34" charset="0"/>
              <a:ea typeface="나눔고딕" panose="020D0604000000000000" pitchFamily="50" charset="-127"/>
            </a:endParaRPr>
          </a:p>
        </p:txBody>
      </p:sp>
      <p:sp>
        <p:nvSpPr>
          <p:cNvPr id="140" name="순서도: 문서 139">
            <a:extLst>
              <a:ext uri="{FF2B5EF4-FFF2-40B4-BE49-F238E27FC236}">
                <a16:creationId xmlns:a16="http://schemas.microsoft.com/office/drawing/2014/main" id="{54A6AFDA-1A6B-41C3-9452-F49F2D3E760B}"/>
              </a:ext>
            </a:extLst>
          </p:cNvPr>
          <p:cNvSpPr/>
          <p:nvPr/>
        </p:nvSpPr>
        <p:spPr>
          <a:xfrm>
            <a:off x="4738671" y="4622400"/>
            <a:ext cx="1333583" cy="449375"/>
          </a:xfrm>
          <a:prstGeom prst="flowChartDocumen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b="1" dirty="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경쟁환경 보고서</a:t>
            </a:r>
          </a:p>
        </p:txBody>
      </p:sp>
      <p:sp>
        <p:nvSpPr>
          <p:cNvPr id="141" name="순서도: 문서 140">
            <a:extLst>
              <a:ext uri="{FF2B5EF4-FFF2-40B4-BE49-F238E27FC236}">
                <a16:creationId xmlns:a16="http://schemas.microsoft.com/office/drawing/2014/main" id="{4B89DB5C-1BFA-42CF-9020-5C46BF690192}"/>
              </a:ext>
            </a:extLst>
          </p:cNvPr>
          <p:cNvSpPr/>
          <p:nvPr/>
        </p:nvSpPr>
        <p:spPr>
          <a:xfrm>
            <a:off x="4738671" y="5160008"/>
            <a:ext cx="1333583" cy="449375"/>
          </a:xfrm>
          <a:prstGeom prst="flowChartDocumen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b="1" dirty="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업종 추천 보고서</a:t>
            </a:r>
          </a:p>
        </p:txBody>
      </p:sp>
      <p:sp>
        <p:nvSpPr>
          <p:cNvPr id="143" name="직사각형 142">
            <a:extLst>
              <a:ext uri="{FF2B5EF4-FFF2-40B4-BE49-F238E27FC236}">
                <a16:creationId xmlns:a16="http://schemas.microsoft.com/office/drawing/2014/main" id="{519CA6C9-4721-4139-B990-35B28421A31B}"/>
              </a:ext>
            </a:extLst>
          </p:cNvPr>
          <p:cNvSpPr/>
          <p:nvPr/>
        </p:nvSpPr>
        <p:spPr>
          <a:xfrm>
            <a:off x="643010" y="3823745"/>
            <a:ext cx="1561963" cy="2028639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5" name="연결선: 꺾임 54">
            <a:extLst>
              <a:ext uri="{FF2B5EF4-FFF2-40B4-BE49-F238E27FC236}">
                <a16:creationId xmlns:a16="http://schemas.microsoft.com/office/drawing/2014/main" id="{3744BAAC-B616-4839-8E51-D7618DAD5B49}"/>
              </a:ext>
            </a:extLst>
          </p:cNvPr>
          <p:cNvCxnSpPr>
            <a:cxnSpLocks/>
            <a:stCxn id="12" idx="2"/>
            <a:endCxn id="143" idx="1"/>
          </p:cNvCxnSpPr>
          <p:nvPr/>
        </p:nvCxnSpPr>
        <p:spPr>
          <a:xfrm rot="5400000">
            <a:off x="1547033" y="1785583"/>
            <a:ext cx="2148460" cy="3956505"/>
          </a:xfrm>
          <a:prstGeom prst="bentConnector4">
            <a:avLst>
              <a:gd name="adj1" fmla="val 23960"/>
              <a:gd name="adj2" fmla="val 105778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F445B3DB-3C76-4EEC-B6D9-C68E957560EC}"/>
              </a:ext>
            </a:extLst>
          </p:cNvPr>
          <p:cNvCxnSpPr>
            <a:stCxn id="8" idx="3"/>
            <a:endCxn id="12" idx="1"/>
          </p:cNvCxnSpPr>
          <p:nvPr/>
        </p:nvCxnSpPr>
        <p:spPr>
          <a:xfrm flipV="1">
            <a:off x="3680500" y="2436919"/>
            <a:ext cx="364412" cy="2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3" name="연결선: 꺾임 72">
            <a:extLst>
              <a:ext uri="{FF2B5EF4-FFF2-40B4-BE49-F238E27FC236}">
                <a16:creationId xmlns:a16="http://schemas.microsoft.com/office/drawing/2014/main" id="{2FED6C8C-5EA9-45C8-9DAC-20199CFE8D05}"/>
              </a:ext>
            </a:extLst>
          </p:cNvPr>
          <p:cNvCxnSpPr>
            <a:stCxn id="122" idx="3"/>
            <a:endCxn id="118" idx="1"/>
          </p:cNvCxnSpPr>
          <p:nvPr/>
        </p:nvCxnSpPr>
        <p:spPr>
          <a:xfrm>
            <a:off x="2142474" y="4063164"/>
            <a:ext cx="270391" cy="239865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5" name="연결선: 꺾임 74">
            <a:extLst>
              <a:ext uri="{FF2B5EF4-FFF2-40B4-BE49-F238E27FC236}">
                <a16:creationId xmlns:a16="http://schemas.microsoft.com/office/drawing/2014/main" id="{5F2DFFAB-CA80-4EB1-8FE0-8DFB143F396C}"/>
              </a:ext>
            </a:extLst>
          </p:cNvPr>
          <p:cNvCxnSpPr>
            <a:stCxn id="123" idx="3"/>
            <a:endCxn id="118" idx="1"/>
          </p:cNvCxnSpPr>
          <p:nvPr/>
        </p:nvCxnSpPr>
        <p:spPr>
          <a:xfrm flipV="1">
            <a:off x="2142473" y="4303029"/>
            <a:ext cx="270392" cy="148105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8" name="연결선: 꺾임 87">
            <a:extLst>
              <a:ext uri="{FF2B5EF4-FFF2-40B4-BE49-F238E27FC236}">
                <a16:creationId xmlns:a16="http://schemas.microsoft.com/office/drawing/2014/main" id="{865CFB14-45C0-451A-8283-75700A70BAB4}"/>
              </a:ext>
            </a:extLst>
          </p:cNvPr>
          <p:cNvCxnSpPr>
            <a:stCxn id="131" idx="3"/>
            <a:endCxn id="137" idx="1"/>
          </p:cNvCxnSpPr>
          <p:nvPr/>
        </p:nvCxnSpPr>
        <p:spPr>
          <a:xfrm>
            <a:off x="2142474" y="5256971"/>
            <a:ext cx="270391" cy="117792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1" name="연결선: 꺾임 90">
            <a:extLst>
              <a:ext uri="{FF2B5EF4-FFF2-40B4-BE49-F238E27FC236}">
                <a16:creationId xmlns:a16="http://schemas.microsoft.com/office/drawing/2014/main" id="{D00CE300-1BF0-48E4-9759-D5F9209D0D97}"/>
              </a:ext>
            </a:extLst>
          </p:cNvPr>
          <p:cNvCxnSpPr>
            <a:stCxn id="133" idx="3"/>
            <a:endCxn id="137" idx="1"/>
          </p:cNvCxnSpPr>
          <p:nvPr/>
        </p:nvCxnSpPr>
        <p:spPr>
          <a:xfrm flipV="1">
            <a:off x="2142474" y="5374763"/>
            <a:ext cx="270391" cy="268835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4E6F2F20-95A0-4CF7-ACB0-5B1C8BE6AD28}"/>
              </a:ext>
            </a:extLst>
          </p:cNvPr>
          <p:cNvCxnSpPr>
            <a:stCxn id="130" idx="3"/>
            <a:endCxn id="134" idx="1"/>
          </p:cNvCxnSpPr>
          <p:nvPr/>
        </p:nvCxnSpPr>
        <p:spPr>
          <a:xfrm flipV="1">
            <a:off x="2142474" y="4847088"/>
            <a:ext cx="270391" cy="49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" name="직선 화살표 연결선 107">
            <a:extLst>
              <a:ext uri="{FF2B5EF4-FFF2-40B4-BE49-F238E27FC236}">
                <a16:creationId xmlns:a16="http://schemas.microsoft.com/office/drawing/2014/main" id="{CC3F4204-3E8D-4E7D-9A07-75606587C795}"/>
              </a:ext>
            </a:extLst>
          </p:cNvPr>
          <p:cNvCxnSpPr>
            <a:cxnSpLocks/>
            <a:stCxn id="118" idx="3"/>
            <a:endCxn id="129" idx="1"/>
          </p:cNvCxnSpPr>
          <p:nvPr/>
        </p:nvCxnSpPr>
        <p:spPr>
          <a:xfrm>
            <a:off x="4446748" y="4303029"/>
            <a:ext cx="29192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5" name="TextBox 184">
            <a:extLst>
              <a:ext uri="{FF2B5EF4-FFF2-40B4-BE49-F238E27FC236}">
                <a16:creationId xmlns:a16="http://schemas.microsoft.com/office/drawing/2014/main" id="{A5668CDF-8ED9-4E45-B483-61E3ACF8E8FB}"/>
              </a:ext>
            </a:extLst>
          </p:cNvPr>
          <p:cNvSpPr txBox="1"/>
          <p:nvPr/>
        </p:nvSpPr>
        <p:spPr>
          <a:xfrm>
            <a:off x="2788339" y="4173920"/>
            <a:ext cx="171225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b="1" dirty="0">
                <a:latin typeface="Arial Rounded MT Bold" panose="020F0704030504030204" pitchFamily="34" charset="0"/>
                <a:ea typeface="나눔고딕" panose="020D0604000000000000" pitchFamily="50" charset="-127"/>
              </a:rPr>
              <a:t>상권활성도 분석 에이전트</a:t>
            </a:r>
            <a:endParaRPr lang="en-US" altLang="ko-KR" sz="1100" b="1" dirty="0">
              <a:latin typeface="Arial Rounded MT Bold" panose="020F0704030504030204" pitchFamily="34" charset="0"/>
              <a:ea typeface="나눔고딕" panose="020D0604000000000000" pitchFamily="50" charset="-127"/>
            </a:endParaRPr>
          </a:p>
        </p:txBody>
      </p:sp>
      <p:cxnSp>
        <p:nvCxnSpPr>
          <p:cNvPr id="186" name="직선 화살표 연결선 185">
            <a:extLst>
              <a:ext uri="{FF2B5EF4-FFF2-40B4-BE49-F238E27FC236}">
                <a16:creationId xmlns:a16="http://schemas.microsoft.com/office/drawing/2014/main" id="{58A3021B-6BE2-487B-AA21-16C5203451CB}"/>
              </a:ext>
            </a:extLst>
          </p:cNvPr>
          <p:cNvCxnSpPr>
            <a:cxnSpLocks/>
          </p:cNvCxnSpPr>
          <p:nvPr/>
        </p:nvCxnSpPr>
        <p:spPr>
          <a:xfrm>
            <a:off x="4446748" y="4839058"/>
            <a:ext cx="29192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7" name="직선 화살표 연결선 186">
            <a:extLst>
              <a:ext uri="{FF2B5EF4-FFF2-40B4-BE49-F238E27FC236}">
                <a16:creationId xmlns:a16="http://schemas.microsoft.com/office/drawing/2014/main" id="{B9C0FFDF-1B85-4727-8C04-32D38C16CFFB}"/>
              </a:ext>
            </a:extLst>
          </p:cNvPr>
          <p:cNvCxnSpPr>
            <a:cxnSpLocks/>
          </p:cNvCxnSpPr>
          <p:nvPr/>
        </p:nvCxnSpPr>
        <p:spPr>
          <a:xfrm>
            <a:off x="4446748" y="5362935"/>
            <a:ext cx="29192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8" name="사각형: 둥근 모서리 187">
            <a:extLst>
              <a:ext uri="{FF2B5EF4-FFF2-40B4-BE49-F238E27FC236}">
                <a16:creationId xmlns:a16="http://schemas.microsoft.com/office/drawing/2014/main" id="{359796D7-6F80-46E1-9EC4-91D88C5951B2}"/>
              </a:ext>
            </a:extLst>
          </p:cNvPr>
          <p:cNvSpPr/>
          <p:nvPr/>
        </p:nvSpPr>
        <p:spPr>
          <a:xfrm>
            <a:off x="6463329" y="2351186"/>
            <a:ext cx="5449271" cy="3886098"/>
          </a:xfrm>
          <a:prstGeom prst="roundRect">
            <a:avLst/>
          </a:prstGeom>
          <a:noFill/>
          <a:ln>
            <a:solidFill>
              <a:srgbClr val="CE9BE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rgbClr val="71A850"/>
                </a:solidFill>
              </a:ln>
            </a:endParaRPr>
          </a:p>
        </p:txBody>
      </p:sp>
      <p:sp>
        <p:nvSpPr>
          <p:cNvPr id="189" name="TextBox 188">
            <a:extLst>
              <a:ext uri="{FF2B5EF4-FFF2-40B4-BE49-F238E27FC236}">
                <a16:creationId xmlns:a16="http://schemas.microsoft.com/office/drawing/2014/main" id="{5D9A663A-7F8E-4DC0-875C-0B1E4D9A11F5}"/>
              </a:ext>
            </a:extLst>
          </p:cNvPr>
          <p:cNvSpPr txBox="1"/>
          <p:nvPr/>
        </p:nvSpPr>
        <p:spPr>
          <a:xfrm>
            <a:off x="8111708" y="2351186"/>
            <a:ext cx="215251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100" dirty="0">
                <a:latin typeface="Arial Rounded MT Bold" panose="020F0704030504030204" pitchFamily="34" charset="0"/>
                <a:ea typeface="나눔고딕" panose="020D0604000000000000" pitchFamily="50" charset="-127"/>
              </a:rPr>
              <a:t>Phase 3. </a:t>
            </a:r>
            <a:r>
              <a:rPr lang="ko-KR" altLang="en-US" sz="1100" b="1" dirty="0">
                <a:latin typeface="Arial Rounded MT Bold" panose="020F0704030504030204" pitchFamily="34" charset="0"/>
                <a:ea typeface="나눔고딕" panose="020D0604000000000000" pitchFamily="50" charset="-127"/>
              </a:rPr>
              <a:t>통합 분석 및 브랜딩</a:t>
            </a:r>
            <a:endParaRPr lang="en-US" altLang="ko-KR" sz="1100" b="1" dirty="0">
              <a:latin typeface="Arial Rounded MT Bold" panose="020F0704030504030204" pitchFamily="34" charset="0"/>
              <a:ea typeface="나눔고딕" panose="020D0604000000000000" pitchFamily="50" charset="-127"/>
            </a:endParaRPr>
          </a:p>
        </p:txBody>
      </p:sp>
      <p:sp>
        <p:nvSpPr>
          <p:cNvPr id="190" name="사각형: 둥근 모서리 189">
            <a:extLst>
              <a:ext uri="{FF2B5EF4-FFF2-40B4-BE49-F238E27FC236}">
                <a16:creationId xmlns:a16="http://schemas.microsoft.com/office/drawing/2014/main" id="{5D6AD347-12BD-4D27-8E9D-E024A8A411F8}"/>
              </a:ext>
            </a:extLst>
          </p:cNvPr>
          <p:cNvSpPr/>
          <p:nvPr/>
        </p:nvSpPr>
        <p:spPr>
          <a:xfrm>
            <a:off x="6601841" y="3875875"/>
            <a:ext cx="2033883" cy="449375"/>
          </a:xfrm>
          <a:prstGeom prst="roundRect">
            <a:avLst/>
          </a:prstGeom>
          <a:noFill/>
          <a:ln>
            <a:solidFill>
              <a:srgbClr val="F4749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rgbClr val="71A850"/>
                </a:solidFill>
              </a:ln>
            </a:endParaRPr>
          </a:p>
        </p:txBody>
      </p:sp>
      <p:pic>
        <p:nvPicPr>
          <p:cNvPr id="191" name="그림 190">
            <a:extLst>
              <a:ext uri="{FF2B5EF4-FFF2-40B4-BE49-F238E27FC236}">
                <a16:creationId xmlns:a16="http://schemas.microsoft.com/office/drawing/2014/main" id="{0535AB93-28F6-4217-96B7-B21F80B7BE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5392" y="3910187"/>
            <a:ext cx="333227" cy="333227"/>
          </a:xfrm>
          <a:prstGeom prst="rect">
            <a:avLst/>
          </a:prstGeom>
        </p:spPr>
      </p:pic>
      <p:sp>
        <p:nvSpPr>
          <p:cNvPr id="192" name="TextBox 191">
            <a:extLst>
              <a:ext uri="{FF2B5EF4-FFF2-40B4-BE49-F238E27FC236}">
                <a16:creationId xmlns:a16="http://schemas.microsoft.com/office/drawing/2014/main" id="{3E5A75DA-F7E8-4F79-AAC8-C59229A85376}"/>
              </a:ext>
            </a:extLst>
          </p:cNvPr>
          <p:cNvSpPr txBox="1"/>
          <p:nvPr/>
        </p:nvSpPr>
        <p:spPr>
          <a:xfrm>
            <a:off x="6999349" y="3972141"/>
            <a:ext cx="145642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b="1" dirty="0">
                <a:latin typeface="Arial Rounded MT Bold" panose="020F0704030504030204" pitchFamily="34" charset="0"/>
                <a:ea typeface="나눔고딕" panose="020D0604000000000000" pitchFamily="50" charset="-127"/>
              </a:rPr>
              <a:t>상권 작명 에이전트</a:t>
            </a:r>
            <a:endParaRPr lang="en-US" altLang="ko-KR" sz="1100" b="1" dirty="0">
              <a:latin typeface="Arial Rounded MT Bold" panose="020F0704030504030204" pitchFamily="34" charset="0"/>
              <a:ea typeface="나눔고딕" panose="020D0604000000000000" pitchFamily="50" charset="-127"/>
            </a:endParaRPr>
          </a:p>
        </p:txBody>
      </p:sp>
      <p:sp>
        <p:nvSpPr>
          <p:cNvPr id="196" name="직사각형 195">
            <a:extLst>
              <a:ext uri="{FF2B5EF4-FFF2-40B4-BE49-F238E27FC236}">
                <a16:creationId xmlns:a16="http://schemas.microsoft.com/office/drawing/2014/main" id="{E0E24190-AE09-41F5-A68F-619245A4CF5A}"/>
              </a:ext>
            </a:extLst>
          </p:cNvPr>
          <p:cNvSpPr/>
          <p:nvPr/>
        </p:nvSpPr>
        <p:spPr>
          <a:xfrm>
            <a:off x="4599515" y="3823745"/>
            <a:ext cx="1561963" cy="2028639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7" name="사각형: 둥근 모서리 196">
            <a:extLst>
              <a:ext uri="{FF2B5EF4-FFF2-40B4-BE49-F238E27FC236}">
                <a16:creationId xmlns:a16="http://schemas.microsoft.com/office/drawing/2014/main" id="{68EA0F01-3F4C-45BB-AFC1-2300FE65060D}"/>
              </a:ext>
            </a:extLst>
          </p:cNvPr>
          <p:cNvSpPr/>
          <p:nvPr/>
        </p:nvSpPr>
        <p:spPr>
          <a:xfrm>
            <a:off x="6601841" y="4611383"/>
            <a:ext cx="2033883" cy="449375"/>
          </a:xfrm>
          <a:prstGeom prst="roundRect">
            <a:avLst/>
          </a:prstGeom>
          <a:noFill/>
          <a:ln>
            <a:solidFill>
              <a:srgbClr val="F4749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rgbClr val="71A850"/>
                </a:solidFill>
              </a:ln>
            </a:endParaRPr>
          </a:p>
        </p:txBody>
      </p:sp>
      <p:pic>
        <p:nvPicPr>
          <p:cNvPr id="199" name="그림 198">
            <a:extLst>
              <a:ext uri="{FF2B5EF4-FFF2-40B4-BE49-F238E27FC236}">
                <a16:creationId xmlns:a16="http://schemas.microsoft.com/office/drawing/2014/main" id="{11080745-97E6-4A7F-A3E4-33B2455B78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5392" y="4645695"/>
            <a:ext cx="333227" cy="333227"/>
          </a:xfrm>
          <a:prstGeom prst="rect">
            <a:avLst/>
          </a:prstGeom>
        </p:spPr>
      </p:pic>
      <p:sp>
        <p:nvSpPr>
          <p:cNvPr id="208" name="TextBox 207">
            <a:extLst>
              <a:ext uri="{FF2B5EF4-FFF2-40B4-BE49-F238E27FC236}">
                <a16:creationId xmlns:a16="http://schemas.microsoft.com/office/drawing/2014/main" id="{AE6FFBE0-1362-4879-9EB8-7A9EF1553BDC}"/>
              </a:ext>
            </a:extLst>
          </p:cNvPr>
          <p:cNvSpPr txBox="1"/>
          <p:nvPr/>
        </p:nvSpPr>
        <p:spPr>
          <a:xfrm>
            <a:off x="6999349" y="4707649"/>
            <a:ext cx="134877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b="1" dirty="0">
                <a:latin typeface="Arial Rounded MT Bold" panose="020F0704030504030204" pitchFamily="34" charset="0"/>
                <a:ea typeface="나눔고딕" panose="020D0604000000000000" pitchFamily="50" charset="-127"/>
              </a:rPr>
              <a:t>종합 분석 에이전트</a:t>
            </a:r>
            <a:endParaRPr lang="en-US" altLang="ko-KR" sz="1100" b="1" dirty="0">
              <a:latin typeface="Arial Rounded MT Bold" panose="020F0704030504030204" pitchFamily="34" charset="0"/>
              <a:ea typeface="나눔고딕" panose="020D0604000000000000" pitchFamily="50" charset="-127"/>
            </a:endParaRPr>
          </a:p>
        </p:txBody>
      </p:sp>
      <p:cxnSp>
        <p:nvCxnSpPr>
          <p:cNvPr id="165" name="연결선: 꺾임 164">
            <a:extLst>
              <a:ext uri="{FF2B5EF4-FFF2-40B4-BE49-F238E27FC236}">
                <a16:creationId xmlns:a16="http://schemas.microsoft.com/office/drawing/2014/main" id="{A589F15E-A6CA-42C5-9736-1BCD27B9D993}"/>
              </a:ext>
            </a:extLst>
          </p:cNvPr>
          <p:cNvCxnSpPr>
            <a:cxnSpLocks/>
            <a:stCxn id="196" idx="3"/>
            <a:endCxn id="190" idx="1"/>
          </p:cNvCxnSpPr>
          <p:nvPr/>
        </p:nvCxnSpPr>
        <p:spPr>
          <a:xfrm flipV="1">
            <a:off x="6161478" y="4100563"/>
            <a:ext cx="440363" cy="73750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5" name="순서도: 문서 214">
            <a:extLst>
              <a:ext uri="{FF2B5EF4-FFF2-40B4-BE49-F238E27FC236}">
                <a16:creationId xmlns:a16="http://schemas.microsoft.com/office/drawing/2014/main" id="{BB85AF5B-436E-40FC-8A2E-625B7B75FED6}"/>
              </a:ext>
            </a:extLst>
          </p:cNvPr>
          <p:cNvSpPr/>
          <p:nvPr/>
        </p:nvSpPr>
        <p:spPr>
          <a:xfrm>
            <a:off x="8829926" y="3875875"/>
            <a:ext cx="1333583" cy="449375"/>
          </a:xfrm>
          <a:prstGeom prst="flowChartDocument">
            <a:avLst/>
          </a:prstGeom>
          <a:solidFill>
            <a:srgbClr val="FBE5D6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b="1" dirty="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상권 작명 결과</a:t>
            </a:r>
          </a:p>
        </p:txBody>
      </p:sp>
      <p:sp>
        <p:nvSpPr>
          <p:cNvPr id="216" name="순서도: 문서 215">
            <a:extLst>
              <a:ext uri="{FF2B5EF4-FFF2-40B4-BE49-F238E27FC236}">
                <a16:creationId xmlns:a16="http://schemas.microsoft.com/office/drawing/2014/main" id="{080C3733-EDE0-47F6-B885-701CBE5516AA}"/>
              </a:ext>
            </a:extLst>
          </p:cNvPr>
          <p:cNvSpPr/>
          <p:nvPr/>
        </p:nvSpPr>
        <p:spPr>
          <a:xfrm>
            <a:off x="8829926" y="4618174"/>
            <a:ext cx="1333583" cy="449375"/>
          </a:xfrm>
          <a:prstGeom prst="flowChartDocument">
            <a:avLst/>
          </a:prstGeom>
          <a:solidFill>
            <a:srgbClr val="FBE5D6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b="1" dirty="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종합 분석 보고서</a:t>
            </a:r>
          </a:p>
        </p:txBody>
      </p:sp>
      <p:cxnSp>
        <p:nvCxnSpPr>
          <p:cNvPr id="194" name="직선 화살표 연결선 193">
            <a:extLst>
              <a:ext uri="{FF2B5EF4-FFF2-40B4-BE49-F238E27FC236}">
                <a16:creationId xmlns:a16="http://schemas.microsoft.com/office/drawing/2014/main" id="{045605E7-686B-4B89-9508-5BB17C4963F9}"/>
              </a:ext>
            </a:extLst>
          </p:cNvPr>
          <p:cNvCxnSpPr>
            <a:stCxn id="190" idx="3"/>
            <a:endCxn id="215" idx="1"/>
          </p:cNvCxnSpPr>
          <p:nvPr/>
        </p:nvCxnSpPr>
        <p:spPr>
          <a:xfrm>
            <a:off x="8635724" y="4100563"/>
            <a:ext cx="19420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1" name="직선 화살표 연결선 210">
            <a:extLst>
              <a:ext uri="{FF2B5EF4-FFF2-40B4-BE49-F238E27FC236}">
                <a16:creationId xmlns:a16="http://schemas.microsoft.com/office/drawing/2014/main" id="{7E7782F1-C34D-41AD-8F32-38E38C3AD5B7}"/>
              </a:ext>
            </a:extLst>
          </p:cNvPr>
          <p:cNvCxnSpPr>
            <a:stCxn id="197" idx="3"/>
            <a:endCxn id="216" idx="1"/>
          </p:cNvCxnSpPr>
          <p:nvPr/>
        </p:nvCxnSpPr>
        <p:spPr>
          <a:xfrm>
            <a:off x="8635724" y="4836071"/>
            <a:ext cx="194202" cy="679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0" name="직선 화살표 연결선 219">
            <a:extLst>
              <a:ext uri="{FF2B5EF4-FFF2-40B4-BE49-F238E27FC236}">
                <a16:creationId xmlns:a16="http://schemas.microsoft.com/office/drawing/2014/main" id="{7CF45FD6-8C3F-4811-88D3-5A767459BBFA}"/>
              </a:ext>
            </a:extLst>
          </p:cNvPr>
          <p:cNvCxnSpPr>
            <a:stCxn id="29" idx="2"/>
            <a:endCxn id="8" idx="0"/>
          </p:cNvCxnSpPr>
          <p:nvPr/>
        </p:nvCxnSpPr>
        <p:spPr>
          <a:xfrm>
            <a:off x="3200699" y="1839626"/>
            <a:ext cx="4647" cy="34837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8" name="직선 화살표 연결선 227">
            <a:extLst>
              <a:ext uri="{FF2B5EF4-FFF2-40B4-BE49-F238E27FC236}">
                <a16:creationId xmlns:a16="http://schemas.microsoft.com/office/drawing/2014/main" id="{F905FA90-D8D3-44DE-932D-B32A89DE0E3B}"/>
              </a:ext>
            </a:extLst>
          </p:cNvPr>
          <p:cNvCxnSpPr>
            <a:stCxn id="196" idx="3"/>
            <a:endCxn id="197" idx="1"/>
          </p:cNvCxnSpPr>
          <p:nvPr/>
        </p:nvCxnSpPr>
        <p:spPr>
          <a:xfrm flipV="1">
            <a:off x="6161478" y="4836071"/>
            <a:ext cx="440363" cy="19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1" name="직선 화살표 연결선 230">
            <a:extLst>
              <a:ext uri="{FF2B5EF4-FFF2-40B4-BE49-F238E27FC236}">
                <a16:creationId xmlns:a16="http://schemas.microsoft.com/office/drawing/2014/main" id="{162FBFDE-9323-4AC4-B459-F96A6D464EFA}"/>
              </a:ext>
            </a:extLst>
          </p:cNvPr>
          <p:cNvCxnSpPr>
            <a:cxnSpLocks/>
            <a:stCxn id="5" idx="0"/>
            <a:endCxn id="197" idx="2"/>
          </p:cNvCxnSpPr>
          <p:nvPr/>
        </p:nvCxnSpPr>
        <p:spPr>
          <a:xfrm flipV="1">
            <a:off x="7617596" y="5060758"/>
            <a:ext cx="1187" cy="4251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3" name="연결선: 꺾임 232">
            <a:extLst>
              <a:ext uri="{FF2B5EF4-FFF2-40B4-BE49-F238E27FC236}">
                <a16:creationId xmlns:a16="http://schemas.microsoft.com/office/drawing/2014/main" id="{5F15522C-05F0-4E9D-A79C-400537A0500B}"/>
              </a:ext>
            </a:extLst>
          </p:cNvPr>
          <p:cNvCxnSpPr>
            <a:cxnSpLocks/>
            <a:stCxn id="216" idx="2"/>
            <a:endCxn id="5" idx="3"/>
          </p:cNvCxnSpPr>
          <p:nvPr/>
        </p:nvCxnSpPr>
        <p:spPr>
          <a:xfrm rot="5400000">
            <a:off x="8333127" y="4587453"/>
            <a:ext cx="713205" cy="1613979"/>
          </a:xfrm>
          <a:prstGeom prst="bentConnector2">
            <a:avLst/>
          </a:prstGeom>
          <a:ln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5" name="그림 4">
            <a:extLst>
              <a:ext uri="{FF2B5EF4-FFF2-40B4-BE49-F238E27FC236}">
                <a16:creationId xmlns:a16="http://schemas.microsoft.com/office/drawing/2014/main" id="{157090F4-C024-43F3-84B2-2A198FFDB1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2453" y="5485902"/>
            <a:ext cx="530286" cy="53028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A4B411E-3538-443C-A549-BB2C371145AA}"/>
              </a:ext>
            </a:extLst>
          </p:cNvPr>
          <p:cNvSpPr txBox="1"/>
          <p:nvPr/>
        </p:nvSpPr>
        <p:spPr>
          <a:xfrm>
            <a:off x="6753417" y="5997462"/>
            <a:ext cx="172835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100" b="1" dirty="0">
                <a:latin typeface="나눔고딕" panose="020D0604000000000000" pitchFamily="50" charset="-127"/>
                <a:ea typeface="나눔고딕" panose="020D0604000000000000" pitchFamily="50" charset="-127"/>
              </a:rPr>
              <a:t>사용자 클러스터 업데이트</a:t>
            </a:r>
          </a:p>
        </p:txBody>
      </p:sp>
      <p:sp>
        <p:nvSpPr>
          <p:cNvPr id="72" name="순서도: 자기 디스크 71">
            <a:extLst>
              <a:ext uri="{FF2B5EF4-FFF2-40B4-BE49-F238E27FC236}">
                <a16:creationId xmlns:a16="http://schemas.microsoft.com/office/drawing/2014/main" id="{2F8B61B1-2C20-4296-B2A1-680B75EF0470}"/>
              </a:ext>
            </a:extLst>
          </p:cNvPr>
          <p:cNvSpPr/>
          <p:nvPr/>
        </p:nvSpPr>
        <p:spPr>
          <a:xfrm>
            <a:off x="7148605" y="2747654"/>
            <a:ext cx="937982" cy="703077"/>
          </a:xfrm>
          <a:prstGeom prst="flowChartMagneticDisk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상권 이름</a:t>
            </a:r>
            <a:endParaRPr lang="ko-KR" altLang="en-US" sz="1000" b="1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1C915C46-CE6D-4022-A41E-AFBBC5B48BB4}"/>
              </a:ext>
            </a:extLst>
          </p:cNvPr>
          <p:cNvCxnSpPr>
            <a:stCxn id="72" idx="3"/>
            <a:endCxn id="190" idx="0"/>
          </p:cNvCxnSpPr>
          <p:nvPr/>
        </p:nvCxnSpPr>
        <p:spPr>
          <a:xfrm>
            <a:off x="7617596" y="3450731"/>
            <a:ext cx="1187" cy="4251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연결선: 꺾임 18">
            <a:extLst>
              <a:ext uri="{FF2B5EF4-FFF2-40B4-BE49-F238E27FC236}">
                <a16:creationId xmlns:a16="http://schemas.microsoft.com/office/drawing/2014/main" id="{7DEEB331-04C7-4257-B923-A78F64DD11A6}"/>
              </a:ext>
            </a:extLst>
          </p:cNvPr>
          <p:cNvCxnSpPr>
            <a:stCxn id="215" idx="0"/>
            <a:endCxn id="72" idx="4"/>
          </p:cNvCxnSpPr>
          <p:nvPr/>
        </p:nvCxnSpPr>
        <p:spPr>
          <a:xfrm rot="16200000" flipV="1">
            <a:off x="8403312" y="2782468"/>
            <a:ext cx="776682" cy="1410131"/>
          </a:xfrm>
          <a:prstGeom prst="bentConnector2">
            <a:avLst/>
          </a:prstGeom>
          <a:ln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두루마리 모양: 가로로 말림 19">
            <a:extLst>
              <a:ext uri="{FF2B5EF4-FFF2-40B4-BE49-F238E27FC236}">
                <a16:creationId xmlns:a16="http://schemas.microsoft.com/office/drawing/2014/main" id="{7E6134F5-0347-4534-8A1F-87DF6A06E530}"/>
              </a:ext>
            </a:extLst>
          </p:cNvPr>
          <p:cNvSpPr/>
          <p:nvPr/>
        </p:nvSpPr>
        <p:spPr>
          <a:xfrm>
            <a:off x="10499537" y="4216964"/>
            <a:ext cx="1333583" cy="449375"/>
          </a:xfrm>
          <a:prstGeom prst="horizontalScroll">
            <a:avLst/>
          </a:prstGeom>
          <a:solidFill>
            <a:srgbClr val="FBE5D6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b="1" dirty="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분석 결과</a:t>
            </a:r>
          </a:p>
        </p:txBody>
      </p:sp>
      <p:cxnSp>
        <p:nvCxnSpPr>
          <p:cNvPr id="22" name="연결선: 꺾임 21">
            <a:extLst>
              <a:ext uri="{FF2B5EF4-FFF2-40B4-BE49-F238E27FC236}">
                <a16:creationId xmlns:a16="http://schemas.microsoft.com/office/drawing/2014/main" id="{194997C2-9D5F-4D3B-B516-7528513109FA}"/>
              </a:ext>
            </a:extLst>
          </p:cNvPr>
          <p:cNvCxnSpPr>
            <a:stCxn id="215" idx="3"/>
            <a:endCxn id="20" idx="1"/>
          </p:cNvCxnSpPr>
          <p:nvPr/>
        </p:nvCxnSpPr>
        <p:spPr>
          <a:xfrm>
            <a:off x="10163509" y="4100563"/>
            <a:ext cx="336028" cy="341089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연결선: 꺾임 23">
            <a:extLst>
              <a:ext uri="{FF2B5EF4-FFF2-40B4-BE49-F238E27FC236}">
                <a16:creationId xmlns:a16="http://schemas.microsoft.com/office/drawing/2014/main" id="{E3DDB2D8-C331-4558-962B-989A1ADFF6CE}"/>
              </a:ext>
            </a:extLst>
          </p:cNvPr>
          <p:cNvCxnSpPr>
            <a:stCxn id="216" idx="3"/>
            <a:endCxn id="20" idx="1"/>
          </p:cNvCxnSpPr>
          <p:nvPr/>
        </p:nvCxnSpPr>
        <p:spPr>
          <a:xfrm flipV="1">
            <a:off x="10163509" y="4441652"/>
            <a:ext cx="336028" cy="401210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1951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1223</TotalTime>
  <Words>115</Words>
  <Application>Microsoft Office PowerPoint</Application>
  <PresentationFormat>와이드스크린</PresentationFormat>
  <Paragraphs>33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6" baseType="lpstr">
      <vt:lpstr>나눔고딕</vt:lpstr>
      <vt:lpstr>맑은 고딕</vt:lpstr>
      <vt:lpstr>Arial</vt:lpstr>
      <vt:lpstr>Arial Rounded MT Bold</vt:lpstr>
      <vt:lpstr>Office 테마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승건 이</dc:creator>
  <cp:lastModifiedBy>이승건(대학원생-비즈니스IT전공)</cp:lastModifiedBy>
  <cp:revision>48</cp:revision>
  <dcterms:created xsi:type="dcterms:W3CDTF">2025-04-16T05:57:00Z</dcterms:created>
  <dcterms:modified xsi:type="dcterms:W3CDTF">2026-04-20T02:23:50Z</dcterms:modified>
</cp:coreProperties>
</file>