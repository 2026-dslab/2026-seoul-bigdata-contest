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1B3"/>
    <a:srgbClr val="7438FB"/>
    <a:srgbClr val="FEB45D"/>
    <a:srgbClr val="996CFC"/>
    <a:srgbClr val="A65DF4"/>
    <a:srgbClr val="B89DF5"/>
    <a:srgbClr val="A380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18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9620DB-D273-4A10-91FB-2A056FFD63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7A73847-5FB9-44A4-BE4E-BDFA4F5D69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0BF9F7-7A33-4C98-97FC-B73DC6BA1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E4F83-3D82-4ED1-BAA6-8E91177A9906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A6F4E1-275D-4861-90BA-477C28A99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F8D225-BAE8-499E-994B-939E312D4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A4FF6-20C8-41D1-9ADA-4D895D045F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1344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D8DAB9-DD39-4095-B601-40FC35710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D57BF1-249B-402D-9D09-D42DF4456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52F7FD-9BCD-4CA2-B512-916A93222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E4F83-3D82-4ED1-BAA6-8E91177A9906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16F22D-B07F-4307-B78F-04CD8ADEE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EC29A1-9C58-4ADC-970C-C6FBB4A6B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A4FF6-20C8-41D1-9ADA-4D895D045F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9057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75650-BD85-4C95-986A-2F7A337C6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07B6D5-8D1A-492C-82A6-8688260C6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E9BEF8-92F7-45B9-AA3B-0FA2BE507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E4F83-3D82-4ED1-BAA6-8E91177A9906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13148E-2520-4C3F-AE96-1750516D1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D13869-CFC2-49DC-845C-F3C9A5D9A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A4FF6-20C8-41D1-9ADA-4D895D045F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9295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827060-7752-4768-B668-CED1CFFA4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9E6061-DD76-45EF-8D2B-6335BD56CD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A9BA421-4910-4F44-9E24-A83284573A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9D42056-B9B0-4D78-A0C8-9C54024F7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E4F83-3D82-4ED1-BAA6-8E91177A9906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C09F14-C71C-4323-A90A-1B90F3EE7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31661AF-4D2B-42D7-A68D-B7D4215E3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A4FF6-20C8-41D1-9ADA-4D895D045F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930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9D654C-C6A3-464E-9CF6-8977F967C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91C920-CBCA-49BB-81CA-8BE9E0558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9AA2C3-C541-45EE-B91B-D7B0A8EAD9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F9E3C65-ED89-4DFE-88A7-968740DE7B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BA75AD7-3176-4158-A53B-E74C9C9E0F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E5DA065-62C9-45F5-A8FE-3AC0BFFA7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E4F83-3D82-4ED1-BAA6-8E91177A9906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F67EC4B-067F-4AC5-826E-C4E945303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D975AE9-8204-4F22-AEF9-761EDCB29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A4FF6-20C8-41D1-9ADA-4D895D045F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558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44D0CD-1598-4609-8524-641AE3CE6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ADF9D36-551C-48AB-83F9-6713642D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E4F83-3D82-4ED1-BAA6-8E91177A9906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C379AD2-B3CB-4772-95A0-8E471706E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8198EB-6AE4-42E8-A719-85167AA02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A4FF6-20C8-41D1-9ADA-4D895D045F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2549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64BCACB-94A8-48BB-A351-8FCA35851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E4F83-3D82-4ED1-BAA6-8E91177A9906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DDFF747-953B-45DF-9AA5-51DC9DE8D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C7C451-2C27-4D1B-927B-01EA38ADF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A4FF6-20C8-41D1-9ADA-4D895D045F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675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47215B-3044-45EF-873C-ADE9EB477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2493DD-4883-49B6-BD10-ACFA4C59E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840F1E-1E4E-4C32-A1CC-0C50D7B23B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2396DB-E31E-47B9-8B33-87E81F027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E4F83-3D82-4ED1-BAA6-8E91177A9906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AA682A8-0E0D-434C-8B83-A9A82A238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D3DB67-040B-4433-9821-E9BB29E35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A4FF6-20C8-41D1-9ADA-4D895D045F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7501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AE2EC-1434-447D-AFBD-EEED7C625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C5C0860-7DA8-440B-A960-15B754C54B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BAB6B7E-EBAE-4053-995D-96A4F239E6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F8266E-C73D-484D-8834-ABDFDE65D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E4F83-3D82-4ED1-BAA6-8E91177A9906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88BD3E-34F6-49CB-8219-4DEA11E74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550D338-9CF0-46A1-9C62-F03209A44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A4FF6-20C8-41D1-9ADA-4D895D045F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4852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6A3A60-B499-4957-9621-BCC15DA7D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538ED1-A570-4852-AEDF-5723886A21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21BA43-510D-4A01-BC40-55F1EE65E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E4F83-3D82-4ED1-BAA6-8E91177A9906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E7548C-896B-4C03-AD22-243EE5340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354EAD-C054-42B1-9A51-BC8B0FF6F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A4FF6-20C8-41D1-9ADA-4D895D045F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4671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1FFFCDF-D4CF-4187-8D30-F4717DD1D7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0097CCA-18EF-468A-8DCA-FA002C1225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38EEF5-5616-4D9A-BE1F-08BC8016A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E4F83-3D82-4ED1-BAA6-8E91177A9906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12C39E-AD75-4104-9BEE-2CE2D644D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352CED-68A5-4C82-B997-0774BE76E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A4FF6-20C8-41D1-9ADA-4D895D045F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2396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3D74251-DF7F-4809-98A7-17BEDD4D4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91088A-2558-4641-9000-EC26524DB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9A2E5B-55B4-40E3-92A3-CF99E44A3B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E4F83-3D82-4ED1-BAA6-8E91177A9906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8418E9-9FD9-4AC4-A8D3-68F869BBD4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BAF752-7F4F-4F5F-A634-A24B4187DB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9A4FF6-20C8-41D1-9ADA-4D895D045F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378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D782B3D4-1CEE-4848-B6D1-5CFB1776E1D1}"/>
              </a:ext>
            </a:extLst>
          </p:cNvPr>
          <p:cNvCxnSpPr>
            <a:cxnSpLocks/>
            <a:stCxn id="11" idx="2"/>
            <a:endCxn id="30" idx="0"/>
          </p:cNvCxnSpPr>
          <p:nvPr/>
        </p:nvCxnSpPr>
        <p:spPr>
          <a:xfrm flipH="1">
            <a:off x="10446468" y="1934065"/>
            <a:ext cx="2" cy="1731388"/>
          </a:xfrm>
          <a:prstGeom prst="line">
            <a:avLst/>
          </a:prstGeom>
          <a:ln w="28575">
            <a:solidFill>
              <a:srgbClr val="7438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923AE159-32A8-4AE9-9055-05D011F70243}"/>
              </a:ext>
            </a:extLst>
          </p:cNvPr>
          <p:cNvCxnSpPr>
            <a:cxnSpLocks/>
            <a:stCxn id="10" idx="2"/>
            <a:endCxn id="25" idx="0"/>
          </p:cNvCxnSpPr>
          <p:nvPr/>
        </p:nvCxnSpPr>
        <p:spPr>
          <a:xfrm flipH="1">
            <a:off x="7537776" y="1934066"/>
            <a:ext cx="1" cy="3140693"/>
          </a:xfrm>
          <a:prstGeom prst="line">
            <a:avLst/>
          </a:prstGeom>
          <a:ln w="28575">
            <a:solidFill>
              <a:srgbClr val="7438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8E92F2A7-6446-4C41-997E-757855221523}"/>
              </a:ext>
            </a:extLst>
          </p:cNvPr>
          <p:cNvCxnSpPr>
            <a:cxnSpLocks/>
            <a:stCxn id="9" idx="2"/>
            <a:endCxn id="28" idx="0"/>
          </p:cNvCxnSpPr>
          <p:nvPr/>
        </p:nvCxnSpPr>
        <p:spPr>
          <a:xfrm flipH="1">
            <a:off x="4612848" y="1934066"/>
            <a:ext cx="16237" cy="2436040"/>
          </a:xfrm>
          <a:prstGeom prst="line">
            <a:avLst/>
          </a:prstGeom>
          <a:ln w="28575">
            <a:solidFill>
              <a:srgbClr val="7438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B867B721-8E11-4546-A4AE-54AC13ABFCD1}"/>
              </a:ext>
            </a:extLst>
          </p:cNvPr>
          <p:cNvCxnSpPr>
            <a:stCxn id="8" idx="2"/>
            <a:endCxn id="33" idx="2"/>
          </p:cNvCxnSpPr>
          <p:nvPr/>
        </p:nvCxnSpPr>
        <p:spPr>
          <a:xfrm flipH="1">
            <a:off x="1720392" y="1934066"/>
            <a:ext cx="1" cy="2136740"/>
          </a:xfrm>
          <a:prstGeom prst="line">
            <a:avLst/>
          </a:prstGeom>
          <a:ln w="28575">
            <a:solidFill>
              <a:srgbClr val="7438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B66C602D-612C-4B28-AACB-4491077169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857" t="30241" r="21470" b="36220"/>
          <a:stretch/>
        </p:blipFill>
        <p:spPr>
          <a:xfrm>
            <a:off x="216814" y="131975"/>
            <a:ext cx="2756105" cy="999242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B28AD07-2B21-4837-8EFE-3D19C1EB80F0}"/>
              </a:ext>
            </a:extLst>
          </p:cNvPr>
          <p:cNvSpPr/>
          <p:nvPr/>
        </p:nvSpPr>
        <p:spPr>
          <a:xfrm>
            <a:off x="707011" y="1528713"/>
            <a:ext cx="2026763" cy="405353"/>
          </a:xfrm>
          <a:prstGeom prst="roundRect">
            <a:avLst/>
          </a:prstGeom>
          <a:solidFill>
            <a:srgbClr val="7438FB"/>
          </a:solidFill>
          <a:ln w="19050">
            <a:solidFill>
              <a:srgbClr val="0031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홈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63E2876-1C23-47CF-B79B-5101873642AC}"/>
              </a:ext>
            </a:extLst>
          </p:cNvPr>
          <p:cNvSpPr/>
          <p:nvPr/>
        </p:nvSpPr>
        <p:spPr>
          <a:xfrm>
            <a:off x="3615703" y="1528713"/>
            <a:ext cx="2026763" cy="405353"/>
          </a:xfrm>
          <a:prstGeom prst="roundRect">
            <a:avLst/>
          </a:prstGeom>
          <a:solidFill>
            <a:srgbClr val="7438FB"/>
          </a:solidFill>
          <a:ln w="19050">
            <a:solidFill>
              <a:srgbClr val="0031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매장 </a:t>
            </a:r>
            <a:r>
              <a:rPr lang="en-US" altLang="ko-KR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+</a:t>
            </a:r>
            <a:endParaRPr lang="ko-KR" altLang="en-US" dirty="0">
              <a:latin typeface="Pretendard" panose="02000803000000020004" pitchFamily="2" charset="-127"/>
              <a:ea typeface="Pretendard" panose="02000803000000020004" pitchFamily="2" charset="-127"/>
              <a:cs typeface="Pretendard" panose="02000803000000020004" pitchFamily="2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78BE241-5189-4F64-BCA3-BCF14D9F1655}"/>
              </a:ext>
            </a:extLst>
          </p:cNvPr>
          <p:cNvSpPr/>
          <p:nvPr/>
        </p:nvSpPr>
        <p:spPr>
          <a:xfrm>
            <a:off x="6524395" y="1528713"/>
            <a:ext cx="2026763" cy="405353"/>
          </a:xfrm>
          <a:prstGeom prst="roundRect">
            <a:avLst/>
          </a:prstGeom>
          <a:solidFill>
            <a:srgbClr val="7438FB"/>
          </a:solidFill>
          <a:ln w="19050">
            <a:solidFill>
              <a:srgbClr val="0031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우리 상권 </a:t>
            </a:r>
            <a:r>
              <a:rPr lang="en-US" altLang="ko-KR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+</a:t>
            </a:r>
            <a:endParaRPr lang="ko-KR" altLang="en-US" dirty="0">
              <a:latin typeface="Pretendard" panose="02000803000000020004" pitchFamily="2" charset="-127"/>
              <a:ea typeface="Pretendard" panose="02000803000000020004" pitchFamily="2" charset="-127"/>
              <a:cs typeface="Pretendard" panose="02000803000000020004" pitchFamily="2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402C438-A73D-438D-AEAC-DABF153CEFE1}"/>
              </a:ext>
            </a:extLst>
          </p:cNvPr>
          <p:cNvSpPr/>
          <p:nvPr/>
        </p:nvSpPr>
        <p:spPr>
          <a:xfrm>
            <a:off x="9433088" y="1528712"/>
            <a:ext cx="2026763" cy="405353"/>
          </a:xfrm>
          <a:prstGeom prst="roundRect">
            <a:avLst/>
          </a:prstGeom>
          <a:solidFill>
            <a:srgbClr val="7438FB"/>
          </a:solidFill>
          <a:ln w="19050">
            <a:solidFill>
              <a:srgbClr val="0031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내 활동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30DCF88-13BE-4E94-ACF7-6B25617FF23E}"/>
              </a:ext>
            </a:extLst>
          </p:cNvPr>
          <p:cNvSpPr/>
          <p:nvPr/>
        </p:nvSpPr>
        <p:spPr>
          <a:xfrm>
            <a:off x="985101" y="2256147"/>
            <a:ext cx="1470582" cy="405353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우리 상권 현황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4502D6F-24CA-485F-AFE3-87D1733B6287}"/>
              </a:ext>
            </a:extLst>
          </p:cNvPr>
          <p:cNvSpPr/>
          <p:nvPr/>
        </p:nvSpPr>
        <p:spPr>
          <a:xfrm>
            <a:off x="3893793" y="2256147"/>
            <a:ext cx="1470582" cy="405353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매장 </a:t>
            </a:r>
            <a:r>
              <a:rPr lang="en-US" altLang="ko-KR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MBTI </a:t>
            </a: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분석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C34A447-C04F-4C11-98A1-4C5631E29374}"/>
              </a:ext>
            </a:extLst>
          </p:cNvPr>
          <p:cNvSpPr/>
          <p:nvPr/>
        </p:nvSpPr>
        <p:spPr>
          <a:xfrm>
            <a:off x="6802485" y="2256148"/>
            <a:ext cx="1470582" cy="405353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상권 </a:t>
            </a:r>
            <a:r>
              <a:rPr lang="en-US" altLang="ko-KR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MBTI </a:t>
            </a: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결과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FBDAE7B-BA52-4101-B35F-878D11C53123}"/>
              </a:ext>
            </a:extLst>
          </p:cNvPr>
          <p:cNvSpPr/>
          <p:nvPr/>
        </p:nvSpPr>
        <p:spPr>
          <a:xfrm>
            <a:off x="9711178" y="2256148"/>
            <a:ext cx="1470582" cy="405353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내 정보 관리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937A806-029F-4C61-B588-AB1CBC1FA41E}"/>
              </a:ext>
            </a:extLst>
          </p:cNvPr>
          <p:cNvSpPr/>
          <p:nvPr/>
        </p:nvSpPr>
        <p:spPr>
          <a:xfrm>
            <a:off x="985101" y="2960800"/>
            <a:ext cx="1470582" cy="405353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내 가게 상태 요약</a:t>
            </a:r>
            <a:endParaRPr lang="en-US" altLang="ko-KR" sz="1400" dirty="0">
              <a:latin typeface="Pretendard" panose="02000803000000020004" pitchFamily="2" charset="-127"/>
              <a:ea typeface="Pretendard" panose="02000803000000020004" pitchFamily="2" charset="-127"/>
              <a:cs typeface="Pretendard" panose="02000803000000020004" pitchFamily="2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FF39846D-F790-4778-9A86-09F8F0F0262A}"/>
              </a:ext>
            </a:extLst>
          </p:cNvPr>
          <p:cNvSpPr/>
          <p:nvPr/>
        </p:nvSpPr>
        <p:spPr>
          <a:xfrm>
            <a:off x="3893793" y="2960800"/>
            <a:ext cx="1470582" cy="405353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매장 </a:t>
            </a:r>
            <a:r>
              <a:rPr lang="en-US" altLang="ko-KR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MBTI</a:t>
            </a: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 결과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7A28FB0-42C3-47DD-AC03-05DA1740C70A}"/>
              </a:ext>
            </a:extLst>
          </p:cNvPr>
          <p:cNvSpPr/>
          <p:nvPr/>
        </p:nvSpPr>
        <p:spPr>
          <a:xfrm>
            <a:off x="6802485" y="4370106"/>
            <a:ext cx="1470582" cy="405353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함께 더하기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4D1D9D76-AF6A-4B8E-B247-597F26E8E64A}"/>
              </a:ext>
            </a:extLst>
          </p:cNvPr>
          <p:cNvSpPr/>
          <p:nvPr/>
        </p:nvSpPr>
        <p:spPr>
          <a:xfrm>
            <a:off x="3893793" y="3665453"/>
            <a:ext cx="1470582" cy="405353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매장 </a:t>
            </a:r>
            <a:r>
              <a:rPr lang="en-US" altLang="ko-KR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MBTI </a:t>
            </a:r>
          </a:p>
          <a:p>
            <a:pPr algn="ctr"/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솔루션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2639CD01-C4F8-427E-A21E-C2B913857771}"/>
              </a:ext>
            </a:extLst>
          </p:cNvPr>
          <p:cNvSpPr/>
          <p:nvPr/>
        </p:nvSpPr>
        <p:spPr>
          <a:xfrm>
            <a:off x="6802485" y="5074759"/>
            <a:ext cx="1470582" cy="405353"/>
          </a:xfrm>
          <a:prstGeom prst="roundRect">
            <a:avLst/>
          </a:prstGeom>
          <a:solidFill>
            <a:srgbClr val="FEB45D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솔루션  마켓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3D4B3827-C141-44E5-9157-3603C5B8A5D4}"/>
              </a:ext>
            </a:extLst>
          </p:cNvPr>
          <p:cNvSpPr/>
          <p:nvPr/>
        </p:nvSpPr>
        <p:spPr>
          <a:xfrm>
            <a:off x="9711177" y="2960800"/>
            <a:ext cx="1470582" cy="405353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진단 보관함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5F1DB840-C6C9-4C84-A9DC-A5F69130C7E4}"/>
              </a:ext>
            </a:extLst>
          </p:cNvPr>
          <p:cNvSpPr/>
          <p:nvPr/>
        </p:nvSpPr>
        <p:spPr>
          <a:xfrm>
            <a:off x="3877557" y="4370106"/>
            <a:ext cx="1470582" cy="405353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매장 </a:t>
            </a:r>
            <a:r>
              <a:rPr lang="en-US" altLang="ko-KR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MBTI </a:t>
            </a:r>
          </a:p>
          <a:p>
            <a:pPr algn="ctr"/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재분석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19F1E333-50CF-4DB2-9848-A633221EA72D}"/>
              </a:ext>
            </a:extLst>
          </p:cNvPr>
          <p:cNvSpPr/>
          <p:nvPr/>
        </p:nvSpPr>
        <p:spPr>
          <a:xfrm>
            <a:off x="9711177" y="3665453"/>
            <a:ext cx="1470582" cy="405353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활동 배지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4F4B2739-DB7F-434A-99A6-E3A64BE9A601}"/>
              </a:ext>
            </a:extLst>
          </p:cNvPr>
          <p:cNvSpPr/>
          <p:nvPr/>
        </p:nvSpPr>
        <p:spPr>
          <a:xfrm>
            <a:off x="6802485" y="2960800"/>
            <a:ext cx="1470582" cy="405353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상권 클러스터 맵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24C76A3E-69C4-40E8-AC01-0874BF82776F}"/>
              </a:ext>
            </a:extLst>
          </p:cNvPr>
          <p:cNvSpPr/>
          <p:nvPr/>
        </p:nvSpPr>
        <p:spPr>
          <a:xfrm>
            <a:off x="985101" y="3665453"/>
            <a:ext cx="1470582" cy="405353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성공 상권  사례</a:t>
            </a:r>
            <a:endParaRPr lang="en-US" altLang="ko-KR" sz="1400" dirty="0">
              <a:latin typeface="Pretendard" panose="02000803000000020004" pitchFamily="2" charset="-127"/>
              <a:ea typeface="Pretendard" panose="02000803000000020004" pitchFamily="2" charset="-127"/>
              <a:cs typeface="Pretendard" panose="02000803000000020004" pitchFamily="2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10400D0-E061-4BEE-B141-FA09B5172D74}"/>
              </a:ext>
            </a:extLst>
          </p:cNvPr>
          <p:cNvSpPr txBox="1"/>
          <p:nvPr/>
        </p:nvSpPr>
        <p:spPr>
          <a:xfrm>
            <a:off x="2455682" y="2256147"/>
            <a:ext cx="12266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우리 상권 이름</a:t>
            </a:r>
            <a:endParaRPr lang="en-US" altLang="ko-KR" sz="1200" dirty="0">
              <a:latin typeface="Pretendard" panose="02000803000000020004" pitchFamily="2" charset="-127"/>
              <a:ea typeface="Pretendard" panose="02000803000000020004" pitchFamily="2" charset="-127"/>
              <a:cs typeface="Pretendard" panose="02000803000000020004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상권 참여율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F2B4F1-9F03-4C28-AB72-833786995696}"/>
              </a:ext>
            </a:extLst>
          </p:cNvPr>
          <p:cNvSpPr txBox="1"/>
          <p:nvPr/>
        </p:nvSpPr>
        <p:spPr>
          <a:xfrm>
            <a:off x="2473211" y="2932644"/>
            <a:ext cx="1034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MBTI </a:t>
            </a:r>
            <a:r>
              <a:rPr lang="ko-KR" altLang="en-US" sz="12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요약</a:t>
            </a:r>
            <a:endParaRPr lang="en-US" altLang="ko-KR" sz="1200" dirty="0">
              <a:latin typeface="Pretendard" panose="02000803000000020004" pitchFamily="2" charset="-127"/>
              <a:ea typeface="Pretendard" panose="02000803000000020004" pitchFamily="2" charset="-127"/>
              <a:cs typeface="Pretendard" panose="02000803000000020004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문제 한 줄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1D161797-F04D-4334-979D-2A1D649797B0}"/>
              </a:ext>
            </a:extLst>
          </p:cNvPr>
          <p:cNvSpPr/>
          <p:nvPr/>
        </p:nvSpPr>
        <p:spPr>
          <a:xfrm>
            <a:off x="6802485" y="3665453"/>
            <a:ext cx="1470582" cy="405353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우리 상권 고민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76A9AAF-A64F-4236-B240-1D679DF1EB6F}"/>
              </a:ext>
            </a:extLst>
          </p:cNvPr>
          <p:cNvSpPr txBox="1"/>
          <p:nvPr/>
        </p:nvSpPr>
        <p:spPr>
          <a:xfrm>
            <a:off x="8318539" y="5074759"/>
            <a:ext cx="2456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솔루션 도와줄 수 있는 마켓 제안</a:t>
            </a:r>
            <a:endParaRPr lang="en-US" altLang="ko-KR" sz="1200" dirty="0">
              <a:latin typeface="Pretendard" panose="02000803000000020004" pitchFamily="2" charset="-127"/>
              <a:ea typeface="Pretendard" panose="02000803000000020004" pitchFamily="2" charset="-127"/>
              <a:cs typeface="Pretendard" panose="02000803000000020004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B2B </a:t>
            </a:r>
            <a:r>
              <a:rPr lang="ko-KR" altLang="en-US" sz="12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중개 수수료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C575C95-C00D-4DC9-8322-928C6AC373B3}"/>
              </a:ext>
            </a:extLst>
          </p:cNvPr>
          <p:cNvSpPr txBox="1"/>
          <p:nvPr/>
        </p:nvSpPr>
        <p:spPr>
          <a:xfrm>
            <a:off x="9727413" y="4159823"/>
            <a:ext cx="18646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상권 내</a:t>
            </a:r>
            <a:r>
              <a:rPr lang="en-US" altLang="ko-KR" sz="12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 </a:t>
            </a:r>
            <a:r>
              <a:rPr lang="ko-KR" altLang="en-US" sz="12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다른 가게 사장님 </a:t>
            </a:r>
            <a:br>
              <a:rPr lang="en-US" altLang="ko-KR" sz="12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</a:br>
            <a:r>
              <a:rPr lang="ko-KR" altLang="en-US" sz="12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유입 시킬 경우 배지 증정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EE9D9F4-2D92-4A01-B6CF-BCE2A2B72FC8}"/>
              </a:ext>
            </a:extLst>
          </p:cNvPr>
          <p:cNvSpPr txBox="1"/>
          <p:nvPr/>
        </p:nvSpPr>
        <p:spPr>
          <a:xfrm>
            <a:off x="8318541" y="4464500"/>
            <a:ext cx="13244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가치 제안 </a:t>
            </a:r>
            <a:r>
              <a:rPr lang="en-US" altLang="ko-KR" sz="12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3</a:t>
            </a:r>
            <a:r>
              <a:rPr lang="ko-KR" altLang="en-US" sz="12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가지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792B1E5-8B69-4EF2-8F4B-5AD8DD855BDD}"/>
              </a:ext>
            </a:extLst>
          </p:cNvPr>
          <p:cNvSpPr txBox="1"/>
          <p:nvPr/>
        </p:nvSpPr>
        <p:spPr>
          <a:xfrm>
            <a:off x="3068991" y="476780"/>
            <a:ext cx="7223452" cy="522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나의 매장이 모여 우리 상권의 이름이 되는 곳</a:t>
            </a:r>
            <a:r>
              <a:rPr lang="en-US" altLang="ko-KR" sz="12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, </a:t>
            </a:r>
            <a:r>
              <a:rPr lang="ko-KR" altLang="en-US" sz="12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상권 더하기</a:t>
            </a:r>
            <a:endParaRPr lang="en-US" altLang="ko-KR" sz="1200" dirty="0">
              <a:latin typeface="Pretendard" panose="02000803000000020004" pitchFamily="2" charset="-127"/>
              <a:ea typeface="Pretendard" panose="02000803000000020004" pitchFamily="2" charset="-127"/>
              <a:cs typeface="Pretendard" panose="02000803000000020004" pitchFamily="2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[</a:t>
            </a:r>
            <a:r>
              <a:rPr lang="ko-KR" altLang="en-US" sz="12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상권 더하기</a:t>
            </a:r>
            <a:r>
              <a:rPr lang="en-US" altLang="ko-KR" sz="12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]</a:t>
            </a:r>
            <a:r>
              <a:rPr lang="ko-KR" altLang="en-US" sz="12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는 파편화된 매장의 데이터를 모아</a:t>
            </a:r>
            <a:r>
              <a:rPr lang="en-US" altLang="ko-KR" sz="12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, </a:t>
            </a:r>
            <a:r>
              <a:rPr lang="ko-KR" altLang="en-US" sz="12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숨겨진 상권의 가치를 더하고</a:t>
            </a:r>
            <a:r>
              <a:rPr lang="en-US" altLang="ko-KR" sz="12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, </a:t>
            </a:r>
            <a:r>
              <a:rPr lang="ko-KR" altLang="en-US" sz="12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지속 가능한 상생의 내일을 만듭니다</a:t>
            </a:r>
            <a:r>
              <a:rPr lang="en-US" altLang="ko-KR" sz="12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.</a:t>
            </a:r>
            <a:endParaRPr lang="ko-KR" altLang="en-US" sz="1200" dirty="0">
              <a:latin typeface="Pretendard" panose="02000803000000020004" pitchFamily="2" charset="-127"/>
              <a:ea typeface="Pretendard" panose="02000803000000020004" pitchFamily="2" charset="-127"/>
              <a:cs typeface="Pretendard" panose="020008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1648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116</Words>
  <Application>Microsoft Office PowerPoint</Application>
  <PresentationFormat>와이드스크린</PresentationFormat>
  <Paragraphs>31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Pretendard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박소정(대학원생-비즈니스IT전공)</dc:creator>
  <cp:lastModifiedBy>박소정(대학원생-비즈니스IT전공)</cp:lastModifiedBy>
  <cp:revision>23</cp:revision>
  <dcterms:created xsi:type="dcterms:W3CDTF">2026-04-19T22:51:29Z</dcterms:created>
  <dcterms:modified xsi:type="dcterms:W3CDTF">2026-04-20T01:55:59Z</dcterms:modified>
</cp:coreProperties>
</file>